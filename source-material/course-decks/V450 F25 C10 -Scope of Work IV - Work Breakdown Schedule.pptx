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10.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11.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785" r:id="rId3"/>
    <p:sldMasterId id="2147483847" r:id="rId4"/>
    <p:sldMasterId id="2147483884" r:id="rId5"/>
    <p:sldMasterId id="2147483920" r:id="rId6"/>
    <p:sldMasterId id="2147483956" r:id="rId7"/>
    <p:sldMasterId id="2147483968" r:id="rId8"/>
    <p:sldMasterId id="2147483980" r:id="rId9"/>
    <p:sldMasterId id="2147483992" r:id="rId10"/>
    <p:sldMasterId id="2147484006" r:id="rId11"/>
    <p:sldMasterId id="2147484024" r:id="rId12"/>
  </p:sldMasterIdLst>
  <p:notesMasterIdLst>
    <p:notesMasterId r:id="rId55"/>
  </p:notesMasterIdLst>
  <p:sldIdLst>
    <p:sldId id="256" r:id="rId13"/>
    <p:sldId id="299" r:id="rId14"/>
    <p:sldId id="651" r:id="rId15"/>
    <p:sldId id="750" r:id="rId16"/>
    <p:sldId id="756" r:id="rId17"/>
    <p:sldId id="748" r:id="rId18"/>
    <p:sldId id="842" r:id="rId19"/>
    <p:sldId id="2142533431" r:id="rId20"/>
    <p:sldId id="2142533432" r:id="rId21"/>
    <p:sldId id="2142533428" r:id="rId22"/>
    <p:sldId id="2142533433" r:id="rId23"/>
    <p:sldId id="2456" r:id="rId24"/>
    <p:sldId id="1082" r:id="rId25"/>
    <p:sldId id="2142533454" r:id="rId26"/>
    <p:sldId id="2134804572" r:id="rId27"/>
    <p:sldId id="912" r:id="rId28"/>
    <p:sldId id="2134804614" r:id="rId29"/>
    <p:sldId id="2134804620" r:id="rId30"/>
    <p:sldId id="2134804623" r:id="rId31"/>
    <p:sldId id="2134804611" r:id="rId32"/>
    <p:sldId id="2134804618" r:id="rId33"/>
    <p:sldId id="1047" r:id="rId34"/>
    <p:sldId id="2134804615" r:id="rId35"/>
    <p:sldId id="946" r:id="rId36"/>
    <p:sldId id="818" r:id="rId37"/>
    <p:sldId id="2134804617" r:id="rId38"/>
    <p:sldId id="2134804619" r:id="rId39"/>
    <p:sldId id="2142533465" r:id="rId40"/>
    <p:sldId id="2134804625" r:id="rId41"/>
    <p:sldId id="2134804621" r:id="rId42"/>
    <p:sldId id="739" r:id="rId43"/>
    <p:sldId id="2134804626" r:id="rId44"/>
    <p:sldId id="259" r:id="rId45"/>
    <p:sldId id="458" r:id="rId46"/>
    <p:sldId id="2142533489" r:id="rId47"/>
    <p:sldId id="1089" r:id="rId48"/>
    <p:sldId id="2142533490" r:id="rId49"/>
    <p:sldId id="1092" r:id="rId50"/>
    <p:sldId id="2142533491" r:id="rId51"/>
    <p:sldId id="2134804541" r:id="rId52"/>
    <p:sldId id="266" r:id="rId53"/>
    <p:sldId id="2142533463"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83" autoAdjust="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39.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tableStyles" Target="tableStyle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viewProps" Target="viewProps.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B1B928-EA0E-4EB1-BAE0-A25300FC460F}"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23810F67-0730-41D1-8476-887FB8D5EE06}">
      <dgm:prSet/>
      <dgm:spPr/>
      <dgm:t>
        <a:bodyPr/>
        <a:lstStyle/>
        <a:p>
          <a:r>
            <a:rPr lang="en-US" b="1" dirty="0"/>
            <a:t>The Big Plan</a:t>
          </a:r>
          <a:endParaRPr lang="en-US" dirty="0"/>
        </a:p>
      </dgm:t>
    </dgm:pt>
    <dgm:pt modelId="{2AE19D67-6F12-4A51-AC86-721447E0F2AC}" type="parTrans" cxnId="{61690175-9996-4232-99DF-9CD9784AE115}">
      <dgm:prSet/>
      <dgm:spPr/>
      <dgm:t>
        <a:bodyPr/>
        <a:lstStyle/>
        <a:p>
          <a:endParaRPr lang="en-US"/>
        </a:p>
      </dgm:t>
    </dgm:pt>
    <dgm:pt modelId="{5522CE5C-EE3A-4997-A0F2-440AD271CD5D}" type="sibTrans" cxnId="{61690175-9996-4232-99DF-9CD9784AE115}">
      <dgm:prSet/>
      <dgm:spPr/>
      <dgm:t>
        <a:bodyPr/>
        <a:lstStyle/>
        <a:p>
          <a:endParaRPr lang="en-US"/>
        </a:p>
      </dgm:t>
    </dgm:pt>
    <dgm:pt modelId="{68C39B26-AAC8-4516-B426-8482D2F6D3FF}" type="pres">
      <dgm:prSet presAssocID="{98B1B928-EA0E-4EB1-BAE0-A25300FC460F}" presName="CompostProcess" presStyleCnt="0">
        <dgm:presLayoutVars>
          <dgm:dir/>
          <dgm:resizeHandles val="exact"/>
        </dgm:presLayoutVars>
      </dgm:prSet>
      <dgm:spPr/>
    </dgm:pt>
    <dgm:pt modelId="{E4D4E6B6-63D8-4E31-BDD8-E558FB845222}" type="pres">
      <dgm:prSet presAssocID="{98B1B928-EA0E-4EB1-BAE0-A25300FC460F}" presName="arrow" presStyleLbl="bgShp" presStyleIdx="0" presStyleCnt="1"/>
      <dgm:spPr/>
    </dgm:pt>
    <dgm:pt modelId="{0F30D785-C20F-4911-A42E-36F385453C96}" type="pres">
      <dgm:prSet presAssocID="{98B1B928-EA0E-4EB1-BAE0-A25300FC460F}" presName="linearProcess" presStyleCnt="0"/>
      <dgm:spPr/>
    </dgm:pt>
    <dgm:pt modelId="{D2DE497D-9441-46B6-B5AC-9161D6FF838E}" type="pres">
      <dgm:prSet presAssocID="{23810F67-0730-41D1-8476-887FB8D5EE06}" presName="textNode" presStyleLbl="node1" presStyleIdx="0" presStyleCnt="1">
        <dgm:presLayoutVars>
          <dgm:bulletEnabled val="1"/>
        </dgm:presLayoutVars>
      </dgm:prSet>
      <dgm:spPr/>
    </dgm:pt>
  </dgm:ptLst>
  <dgm:cxnLst>
    <dgm:cxn modelId="{B81E5120-63A1-4FDD-9DD5-457AD8A2489F}" type="presOf" srcId="{98B1B928-EA0E-4EB1-BAE0-A25300FC460F}" destId="{68C39B26-AAC8-4516-B426-8482D2F6D3FF}" srcOrd="0" destOrd="0" presId="urn:microsoft.com/office/officeart/2005/8/layout/hProcess9"/>
    <dgm:cxn modelId="{A3CCBF67-8F56-46BF-960E-28752F13A883}" type="presOf" srcId="{23810F67-0730-41D1-8476-887FB8D5EE06}" destId="{D2DE497D-9441-46B6-B5AC-9161D6FF838E}" srcOrd="0" destOrd="0" presId="urn:microsoft.com/office/officeart/2005/8/layout/hProcess9"/>
    <dgm:cxn modelId="{61690175-9996-4232-99DF-9CD9784AE115}" srcId="{98B1B928-EA0E-4EB1-BAE0-A25300FC460F}" destId="{23810F67-0730-41D1-8476-887FB8D5EE06}" srcOrd="0" destOrd="0" parTransId="{2AE19D67-6F12-4A51-AC86-721447E0F2AC}" sibTransId="{5522CE5C-EE3A-4997-A0F2-440AD271CD5D}"/>
    <dgm:cxn modelId="{15D189F3-9147-4E95-AE4A-89BD95C3A497}" type="presParOf" srcId="{68C39B26-AAC8-4516-B426-8482D2F6D3FF}" destId="{E4D4E6B6-63D8-4E31-BDD8-E558FB845222}" srcOrd="0" destOrd="0" presId="urn:microsoft.com/office/officeart/2005/8/layout/hProcess9"/>
    <dgm:cxn modelId="{6B1F4A8A-7B6C-43E4-830E-340D47084BB0}" type="presParOf" srcId="{68C39B26-AAC8-4516-B426-8482D2F6D3FF}" destId="{0F30D785-C20F-4911-A42E-36F385453C96}" srcOrd="1" destOrd="0" presId="urn:microsoft.com/office/officeart/2005/8/layout/hProcess9"/>
    <dgm:cxn modelId="{C1F082D8-5BD9-447B-BF6C-9CBD6835557A}" type="presParOf" srcId="{0F30D785-C20F-4911-A42E-36F385453C96}" destId="{D2DE497D-9441-46B6-B5AC-9161D6FF838E}"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D4E6B6-63D8-4E31-BDD8-E558FB845222}">
      <dsp:nvSpPr>
        <dsp:cNvPr id="0" name=""/>
        <dsp:cNvSpPr/>
      </dsp:nvSpPr>
      <dsp:spPr>
        <a:xfrm>
          <a:off x="256004" y="0"/>
          <a:ext cx="2901384" cy="258082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DE497D-9441-46B6-B5AC-9161D6FF838E}">
      <dsp:nvSpPr>
        <dsp:cNvPr id="0" name=""/>
        <dsp:cNvSpPr/>
      </dsp:nvSpPr>
      <dsp:spPr>
        <a:xfrm>
          <a:off x="0" y="774248"/>
          <a:ext cx="3413393" cy="103233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b="1" kern="1200" dirty="0"/>
            <a:t>The Big Plan</a:t>
          </a:r>
          <a:endParaRPr lang="en-US" sz="4200" kern="1200" dirty="0"/>
        </a:p>
      </dsp:txBody>
      <dsp:txXfrm>
        <a:off x="50394" y="824642"/>
        <a:ext cx="3312605" cy="93154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2A19A9-FA46-4B86-AB4B-3EECAD4EA5A1}"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B9FF3-43FA-4DF8-86E5-8E9F07331F79}" type="slidenum">
              <a:rPr lang="en-US" smtClean="0"/>
              <a:t>‹#›</a:t>
            </a:fld>
            <a:endParaRPr lang="en-US"/>
          </a:p>
        </p:txBody>
      </p:sp>
    </p:spTree>
    <p:extLst>
      <p:ext uri="{BB962C8B-B14F-4D97-AF65-F5344CB8AC3E}">
        <p14:creationId xmlns:p14="http://schemas.microsoft.com/office/powerpoint/2010/main" val="108716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of works when preparing the scope for a project.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5418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36777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10000"/>
              </a:lnSpc>
              <a:spcBef>
                <a:spcPts val="0"/>
              </a:spcBef>
              <a:spcAft>
                <a:spcPts val="0"/>
              </a:spcAft>
              <a:buNone/>
            </a:pPr>
            <a:r>
              <a:rPr lang="en-US" sz="1200" dirty="0">
                <a:solidFill>
                  <a:schemeClr val="tx1"/>
                </a:solidFill>
              </a:rPr>
              <a:t>To </a:t>
            </a:r>
            <a:r>
              <a:rPr lang="en-US" sz="1200" b="1" dirty="0">
                <a:solidFill>
                  <a:schemeClr val="tx1"/>
                </a:solidFill>
                <a:highlight>
                  <a:srgbClr val="FFFF00"/>
                </a:highlight>
              </a:rPr>
              <a:t>move from a wish list to a project</a:t>
            </a:r>
            <a:r>
              <a:rPr lang="en-US" sz="1200" dirty="0">
                <a:solidFill>
                  <a:schemeClr val="tx1"/>
                </a:solidFill>
              </a:rPr>
              <a:t>, a scope must include a work breakdown structure (WBS).</a:t>
            </a:r>
          </a:p>
          <a:p>
            <a:pPr>
              <a:lnSpc>
                <a:spcPct val="110000"/>
              </a:lnSpc>
              <a:spcBef>
                <a:spcPts val="0"/>
              </a:spcBef>
              <a:spcAft>
                <a:spcPts val="0"/>
              </a:spcAft>
            </a:pPr>
            <a:endParaRPr lang="en-US" sz="1200" dirty="0">
              <a:solidFill>
                <a:schemeClr val="tx1"/>
              </a:solidFill>
            </a:endParaRPr>
          </a:p>
          <a:p>
            <a:pPr marL="0" indent="0">
              <a:lnSpc>
                <a:spcPct val="110000"/>
              </a:lnSpc>
              <a:spcBef>
                <a:spcPts val="0"/>
              </a:spcBef>
              <a:spcAft>
                <a:spcPts val="0"/>
              </a:spcAft>
              <a:buNone/>
            </a:pPr>
            <a:r>
              <a:rPr lang="en-US" sz="1200" dirty="0">
                <a:solidFill>
                  <a:schemeClr val="tx1"/>
                </a:solidFill>
              </a:rPr>
              <a:t>Only by studying the </a:t>
            </a:r>
            <a:r>
              <a:rPr lang="en-US" sz="1200" b="1" dirty="0">
                <a:solidFill>
                  <a:schemeClr val="tx1"/>
                </a:solidFill>
                <a:highlight>
                  <a:srgbClr val="FFFF00"/>
                </a:highlight>
              </a:rPr>
              <a:t>individual steps,</a:t>
            </a:r>
            <a:r>
              <a:rPr lang="en-US" sz="1200" b="1" dirty="0">
                <a:solidFill>
                  <a:schemeClr val="tx1"/>
                </a:solidFill>
              </a:rPr>
              <a:t> </a:t>
            </a:r>
            <a:r>
              <a:rPr lang="en-US" sz="1200" b="1" dirty="0">
                <a:solidFill>
                  <a:schemeClr val="tx1"/>
                </a:solidFill>
                <a:highlight>
                  <a:srgbClr val="FFFF00"/>
                </a:highlight>
              </a:rPr>
              <a:t>people and</a:t>
            </a:r>
            <a:r>
              <a:rPr lang="en-US" sz="1200" b="1" dirty="0">
                <a:solidFill>
                  <a:schemeClr val="tx1"/>
                </a:solidFill>
              </a:rPr>
              <a:t> </a:t>
            </a:r>
            <a:r>
              <a:rPr lang="en-US" sz="1200" b="1" dirty="0">
                <a:solidFill>
                  <a:schemeClr val="tx1"/>
                </a:solidFill>
                <a:highlight>
                  <a:srgbClr val="FFFF00"/>
                </a:highlight>
              </a:rPr>
              <a:t>time</a:t>
            </a:r>
            <a:r>
              <a:rPr lang="en-US" sz="1200" b="1" dirty="0">
                <a:solidFill>
                  <a:schemeClr val="tx1"/>
                </a:solidFill>
              </a:rPr>
              <a:t> </a:t>
            </a:r>
            <a:r>
              <a:rPr lang="en-US" sz="1200" dirty="0">
                <a:solidFill>
                  <a:schemeClr val="tx1"/>
                </a:solidFill>
              </a:rPr>
              <a:t>needed can you see the whole of what needs doing.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41653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break all tasks down into a time-measured unit for complete. For example, it might take 2 hours to schedule a meeting and invite all steering committee members.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3237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1919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7503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other ways the WBS is vital to the PM.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12588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71450" indent="-296711">
              <a:spcBef>
                <a:spcPct val="30000"/>
              </a:spcBef>
              <a:defRPr sz="1200">
                <a:solidFill>
                  <a:schemeClr val="tx1"/>
                </a:solidFill>
                <a:latin typeface="Arial" panose="020B0604020202020204" pitchFamily="34" charset="0"/>
              </a:defRPr>
            </a:lvl2pPr>
            <a:lvl3pPr marL="1186847" indent="-237369">
              <a:spcBef>
                <a:spcPct val="30000"/>
              </a:spcBef>
              <a:defRPr sz="1200">
                <a:solidFill>
                  <a:schemeClr val="tx1"/>
                </a:solidFill>
                <a:latin typeface="Arial" panose="020B0604020202020204" pitchFamily="34" charset="0"/>
              </a:defRPr>
            </a:lvl3pPr>
            <a:lvl4pPr marL="1661585" indent="-237369">
              <a:spcBef>
                <a:spcPct val="30000"/>
              </a:spcBef>
              <a:defRPr sz="1200">
                <a:solidFill>
                  <a:schemeClr val="tx1"/>
                </a:solidFill>
                <a:latin typeface="Arial" panose="020B0604020202020204" pitchFamily="34" charset="0"/>
              </a:defRPr>
            </a:lvl4pPr>
            <a:lvl5pPr marL="2136324" indent="-237369">
              <a:spcBef>
                <a:spcPct val="30000"/>
              </a:spcBef>
              <a:defRPr sz="1200">
                <a:solidFill>
                  <a:schemeClr val="tx1"/>
                </a:solidFill>
                <a:latin typeface="Arial" panose="020B0604020202020204" pitchFamily="34" charset="0"/>
              </a:defRPr>
            </a:lvl5pPr>
            <a:lvl6pPr marL="2611062" indent="-237369" eaLnBrk="0" fontAlgn="base" hangingPunct="0">
              <a:spcBef>
                <a:spcPct val="30000"/>
              </a:spcBef>
              <a:spcAft>
                <a:spcPct val="0"/>
              </a:spcAft>
              <a:defRPr sz="1200">
                <a:solidFill>
                  <a:schemeClr val="tx1"/>
                </a:solidFill>
                <a:latin typeface="Arial" panose="020B0604020202020204" pitchFamily="34" charset="0"/>
              </a:defRPr>
            </a:lvl6pPr>
            <a:lvl7pPr marL="3085801" indent="-237369" eaLnBrk="0" fontAlgn="base" hangingPunct="0">
              <a:spcBef>
                <a:spcPct val="30000"/>
              </a:spcBef>
              <a:spcAft>
                <a:spcPct val="0"/>
              </a:spcAft>
              <a:defRPr sz="1200">
                <a:solidFill>
                  <a:schemeClr val="tx1"/>
                </a:solidFill>
                <a:latin typeface="Arial" panose="020B0604020202020204" pitchFamily="34" charset="0"/>
              </a:defRPr>
            </a:lvl7pPr>
            <a:lvl8pPr marL="3560540" indent="-237369" eaLnBrk="0" fontAlgn="base" hangingPunct="0">
              <a:spcBef>
                <a:spcPct val="30000"/>
              </a:spcBef>
              <a:spcAft>
                <a:spcPct val="0"/>
              </a:spcAft>
              <a:defRPr sz="1200">
                <a:solidFill>
                  <a:schemeClr val="tx1"/>
                </a:solidFill>
                <a:latin typeface="Arial" panose="020B0604020202020204" pitchFamily="34" charset="0"/>
              </a:defRPr>
            </a:lvl8pPr>
            <a:lvl9pPr marL="4035279" indent="-237369"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49478" rtl="0" eaLnBrk="1" fontAlgn="base" latinLnBrk="0" hangingPunct="1">
              <a:lnSpc>
                <a:spcPct val="100000"/>
              </a:lnSpc>
              <a:spcBef>
                <a:spcPct val="0"/>
              </a:spcBef>
              <a:spcAft>
                <a:spcPct val="0"/>
              </a:spcAft>
              <a:buClrTx/>
              <a:buSzTx/>
              <a:buFontTx/>
              <a:buNone/>
              <a:tabLst/>
              <a:defRPr/>
            </a:pPr>
            <a:fld id="{0D38E71A-7817-4174-8257-CFC0318113F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49478"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r>
              <a:rPr lang="en-US" altLang="en-US" dirty="0">
                <a:latin typeface="Arial" panose="020B0604020202020204" pitchFamily="34" charset="0"/>
              </a:rPr>
              <a:t>Read. </a:t>
            </a:r>
          </a:p>
        </p:txBody>
      </p:sp>
    </p:spTree>
    <p:extLst>
      <p:ext uri="{BB962C8B-B14F-4D97-AF65-F5344CB8AC3E}">
        <p14:creationId xmlns:p14="http://schemas.microsoft.com/office/powerpoint/2010/main" val="697461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tx1"/>
                </a:solidFill>
              </a:rPr>
              <a:t>regardless of how you structure it, the WBS should contain the </a:t>
            </a:r>
            <a:r>
              <a:rPr lang="en-US" sz="1200" b="1" dirty="0">
                <a:solidFill>
                  <a:schemeClr val="tx1"/>
                </a:solidFill>
                <a:highlight>
                  <a:srgbClr val="FFFF00"/>
                </a:highlight>
              </a:rPr>
              <a:t>man-hours</a:t>
            </a:r>
            <a:r>
              <a:rPr lang="en-US" sz="1200" dirty="0">
                <a:solidFill>
                  <a:schemeClr val="tx1"/>
                </a:solidFill>
              </a:rPr>
              <a:t>, </a:t>
            </a:r>
            <a:r>
              <a:rPr lang="en-US" sz="1200" b="1" dirty="0">
                <a:solidFill>
                  <a:schemeClr val="tx1"/>
                </a:solidFill>
                <a:highlight>
                  <a:srgbClr val="FFFF00"/>
                </a:highlight>
              </a:rPr>
              <a:t>equipment</a:t>
            </a:r>
            <a:r>
              <a:rPr lang="en-US" sz="1200" dirty="0">
                <a:solidFill>
                  <a:schemeClr val="tx1"/>
                </a:solidFill>
              </a:rPr>
              <a:t>, tools, </a:t>
            </a:r>
            <a:r>
              <a:rPr lang="en-US" sz="1200" b="1" dirty="0">
                <a:solidFill>
                  <a:schemeClr val="tx1"/>
                </a:solidFill>
                <a:highlight>
                  <a:srgbClr val="FFFF00"/>
                </a:highlight>
              </a:rPr>
              <a:t>contractor expenses</a:t>
            </a:r>
            <a:r>
              <a:rPr lang="en-US" sz="1200" dirty="0">
                <a:solidFill>
                  <a:schemeClr val="tx1"/>
                </a:solidFill>
              </a:rPr>
              <a:t>, and any other item of cost.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44244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71450" indent="-296711">
              <a:spcBef>
                <a:spcPct val="30000"/>
              </a:spcBef>
              <a:defRPr sz="1200">
                <a:solidFill>
                  <a:schemeClr val="tx1"/>
                </a:solidFill>
                <a:latin typeface="Arial" panose="020B0604020202020204" pitchFamily="34" charset="0"/>
              </a:defRPr>
            </a:lvl2pPr>
            <a:lvl3pPr marL="1186847" indent="-237369">
              <a:spcBef>
                <a:spcPct val="30000"/>
              </a:spcBef>
              <a:defRPr sz="1200">
                <a:solidFill>
                  <a:schemeClr val="tx1"/>
                </a:solidFill>
                <a:latin typeface="Arial" panose="020B0604020202020204" pitchFamily="34" charset="0"/>
              </a:defRPr>
            </a:lvl3pPr>
            <a:lvl4pPr marL="1661585" indent="-237369">
              <a:spcBef>
                <a:spcPct val="30000"/>
              </a:spcBef>
              <a:defRPr sz="1200">
                <a:solidFill>
                  <a:schemeClr val="tx1"/>
                </a:solidFill>
                <a:latin typeface="Arial" panose="020B0604020202020204" pitchFamily="34" charset="0"/>
              </a:defRPr>
            </a:lvl4pPr>
            <a:lvl5pPr marL="2136324" indent="-237369">
              <a:spcBef>
                <a:spcPct val="30000"/>
              </a:spcBef>
              <a:defRPr sz="1200">
                <a:solidFill>
                  <a:schemeClr val="tx1"/>
                </a:solidFill>
                <a:latin typeface="Arial" panose="020B0604020202020204" pitchFamily="34" charset="0"/>
              </a:defRPr>
            </a:lvl5pPr>
            <a:lvl6pPr marL="2611062" indent="-237369" eaLnBrk="0" fontAlgn="base" hangingPunct="0">
              <a:spcBef>
                <a:spcPct val="30000"/>
              </a:spcBef>
              <a:spcAft>
                <a:spcPct val="0"/>
              </a:spcAft>
              <a:defRPr sz="1200">
                <a:solidFill>
                  <a:schemeClr val="tx1"/>
                </a:solidFill>
                <a:latin typeface="Arial" panose="020B0604020202020204" pitchFamily="34" charset="0"/>
              </a:defRPr>
            </a:lvl6pPr>
            <a:lvl7pPr marL="3085801" indent="-237369" eaLnBrk="0" fontAlgn="base" hangingPunct="0">
              <a:spcBef>
                <a:spcPct val="30000"/>
              </a:spcBef>
              <a:spcAft>
                <a:spcPct val="0"/>
              </a:spcAft>
              <a:defRPr sz="1200">
                <a:solidFill>
                  <a:schemeClr val="tx1"/>
                </a:solidFill>
                <a:latin typeface="Arial" panose="020B0604020202020204" pitchFamily="34" charset="0"/>
              </a:defRPr>
            </a:lvl7pPr>
            <a:lvl8pPr marL="3560540" indent="-237369" eaLnBrk="0" fontAlgn="base" hangingPunct="0">
              <a:spcBef>
                <a:spcPct val="30000"/>
              </a:spcBef>
              <a:spcAft>
                <a:spcPct val="0"/>
              </a:spcAft>
              <a:defRPr sz="1200">
                <a:solidFill>
                  <a:schemeClr val="tx1"/>
                </a:solidFill>
                <a:latin typeface="Arial" panose="020B0604020202020204" pitchFamily="34" charset="0"/>
              </a:defRPr>
            </a:lvl8pPr>
            <a:lvl9pPr marL="4035279" indent="-237369"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49478" rtl="0" eaLnBrk="1" fontAlgn="base" latinLnBrk="0" hangingPunct="1">
              <a:lnSpc>
                <a:spcPct val="100000"/>
              </a:lnSpc>
              <a:spcBef>
                <a:spcPct val="0"/>
              </a:spcBef>
              <a:spcAft>
                <a:spcPct val="0"/>
              </a:spcAft>
              <a:buClrTx/>
              <a:buSzTx/>
              <a:buFontTx/>
              <a:buNone/>
              <a:tabLst/>
              <a:defRPr/>
            </a:pPr>
            <a:fld id="{0D38E71A-7817-4174-8257-CFC0318113F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49478"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76938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a WBS. Note the broad categories, such as Design and Structural. These can be considered Deliverables – things the client will receive. Under each of these Categories/Deliverables are all of the smaller tasks that must be competed first.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17703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might look for another type of project.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0338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another example, using the PMBOK format for designing a project.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05844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from an actual project. Note the deliverables – city council resolution – followed by the first breakdown of tasks – Research, Draft, Finalization. Follwed by all the individual bits of work.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30870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8718D-A153-80C3-CA6A-6ADD5A2FF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E3D8A-7E71-3F0D-9192-360F0412D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2A0B5-AC80-18CC-C654-A271C90BAEFA}"/>
              </a:ext>
            </a:extLst>
          </p:cNvPr>
          <p:cNvSpPr>
            <a:spLocks noGrp="1"/>
          </p:cNvSpPr>
          <p:nvPr>
            <p:ph type="body" idx="1"/>
          </p:nvPr>
        </p:nvSpPr>
        <p:spPr/>
        <p:txBody>
          <a:bodyPr/>
          <a:lstStyle/>
          <a:p>
            <a:r>
              <a:rPr lang="en-US" dirty="0"/>
              <a:t>What makes this WBS so strong is the level of detail. It explains where to look for information, people to call for confirmation, etc. It is so specific that if this team working on it suddenly all disappeared, a brand new team could pick up the WBS and understand what needed to be done. </a:t>
            </a:r>
          </a:p>
        </p:txBody>
      </p:sp>
      <p:sp>
        <p:nvSpPr>
          <p:cNvPr id="4" name="Slide Number Placeholder 3">
            <a:extLst>
              <a:ext uri="{FF2B5EF4-FFF2-40B4-BE49-F238E27FC236}">
                <a16:creationId xmlns:a16="http://schemas.microsoft.com/office/drawing/2014/main" id="{208FBD07-C21A-411D-4B1A-FB82925DA0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62280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CRAZY about this example because it actually schedules the pre-planning stage we discussed. It did not leave it to chance.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6306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D8FF0-0837-75C0-EC84-CFE0946348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21B9B1-8676-257A-4843-C2BF57775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79553-147B-BC80-DAFC-94C1EED8C79F}"/>
              </a:ext>
            </a:extLst>
          </p:cNvPr>
          <p:cNvSpPr>
            <a:spLocks noGrp="1"/>
          </p:cNvSpPr>
          <p:nvPr>
            <p:ph type="body" idx="1"/>
          </p:nvPr>
        </p:nvSpPr>
        <p:spPr/>
        <p:txBody>
          <a:bodyPr/>
          <a:lstStyle/>
          <a:p>
            <a:r>
              <a:rPr lang="en-US" sz="1200" dirty="0">
                <a:solidFill>
                  <a:schemeClr val="tx1"/>
                </a:solidFill>
              </a:rPr>
              <a:t> </a:t>
            </a:r>
            <a:endParaRPr lang="en-US" dirty="0"/>
          </a:p>
        </p:txBody>
      </p:sp>
      <p:sp>
        <p:nvSpPr>
          <p:cNvPr id="4" name="Slide Number Placeholder 3">
            <a:extLst>
              <a:ext uri="{FF2B5EF4-FFF2-40B4-BE49-F238E27FC236}">
                <a16:creationId xmlns:a16="http://schemas.microsoft.com/office/drawing/2014/main" id="{18999735-9B0F-A951-E4BE-1FFF529A96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1903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6735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98908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698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3313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51212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88259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6324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10576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4350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06676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0993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1FA-BE16-4C1E-86D0-DC8A0B329A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249172-0525-49D7-A2E8-DD77D0AEF3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D11EA3-381A-499E-A133-8CA01CB7CD48}"/>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5" name="Footer Placeholder 4">
            <a:extLst>
              <a:ext uri="{FF2B5EF4-FFF2-40B4-BE49-F238E27FC236}">
                <a16:creationId xmlns:a16="http://schemas.microsoft.com/office/drawing/2014/main" id="{4F8B604E-7C2E-4FEC-AA3D-97FEAE58B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6043C-8401-4887-887B-9E41FEA9DA24}"/>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16877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F157-DA10-4A11-A29B-50549C9347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00FB92-069D-4BCF-AFFF-D6669C4FEBA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AB370-84AC-4D00-8918-4CEB78AC8279}"/>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5" name="Footer Placeholder 4">
            <a:extLst>
              <a:ext uri="{FF2B5EF4-FFF2-40B4-BE49-F238E27FC236}">
                <a16:creationId xmlns:a16="http://schemas.microsoft.com/office/drawing/2014/main" id="{70953B6E-2A04-48C5-B33D-F54F6A8779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A076F-45FB-4745-91EC-D1F76C7145E9}"/>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44492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FCD3-A38E-4C0C-99F0-70BA26480E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C9567-8BE3-4660-924E-B8F1C5F80F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4A124AE-C6BD-458E-994C-A6D0B0EE8378}"/>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5" name="Footer Placeholder 4">
            <a:extLst>
              <a:ext uri="{FF2B5EF4-FFF2-40B4-BE49-F238E27FC236}">
                <a16:creationId xmlns:a16="http://schemas.microsoft.com/office/drawing/2014/main" id="{D947A992-4F67-4DE5-8D3F-FD6443F3B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FE13F2-491D-420A-B326-DAD8D2758318}"/>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649706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5F4AA-5195-4782-A216-9BE8D32646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744A1C-BD6D-4446-9214-E36B77CA1BF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989C59-552C-4DD0-B95B-B557F0BE622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69013F-3ED5-4315-B25A-92CA90D95364}"/>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6" name="Footer Placeholder 5">
            <a:extLst>
              <a:ext uri="{FF2B5EF4-FFF2-40B4-BE49-F238E27FC236}">
                <a16:creationId xmlns:a16="http://schemas.microsoft.com/office/drawing/2014/main" id="{F2310BE9-B419-4141-8EAA-CFBABC3F0A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B2B25-636C-49A9-A2AD-03474D97DB64}"/>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4611752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C580F-5DE3-4802-AB94-5C551C56CA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06DEFB-C589-4867-B1A6-2F636336E0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4072145-8E5B-40E1-955E-311B0ECEE08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605866-8DB6-4992-BDD7-07F154682F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596DCED-16F6-45C3-9DCC-3194AA7FF3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869C04-23DD-49C9-A9CA-67FC48A17B34}"/>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8" name="Footer Placeholder 7">
            <a:extLst>
              <a:ext uri="{FF2B5EF4-FFF2-40B4-BE49-F238E27FC236}">
                <a16:creationId xmlns:a16="http://schemas.microsoft.com/office/drawing/2014/main" id="{0B0DED90-6357-473E-9649-9412162B81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60121F-D176-4BD8-A8AE-0EDF3436D73B}"/>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1586559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E1BE2-3645-4604-AA51-CCA02B5A2C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F1B2D3-2F30-4757-ACF9-6EAEC869FC3C}"/>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4" name="Footer Placeholder 3">
            <a:extLst>
              <a:ext uri="{FF2B5EF4-FFF2-40B4-BE49-F238E27FC236}">
                <a16:creationId xmlns:a16="http://schemas.microsoft.com/office/drawing/2014/main" id="{448B7B7B-0050-4B5B-842C-B81B757577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F7F962-DE99-4D14-AF88-3918B8F59A82}"/>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16647138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36AD3-A99A-4152-9828-DA9C8AC5088B}"/>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3" name="Footer Placeholder 2">
            <a:extLst>
              <a:ext uri="{FF2B5EF4-FFF2-40B4-BE49-F238E27FC236}">
                <a16:creationId xmlns:a16="http://schemas.microsoft.com/office/drawing/2014/main" id="{71FE5AFF-0B74-49EF-836A-6AB403A7EE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525EFA-1A8E-48BE-BCF0-A4EDCA1916C9}"/>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863800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5B29-6546-4270-8053-079AF003CE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5F534A-7F7F-4C5A-ADD0-DF775C0A40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2DCEAE-DDC0-47C2-806B-2EA0D66FA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5A841BC-169D-487B-866B-06193FB50550}"/>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6" name="Footer Placeholder 5">
            <a:extLst>
              <a:ext uri="{FF2B5EF4-FFF2-40B4-BE49-F238E27FC236}">
                <a16:creationId xmlns:a16="http://schemas.microsoft.com/office/drawing/2014/main" id="{F756DD77-C322-4158-B590-40B140DDEB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CD8DE7-664A-45BB-890E-353D2EAC0748}"/>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518889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D0D41-7458-4A2E-80B7-EDAF79A62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8A3135-255B-493E-A673-E4AD9888CF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252E37-FFA0-48E8-A4A3-FF5975E58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8292746-D8A5-46E0-8DCF-F14A65F60362}"/>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6" name="Footer Placeholder 5">
            <a:extLst>
              <a:ext uri="{FF2B5EF4-FFF2-40B4-BE49-F238E27FC236}">
                <a16:creationId xmlns:a16="http://schemas.microsoft.com/office/drawing/2014/main" id="{847C0451-133E-4015-B1A7-1171A1BEFB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8C6061-593B-4067-BC28-F60009237A7B}"/>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628415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C986-062D-4268-AAF8-628F962CE3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3DFF04-5BCB-4BCB-A68C-36DC2BFE35A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A146C0-7B1B-451D-98F1-CD73A586BBB1}"/>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5" name="Footer Placeholder 4">
            <a:extLst>
              <a:ext uri="{FF2B5EF4-FFF2-40B4-BE49-F238E27FC236}">
                <a16:creationId xmlns:a16="http://schemas.microsoft.com/office/drawing/2014/main" id="{EFD2749D-CAB0-4871-907A-8B5FB39E5C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692D2-D623-4F67-88F3-370FB72B018E}"/>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1429351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20A2EB-8377-4CAB-BD90-CE047EF81A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A36EDB-7A09-4D57-ABD4-16B46459250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B29B3-93C4-4FB7-9BD2-B7196BD476AA}"/>
              </a:ext>
            </a:extLst>
          </p:cNvPr>
          <p:cNvSpPr>
            <a:spLocks noGrp="1"/>
          </p:cNvSpPr>
          <p:nvPr>
            <p:ph type="dt" sz="half" idx="10"/>
          </p:nvPr>
        </p:nvSpPr>
        <p:spPr/>
        <p:txBody>
          <a:bodyPr/>
          <a:lstStyle/>
          <a:p>
            <a:fld id="{1210552C-D2EE-429C-8F10-87868A576033}" type="datetimeFigureOut">
              <a:rPr lang="en-US" smtClean="0"/>
              <a:t>1/7/2026</a:t>
            </a:fld>
            <a:endParaRPr lang="en-US"/>
          </a:p>
        </p:txBody>
      </p:sp>
      <p:sp>
        <p:nvSpPr>
          <p:cNvPr id="5" name="Footer Placeholder 4">
            <a:extLst>
              <a:ext uri="{FF2B5EF4-FFF2-40B4-BE49-F238E27FC236}">
                <a16:creationId xmlns:a16="http://schemas.microsoft.com/office/drawing/2014/main" id="{4538B756-1600-499F-A625-3E554C34EC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EB865B-EE72-44AB-9195-7B97EF3E9065}"/>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155316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5" y="4352544"/>
            <a:ext cx="6801612" cy="1239894"/>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BC1D1087-A499-403C-9706-56256D6A62D2}"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91829727"/>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1D1087-A499-403C-9706-56256D6A62D2}"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8640401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5" y="4352465"/>
            <a:ext cx="6801612" cy="126508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BC1D1087-A499-403C-9706-56256D6A62D2}"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696150528"/>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7"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C1D1087-A499-403C-9706-56256D6A62D2}" type="datetimeFigureOut">
              <a:rPr lang="en-US" smtClean="0"/>
              <a:t>1/7/2026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2381474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5"/>
            <a:ext cx="4270248" cy="704087"/>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7"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5"/>
            <a:ext cx="4270248" cy="704087"/>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7" name="Date Placeholder 6"/>
          <p:cNvSpPr>
            <a:spLocks noGrp="1"/>
          </p:cNvSpPr>
          <p:nvPr>
            <p:ph type="dt" sz="half" idx="10"/>
          </p:nvPr>
        </p:nvSpPr>
        <p:spPr/>
        <p:txBody>
          <a:bodyPr/>
          <a:lstStyle/>
          <a:p>
            <a:fld id="{BC1D1087-A499-403C-9706-56256D6A62D2}"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7469594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1D1087-A499-403C-9706-56256D6A62D2}" type="datetimeFigureOut">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1198414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1D1087-A499-403C-9706-56256D6A62D2}" type="datetimeFigureOut">
              <a:rPr lang="en-US"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25373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30"/>
            <a:ext cx="4486656" cy="1141497"/>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9" name="Date Placeholder 8"/>
          <p:cNvSpPr>
            <a:spLocks noGrp="1"/>
          </p:cNvSpPr>
          <p:nvPr>
            <p:ph type="dt" sz="half" idx="10"/>
          </p:nvPr>
        </p:nvSpPr>
        <p:spPr/>
        <p:txBody>
          <a:bodyPr/>
          <a:lstStyle/>
          <a:p>
            <a:fld id="{BC1D1087-A499-403C-9706-56256D6A62D2}" type="datetimeFigureOut">
              <a:rPr lang="en-US" smtClean="0"/>
              <a:t>1/7/2026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0853636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2"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9" cy="1134640"/>
          </a:xfrm>
          <a:solidFill>
            <a:srgbClr val="FFFFFF"/>
          </a:solidFill>
          <a:ln>
            <a:solidFill>
              <a:srgbClr val="404040"/>
            </a:solidFill>
          </a:ln>
        </p:spPr>
        <p:txBody>
          <a:bodyPr anchor="ctr" anchorCtr="1">
            <a:noAutofit/>
          </a:bodyPr>
          <a:lstStyle>
            <a:lvl1pPr>
              <a:defRPr sz="165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6001" y="0"/>
            <a:ext cx="6102097" cy="6858000"/>
          </a:xfr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115568" y="3549920"/>
            <a:ext cx="3794760" cy="219403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C1D1087-A499-403C-9706-56256D6A62D2}" type="datetimeFigureOut">
              <a:rPr lang="en-US" smtClean="0"/>
              <a:t>1/7/2026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617249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69051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7"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3104430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9B7F-7CFC-939E-D9C8-5AC210BD6A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22C5D8-6DAF-D0DC-8432-AC9AB121A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56625E-7481-E689-219E-D355FD7D094A}"/>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5" name="Footer Placeholder 4">
            <a:extLst>
              <a:ext uri="{FF2B5EF4-FFF2-40B4-BE49-F238E27FC236}">
                <a16:creationId xmlns:a16="http://schemas.microsoft.com/office/drawing/2014/main" id="{CABD3010-B82D-363D-FA3B-9099012669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345D17-63C7-0808-9657-96AD3778B6D7}"/>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36716427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11C4-7B35-4509-4346-C0C273ECD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3D39C3-BD5C-64A3-3A89-CBC0E0E6D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6F4B79-3A5C-37D8-2E0F-27F17A593E62}"/>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5" name="Footer Placeholder 4">
            <a:extLst>
              <a:ext uri="{FF2B5EF4-FFF2-40B4-BE49-F238E27FC236}">
                <a16:creationId xmlns:a16="http://schemas.microsoft.com/office/drawing/2014/main" id="{5F28BB08-2C52-786E-1027-9A079F2EA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7493C-5341-FB57-406F-AF12D5B05D71}"/>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1544714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28127-74B9-847C-8F77-70E9FCBAAB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56A9DB-1B7E-86AF-18CF-0027969EAC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8E8454-8942-9F09-0553-56E15B3DC2E4}"/>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5" name="Footer Placeholder 4">
            <a:extLst>
              <a:ext uri="{FF2B5EF4-FFF2-40B4-BE49-F238E27FC236}">
                <a16:creationId xmlns:a16="http://schemas.microsoft.com/office/drawing/2014/main" id="{90E5F4F9-3102-709F-FEDA-3E340663E2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8972B-A295-1A12-925C-502D88038D60}"/>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40921952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D1E99-A174-4D4B-027B-C839C4695A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AFD693-1A06-6148-4CB2-0CA5504732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0A3DCB-5CE8-C697-DECB-241DBBD4E6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78820C-2E4D-B7E6-4D4B-8A77FE7668F9}"/>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6" name="Footer Placeholder 5">
            <a:extLst>
              <a:ext uri="{FF2B5EF4-FFF2-40B4-BE49-F238E27FC236}">
                <a16:creationId xmlns:a16="http://schemas.microsoft.com/office/drawing/2014/main" id="{F6AC2F49-B564-D7DA-70EE-0842D18FFA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7C1344-3903-3C70-1A80-9795E40648DD}"/>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904074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2482-37D4-8DF5-A574-B34D3E6B31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CF5B66-D36C-343D-9F25-215CACA2AC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083C05-E030-FB87-2163-3D7DC22F61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99DEED-2143-A7FF-8440-5FD2EDF9D0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F33D45-EA73-92E1-F159-4D36BDB312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FCA8E8-8E67-2610-EA33-90A90D74E034}"/>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8" name="Footer Placeholder 7">
            <a:extLst>
              <a:ext uri="{FF2B5EF4-FFF2-40B4-BE49-F238E27FC236}">
                <a16:creationId xmlns:a16="http://schemas.microsoft.com/office/drawing/2014/main" id="{8F97B122-78E8-1600-7B5C-15665BBCAB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5C1CCF-6B0B-3BCE-206A-418F2DB0B42A}"/>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6043538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FE00A-BE56-2768-CCBA-4ACE9893BF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40E630-792D-F528-DE7E-4205159BEE1A}"/>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4" name="Footer Placeholder 3">
            <a:extLst>
              <a:ext uri="{FF2B5EF4-FFF2-40B4-BE49-F238E27FC236}">
                <a16:creationId xmlns:a16="http://schemas.microsoft.com/office/drawing/2014/main" id="{EAD8A62C-AFC3-A71F-7FA1-7C6C79D577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DB9FA3-DF40-884E-2945-45E3BC34C0EE}"/>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0250576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D5B98-7E0A-4E53-9F0F-433F42E6F94F}"/>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3" name="Footer Placeholder 2">
            <a:extLst>
              <a:ext uri="{FF2B5EF4-FFF2-40B4-BE49-F238E27FC236}">
                <a16:creationId xmlns:a16="http://schemas.microsoft.com/office/drawing/2014/main" id="{76ADD496-A8F2-4963-76AA-BBDA272468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0FCA0D-1D0E-6195-D111-848C09C771B1}"/>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9889700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C464-31CF-491C-DED3-114E832B42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5148B6-ADC5-A8D3-E4A2-AA4534F8EB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E5AB75-3867-6E7C-CD8F-ECDFA3DA3A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4EDD6D-F216-168B-F199-0B35E881D553}"/>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6" name="Footer Placeholder 5">
            <a:extLst>
              <a:ext uri="{FF2B5EF4-FFF2-40B4-BE49-F238E27FC236}">
                <a16:creationId xmlns:a16="http://schemas.microsoft.com/office/drawing/2014/main" id="{C1FA60C4-31F0-1A1B-E82E-3861260554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579437-F898-58E9-36E7-BAC9E6E68047}"/>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8582592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5386-0EA6-7B3E-0CF4-F6B0A35C43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B807D5-6E0A-6232-A0AD-93CDF04669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7735A9-4C82-4823-27E6-E0BFC7325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73A2E-8957-406C-2FAF-576FA8471F39}"/>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6" name="Footer Placeholder 5">
            <a:extLst>
              <a:ext uri="{FF2B5EF4-FFF2-40B4-BE49-F238E27FC236}">
                <a16:creationId xmlns:a16="http://schemas.microsoft.com/office/drawing/2014/main" id="{CF7B3E0B-EA59-33D3-4428-34EBD0D030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67235F-6A78-3750-F3A1-CF064FB72AC6}"/>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4395527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87A8E-DA89-B00F-59C8-9A80E15E47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AD0749-0C61-78AF-B4AB-0766217A9D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349A40-C0B6-624C-1643-9399171971C4}"/>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5" name="Footer Placeholder 4">
            <a:extLst>
              <a:ext uri="{FF2B5EF4-FFF2-40B4-BE49-F238E27FC236}">
                <a16:creationId xmlns:a16="http://schemas.microsoft.com/office/drawing/2014/main" id="{4E526577-E22B-4E74-2382-04CB062A72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AEA85-7297-753E-B9B2-EDD61D5CB1AD}"/>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13944087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AAA74C-79C9-1805-DA32-98620DFC58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7A0A4F-056F-36D8-A8AE-86A037D14B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F60AF0-791E-6300-1A99-8A5BBE934394}"/>
              </a:ext>
            </a:extLst>
          </p:cNvPr>
          <p:cNvSpPr>
            <a:spLocks noGrp="1"/>
          </p:cNvSpPr>
          <p:nvPr>
            <p:ph type="dt" sz="half" idx="10"/>
          </p:nvPr>
        </p:nvSpPr>
        <p:spPr/>
        <p:txBody>
          <a:bodyPr/>
          <a:lstStyle/>
          <a:p>
            <a:fld id="{CCA18DE0-C786-4B81-A280-816435620A3C}" type="datetimeFigureOut">
              <a:rPr lang="en-US" smtClean="0"/>
              <a:t>1/7/2026</a:t>
            </a:fld>
            <a:endParaRPr lang="en-US"/>
          </a:p>
        </p:txBody>
      </p:sp>
      <p:sp>
        <p:nvSpPr>
          <p:cNvPr id="5" name="Footer Placeholder 4">
            <a:extLst>
              <a:ext uri="{FF2B5EF4-FFF2-40B4-BE49-F238E27FC236}">
                <a16:creationId xmlns:a16="http://schemas.microsoft.com/office/drawing/2014/main" id="{BF1AD8A5-D500-5DE6-DADB-5E07BB738D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C5D47E-6B20-84ED-6138-5C0DA5F47188}"/>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1909411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9A0E6C2A-85C6-4763-B97A-9CB1A3C5CA1A}" type="datetime1">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4413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F6831CBB-E587-4C0C-A6F8-430621204336}" type="datetime1">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vl1pPr>
          </a:lstStyle>
          <a:p>
            <a:r>
              <a:rPr lang="en-US" dirty="0"/>
              <a:t>1</a:t>
            </a:r>
          </a:p>
        </p:txBody>
      </p:sp>
    </p:spTree>
    <p:extLst>
      <p:ext uri="{BB962C8B-B14F-4D97-AF65-F5344CB8AC3E}">
        <p14:creationId xmlns:p14="http://schemas.microsoft.com/office/powerpoint/2010/main" val="6418374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DA4A5C29-8B6B-4284-A7DC-DA9815FC9D66}" type="datetime1">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72358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0ECD0ED3-E3FF-49C2-BEB6-3CB3BB8F6B01}" type="datetime1">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109391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97280" y="6459785"/>
            <a:ext cx="2472271" cy="365125"/>
          </a:xfrm>
          <a:prstGeom prst="rect">
            <a:avLst/>
          </a:prstGeom>
        </p:spPr>
        <p:txBody>
          <a:bodyPr/>
          <a:lstStyle/>
          <a:p>
            <a:fld id="{BC1D00F5-7B0B-434C-92F6-D4A501945092}" type="datetime1">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7170203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97280" y="6459785"/>
            <a:ext cx="2472271" cy="365125"/>
          </a:xfrm>
          <a:prstGeom prst="rect">
            <a:avLst/>
          </a:prstGeom>
        </p:spPr>
        <p:txBody>
          <a:bodyPr/>
          <a:lstStyle/>
          <a:p>
            <a:fld id="{F86AD80F-763D-4800-AC1F-C97D17DD2E33}" type="datetime1">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527897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a:xfrm>
            <a:off x="1097280" y="6459785"/>
            <a:ext cx="2472271" cy="365125"/>
          </a:xfrm>
          <a:prstGeom prst="rect">
            <a:avLst/>
          </a:prstGeom>
        </p:spPr>
        <p:txBody>
          <a:bodyPr/>
          <a:lstStyle/>
          <a:p>
            <a:fld id="{1481E8BD-8411-47D2-BCC1-3CC240AE6870}" type="datetime1">
              <a:rPr lang="en-US" smtClean="0"/>
              <a:t>1/7/2026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4384968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a:prstGeom prst="rect">
            <a:avLst/>
          </a:prstGeom>
        </p:spPr>
        <p:txBody>
          <a:bodyPr/>
          <a:lstStyle>
            <a:lvl1pPr algn="l">
              <a:defRPr/>
            </a:lvl1pPr>
          </a:lstStyle>
          <a:p>
            <a:fld id="{B615E2FD-3C7B-408C-8930-01309CA3A77B}" type="datetime1">
              <a:rPr lang="en-US" smtClean="0"/>
              <a:t>1/7/2026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2093888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5A02716E-CE70-4312-B252-2F0243E2D4E8}" type="datetime1">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213000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F7467F08-7016-449B-8057-F5CBC8B29386}" type="datetime1">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7819463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63453A84-61F2-4B80-819C-46242AF185E7}" type="datetime1">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821367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8827-7DAA-4B12-BBA5-27FF5C8BD2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5CE7D9-DC3E-4AB0-8E40-0C04CBA27B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0D79C1-DE76-4FCB-8188-181C040E4FF4}"/>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C2405598-672E-4D50-854E-B96733DD5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805C8-BB65-4C8D-B691-88211A1AA9F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2512238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AD076-4798-4C50-A8B1-90B0468016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6131B4-EEF7-4807-8CFA-BB139C1C490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813381-0A75-43C3-B1E7-E16A27D650F3}"/>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3CD45E5C-A815-4AAC-A044-A72DB10FF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BF8D4E-A7F2-40E3-A8C3-E9A85B81FCE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53287079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03AF2-1750-42D3-A8EC-CDD7324A7A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1DF344-AA40-4E59-92F2-C2DA544233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7461F01-B958-4045-84C3-B0BB71ED415A}"/>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E3CA38DF-389B-4A00-B1DD-FE1B8BAAF5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EC238-8C07-4957-9D43-A464BB5CE8A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2365575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1C08A-3821-4D5C-909A-2C45E6CD10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274B3D-856C-47D4-A448-D6C4CBAAF53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493D3-BBCA-45F3-91CA-7D094F9655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90E599-4AB1-4101-8B86-5D077A72D0A0}"/>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6" name="Footer Placeholder 5">
            <a:extLst>
              <a:ext uri="{FF2B5EF4-FFF2-40B4-BE49-F238E27FC236}">
                <a16:creationId xmlns:a16="http://schemas.microsoft.com/office/drawing/2014/main" id="{181E23CE-AD0B-4D46-AC56-7B7C168BDA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6DB82-02F1-41A3-B56E-2065A7358113}"/>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96017017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21B23-AB25-4C4E-B792-FDBB1E15B2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F026DB-C6AC-434D-8DD1-074AB824D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FEFF785-4E71-4121-A402-E8FD4B32D72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1338B6-DDF8-4D85-8A93-1DA7C32575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735309-8E56-4FFD-B8DE-BF2C87DB7E0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94C889-958E-4EDB-A992-ABF68B4D3F54}"/>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8" name="Footer Placeholder 7">
            <a:extLst>
              <a:ext uri="{FF2B5EF4-FFF2-40B4-BE49-F238E27FC236}">
                <a16:creationId xmlns:a16="http://schemas.microsoft.com/office/drawing/2014/main" id="{DCECBBD6-57EE-4AC2-BF91-F33F856504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8224FF-CDF8-4626-985E-37641164FA9F}"/>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81785813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D6F0-6A61-4D68-9ADD-12ECD765B8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AC6083-803D-40D1-AF86-62B35A100120}"/>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4" name="Footer Placeholder 3">
            <a:extLst>
              <a:ext uri="{FF2B5EF4-FFF2-40B4-BE49-F238E27FC236}">
                <a16:creationId xmlns:a16="http://schemas.microsoft.com/office/drawing/2014/main" id="{06E28194-0D70-40AB-9E2C-52A6C15F48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5B879-22E7-4AFA-BB68-2B949443116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76264331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245807-40C6-44C9-80CA-BFD4B8007C72}"/>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3" name="Footer Placeholder 2">
            <a:extLst>
              <a:ext uri="{FF2B5EF4-FFF2-40B4-BE49-F238E27FC236}">
                <a16:creationId xmlns:a16="http://schemas.microsoft.com/office/drawing/2014/main" id="{7590DC38-D02A-4F45-A87E-775BB3719C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59F3A2-CBE7-404E-AED4-60C437788B5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5205674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898D-83DC-4932-8FCF-C9612815C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4D70E1-EFA7-4F48-ABFB-AF343677D2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4D2C29-36E8-430E-BE9C-06B62E230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40C6058-FD47-4A03-BFF1-4954DDC6A959}"/>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6" name="Footer Placeholder 5">
            <a:extLst>
              <a:ext uri="{FF2B5EF4-FFF2-40B4-BE49-F238E27FC236}">
                <a16:creationId xmlns:a16="http://schemas.microsoft.com/office/drawing/2014/main" id="{4E4533B8-BA50-49E8-8F51-5FFAD31F0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60799A-F109-4FFB-8FE4-78B1B964464D}"/>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7759259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FD8E-6853-4457-9E2A-560147A384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3367B8-7F55-4B6B-8DC1-CA7466A2E0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F435A9-F101-4D1C-9344-C46AD7B5C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019DC05-BE1A-4423-ABAB-5C90D9A73D36}"/>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6" name="Footer Placeholder 5">
            <a:extLst>
              <a:ext uri="{FF2B5EF4-FFF2-40B4-BE49-F238E27FC236}">
                <a16:creationId xmlns:a16="http://schemas.microsoft.com/office/drawing/2014/main" id="{6EAF8F60-6705-4B79-98FA-D02C3FFDA7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22494-3A9F-40FD-83DF-C79D3F43B525}"/>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4821912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AD530-FD25-4393-95C3-66ECAD601A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D12BA7-0160-45FB-8877-6ACB0F6429D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A91E08-0225-43D6-AE4D-3EF59ED63FA2}"/>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71948B2C-1FFD-4D0C-A29A-6743E0A62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02C6A-83F2-4C44-92F1-CAD39BE768A9}"/>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80107316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3EFAE8-9B12-4E1E-876E-310AD2FB1E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753A4B-4004-4596-A7F8-17D75B91D33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4476B8-A8D0-415B-9638-B6A6AFE967B9}"/>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ADD18B58-4B67-4A0C-92F4-24A7241D3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B9D46-566C-473A-9F38-4F26001360D1}"/>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0633526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AF239A9A-B4B0-4B32-B8CD-2E25E95134C4}" type="datetimeFigureOut">
              <a:rPr lang="en-US" smtClean="0"/>
              <a:t>1/7/2026</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4779340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308810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B9C5D3-0140-4E75-8D7F-C0623D06DFD7}"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3666019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8307577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smtClean="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835870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6811C9-A66C-49F0-970E-F7B68D9109A0}" type="datetimeFigureOut">
              <a:rPr lang="en-US" smtClean="0"/>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46278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1AE78-96A2-4A23-B183-3B6DB4374FE7}" type="datetimeFigureOut">
              <a:rPr lang="en-US" smtClean="0"/>
              <a:t>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1381672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73AE0757-B101-4811-9189-10EB2F458E2D}"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6556601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7EBDC078-589F-40E3-816C-EE21D62B5BBA}" type="datetimeFigureOut">
              <a:rPr lang="en-US" smtClean="0"/>
              <a:t>1/7/2026</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1123004648"/>
      </p:ext>
    </p:extLst>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339392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13FEF9-69D0-4F8C-A336-59491FBEDC47}"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7775595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F1FDAB0-1CD3-48D1-9007-731674405289}" type="datetime1">
              <a:rPr lang="en-US" smtClean="0"/>
              <a:t>1/7/2026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5454931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BDF7FB-15D3-4923-B9D6-4AE54633BD74}" type="datetime1">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84755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07AA711-06FA-406F-A64A-816AE4445FE7}" type="datetime1">
              <a:rPr lang="en-US" smtClean="0"/>
              <a:t>1/7/2026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54921513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A61EC9-3B9E-4078-831C-4982CC077118}" type="datetime1">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9607332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7ED7CE-7EFB-47C0-AC04-21ADFD626E1D}" type="datetime1">
              <a:rPr lang="en-US" smtClean="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5830802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522D6C-4FCB-4F13-BABC-731BB314B0D4}" type="datetime1">
              <a:rPr lang="en-US" smtClean="0"/>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2391224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A23AC4-20F1-48F9-A8D5-74B0150F929C}" type="datetime1">
              <a:rPr lang="en-US" smtClean="0"/>
              <a:t>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6841976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602185DB-CA1E-488C-AF35-490C059E2B11}" type="datetime1">
              <a:rPr lang="en-US" smtClean="0"/>
              <a:t>1/7/2026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70962922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071F101-97EA-4D5C-8F96-91C440E93AD8}" type="datetime1">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8035689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4C1B62-4BE9-490E-BC2E-B0EB6BE8E241}" type="datetime1">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133339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3F4BFBD-5BFA-4A55-882E-61E65396C667}" type="datetime1">
              <a:rPr lang="en-US" smtClean="0"/>
              <a:t>1/7/2026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0224330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53519D74-014B-4D26-BC7B-8A88646CFF51}" type="datetimeFigureOut">
              <a:rPr lang="en-US">
                <a:solidFill>
                  <a:prstClr val="black">
                    <a:tint val="75000"/>
                  </a:prstClr>
                </a:solidFill>
              </a:rPr>
              <a:pPr>
                <a:defRPr/>
              </a:pPr>
              <a:t>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BF16A36-6DAB-478E-B9BA-DB70AF8BC6ED}" type="slidenum">
              <a:rPr lang="en-US" altLang="en-US"/>
              <a:pPr>
                <a:defRPr/>
              </a:pPr>
              <a:t>‹#›</a:t>
            </a:fld>
            <a:endParaRPr lang="en-US" altLang="en-US"/>
          </a:p>
        </p:txBody>
      </p:sp>
    </p:spTree>
    <p:extLst>
      <p:ext uri="{BB962C8B-B14F-4D97-AF65-F5344CB8AC3E}">
        <p14:creationId xmlns:p14="http://schemas.microsoft.com/office/powerpoint/2010/main" val="19821621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EEAEA56-7245-4CEA-B9E8-04F853A85CB9}" type="datetimeFigureOut">
              <a:rPr lang="en-US">
                <a:solidFill>
                  <a:prstClr val="black">
                    <a:tint val="75000"/>
                  </a:prstClr>
                </a:solidFill>
              </a:rPr>
              <a:pPr>
                <a:defRPr/>
              </a:pPr>
              <a:t>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1B14808-9868-4EA1-BA81-B1C12F75E547}" type="slidenum">
              <a:rPr lang="en-US" altLang="en-US"/>
              <a:pPr>
                <a:defRPr/>
              </a:pPr>
              <a:t>‹#›</a:t>
            </a:fld>
            <a:endParaRPr lang="en-US" altLang="en-US"/>
          </a:p>
        </p:txBody>
      </p:sp>
    </p:spTree>
    <p:extLst>
      <p:ext uri="{BB962C8B-B14F-4D97-AF65-F5344CB8AC3E}">
        <p14:creationId xmlns:p14="http://schemas.microsoft.com/office/powerpoint/2010/main" val="331552997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49CA664-21A7-4315-A58C-60ED1B598371}" type="datetimeFigureOut">
              <a:rPr lang="en-US">
                <a:solidFill>
                  <a:prstClr val="black">
                    <a:tint val="75000"/>
                  </a:prstClr>
                </a:solidFill>
              </a:rPr>
              <a:pPr>
                <a:defRPr/>
              </a:pPr>
              <a:t>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E557772-FBF6-40BE-9151-171F7C3C313F}" type="slidenum">
              <a:rPr lang="en-US" altLang="en-US"/>
              <a:pPr>
                <a:defRPr/>
              </a:pPr>
              <a:t>‹#›</a:t>
            </a:fld>
            <a:endParaRPr lang="en-US" altLang="en-US"/>
          </a:p>
        </p:txBody>
      </p:sp>
    </p:spTree>
    <p:extLst>
      <p:ext uri="{BB962C8B-B14F-4D97-AF65-F5344CB8AC3E}">
        <p14:creationId xmlns:p14="http://schemas.microsoft.com/office/powerpoint/2010/main" val="331938881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DB667A-1840-4BE8-B2A4-8746C5423395}" type="datetimeFigureOut">
              <a:rPr lang="en-US">
                <a:solidFill>
                  <a:prstClr val="black">
                    <a:tint val="75000"/>
                  </a:prstClr>
                </a:solidFill>
              </a:rPr>
              <a:pPr>
                <a:defRPr/>
              </a:pPr>
              <a:t>1/7/2026</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A0490134-5E4C-4160-A126-7FF06F5FBACA}" type="slidenum">
              <a:rPr lang="en-US" altLang="en-US"/>
              <a:pPr>
                <a:defRPr/>
              </a:pPr>
              <a:t>‹#›</a:t>
            </a:fld>
            <a:endParaRPr lang="en-US" altLang="en-US"/>
          </a:p>
        </p:txBody>
      </p:sp>
    </p:spTree>
    <p:extLst>
      <p:ext uri="{BB962C8B-B14F-4D97-AF65-F5344CB8AC3E}">
        <p14:creationId xmlns:p14="http://schemas.microsoft.com/office/powerpoint/2010/main" val="426310425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EC33CBC-F189-4658-AB8E-0F1F006CBD47}" type="datetimeFigureOut">
              <a:rPr lang="en-US">
                <a:solidFill>
                  <a:prstClr val="black">
                    <a:tint val="75000"/>
                  </a:prstClr>
                </a:solidFill>
              </a:rPr>
              <a:pPr>
                <a:defRPr/>
              </a:pPr>
              <a:t>1/7/2026</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9446FF00-7F5F-4F65-B7BE-7976EE93BD34}" type="slidenum">
              <a:rPr lang="en-US" altLang="en-US"/>
              <a:pPr>
                <a:defRPr/>
              </a:pPr>
              <a:t>‹#›</a:t>
            </a:fld>
            <a:endParaRPr lang="en-US" altLang="en-US"/>
          </a:p>
        </p:txBody>
      </p:sp>
    </p:spTree>
    <p:extLst>
      <p:ext uri="{BB962C8B-B14F-4D97-AF65-F5344CB8AC3E}">
        <p14:creationId xmlns:p14="http://schemas.microsoft.com/office/powerpoint/2010/main" val="151425055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C1D9DD3-0495-425E-8936-9916E06F45FA}" type="datetimeFigureOut">
              <a:rPr lang="en-US">
                <a:solidFill>
                  <a:prstClr val="black">
                    <a:tint val="75000"/>
                  </a:prstClr>
                </a:solidFill>
              </a:rPr>
              <a:pPr>
                <a:defRPr/>
              </a:pPr>
              <a:t>1/7/2026</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D3B9FB01-B661-40F4-881F-C3E187FA5D7D}" type="slidenum">
              <a:rPr lang="en-US" altLang="en-US"/>
              <a:pPr>
                <a:defRPr/>
              </a:pPr>
              <a:t>‹#›</a:t>
            </a:fld>
            <a:endParaRPr lang="en-US" altLang="en-US"/>
          </a:p>
        </p:txBody>
      </p:sp>
    </p:spTree>
    <p:extLst>
      <p:ext uri="{BB962C8B-B14F-4D97-AF65-F5344CB8AC3E}">
        <p14:creationId xmlns:p14="http://schemas.microsoft.com/office/powerpoint/2010/main" val="40392900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5862F34-D246-4535-93E6-77FF46FB47C8}" type="datetimeFigureOut">
              <a:rPr lang="en-US">
                <a:solidFill>
                  <a:prstClr val="black">
                    <a:tint val="75000"/>
                  </a:prstClr>
                </a:solidFill>
              </a:rPr>
              <a:pPr>
                <a:defRPr/>
              </a:pPr>
              <a:t>1/7/2026</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A566CC41-6C09-421C-AE99-295CE75A5742}" type="slidenum">
              <a:rPr lang="en-US" altLang="en-US"/>
              <a:pPr>
                <a:defRPr/>
              </a:pPr>
              <a:t>‹#›</a:t>
            </a:fld>
            <a:endParaRPr lang="en-US" altLang="en-US"/>
          </a:p>
        </p:txBody>
      </p:sp>
    </p:spTree>
    <p:extLst>
      <p:ext uri="{BB962C8B-B14F-4D97-AF65-F5344CB8AC3E}">
        <p14:creationId xmlns:p14="http://schemas.microsoft.com/office/powerpoint/2010/main" val="398709066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2493759-4DCF-4448-81E9-75851888E521}" type="datetimeFigureOut">
              <a:rPr lang="en-US">
                <a:solidFill>
                  <a:prstClr val="black">
                    <a:tint val="75000"/>
                  </a:prstClr>
                </a:solidFill>
              </a:rPr>
              <a:pPr>
                <a:defRPr/>
              </a:pPr>
              <a:t>1/7/2026</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EF1461D-9C00-4713-895A-BEA66C4C3C6A}" type="slidenum">
              <a:rPr lang="en-US" altLang="en-US"/>
              <a:pPr>
                <a:defRPr/>
              </a:pPr>
              <a:t>‹#›</a:t>
            </a:fld>
            <a:endParaRPr lang="en-US" altLang="en-US"/>
          </a:p>
        </p:txBody>
      </p:sp>
    </p:spTree>
    <p:extLst>
      <p:ext uri="{BB962C8B-B14F-4D97-AF65-F5344CB8AC3E}">
        <p14:creationId xmlns:p14="http://schemas.microsoft.com/office/powerpoint/2010/main" val="408414514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FF35F26-1F6D-4FDF-9855-0D68E4B489D5}" type="datetimeFigureOut">
              <a:rPr lang="en-US">
                <a:solidFill>
                  <a:prstClr val="black">
                    <a:tint val="75000"/>
                  </a:prstClr>
                </a:solidFill>
              </a:rPr>
              <a:pPr>
                <a:defRPr/>
              </a:pPr>
              <a:t>1/7/2026</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650D40E-B5DD-4BAB-B961-2E8DDF948191}" type="slidenum">
              <a:rPr lang="en-US" altLang="en-US"/>
              <a:pPr>
                <a:defRPr/>
              </a:pPr>
              <a:t>‹#›</a:t>
            </a:fld>
            <a:endParaRPr lang="en-US" altLang="en-US"/>
          </a:p>
        </p:txBody>
      </p:sp>
    </p:spTree>
    <p:extLst>
      <p:ext uri="{BB962C8B-B14F-4D97-AF65-F5344CB8AC3E}">
        <p14:creationId xmlns:p14="http://schemas.microsoft.com/office/powerpoint/2010/main" val="68276599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66B5898-5BA1-47C7-B9E5-6881ABDDAD16}" type="datetimeFigureOut">
              <a:rPr lang="en-US">
                <a:solidFill>
                  <a:prstClr val="black">
                    <a:tint val="75000"/>
                  </a:prstClr>
                </a:solidFill>
              </a:rPr>
              <a:pPr>
                <a:defRPr/>
              </a:pPr>
              <a:t>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47F9FA6-CF97-45DD-9FBB-2A41C0D1622D}" type="slidenum">
              <a:rPr lang="en-US" altLang="en-US"/>
              <a:pPr>
                <a:defRPr/>
              </a:pPr>
              <a:t>‹#›</a:t>
            </a:fld>
            <a:endParaRPr lang="en-US" altLang="en-US"/>
          </a:p>
        </p:txBody>
      </p:sp>
    </p:spTree>
    <p:extLst>
      <p:ext uri="{BB962C8B-B14F-4D97-AF65-F5344CB8AC3E}">
        <p14:creationId xmlns:p14="http://schemas.microsoft.com/office/powerpoint/2010/main" val="338679834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79CD0C4-77AF-44C2-B217-E203EB25E167}" type="datetimeFigureOut">
              <a:rPr lang="en-US">
                <a:solidFill>
                  <a:prstClr val="black">
                    <a:tint val="75000"/>
                  </a:prstClr>
                </a:solidFill>
              </a:rPr>
              <a:pPr>
                <a:defRPr/>
              </a:pPr>
              <a:t>1/7/2026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1DC79F2-CF4E-4666-9D1F-423CB38EC15F}" type="slidenum">
              <a:rPr lang="en-US" altLang="en-US"/>
              <a:pPr>
                <a:defRPr/>
              </a:pPr>
              <a:t>‹#›</a:t>
            </a:fld>
            <a:endParaRPr lang="en-US" altLang="en-US"/>
          </a:p>
        </p:txBody>
      </p:sp>
    </p:spTree>
    <p:extLst>
      <p:ext uri="{BB962C8B-B14F-4D97-AF65-F5344CB8AC3E}">
        <p14:creationId xmlns:p14="http://schemas.microsoft.com/office/powerpoint/2010/main" val="60599107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3" descr="graph"/>
          <p:cNvPicPr>
            <a:picLocks noChangeAspect="1" noChangeArrowheads="1"/>
          </p:cNvPicPr>
          <p:nvPr userDrawn="1"/>
        </p:nvPicPr>
        <p:blipFill>
          <a:blip r:embed="rId2">
            <a:extLst>
              <a:ext uri="{28A0092B-C50C-407E-A947-70E740481C1C}">
                <a14:useLocalDpi xmlns:a14="http://schemas.microsoft.com/office/drawing/2010/main" val="0"/>
              </a:ext>
            </a:extLst>
          </a:blip>
          <a:srcRect l="3638" t="2191" r="3653" b="2213"/>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914400" y="1196975"/>
            <a:ext cx="10363200" cy="1470025"/>
          </a:xfrm>
        </p:spPr>
        <p:txBody>
          <a:bodyPr/>
          <a:lstStyle>
            <a:lvl1pPr>
              <a:defRPr/>
            </a:lvl1pPr>
          </a:lstStyle>
          <a:p>
            <a:pPr lvl="0"/>
            <a:r>
              <a:rPr lang="en-US" noProof="0"/>
              <a:t>Click to edit Master title style</a:t>
            </a:r>
          </a:p>
        </p:txBody>
      </p:sp>
      <p:sp>
        <p:nvSpPr>
          <p:cNvPr id="3075" name="Rectangle 3"/>
          <p:cNvSpPr>
            <a:spLocks noGrp="1" noChangeArrowheads="1"/>
          </p:cNvSpPr>
          <p:nvPr>
            <p:ph type="subTitle" idx="1"/>
          </p:nvPr>
        </p:nvSpPr>
        <p:spPr>
          <a:xfrm>
            <a:off x="1828800" y="2952750"/>
            <a:ext cx="8534400" cy="17526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smtClean="0"/>
            </a:lvl1pPr>
          </a:lstStyle>
          <a:p>
            <a:pPr>
              <a:defRPr/>
            </a:pPr>
            <a:fld id="{78EE160E-37CC-4D8D-B979-6386FBC2E1E9}" type="slidenum">
              <a:rPr lang="en-US" altLang="en-US"/>
              <a:pPr>
                <a:defRPr/>
              </a:pPr>
              <a:t>‹#›</a:t>
            </a:fld>
            <a:endParaRPr lang="en-US" altLang="en-US"/>
          </a:p>
        </p:txBody>
      </p:sp>
    </p:spTree>
    <p:extLst>
      <p:ext uri="{BB962C8B-B14F-4D97-AF65-F5344CB8AC3E}">
        <p14:creationId xmlns:p14="http://schemas.microsoft.com/office/powerpoint/2010/main" val="181872673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93DBF01-A5FB-4D57-BE8C-C9BF9CA051CD}" type="slidenum">
              <a:rPr lang="en-US" altLang="en-US"/>
              <a:pPr>
                <a:defRPr/>
              </a:pPr>
              <a:t>‹#›</a:t>
            </a:fld>
            <a:endParaRPr lang="en-US" altLang="en-US"/>
          </a:p>
        </p:txBody>
      </p:sp>
    </p:spTree>
    <p:extLst>
      <p:ext uri="{BB962C8B-B14F-4D97-AF65-F5344CB8AC3E}">
        <p14:creationId xmlns:p14="http://schemas.microsoft.com/office/powerpoint/2010/main" val="58078037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B4778DF-B5A4-4242-A50C-3DDD3273F78D}" type="slidenum">
              <a:rPr lang="en-US" altLang="en-US"/>
              <a:pPr>
                <a:defRPr/>
              </a:pPr>
              <a:t>‹#›</a:t>
            </a:fld>
            <a:endParaRPr lang="en-US" altLang="en-US"/>
          </a:p>
        </p:txBody>
      </p:sp>
    </p:spTree>
    <p:extLst>
      <p:ext uri="{BB962C8B-B14F-4D97-AF65-F5344CB8AC3E}">
        <p14:creationId xmlns:p14="http://schemas.microsoft.com/office/powerpoint/2010/main" val="194928671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2"/>
            <a:ext cx="5384800" cy="37004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2"/>
            <a:ext cx="5384800" cy="37004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663879F-3A1A-4D9D-9FD5-6CBC38D55D17}" type="slidenum">
              <a:rPr lang="en-US" altLang="en-US"/>
              <a:pPr>
                <a:defRPr/>
              </a:pPr>
              <a:t>‹#›</a:t>
            </a:fld>
            <a:endParaRPr lang="en-US" altLang="en-US"/>
          </a:p>
        </p:txBody>
      </p:sp>
    </p:spTree>
    <p:extLst>
      <p:ext uri="{BB962C8B-B14F-4D97-AF65-F5344CB8AC3E}">
        <p14:creationId xmlns:p14="http://schemas.microsoft.com/office/powerpoint/2010/main" val="38396225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C028257-8119-4899-9F0B-1785D7220E3E}" type="slidenum">
              <a:rPr lang="en-US" altLang="en-US"/>
              <a:pPr>
                <a:defRPr/>
              </a:pPr>
              <a:t>‹#›</a:t>
            </a:fld>
            <a:endParaRPr lang="en-US" altLang="en-US"/>
          </a:p>
        </p:txBody>
      </p:sp>
    </p:spTree>
    <p:extLst>
      <p:ext uri="{BB962C8B-B14F-4D97-AF65-F5344CB8AC3E}">
        <p14:creationId xmlns:p14="http://schemas.microsoft.com/office/powerpoint/2010/main" val="130022343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DC00943-405F-4C69-AB7D-3E801DF3DF9C}" type="slidenum">
              <a:rPr lang="en-US" altLang="en-US"/>
              <a:pPr>
                <a:defRPr/>
              </a:pPr>
              <a:t>‹#›</a:t>
            </a:fld>
            <a:endParaRPr lang="en-US" altLang="en-US"/>
          </a:p>
        </p:txBody>
      </p:sp>
    </p:spTree>
    <p:extLst>
      <p:ext uri="{BB962C8B-B14F-4D97-AF65-F5344CB8AC3E}">
        <p14:creationId xmlns:p14="http://schemas.microsoft.com/office/powerpoint/2010/main" val="354866062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7F9502-F20C-41E5-A6B8-799F8705C8A7}" type="slidenum">
              <a:rPr lang="en-US" altLang="en-US"/>
              <a:pPr>
                <a:defRPr/>
              </a:pPr>
              <a:t>‹#›</a:t>
            </a:fld>
            <a:endParaRPr lang="en-US" altLang="en-US"/>
          </a:p>
        </p:txBody>
      </p:sp>
    </p:spTree>
    <p:extLst>
      <p:ext uri="{BB962C8B-B14F-4D97-AF65-F5344CB8AC3E}">
        <p14:creationId xmlns:p14="http://schemas.microsoft.com/office/powerpoint/2010/main" val="311181626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F0C514-AF7D-4BC0-87B9-1E11A75EB07D}" type="slidenum">
              <a:rPr lang="en-US" altLang="en-US"/>
              <a:pPr>
                <a:defRPr/>
              </a:pPr>
              <a:t>‹#›</a:t>
            </a:fld>
            <a:endParaRPr lang="en-US" altLang="en-US"/>
          </a:p>
        </p:txBody>
      </p:sp>
    </p:spTree>
    <p:extLst>
      <p:ext uri="{BB962C8B-B14F-4D97-AF65-F5344CB8AC3E}">
        <p14:creationId xmlns:p14="http://schemas.microsoft.com/office/powerpoint/2010/main" val="181431343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AA7FCC5-46E4-47BC-AB36-26C563A2A3FE}" type="slidenum">
              <a:rPr lang="en-US" altLang="en-US"/>
              <a:pPr>
                <a:defRPr/>
              </a:pPr>
              <a:t>‹#›</a:t>
            </a:fld>
            <a:endParaRPr lang="en-US" altLang="en-US"/>
          </a:p>
        </p:txBody>
      </p:sp>
    </p:spTree>
    <p:extLst>
      <p:ext uri="{BB962C8B-B14F-4D97-AF65-F5344CB8AC3E}">
        <p14:creationId xmlns:p14="http://schemas.microsoft.com/office/powerpoint/2010/main" val="59143746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065A53F-C4EC-42D7-8F1E-DE3C96957658}" type="slidenum">
              <a:rPr lang="en-US" altLang="en-US"/>
              <a:pPr>
                <a:defRPr/>
              </a:pPr>
              <a:t>‹#›</a:t>
            </a:fld>
            <a:endParaRPr lang="en-US" altLang="en-US"/>
          </a:p>
        </p:txBody>
      </p:sp>
    </p:spTree>
    <p:extLst>
      <p:ext uri="{BB962C8B-B14F-4D97-AF65-F5344CB8AC3E}">
        <p14:creationId xmlns:p14="http://schemas.microsoft.com/office/powerpoint/2010/main" val="158965571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0260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41"/>
            <a:ext cx="8026400" cy="50260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39C8EA4-CECC-4C97-831D-F89F82B423A8}" type="slidenum">
              <a:rPr lang="en-US" altLang="en-US"/>
              <a:pPr>
                <a:defRPr/>
              </a:pPr>
              <a:t>‹#›</a:t>
            </a:fld>
            <a:endParaRPr lang="en-US" altLang="en-US"/>
          </a:p>
        </p:txBody>
      </p:sp>
    </p:spTree>
    <p:extLst>
      <p:ext uri="{BB962C8B-B14F-4D97-AF65-F5344CB8AC3E}">
        <p14:creationId xmlns:p14="http://schemas.microsoft.com/office/powerpoint/2010/main" val="149044682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GB"/>
          </a:p>
        </p:txBody>
      </p:sp>
      <p:sp>
        <p:nvSpPr>
          <p:cNvPr id="3" name="Chart Placeholder 2"/>
          <p:cNvSpPr>
            <a:spLocks noGrp="1"/>
          </p:cNvSpPr>
          <p:nvPr>
            <p:ph type="chart" idx="1"/>
          </p:nvPr>
        </p:nvSpPr>
        <p:spPr>
          <a:xfrm>
            <a:off x="609600" y="1600202"/>
            <a:ext cx="10972800" cy="3700463"/>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2B2D51B-1ADC-4A39-855B-B8F85D60A5DD}" type="slidenum">
              <a:rPr lang="en-US" altLang="en-US"/>
              <a:pPr>
                <a:defRPr/>
              </a:pPr>
              <a:t>‹#›</a:t>
            </a:fld>
            <a:endParaRPr lang="en-US" altLang="en-US"/>
          </a:p>
        </p:txBody>
      </p:sp>
    </p:spTree>
    <p:extLst>
      <p:ext uri="{BB962C8B-B14F-4D97-AF65-F5344CB8AC3E}">
        <p14:creationId xmlns:p14="http://schemas.microsoft.com/office/powerpoint/2010/main" val="273340948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2"/>
            <a:ext cx="5384800" cy="3700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2"/>
            <a:ext cx="5384800" cy="3700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209A35B-9E1E-4472-B428-B76D2C1BD9F9}" type="slidenum">
              <a:rPr lang="en-US" altLang="en-US"/>
              <a:pPr>
                <a:defRPr/>
              </a:pPr>
              <a:t>‹#›</a:t>
            </a:fld>
            <a:endParaRPr lang="en-US" altLang="en-US"/>
          </a:p>
        </p:txBody>
      </p:sp>
    </p:spTree>
    <p:extLst>
      <p:ext uri="{BB962C8B-B14F-4D97-AF65-F5344CB8AC3E}">
        <p14:creationId xmlns:p14="http://schemas.microsoft.com/office/powerpoint/2010/main" val="124610348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4"/>
            <a:ext cx="9440035" cy="1828801"/>
          </a:xfrm>
        </p:spPr>
        <p:txBody>
          <a:bodyPr anchor="b">
            <a:normAutofit/>
          </a:bodyPr>
          <a:lstStyle>
            <a:lvl1pPr algn="ctr">
              <a:defRPr sz="405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5" cy="1049867"/>
          </a:xfrm>
        </p:spPr>
        <p:txBody>
          <a:bodyPr anchor="t"/>
          <a:lstStyle>
            <a:lvl1pPr marL="0" indent="0" algn="ctr">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7407454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E28D29-1ECB-41DF-951B-2A23F95AD026}"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8E3F4F-51B2-42EE-AFA2-40C4572185CC}" type="slidenum">
              <a:rPr lang="en-US" smtClean="0"/>
              <a:t>‹#›</a:t>
            </a:fld>
            <a:endParaRPr lang="en-US" dirty="0"/>
          </a:p>
        </p:txBody>
      </p:sp>
    </p:spTree>
    <p:extLst>
      <p:ext uri="{BB962C8B-B14F-4D97-AF65-F5344CB8AC3E}">
        <p14:creationId xmlns:p14="http://schemas.microsoft.com/office/powerpoint/2010/main" val="262701878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3" y="1761071"/>
            <a:ext cx="9590551" cy="1828813"/>
          </a:xfrm>
        </p:spPr>
        <p:txBody>
          <a:bodyPr anchor="b"/>
          <a:lstStyle>
            <a:lvl1pPr algn="ctr">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1295403" y="3589879"/>
            <a:ext cx="9590551" cy="1507054"/>
          </a:xfrm>
        </p:spPr>
        <p:txBody>
          <a:bodyPr anchor="t"/>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8319350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8" y="1732449"/>
            <a:ext cx="5060497" cy="405875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4" y="1732453"/>
            <a:ext cx="5064665" cy="4058751"/>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3740265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6" y="1770325"/>
            <a:ext cx="5049897"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662" y="1770325"/>
            <a:ext cx="5049897"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05872" y="2380141"/>
            <a:ext cx="4876344" cy="3411063"/>
          </a:xfrm>
        </p:spPr>
        <p:txBody>
          <a:bodyPr anchor="t">
            <a:normAutofit/>
          </a:bodyPr>
          <a:lstStyle>
            <a:lvl1pPr>
              <a:defRPr sz="1350"/>
            </a:lvl1pPr>
            <a:lvl2pPr>
              <a:defRPr sz="1200"/>
            </a:lvl2pPr>
            <a:lvl3pPr>
              <a:defRPr sz="105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8" y="1835258"/>
            <a:ext cx="4895331" cy="544883"/>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294968" y="2380141"/>
            <a:ext cx="4895331" cy="3411063"/>
          </a:xfrm>
        </p:spPr>
        <p:txBody>
          <a:bodyPr anchor="t">
            <a:normAutofit/>
          </a:bodyPr>
          <a:lstStyle>
            <a:lvl1pPr>
              <a:defRPr sz="1350"/>
            </a:lvl1pPr>
            <a:lvl2pPr>
              <a:defRPr sz="1200"/>
            </a:lvl2pPr>
            <a:lvl3pPr>
              <a:defRPr sz="1050"/>
            </a:lvl3pPr>
            <a:lvl4pPr>
              <a:defRPr sz="900"/>
            </a:lvl4pPr>
            <a:lvl5pPr>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2966693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0769137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pPr/>
              <a:t>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0129248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8" y="609600"/>
            <a:ext cx="3706889" cy="1821918"/>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4855635" y="609600"/>
            <a:ext cx="6411924" cy="51816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8" y="2431518"/>
            <a:ext cx="3706889" cy="3359681"/>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186862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9984" y="609923"/>
            <a:ext cx="4570861" cy="5205472"/>
          </a:xfrm>
          <a:prstGeom prst="rect">
            <a:avLst/>
          </a:prstGeom>
        </p:spPr>
      </p:pic>
      <p:sp>
        <p:nvSpPr>
          <p:cNvPr id="2" name="Title 1"/>
          <p:cNvSpPr>
            <a:spLocks noGrp="1"/>
          </p:cNvSpPr>
          <p:nvPr>
            <p:ph type="title"/>
          </p:nvPr>
        </p:nvSpPr>
        <p:spPr>
          <a:xfrm>
            <a:off x="913796" y="609923"/>
            <a:ext cx="5232901" cy="1829338"/>
          </a:xfrm>
        </p:spPr>
        <p:txBody>
          <a:bodyPr anchor="b">
            <a:no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635639" y="743989"/>
            <a:ext cx="4220500" cy="4912822"/>
          </a:xfr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13796" y="2439261"/>
            <a:ext cx="5232901" cy="3376134"/>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4991746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995" y="540085"/>
            <a:ext cx="10208013" cy="3834374"/>
          </a:xfrm>
          <a:prstGeom prst="rect">
            <a:avLst/>
          </a:prstGeom>
        </p:spPr>
      </p:pic>
      <p:sp>
        <p:nvSpPr>
          <p:cNvPr id="2" name="Title 1"/>
          <p:cNvSpPr>
            <a:spLocks noGrp="1"/>
          </p:cNvSpPr>
          <p:nvPr>
            <p:ph type="title"/>
          </p:nvPr>
        </p:nvSpPr>
        <p:spPr>
          <a:xfrm>
            <a:off x="913807" y="4565255"/>
            <a:ext cx="10355327" cy="543472"/>
          </a:xfrm>
        </p:spPr>
        <p:txBody>
          <a:bodyPr anchor="b">
            <a:normAutofit/>
          </a:bodyPr>
          <a:lstStyle>
            <a:lvl1pPr algn="ctr">
              <a:defRPr sz="21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34956" y="695013"/>
            <a:ext cx="9714133" cy="3525671"/>
          </a:xfrm>
          <a:effectLst>
            <a:outerShdw blurRad="38100" dist="25400" dir="4440000">
              <a:srgbClr val="000000">
                <a:alpha val="36000"/>
              </a:srgbClr>
            </a:outerShdw>
          </a:effectLst>
        </p:spPr>
        <p:txBody>
          <a:bodyPr anchor="t">
            <a:normAutofit/>
          </a:bodyPr>
          <a:lstStyle>
            <a:lvl1pPr marL="0" indent="0" algn="ctr">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3796" y="5108728"/>
            <a:ext cx="10353763" cy="682472"/>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6313537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6" y="608437"/>
            <a:ext cx="10353763" cy="3534344"/>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913796" y="4295180"/>
            <a:ext cx="10353763" cy="1501826"/>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8519417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720645" y="3610036"/>
            <a:ext cx="8752299" cy="532749"/>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4" name="Text Placeholder 3"/>
          <p:cNvSpPr>
            <a:spLocks noGrp="1"/>
          </p:cNvSpPr>
          <p:nvPr>
            <p:ph type="body" sz="half" idx="2"/>
          </p:nvPr>
        </p:nvSpPr>
        <p:spPr>
          <a:xfrm>
            <a:off x="913796" y="4304353"/>
            <a:ext cx="10353763" cy="1489496"/>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
        <p:nvSpPr>
          <p:cNvPr id="11" name="TextBox 10"/>
          <p:cNvSpPr txBox="1"/>
          <p:nvPr/>
        </p:nvSpPr>
        <p:spPr>
          <a:xfrm>
            <a:off x="836612" y="873912"/>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10437812" y="2933245"/>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85242524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6" y="2126946"/>
            <a:ext cx="10353763" cy="2511835"/>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913787" y="4650556"/>
            <a:ext cx="10352199" cy="1140644"/>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9052846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6" y="609600"/>
            <a:ext cx="10353763"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3" name="Date Placeholder 2"/>
          <p:cNvSpPr>
            <a:spLocks noGrp="1"/>
          </p:cNvSpPr>
          <p:nvPr>
            <p:ph type="dt" sz="half" idx="10"/>
          </p:nvPr>
        </p:nvSpPr>
        <p:spPr/>
        <p:txBody>
          <a:bodyPr/>
          <a:lstStyle/>
          <a:p>
            <a:fld id="{96DFF08F-DC6B-4601-B491-B0F83F6DD2DA}" type="datetimeFigureOut">
              <a:rPr lang="en-US" smtClean="0"/>
              <a:pPr/>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6554882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987" y="1826045"/>
            <a:ext cx="3372061"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752" y="1826045"/>
            <a:ext cx="3372061"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5620" y="1826045"/>
            <a:ext cx="3372061" cy="1833558"/>
          </a:xfrm>
          <a:prstGeom prst="rect">
            <a:avLst/>
          </a:prstGeom>
        </p:spPr>
      </p:pic>
      <p:sp>
        <p:nvSpPr>
          <p:cNvPr id="30" name="Title 1"/>
          <p:cNvSpPr>
            <a:spLocks noGrp="1"/>
          </p:cNvSpPr>
          <p:nvPr>
            <p:ph type="title"/>
          </p:nvPr>
        </p:nvSpPr>
        <p:spPr>
          <a:xfrm>
            <a:off x="913796"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20" name="Picture Placeholder 2"/>
          <p:cNvSpPr>
            <a:spLocks noGrp="1" noChangeAspect="1"/>
          </p:cNvSpPr>
          <p:nvPr>
            <p:ph type="pic" idx="15"/>
          </p:nvPr>
        </p:nvSpPr>
        <p:spPr>
          <a:xfrm>
            <a:off x="1018103"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913795" y="4480372"/>
            <a:ext cx="3300984" cy="1310833"/>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4441436" y="4480371"/>
            <a:ext cx="3302337" cy="1310833"/>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26" name="Picture Placeholder 2"/>
          <p:cNvSpPr>
            <a:spLocks noGrp="1" noChangeAspect="1"/>
          </p:cNvSpPr>
          <p:nvPr>
            <p:ph type="pic" idx="22"/>
          </p:nvPr>
        </p:nvSpPr>
        <p:spPr>
          <a:xfrm>
            <a:off x="8075699"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7966572" y="4480369"/>
            <a:ext cx="3300984" cy="131083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3" name="Date Placeholder 2"/>
          <p:cNvSpPr>
            <a:spLocks noGrp="1"/>
          </p:cNvSpPr>
          <p:nvPr>
            <p:ph type="dt" sz="half" idx="10"/>
          </p:nvPr>
        </p:nvSpPr>
        <p:spPr/>
        <p:txBody>
          <a:bodyPr/>
          <a:lstStyle/>
          <a:p>
            <a:fld id="{96DFF08F-DC6B-4601-B491-B0F83F6DD2DA}" type="datetimeFigureOut">
              <a:rPr lang="en-US" smtClean="0"/>
              <a:pPr/>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0636731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2097712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71" y="609603"/>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603"/>
            <a:ext cx="7916872" cy="5181601"/>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7819440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8827-7DAA-4B12-BBA5-27FF5C8BD28F}"/>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AD5CE7D9-DC3E-4AB0-8E40-0C04CBA27B93}"/>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80D79C1-DE76-4FCB-8188-181C040E4FF4}"/>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C2405598-672E-4D50-854E-B96733DD5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805C8-BB65-4C8D-B691-88211A1AA9F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77109404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AD076-4798-4C50-A8B1-90B0468016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6131B4-EEF7-4807-8CFA-BB139C1C490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813381-0A75-43C3-B1E7-E16A27D650F3}"/>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3CD45E5C-A815-4AAC-A044-A72DB10FF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BF8D4E-A7F2-40E3-A8C3-E9A85B81FCE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414133175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03AF2-1750-42D3-A8EC-CDD7324A7A82}"/>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91DF344-AA40-4E59-92F2-C2DA544233AE}"/>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7461F01-B958-4045-84C3-B0BB71ED415A}"/>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E3CA38DF-389B-4A00-B1DD-FE1B8BAAF5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EC238-8C07-4957-9D43-A464BB5CE8A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55403448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1C08A-3821-4D5C-909A-2C45E6CD10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274B3D-856C-47D4-A448-D6C4CBAAF53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493D3-BBCA-45F3-91CA-7D094F9655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90E599-4AB1-4101-8B86-5D077A72D0A0}"/>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6" name="Footer Placeholder 5">
            <a:extLst>
              <a:ext uri="{FF2B5EF4-FFF2-40B4-BE49-F238E27FC236}">
                <a16:creationId xmlns:a16="http://schemas.microsoft.com/office/drawing/2014/main" id="{181E23CE-AD0B-4D46-AC56-7B7C168BDA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6DB82-02F1-41A3-B56E-2065A7358113}"/>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49916104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21B23-AB25-4C4E-B792-FDBB1E15B2BC}"/>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F026DB-C6AC-434D-8DD1-074AB824DD69}"/>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DFEFF785-4E71-4121-A402-E8FD4B32D72C}"/>
              </a:ext>
            </a:extLst>
          </p:cNvPr>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1338B6-DDF8-4D85-8A93-1DA7C32575CE}"/>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21735309-8E56-4FFD-B8DE-BF2C87DB7E0F}"/>
              </a:ext>
            </a:extLst>
          </p:cNvPr>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94C889-958E-4EDB-A992-ABF68B4D3F54}"/>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8" name="Footer Placeholder 7">
            <a:extLst>
              <a:ext uri="{FF2B5EF4-FFF2-40B4-BE49-F238E27FC236}">
                <a16:creationId xmlns:a16="http://schemas.microsoft.com/office/drawing/2014/main" id="{DCECBBD6-57EE-4AC2-BF91-F33F856504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8224FF-CDF8-4626-985E-37641164FA9F}"/>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52840696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D6F0-6A61-4D68-9ADD-12ECD765B8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AC6083-803D-40D1-AF86-62B35A100120}"/>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4" name="Footer Placeholder 3">
            <a:extLst>
              <a:ext uri="{FF2B5EF4-FFF2-40B4-BE49-F238E27FC236}">
                <a16:creationId xmlns:a16="http://schemas.microsoft.com/office/drawing/2014/main" id="{06E28194-0D70-40AB-9E2C-52A6C15F48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5B879-22E7-4AFA-BB68-2B949443116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41177057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245807-40C6-44C9-80CA-BFD4B8007C72}"/>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3" name="Footer Placeholder 2">
            <a:extLst>
              <a:ext uri="{FF2B5EF4-FFF2-40B4-BE49-F238E27FC236}">
                <a16:creationId xmlns:a16="http://schemas.microsoft.com/office/drawing/2014/main" id="{7590DC38-D02A-4F45-A87E-775BB3719C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59F3A2-CBE7-404E-AED4-60C437788B5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18923225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898D-83DC-4932-8FCF-C9612815C22D}"/>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54D70E1-EFA7-4F48-ABFB-AF343677D23F}"/>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4D2C29-36E8-430E-BE9C-06B62E230120}"/>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40C6058-FD47-4A03-BFF1-4954DDC6A959}"/>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6" name="Footer Placeholder 5">
            <a:extLst>
              <a:ext uri="{FF2B5EF4-FFF2-40B4-BE49-F238E27FC236}">
                <a16:creationId xmlns:a16="http://schemas.microsoft.com/office/drawing/2014/main" id="{4E4533B8-BA50-49E8-8F51-5FFAD31F0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60799A-F109-4FFB-8FE4-78B1B964464D}"/>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12046568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FD8E-6853-4457-9E2A-560147A384EA}"/>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E3367B8-7F55-4B6B-8DC1-CA7466A2E09E}"/>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4F435A9-F101-4D1C-9344-C46AD7B5C2CE}"/>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019DC05-BE1A-4423-ABAB-5C90D9A73D36}"/>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6" name="Footer Placeholder 5">
            <a:extLst>
              <a:ext uri="{FF2B5EF4-FFF2-40B4-BE49-F238E27FC236}">
                <a16:creationId xmlns:a16="http://schemas.microsoft.com/office/drawing/2014/main" id="{6EAF8F60-6705-4B79-98FA-D02C3FFDA7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22494-3A9F-40FD-83DF-C79D3F43B525}"/>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9697674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AD530-FD25-4393-95C3-66ECAD601A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D12BA7-0160-45FB-8877-6ACB0F6429D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A91E08-0225-43D6-AE4D-3EF59ED63FA2}"/>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71948B2C-1FFD-4D0C-A29A-6743E0A62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02C6A-83F2-4C44-92F1-CAD39BE768A9}"/>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67129604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3EFAE8-9B12-4E1E-876E-310AD2FB1E12}"/>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753A4B-4004-4596-A7F8-17D75B91D334}"/>
              </a:ext>
            </a:extLst>
          </p:cNvPr>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4476B8-A8D0-415B-9638-B6A6AFE967B9}"/>
              </a:ext>
            </a:extLst>
          </p:cNvPr>
          <p:cNvSpPr>
            <a:spLocks noGrp="1"/>
          </p:cNvSpPr>
          <p:nvPr>
            <p:ph type="dt" sz="half" idx="10"/>
          </p:nvPr>
        </p:nvSpPr>
        <p:spPr/>
        <p:txBody>
          <a:body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ADD18B58-4B67-4A0C-92F4-24A7241D3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B9D46-566C-473A-9F38-4F26001360D1}"/>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4290219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slideLayout" Target="../slideLayouts/slideLayout112.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1.pn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18" Type="http://schemas.openxmlformats.org/officeDocument/2006/relationships/theme" Target="../theme/theme11.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7.xml"/><Relationship Id="rId3" Type="http://schemas.openxmlformats.org/officeDocument/2006/relationships/slideLayout" Target="../slideLayouts/slideLayout132.xml"/><Relationship Id="rId7" Type="http://schemas.openxmlformats.org/officeDocument/2006/relationships/slideLayout" Target="../slideLayouts/slideLayout136.xml"/><Relationship Id="rId12" Type="http://schemas.openxmlformats.org/officeDocument/2006/relationships/theme" Target="../theme/theme12.xml"/><Relationship Id="rId2" Type="http://schemas.openxmlformats.org/officeDocument/2006/relationships/slideLayout" Target="../slideLayouts/slideLayout131.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slideLayout" Target="../slideLayouts/slideLayout140.xml"/><Relationship Id="rId5" Type="http://schemas.openxmlformats.org/officeDocument/2006/relationships/slideLayout" Target="../slideLayouts/slideLayout134.xml"/><Relationship Id="rId10" Type="http://schemas.openxmlformats.org/officeDocument/2006/relationships/slideLayout" Target="../slideLayouts/slideLayout139.xml"/><Relationship Id="rId4" Type="http://schemas.openxmlformats.org/officeDocument/2006/relationships/slideLayout" Target="../slideLayouts/slideLayout133.xml"/><Relationship Id="rId9" Type="http://schemas.openxmlformats.org/officeDocument/2006/relationships/slideLayout" Target="../slideLayouts/slideLayout1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207644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31B9A1-2196-4E70-A6E8-F81E3423D6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57A298-1527-4D6F-922F-35E32737A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B70ED-3BA3-40AD-9D41-D32F67752F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10552C-D2EE-429C-8F10-87868A576033}" type="datetimeFigureOut">
              <a:rPr lang="en-US" smtClean="0"/>
              <a:t>1/7/2026</a:t>
            </a:fld>
            <a:endParaRPr lang="en-US"/>
          </a:p>
        </p:txBody>
      </p:sp>
      <p:sp>
        <p:nvSpPr>
          <p:cNvPr id="5" name="Footer Placeholder 4">
            <a:extLst>
              <a:ext uri="{FF2B5EF4-FFF2-40B4-BE49-F238E27FC236}">
                <a16:creationId xmlns:a16="http://schemas.microsoft.com/office/drawing/2014/main" id="{698A1C5B-F977-4812-AF37-FCC77B94AC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B6E8A7-F108-49E0-A737-B2104CBBA3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A935CD-6950-45A5-B2A5-CC8A5C839D84}" type="slidenum">
              <a:rPr lang="en-US" smtClean="0"/>
              <a:t>‹#›</a:t>
            </a:fld>
            <a:endParaRPr lang="en-US"/>
          </a:p>
        </p:txBody>
      </p:sp>
    </p:spTree>
    <p:extLst>
      <p:ext uri="{BB962C8B-B14F-4D97-AF65-F5344CB8AC3E}">
        <p14:creationId xmlns:p14="http://schemas.microsoft.com/office/powerpoint/2010/main" val="42805207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6"/>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7" cy="323968"/>
          </a:xfrm>
          <a:prstGeom prst="rect">
            <a:avLst/>
          </a:prstGeom>
        </p:spPr>
        <p:txBody>
          <a:bodyPr vert="horz" lIns="91440" tIns="45720" rIns="91440" bIns="45720" rtlCol="0" anchor="ctr"/>
          <a:lstStyle>
            <a:lvl1pPr algn="r">
              <a:defRPr sz="788">
                <a:solidFill>
                  <a:schemeClr val="tx1">
                    <a:alpha val="70000"/>
                  </a:schemeClr>
                </a:solidFill>
              </a:defRPr>
            </a:lvl1pPr>
          </a:lstStyle>
          <a:p>
            <a:fld id="{BC1D1087-A499-403C-9706-56256D6A62D2}" type="datetimeFigureOut">
              <a:rPr lang="en-US" smtClean="0"/>
              <a:t>1/7/2026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788">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3"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153735989"/>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E7E59B-8EE4-D16B-FBBD-CC3DF40F4D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1B6CCF-402A-C914-7056-1723B18B2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2706DA-83BD-0340-AC0A-6997FFA67D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A18DE0-C786-4B81-A280-816435620A3C}" type="datetimeFigureOut">
              <a:rPr lang="en-US" smtClean="0"/>
              <a:t>1/7/2026</a:t>
            </a:fld>
            <a:endParaRPr lang="en-US"/>
          </a:p>
        </p:txBody>
      </p:sp>
      <p:sp>
        <p:nvSpPr>
          <p:cNvPr id="5" name="Footer Placeholder 4">
            <a:extLst>
              <a:ext uri="{FF2B5EF4-FFF2-40B4-BE49-F238E27FC236}">
                <a16:creationId xmlns:a16="http://schemas.microsoft.com/office/drawing/2014/main" id="{66D27432-7159-D64E-0AF4-78513E6428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31B137-3A41-7711-05AA-F7F9BFC4A0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3F38D7-825B-4323-8E94-8106C1066F5C}" type="slidenum">
              <a:rPr lang="en-US" smtClean="0"/>
              <a:t>‹#›</a:t>
            </a:fld>
            <a:endParaRPr lang="en-US"/>
          </a:p>
        </p:txBody>
      </p:sp>
    </p:spTree>
    <p:extLst>
      <p:ext uri="{BB962C8B-B14F-4D97-AF65-F5344CB8AC3E}">
        <p14:creationId xmlns:p14="http://schemas.microsoft.com/office/powerpoint/2010/main" val="727047947"/>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82599" y="6413747"/>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r>
              <a:rPr lang="en-US" dirty="0"/>
              <a:t>1</a:t>
            </a: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502688"/>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D50097-E68E-47E7-BB42-E331A2C38D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EECED-6870-4AE0-972D-649C0D4EA6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A1839-A75A-47AC-B398-AB1C4B7F9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273768A3-42FB-4191-9620-3370692C3A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0FEBEB-49AA-415B-9EEE-6AA47D47CC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783903143"/>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CCEC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C7004436-CA73-4D53-89B4-2A5C7347BF2F}" type="datetimeFigureOut">
              <a:rPr lang="en-US" smtClean="0"/>
              <a:t>1/7/2026</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14505769"/>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Lst>
  <p:hf sldNum="0" hdr="0" ft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65643C6-E394-42A9-AE2E-4A5EAD0D0189}" type="datetime1">
              <a:rPr lang="en-US" smtClean="0"/>
              <a:t>1/7/2026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70819759"/>
      </p:ext>
    </p:extLst>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1600203"/>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cs typeface="+mn-cs"/>
              </a:defRPr>
            </a:lvl1pPr>
          </a:lstStyle>
          <a:p>
            <a:pPr>
              <a:defRPr/>
            </a:pPr>
            <a:fld id="{E0D3ACB0-BDE8-44A5-859B-31042846A2C3}" type="datetimeFigureOut">
              <a:rPr lang="en-US">
                <a:solidFill>
                  <a:prstClr val="black">
                    <a:tint val="75000"/>
                  </a:prstClr>
                </a:solidFill>
              </a:rPr>
              <a:pPr>
                <a:defRPr/>
              </a:pPr>
              <a:t>1/7/2026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fontAlgn="base">
              <a:spcBef>
                <a:spcPct val="0"/>
              </a:spcBef>
              <a:spcAft>
                <a:spcPct val="0"/>
              </a:spcAft>
              <a:defRPr/>
            </a:pPr>
            <a:fld id="{52167409-4EC4-466A-85DF-CC0355AA9330}" type="slidenum">
              <a:rPr lang="en-US" altLang="en-US">
                <a:cs typeface="Arial" panose="020B0604020202020204" pitchFamily="34" charset="0"/>
              </a:rPr>
              <a:pPr fontAlgn="base">
                <a:spcBef>
                  <a:spcPct val="0"/>
                </a:spcBef>
                <a:spcAft>
                  <a:spcPct val="0"/>
                </a:spcAft>
                <a:defRPr/>
              </a:pPr>
              <a:t>‹#›</a:t>
            </a:fld>
            <a:endParaRPr lang="en-US" altLang="en-US">
              <a:cs typeface="Arial" panose="020B0604020202020204" pitchFamily="34" charset="0"/>
            </a:endParaRPr>
          </a:p>
        </p:txBody>
      </p:sp>
    </p:spTree>
    <p:extLst>
      <p:ext uri="{BB962C8B-B14F-4D97-AF65-F5344CB8AC3E}">
        <p14:creationId xmlns:p14="http://schemas.microsoft.com/office/powerpoint/2010/main" val="2115778683"/>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900" algn="ctr" rtl="0" fontAlgn="base">
        <a:spcBef>
          <a:spcPct val="0"/>
        </a:spcBef>
        <a:spcAft>
          <a:spcPct val="0"/>
        </a:spcAft>
        <a:defRPr sz="3300">
          <a:solidFill>
            <a:schemeClr val="tx1"/>
          </a:solidFill>
          <a:latin typeface="Calibri" pitchFamily="34" charset="0"/>
        </a:defRPr>
      </a:lvl6pPr>
      <a:lvl7pPr marL="685800" algn="ctr" rtl="0" fontAlgn="base">
        <a:spcBef>
          <a:spcPct val="0"/>
        </a:spcBef>
        <a:spcAft>
          <a:spcPct val="0"/>
        </a:spcAft>
        <a:defRPr sz="3300">
          <a:solidFill>
            <a:schemeClr val="tx1"/>
          </a:solidFill>
          <a:latin typeface="Calibri" pitchFamily="34" charset="0"/>
        </a:defRPr>
      </a:lvl7pPr>
      <a:lvl8pPr marL="1028700" algn="ctr" rtl="0" fontAlgn="base">
        <a:spcBef>
          <a:spcPct val="0"/>
        </a:spcBef>
        <a:spcAft>
          <a:spcPct val="0"/>
        </a:spcAft>
        <a:defRPr sz="3300">
          <a:solidFill>
            <a:schemeClr val="tx1"/>
          </a:solidFill>
          <a:latin typeface="Calibri" pitchFamily="34" charset="0"/>
        </a:defRPr>
      </a:lvl8pPr>
      <a:lvl9pPr marL="1371600" algn="ctr" rtl="0" fontAlgn="base">
        <a:spcBef>
          <a:spcPct val="0"/>
        </a:spcBef>
        <a:spcAft>
          <a:spcPct val="0"/>
        </a:spcAft>
        <a:defRPr sz="3300">
          <a:solidFill>
            <a:schemeClr val="tx1"/>
          </a:solidFill>
          <a:latin typeface="Calibri" pitchFamily="34"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3" descr="graph"/>
          <p:cNvPicPr>
            <a:picLocks noChangeAspect="1" noChangeArrowheads="1"/>
          </p:cNvPicPr>
          <p:nvPr userDrawn="1"/>
        </p:nvPicPr>
        <p:blipFill>
          <a:blip r:embed="rId15">
            <a:extLst>
              <a:ext uri="{28A0092B-C50C-407E-A947-70E740481C1C}">
                <a14:useLocalDpi xmlns:a14="http://schemas.microsoft.com/office/drawing/2010/main" val="0"/>
              </a:ext>
            </a:extLst>
          </a:blip>
          <a:srcRect l="3638" t="2191" r="3653" b="2213"/>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609600" y="1600202"/>
            <a:ext cx="10972800" cy="370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5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5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50" smtClean="0"/>
            </a:lvl1pPr>
          </a:lstStyle>
          <a:p>
            <a:pPr>
              <a:defRPr/>
            </a:pPr>
            <a:fld id="{B953DA43-4302-477D-B1A2-E5979C4E4987}" type="slidenum">
              <a:rPr lang="en-US" altLang="en-US"/>
              <a:pPr>
                <a:defRPr/>
              </a:pPr>
              <a:t>‹#›</a:t>
            </a:fld>
            <a:endParaRPr lang="en-US" altLang="en-US"/>
          </a:p>
        </p:txBody>
      </p:sp>
    </p:spTree>
    <p:extLst>
      <p:ext uri="{BB962C8B-B14F-4D97-AF65-F5344CB8AC3E}">
        <p14:creationId xmlns:p14="http://schemas.microsoft.com/office/powerpoint/2010/main" val="2828950873"/>
      </p:ext>
    </p:extLst>
  </p:cSld>
  <p:clrMap bg1="lt1" tx1="dk1" bg2="lt2" tx2="dk2" accent1="accent1" accent2="accent2" accent3="accent3" accent4="accent4" accent5="accent5" accent6="accent6" hlink="hlink" folHlink="folHlink"/>
  <p:sldLayoutIdLst>
    <p:sldLayoutId id="2147483993" r:id="rId1"/>
    <p:sldLayoutId id="2147483994" r:id="rId2"/>
    <p:sldLayoutId id="2147483995" r:id="rId3"/>
    <p:sldLayoutId id="2147483996" r:id="rId4"/>
    <p:sldLayoutId id="2147483997" r:id="rId5"/>
    <p:sldLayoutId id="2147483998" r:id="rId6"/>
    <p:sldLayoutId id="2147483999" r:id="rId7"/>
    <p:sldLayoutId id="2147484000" r:id="rId8"/>
    <p:sldLayoutId id="2147484001" r:id="rId9"/>
    <p:sldLayoutId id="2147484002" r:id="rId10"/>
    <p:sldLayoutId id="2147484003" r:id="rId11"/>
    <p:sldLayoutId id="2147484004" r:id="rId12"/>
    <p:sldLayoutId id="2147484005" r:id="rId13"/>
  </p:sldLayoutIdLst>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sz="1800">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6" y="609600"/>
            <a:ext cx="10353763"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6" y="1732453"/>
            <a:ext cx="10353763"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9"/>
            <a:ext cx="2743200" cy="365125"/>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pPr>
              <a:defRPr/>
            </a:pPr>
            <a:fld id="{D791FD9A-6240-42F7-BD96-F39B4F6375B9}" type="datetimeFigureOut">
              <a:rPr lang="en-US" smtClean="0"/>
              <a:pPr>
                <a:defRPr/>
              </a:pPr>
              <a:t>1/7/2026</a:t>
            </a:fld>
            <a:endParaRPr lang="en-US"/>
          </a:p>
        </p:txBody>
      </p:sp>
      <p:sp>
        <p:nvSpPr>
          <p:cNvPr id="5" name="Footer Placeholder 4"/>
          <p:cNvSpPr>
            <a:spLocks noGrp="1"/>
          </p:cNvSpPr>
          <p:nvPr>
            <p:ph type="ftr" sz="quarter" idx="3"/>
          </p:nvPr>
        </p:nvSpPr>
        <p:spPr>
          <a:xfrm>
            <a:off x="913798" y="5883279"/>
            <a:ext cx="6672865" cy="365125"/>
          </a:xfrm>
          <a:prstGeom prst="rect">
            <a:avLst/>
          </a:prstGeom>
        </p:spPr>
        <p:txBody>
          <a:bodyPr vert="horz" lIns="91440" tIns="45720" rIns="91440" bIns="45720" rtlCol="0" anchor="ctr"/>
          <a:lstStyle>
            <a:lvl1pPr algn="l">
              <a:defRPr sz="750">
                <a:solidFill>
                  <a:schemeClr val="tx1">
                    <a:lumMod val="95000"/>
                  </a:schemeClr>
                </a:solidFill>
                <a:effectLst>
                  <a:outerShdw blurRad="50800" dist="38100" dir="2700000" algn="tl" rotWithShape="0">
                    <a:schemeClr val="bg1">
                      <a:alpha val="43000"/>
                    </a:schemeClr>
                  </a:outerShdw>
                </a:effectLst>
              </a:defRPr>
            </a:lvl1pPr>
          </a:lstStyle>
          <a:p>
            <a:pPr>
              <a:defRPr/>
            </a:pPr>
            <a:endParaRPr lang="en-US"/>
          </a:p>
        </p:txBody>
      </p:sp>
      <p:sp>
        <p:nvSpPr>
          <p:cNvPr id="6" name="Slide Number Placeholder 5"/>
          <p:cNvSpPr>
            <a:spLocks noGrp="1"/>
          </p:cNvSpPr>
          <p:nvPr>
            <p:ph type="sldNum" sz="quarter" idx="4"/>
          </p:nvPr>
        </p:nvSpPr>
        <p:spPr>
          <a:xfrm>
            <a:off x="10514014" y="5883279"/>
            <a:ext cx="753545" cy="365125"/>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pPr>
              <a:defRPr/>
            </a:pPr>
            <a:fld id="{74536FF8-F73E-44F3-B400-1556319B09D1}" type="slidenum">
              <a:rPr lang="en-US" altLang="en-US" smtClean="0"/>
              <a:pPr>
                <a:defRPr/>
              </a:pPr>
              <a:t>‹#›</a:t>
            </a:fld>
            <a:endParaRPr lang="en-US" altLang="en-US"/>
          </a:p>
        </p:txBody>
      </p:sp>
    </p:spTree>
    <p:extLst>
      <p:ext uri="{BB962C8B-B14F-4D97-AF65-F5344CB8AC3E}">
        <p14:creationId xmlns:p14="http://schemas.microsoft.com/office/powerpoint/2010/main" val="424009652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txStyles>
    <p:titleStyle>
      <a:lvl1pPr algn="ctr" defTabSz="342900" rtl="0" eaLnBrk="1" latinLnBrk="0" hangingPunct="1">
        <a:spcBef>
          <a:spcPct val="0"/>
        </a:spcBef>
        <a:buNone/>
        <a:defRPr sz="3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29500" algn="l" defTabSz="342900" rtl="0" eaLnBrk="1" latinLnBrk="0" hangingPunct="1">
        <a:spcBef>
          <a:spcPct val="20000"/>
        </a:spcBef>
        <a:spcAft>
          <a:spcPts val="45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540000" indent="-202500" algn="l" defTabSz="342900" rtl="0" eaLnBrk="1" latinLnBrk="0" hangingPunct="1">
        <a:spcBef>
          <a:spcPct val="20000"/>
        </a:spcBef>
        <a:spcAft>
          <a:spcPts val="450"/>
        </a:spcAft>
        <a:buClr>
          <a:schemeClr val="tx2"/>
        </a:buClr>
        <a:buSzPct val="70000"/>
        <a:buFont typeface="Wingdings 2" charset="2"/>
        <a:buChar char=""/>
        <a:defRPr sz="13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769500" indent="-162000" algn="l" defTabSz="342900" rtl="0" eaLnBrk="1" latinLnBrk="0" hangingPunct="1">
        <a:spcBef>
          <a:spcPct val="20000"/>
        </a:spcBef>
        <a:spcAft>
          <a:spcPts val="450"/>
        </a:spcAft>
        <a:buClr>
          <a:schemeClr val="tx2"/>
        </a:buClr>
        <a:buSzPct val="70000"/>
        <a:buFont typeface="Wingdings 2" charset="2"/>
        <a:buChar char=""/>
        <a:defRPr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039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255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15109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8013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0917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23296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D50097-E68E-47E7-BB42-E331A2C38D6A}"/>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EECED-6870-4AE0-972D-649C0D4EA6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A1839-A75A-47AC-B398-AB1C4B7F9EA6}"/>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C1D1087-A499-403C-9706-56256D6A62D2}" type="datetimeFigureOut">
              <a:rPr lang="en-US" smtClean="0"/>
              <a:t>1/7/2026</a:t>
            </a:fld>
            <a:endParaRPr lang="en-US"/>
          </a:p>
        </p:txBody>
      </p:sp>
      <p:sp>
        <p:nvSpPr>
          <p:cNvPr id="5" name="Footer Placeholder 4">
            <a:extLst>
              <a:ext uri="{FF2B5EF4-FFF2-40B4-BE49-F238E27FC236}">
                <a16:creationId xmlns:a16="http://schemas.microsoft.com/office/drawing/2014/main" id="{273768A3-42FB-4191-9620-3370692C3A81}"/>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0FEBEB-49AA-415B-9EEE-6AA47D47CCA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269716526"/>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6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68.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6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9.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4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Topview of mint green workspace with laptop, coffee, notebook, pen, glasses, and mouse">
            <a:extLst>
              <a:ext uri="{FF2B5EF4-FFF2-40B4-BE49-F238E27FC236}">
                <a16:creationId xmlns:a16="http://schemas.microsoft.com/office/drawing/2014/main" id="{F0F8CEE5-2E71-1C78-3336-9A61DCABC304}"/>
              </a:ext>
            </a:extLst>
          </p:cNvPr>
          <p:cNvPicPr>
            <a:picLocks noChangeAspect="1"/>
          </p:cNvPicPr>
          <p:nvPr/>
        </p:nvPicPr>
        <p:blipFill>
          <a:blip r:embed="rId2"/>
          <a:srcRect r="9091" b="23391"/>
          <a:stretch>
            <a:fillRect/>
          </a:stretch>
        </p:blipFill>
        <p:spPr>
          <a:xfrm>
            <a:off x="20" y="10"/>
            <a:ext cx="12191979" cy="6857990"/>
          </a:xfrm>
          <a:prstGeom prst="rect">
            <a:avLst/>
          </a:prstGeom>
        </p:spPr>
      </p:pic>
      <p:sp>
        <p:nvSpPr>
          <p:cNvPr id="15" name="Rectangle 14">
            <a:extLst>
              <a:ext uri="{FF2B5EF4-FFF2-40B4-BE49-F238E27FC236}">
                <a16:creationId xmlns:a16="http://schemas.microsoft.com/office/drawing/2014/main" id="{0DBFCB27-760B-5FF3-72F5-581461CE1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280160"/>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889C93-7A75-67E2-414B-CFE3F9C67EAA}"/>
              </a:ext>
            </a:extLst>
          </p:cNvPr>
          <p:cNvSpPr>
            <a:spLocks noGrp="1"/>
          </p:cNvSpPr>
          <p:nvPr>
            <p:ph type="ctrTitle"/>
          </p:nvPr>
        </p:nvSpPr>
        <p:spPr>
          <a:xfrm>
            <a:off x="5527431" y="-184902"/>
            <a:ext cx="6664569" cy="1649961"/>
          </a:xfrm>
        </p:spPr>
        <p:txBody>
          <a:bodyPr anchor="ctr">
            <a:normAutofit fontScale="90000"/>
          </a:bodyPr>
          <a:lstStyle/>
          <a:p>
            <a:pPr algn="ctr"/>
            <a:r>
              <a:rPr lang="en-US" sz="4400" dirty="0">
                <a:solidFill>
                  <a:schemeClr val="bg1"/>
                </a:solidFill>
              </a:rPr>
              <a:t>V450: Project Management &amp; Implementation </a:t>
            </a:r>
          </a:p>
        </p:txBody>
      </p:sp>
      <p:sp>
        <p:nvSpPr>
          <p:cNvPr id="3" name="Subtitle 2">
            <a:extLst>
              <a:ext uri="{FF2B5EF4-FFF2-40B4-BE49-F238E27FC236}">
                <a16:creationId xmlns:a16="http://schemas.microsoft.com/office/drawing/2014/main" id="{A032B49F-D8D2-5623-DC28-689E025329E5}"/>
              </a:ext>
            </a:extLst>
          </p:cNvPr>
          <p:cNvSpPr>
            <a:spLocks noGrp="1"/>
          </p:cNvSpPr>
          <p:nvPr>
            <p:ph type="subTitle" idx="1"/>
          </p:nvPr>
        </p:nvSpPr>
        <p:spPr>
          <a:xfrm>
            <a:off x="5256075" y="5208039"/>
            <a:ext cx="6453553" cy="1777525"/>
          </a:xfrm>
        </p:spPr>
        <p:txBody>
          <a:bodyPr anchor="ctr">
            <a:normAutofit/>
          </a:bodyPr>
          <a:lstStyle/>
          <a:p>
            <a:pPr>
              <a:lnSpc>
                <a:spcPct val="100000"/>
              </a:lnSpc>
              <a:spcBef>
                <a:spcPts val="0"/>
              </a:spcBef>
            </a:pPr>
            <a:r>
              <a:rPr lang="en-US" sz="3000" i="0" dirty="0">
                <a:solidFill>
                  <a:schemeClr val="bg1"/>
                </a:solidFill>
                <a:latin typeface="Calibri" panose="020F0502020204030204" pitchFamily="34" charset="0"/>
                <a:cs typeface="Calibri" panose="020F0502020204030204" pitchFamily="34" charset="0"/>
              </a:rPr>
              <a:t>“Unless commitment is made, there are only promises and hopes; but no plans.” – Peter F. Drucker."</a:t>
            </a:r>
          </a:p>
          <a:p>
            <a:pPr algn="r"/>
            <a:endParaRPr lang="en-US" sz="1900" dirty="0"/>
          </a:p>
        </p:txBody>
      </p:sp>
      <p:sp>
        <p:nvSpPr>
          <p:cNvPr id="5" name="Title 1">
            <a:extLst>
              <a:ext uri="{FF2B5EF4-FFF2-40B4-BE49-F238E27FC236}">
                <a16:creationId xmlns:a16="http://schemas.microsoft.com/office/drawing/2014/main" id="{5301D76F-3E0D-9ACC-56BD-2C71F4219BA7}"/>
              </a:ext>
            </a:extLst>
          </p:cNvPr>
          <p:cNvSpPr txBox="1">
            <a:spLocks/>
          </p:cNvSpPr>
          <p:nvPr/>
        </p:nvSpPr>
        <p:spPr>
          <a:xfrm>
            <a:off x="5527432" y="1649961"/>
            <a:ext cx="6579576" cy="3152775"/>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6500" b="0" dirty="0">
                <a:solidFill>
                  <a:schemeClr val="bg1"/>
                </a:solidFill>
              </a:rPr>
              <a:t>Class 10</a:t>
            </a:r>
          </a:p>
          <a:p>
            <a:r>
              <a:rPr lang="en-US" sz="5800" dirty="0">
                <a:solidFill>
                  <a:schemeClr val="bg1"/>
                </a:solidFill>
              </a:rPr>
              <a:t>Scope of Work IV: Work Breakdown Structure </a:t>
            </a:r>
          </a:p>
        </p:txBody>
      </p:sp>
    </p:spTree>
    <p:extLst>
      <p:ext uri="{BB962C8B-B14F-4D97-AF65-F5344CB8AC3E}">
        <p14:creationId xmlns:p14="http://schemas.microsoft.com/office/powerpoint/2010/main" val="340189235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CCEC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D036-CDBC-4EB9-A94F-BEAB3E20CFD1}"/>
              </a:ext>
            </a:extLst>
          </p:cNvPr>
          <p:cNvSpPr>
            <a:spLocks noGrp="1"/>
          </p:cNvSpPr>
          <p:nvPr>
            <p:ph type="title"/>
          </p:nvPr>
        </p:nvSpPr>
        <p:spPr>
          <a:xfrm>
            <a:off x="2914045" y="379834"/>
            <a:ext cx="5797296" cy="891540"/>
          </a:xfrm>
        </p:spPr>
        <p:txBody>
          <a:bodyPr>
            <a:noAutofit/>
          </a:bodyPr>
          <a:lstStyle/>
          <a:p>
            <a:r>
              <a:rPr lang="en-US" sz="4500" b="1" dirty="0">
                <a:latin typeface="Calibri" panose="020F0502020204030204" pitchFamily="34" charset="0"/>
                <a:cs typeface="Calibri" panose="020F0502020204030204" pitchFamily="34" charset="0"/>
              </a:rPr>
              <a:t>Warm-Up</a:t>
            </a:r>
          </a:p>
        </p:txBody>
      </p:sp>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914400" y="1768980"/>
            <a:ext cx="10363199" cy="4128238"/>
          </a:xfrm>
        </p:spPr>
        <p:txBody>
          <a:bodyPr>
            <a:normAutofit/>
          </a:bodyPr>
          <a:lstStyle/>
          <a:p>
            <a:pPr marL="557213" indent="-557213">
              <a:spcBef>
                <a:spcPts val="0"/>
              </a:spcBef>
              <a:buFont typeface="+mj-lt"/>
              <a:buAutoNum type="alphaLcParenR"/>
            </a:pPr>
            <a:r>
              <a:rPr lang="en-US" sz="4000" dirty="0">
                <a:solidFill>
                  <a:schemeClr val="tx1"/>
                </a:solidFill>
                <a:latin typeface="Calibri" panose="020F0502020204030204" pitchFamily="34" charset="0"/>
                <a:cs typeface="Calibri" panose="020F0502020204030204" pitchFamily="34" charset="0"/>
              </a:rPr>
              <a:t>My most used humble brag is …</a:t>
            </a:r>
          </a:p>
          <a:p>
            <a:pPr marL="557213" indent="-557213">
              <a:spcBef>
                <a:spcPts val="0"/>
              </a:spcBef>
              <a:buFont typeface="+mj-lt"/>
              <a:buAutoNum type="alphaLcParenR"/>
            </a:pPr>
            <a:endParaRPr lang="en-US" sz="4000" dirty="0">
              <a:solidFill>
                <a:schemeClr val="tx1"/>
              </a:solidFill>
              <a:latin typeface="Calibri" panose="020F0502020204030204" pitchFamily="34" charset="0"/>
              <a:cs typeface="Calibri" panose="020F0502020204030204" pitchFamily="34" charset="0"/>
            </a:endParaRPr>
          </a:p>
          <a:p>
            <a:pPr marL="557213" indent="-557213">
              <a:spcBef>
                <a:spcPts val="0"/>
              </a:spcBef>
              <a:buFont typeface="+mj-lt"/>
              <a:buAutoNum type="alphaLcParenR"/>
            </a:pPr>
            <a:r>
              <a:rPr lang="en-US" sz="4000" dirty="0">
                <a:solidFill>
                  <a:schemeClr val="tx1"/>
                </a:solidFill>
                <a:latin typeface="Calibri" panose="020F0502020204030204" pitchFamily="34" charset="0"/>
                <a:cs typeface="Calibri" panose="020F0502020204030204" pitchFamily="34" charset="0"/>
              </a:rPr>
              <a:t>My most hidden deficiency is …</a:t>
            </a:r>
          </a:p>
        </p:txBody>
      </p:sp>
    </p:spTree>
    <p:extLst>
      <p:ext uri="{BB962C8B-B14F-4D97-AF65-F5344CB8AC3E}">
        <p14:creationId xmlns:p14="http://schemas.microsoft.com/office/powerpoint/2010/main" val="749461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C15E2D-9E07-4CE7-B99D-C977BD6E0BD2}"/>
              </a:ext>
            </a:extLst>
          </p:cNvPr>
          <p:cNvSpPr>
            <a:spLocks noGrp="1"/>
          </p:cNvSpPr>
          <p:nvPr>
            <p:ph idx="1"/>
          </p:nvPr>
        </p:nvSpPr>
        <p:spPr>
          <a:xfrm>
            <a:off x="2213339" y="838200"/>
            <a:ext cx="7765322" cy="4724400"/>
          </a:xfrm>
        </p:spPr>
        <p:txBody>
          <a:bodyPr>
            <a:normAutofit/>
          </a:bodyPr>
          <a:lstStyle/>
          <a:p>
            <a:pPr marL="27675" indent="0">
              <a:buNone/>
            </a:pPr>
            <a:endParaRPr lang="en-US" dirty="0"/>
          </a:p>
          <a:p>
            <a:pPr marL="27675" indent="0" algn="ctr">
              <a:buNone/>
            </a:pPr>
            <a:r>
              <a:rPr lang="en-US" sz="7600" b="1" dirty="0">
                <a:solidFill>
                  <a:schemeClr val="tx1"/>
                </a:solidFill>
                <a:latin typeface="Calibri" panose="020F0502020204030204" pitchFamily="34" charset="0"/>
                <a:cs typeface="Calibri" panose="020F0502020204030204" pitchFamily="34" charset="0"/>
              </a:rPr>
              <a:t>Exam 1    </a:t>
            </a:r>
          </a:p>
          <a:p>
            <a:pPr marL="27675" indent="0" algn="ctr">
              <a:buNone/>
            </a:pPr>
            <a:r>
              <a:rPr lang="en-US" sz="5925" dirty="0">
                <a:solidFill>
                  <a:schemeClr val="tx1"/>
                </a:solidFill>
                <a:latin typeface="Calibri" panose="020F0502020204030204" pitchFamily="34" charset="0"/>
                <a:cs typeface="Calibri" panose="020F0502020204030204" pitchFamily="34" charset="0"/>
              </a:rPr>
              <a:t>Thursday </a:t>
            </a:r>
          </a:p>
          <a:p>
            <a:pPr marL="27675" indent="0" algn="ctr">
              <a:buNone/>
            </a:pPr>
            <a:r>
              <a:rPr lang="en-US" sz="5925" dirty="0">
                <a:solidFill>
                  <a:schemeClr val="tx1"/>
                </a:solidFill>
                <a:latin typeface="Calibri" panose="020F0502020204030204" pitchFamily="34" charset="0"/>
                <a:cs typeface="Calibri" panose="020F0502020204030204" pitchFamily="34" charset="0"/>
              </a:rPr>
              <a:t>Classes 1-10</a:t>
            </a:r>
          </a:p>
        </p:txBody>
      </p:sp>
    </p:spTree>
    <p:extLst>
      <p:ext uri="{BB962C8B-B14F-4D97-AF65-F5344CB8AC3E}">
        <p14:creationId xmlns:p14="http://schemas.microsoft.com/office/powerpoint/2010/main" val="1221229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F658-876D-44F3-B559-5ACBE76F3EA5}"/>
              </a:ext>
            </a:extLst>
          </p:cNvPr>
          <p:cNvSpPr>
            <a:spLocks noGrp="1"/>
          </p:cNvSpPr>
          <p:nvPr>
            <p:ph type="title"/>
          </p:nvPr>
        </p:nvSpPr>
        <p:spPr>
          <a:xfrm>
            <a:off x="2213339" y="356560"/>
            <a:ext cx="7765322" cy="727838"/>
          </a:xfrm>
        </p:spPr>
        <p:txBody>
          <a:bodyPr>
            <a:noAutofit/>
          </a:bodyPr>
          <a:lstStyle/>
          <a:p>
            <a:r>
              <a:rPr lang="en-US" sz="5500" b="1" dirty="0">
                <a:solidFill>
                  <a:schemeClr val="tx1"/>
                </a:solidFill>
                <a:latin typeface="Calibri" panose="020F0502020204030204" pitchFamily="34" charset="0"/>
                <a:cs typeface="Calibri" panose="020F0502020204030204" pitchFamily="34" charset="0"/>
              </a:rPr>
              <a:t>Exam 1</a:t>
            </a:r>
          </a:p>
        </p:txBody>
      </p:sp>
      <p:sp>
        <p:nvSpPr>
          <p:cNvPr id="3" name="Content Placeholder 2">
            <a:extLst>
              <a:ext uri="{FF2B5EF4-FFF2-40B4-BE49-F238E27FC236}">
                <a16:creationId xmlns:a16="http://schemas.microsoft.com/office/drawing/2014/main" id="{CB4BFD3B-4745-4EA2-B88D-03F1ECB78F46}"/>
              </a:ext>
            </a:extLst>
          </p:cNvPr>
          <p:cNvSpPr>
            <a:spLocks noGrp="1"/>
          </p:cNvSpPr>
          <p:nvPr>
            <p:ph idx="1"/>
          </p:nvPr>
        </p:nvSpPr>
        <p:spPr>
          <a:xfrm>
            <a:off x="820396" y="1676401"/>
            <a:ext cx="10348957" cy="4571999"/>
          </a:xfrm>
        </p:spPr>
        <p:txBody>
          <a:bodyPr>
            <a:normAutofit/>
          </a:bodyPr>
          <a:lstStyle/>
          <a:p>
            <a:pPr>
              <a:buFont typeface="Wingdings" panose="05000000000000000000" pitchFamily="2" charset="2"/>
              <a:buChar char="q"/>
            </a:pPr>
            <a:r>
              <a:rPr lang="en-US" sz="3200" b="1" dirty="0">
                <a:solidFill>
                  <a:schemeClr val="tx1"/>
                </a:solidFill>
                <a:latin typeface="Calibri" panose="020F0502020204030204" pitchFamily="34" charset="0"/>
                <a:cs typeface="Calibri" panose="020F0502020204030204" pitchFamily="34" charset="0"/>
              </a:rPr>
              <a:t> Taken in the classroom.</a:t>
            </a:r>
          </a:p>
          <a:p>
            <a:pPr>
              <a:buFont typeface="Wingdings" panose="05000000000000000000" pitchFamily="2" charset="2"/>
              <a:buChar char="q"/>
            </a:pPr>
            <a:r>
              <a:rPr lang="en-US" sz="3200" b="1" dirty="0">
                <a:solidFill>
                  <a:schemeClr val="tx1"/>
                </a:solidFill>
                <a:latin typeface="Calibri" panose="020F0502020204030204" pitchFamily="34" charset="0"/>
                <a:cs typeface="Calibri" panose="020F0502020204030204" pitchFamily="34" charset="0"/>
              </a:rPr>
              <a:t> LAPTOP: </a:t>
            </a:r>
            <a:r>
              <a:rPr lang="en-US" sz="3200" b="1" dirty="0">
                <a:solidFill>
                  <a:srgbClr val="FF0000"/>
                </a:solidFill>
                <a:highlight>
                  <a:srgbClr val="FFFF00"/>
                </a:highlight>
                <a:latin typeface="Calibri" panose="020F0502020204030204" pitchFamily="34" charset="0"/>
                <a:cs typeface="Calibri" panose="020F0502020204030204" pitchFamily="34" charset="0"/>
              </a:rPr>
              <a:t>Charge the battery.</a:t>
            </a:r>
          </a:p>
          <a:p>
            <a:pPr>
              <a:buFont typeface="Wingdings" panose="05000000000000000000" pitchFamily="2" charset="2"/>
              <a:buChar char="q"/>
            </a:pPr>
            <a:r>
              <a:rPr lang="en-US" sz="3200" b="1" dirty="0">
                <a:solidFill>
                  <a:schemeClr val="tx1"/>
                </a:solidFill>
                <a:latin typeface="Calibri" panose="020F0502020204030204" pitchFamily="34" charset="0"/>
                <a:cs typeface="Calibri" panose="020F0502020204030204" pitchFamily="34" charset="0"/>
              </a:rPr>
              <a:t> Canvas/Assignments/Exam 1/Exam 1.</a:t>
            </a:r>
          </a:p>
          <a:p>
            <a:pPr>
              <a:buFont typeface="Wingdings" panose="05000000000000000000" pitchFamily="2" charset="2"/>
              <a:buChar char="q"/>
            </a:pPr>
            <a:r>
              <a:rPr lang="en-US" sz="3200" b="1" dirty="0">
                <a:solidFill>
                  <a:schemeClr val="tx1"/>
                </a:solidFill>
                <a:latin typeface="Calibri" panose="020F0502020204030204" pitchFamily="34" charset="0"/>
                <a:cs typeface="Calibri" panose="020F0502020204030204" pitchFamily="34" charset="0"/>
              </a:rPr>
              <a:t> Begin at 12:45 p.m. Closes at 2:00 p.m.</a:t>
            </a:r>
          </a:p>
          <a:p>
            <a:pPr>
              <a:buFont typeface="Wingdings" panose="05000000000000000000" pitchFamily="2" charset="2"/>
              <a:buChar char="q"/>
            </a:pPr>
            <a:r>
              <a:rPr lang="en-US" sz="3200" b="1" dirty="0">
                <a:solidFill>
                  <a:schemeClr val="tx1"/>
                </a:solidFill>
                <a:latin typeface="Calibri" panose="020F0502020204030204" pitchFamily="34" charset="0"/>
                <a:cs typeface="Calibri" panose="020F0502020204030204" pitchFamily="34" charset="0"/>
              </a:rPr>
              <a:t> There are 30-ish questions.</a:t>
            </a:r>
          </a:p>
          <a:p>
            <a:pPr>
              <a:buFont typeface="Wingdings" panose="05000000000000000000" pitchFamily="2" charset="2"/>
              <a:buChar char="q"/>
            </a:pPr>
            <a:r>
              <a:rPr lang="en-US" sz="3200" b="1" dirty="0">
                <a:solidFill>
                  <a:schemeClr val="tx1"/>
                </a:solidFill>
                <a:latin typeface="Calibri" panose="020F0502020204030204" pitchFamily="34" charset="0"/>
                <a:cs typeface="Calibri" panose="020F0502020204030204" pitchFamily="34" charset="0"/>
              </a:rPr>
              <a:t> 3-point multiple choice /  3-point T-F /  5-point short answer.</a:t>
            </a:r>
          </a:p>
          <a:p>
            <a:pPr marL="27675" indent="0">
              <a:buNone/>
            </a:pPr>
            <a:endParaRPr lang="en-US" dirty="0"/>
          </a:p>
        </p:txBody>
      </p:sp>
    </p:spTree>
    <p:extLst>
      <p:ext uri="{BB962C8B-B14F-4D97-AF65-F5344CB8AC3E}">
        <p14:creationId xmlns:p14="http://schemas.microsoft.com/office/powerpoint/2010/main" val="920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F658-876D-44F3-B559-5ACBE76F3EA5}"/>
              </a:ext>
            </a:extLst>
          </p:cNvPr>
          <p:cNvSpPr>
            <a:spLocks noGrp="1"/>
          </p:cNvSpPr>
          <p:nvPr>
            <p:ph type="title"/>
          </p:nvPr>
        </p:nvSpPr>
        <p:spPr>
          <a:xfrm>
            <a:off x="2213339" y="371074"/>
            <a:ext cx="7765322" cy="727838"/>
          </a:xfrm>
        </p:spPr>
        <p:txBody>
          <a:bodyPr>
            <a:noAutofit/>
          </a:bodyPr>
          <a:lstStyle/>
          <a:p>
            <a:r>
              <a:rPr lang="en-US" sz="5500" b="1" dirty="0">
                <a:solidFill>
                  <a:schemeClr val="tx1"/>
                </a:solidFill>
                <a:latin typeface="Calibri" panose="020F0502020204030204" pitchFamily="34" charset="0"/>
                <a:cs typeface="Calibri" panose="020F0502020204030204" pitchFamily="34" charset="0"/>
              </a:rPr>
              <a:t>Exam 1</a:t>
            </a:r>
          </a:p>
        </p:txBody>
      </p:sp>
      <p:sp>
        <p:nvSpPr>
          <p:cNvPr id="3" name="Content Placeholder 2">
            <a:extLst>
              <a:ext uri="{FF2B5EF4-FFF2-40B4-BE49-F238E27FC236}">
                <a16:creationId xmlns:a16="http://schemas.microsoft.com/office/drawing/2014/main" id="{CB4BFD3B-4745-4EA2-B88D-03F1ECB78F46}"/>
              </a:ext>
            </a:extLst>
          </p:cNvPr>
          <p:cNvSpPr>
            <a:spLocks noGrp="1"/>
          </p:cNvSpPr>
          <p:nvPr>
            <p:ph idx="1"/>
          </p:nvPr>
        </p:nvSpPr>
        <p:spPr>
          <a:xfrm>
            <a:off x="717847" y="1600201"/>
            <a:ext cx="10648059" cy="4495799"/>
          </a:xfrm>
        </p:spPr>
        <p:txBody>
          <a:bodyPr>
            <a:normAutofit/>
          </a:bodyPr>
          <a:lstStyle/>
          <a:p>
            <a:pPr marL="27675" indent="0" algn="ctr">
              <a:buNone/>
            </a:pPr>
            <a:r>
              <a:rPr lang="en-US" sz="4000" b="1" dirty="0">
                <a:solidFill>
                  <a:schemeClr val="tx1"/>
                </a:solidFill>
                <a:latin typeface="Calibri" panose="020F0502020204030204" pitchFamily="34" charset="0"/>
                <a:cs typeface="Calibri" panose="020F0502020204030204" pitchFamily="34" charset="0"/>
              </a:rPr>
              <a:t>You may use </a:t>
            </a:r>
            <a:r>
              <a:rPr lang="en-US" sz="4000" b="1" dirty="0">
                <a:solidFill>
                  <a:srgbClr val="FFFF00"/>
                </a:solidFill>
                <a:latin typeface="Calibri" panose="020F0502020204030204" pitchFamily="34" charset="0"/>
                <a:cs typeface="Calibri" panose="020F0502020204030204" pitchFamily="34" charset="0"/>
              </a:rPr>
              <a:t>only your hand-written notes </a:t>
            </a:r>
            <a:r>
              <a:rPr lang="en-US" sz="4000" b="1" dirty="0">
                <a:solidFill>
                  <a:schemeClr val="tx1"/>
                </a:solidFill>
                <a:latin typeface="Calibri" panose="020F0502020204030204" pitchFamily="34" charset="0"/>
                <a:cs typeface="Calibri" panose="020F0502020204030204" pitchFamily="34" charset="0"/>
              </a:rPr>
              <a:t>on the exam.</a:t>
            </a:r>
          </a:p>
          <a:p>
            <a:pPr marL="27675" indent="0" algn="ctr">
              <a:buNone/>
            </a:pPr>
            <a:endParaRPr lang="en-US" sz="3500" b="1" dirty="0">
              <a:solidFill>
                <a:schemeClr val="tx1"/>
              </a:solidFill>
              <a:latin typeface="Calibri" panose="020F0502020204030204" pitchFamily="34" charset="0"/>
              <a:cs typeface="Calibri" panose="020F0502020204030204" pitchFamily="34" charset="0"/>
            </a:endParaRPr>
          </a:p>
          <a:p>
            <a:pPr marL="27675" indent="0" algn="ctr">
              <a:buNone/>
            </a:pPr>
            <a:r>
              <a:rPr lang="en-US" sz="3500" b="1" dirty="0">
                <a:solidFill>
                  <a:schemeClr val="tx1"/>
                </a:solidFill>
                <a:latin typeface="Calibri" panose="020F0502020204030204" pitchFamily="34" charset="0"/>
                <a:cs typeface="Calibri" panose="020F0502020204030204" pitchFamily="34" charset="0"/>
              </a:rPr>
              <a:t>If you are missing any handwritten notes and haven’t filed them </a:t>
            </a:r>
            <a:r>
              <a:rPr lang="en-US" sz="3500" b="1" i="1" dirty="0">
                <a:solidFill>
                  <a:schemeClr val="tx1"/>
                </a:solidFill>
                <a:latin typeface="Calibri" panose="020F0502020204030204" pitchFamily="34" charset="0"/>
                <a:cs typeface="Calibri" panose="020F0502020204030204" pitchFamily="34" charset="0"/>
              </a:rPr>
              <a:t>before</a:t>
            </a:r>
            <a:r>
              <a:rPr lang="en-US" sz="3500" b="1" dirty="0">
                <a:solidFill>
                  <a:schemeClr val="tx1"/>
                </a:solidFill>
                <a:latin typeface="Calibri" panose="020F0502020204030204" pitchFamily="34" charset="0"/>
                <a:cs typeface="Calibri" panose="020F0502020204030204" pitchFamily="34" charset="0"/>
              </a:rPr>
              <a:t> the exam, you cannot take the exam and will receive an </a:t>
            </a:r>
            <a:r>
              <a:rPr lang="en-US" sz="3500" b="1" dirty="0">
                <a:solidFill>
                  <a:srgbClr val="FF0000"/>
                </a:solidFill>
                <a:latin typeface="Calibri" panose="020F0502020204030204" pitchFamily="34" charset="0"/>
                <a:cs typeface="Calibri" panose="020F0502020204030204" pitchFamily="34" charset="0"/>
              </a:rPr>
              <a:t>F</a:t>
            </a:r>
            <a:r>
              <a:rPr lang="en-US" sz="3000" b="1" dirty="0">
                <a:solidFill>
                  <a:schemeClr val="tx1"/>
                </a:solidFill>
                <a:latin typeface="Calibri" panose="020F0502020204030204" pitchFamily="34" charset="0"/>
                <a:cs typeface="Calibri" panose="020F0502020204030204" pitchFamily="34" charset="0"/>
              </a:rPr>
              <a:t>.</a:t>
            </a:r>
          </a:p>
          <a:p>
            <a:pPr marL="27675" indent="0">
              <a:buNone/>
            </a:pPr>
            <a:endParaRPr lang="en-US" dirty="0"/>
          </a:p>
        </p:txBody>
      </p:sp>
    </p:spTree>
    <p:extLst>
      <p:ext uri="{BB962C8B-B14F-4D97-AF65-F5344CB8AC3E}">
        <p14:creationId xmlns:p14="http://schemas.microsoft.com/office/powerpoint/2010/main" val="408236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F658-876D-44F3-B559-5ACBE76F3EA5}"/>
              </a:ext>
            </a:extLst>
          </p:cNvPr>
          <p:cNvSpPr>
            <a:spLocks noGrp="1"/>
          </p:cNvSpPr>
          <p:nvPr>
            <p:ph type="title"/>
          </p:nvPr>
        </p:nvSpPr>
        <p:spPr>
          <a:xfrm>
            <a:off x="2209347" y="457200"/>
            <a:ext cx="7765322" cy="727838"/>
          </a:xfrm>
        </p:spPr>
        <p:txBody>
          <a:bodyPr>
            <a:noAutofit/>
          </a:bodyPr>
          <a:lstStyle/>
          <a:p>
            <a:r>
              <a:rPr lang="en-US" sz="5500" b="1" dirty="0">
                <a:solidFill>
                  <a:schemeClr val="tx1"/>
                </a:solidFill>
                <a:latin typeface="Calibri" panose="020F0502020204030204" pitchFamily="34" charset="0"/>
                <a:cs typeface="Calibri" panose="020F0502020204030204" pitchFamily="34" charset="0"/>
              </a:rPr>
              <a:t>Exam 1</a:t>
            </a:r>
          </a:p>
        </p:txBody>
      </p:sp>
      <p:sp>
        <p:nvSpPr>
          <p:cNvPr id="3" name="Content Placeholder 2">
            <a:extLst>
              <a:ext uri="{FF2B5EF4-FFF2-40B4-BE49-F238E27FC236}">
                <a16:creationId xmlns:a16="http://schemas.microsoft.com/office/drawing/2014/main" id="{CB4BFD3B-4745-4EA2-B88D-03F1ECB78F46}"/>
              </a:ext>
            </a:extLst>
          </p:cNvPr>
          <p:cNvSpPr>
            <a:spLocks noGrp="1"/>
          </p:cNvSpPr>
          <p:nvPr>
            <p:ph idx="1"/>
          </p:nvPr>
        </p:nvSpPr>
        <p:spPr>
          <a:xfrm>
            <a:off x="1256232" y="1954532"/>
            <a:ext cx="9938759" cy="3804557"/>
          </a:xfrm>
        </p:spPr>
        <p:txBody>
          <a:bodyPr>
            <a:noAutofit/>
          </a:bodyPr>
          <a:lstStyle/>
          <a:p>
            <a:pPr marL="27675" indent="0" algn="ctr">
              <a:buNone/>
            </a:pPr>
            <a:r>
              <a:rPr lang="en-US" sz="3800" b="1" dirty="0">
                <a:solidFill>
                  <a:schemeClr val="tx1"/>
                </a:solidFill>
                <a:latin typeface="Calibri" panose="020F0502020204030204" pitchFamily="34" charset="0"/>
                <a:cs typeface="Calibri" panose="020F0502020204030204" pitchFamily="34" charset="0"/>
              </a:rPr>
              <a:t>Do </a:t>
            </a:r>
            <a:r>
              <a:rPr lang="en-US" sz="3800" b="1" dirty="0">
                <a:solidFill>
                  <a:srgbClr val="FF0000"/>
                </a:solidFill>
                <a:latin typeface="Calibri" panose="020F0502020204030204" pitchFamily="34" charset="0"/>
                <a:cs typeface="Calibri" panose="020F0502020204030204" pitchFamily="34" charset="0"/>
              </a:rPr>
              <a:t>Not Leave </a:t>
            </a:r>
            <a:r>
              <a:rPr lang="en-US" sz="3800" b="1" dirty="0">
                <a:solidFill>
                  <a:schemeClr val="tx1"/>
                </a:solidFill>
                <a:latin typeface="Calibri" panose="020F0502020204030204" pitchFamily="34" charset="0"/>
                <a:cs typeface="Calibri" panose="020F0502020204030204" pitchFamily="34" charset="0"/>
              </a:rPr>
              <a:t>the Canvas Page</a:t>
            </a:r>
            <a:br>
              <a:rPr lang="en-US" sz="3800" b="1" dirty="0">
                <a:solidFill>
                  <a:schemeClr val="tx1"/>
                </a:solidFill>
                <a:latin typeface="Calibri" panose="020F0502020204030204" pitchFamily="34" charset="0"/>
                <a:cs typeface="Calibri" panose="020F0502020204030204" pitchFamily="34" charset="0"/>
              </a:rPr>
            </a:br>
            <a:endParaRPr lang="en-US" sz="3800" b="1" dirty="0">
              <a:solidFill>
                <a:schemeClr val="tx1"/>
              </a:solidFill>
              <a:latin typeface="Calibri" panose="020F0502020204030204" pitchFamily="34" charset="0"/>
              <a:cs typeface="Calibri" panose="020F0502020204030204" pitchFamily="34" charset="0"/>
            </a:endParaRPr>
          </a:p>
          <a:p>
            <a:pPr marL="27675" indent="0" algn="ctr">
              <a:buNone/>
            </a:pPr>
            <a:r>
              <a:rPr lang="en-US" sz="3800" b="1" dirty="0">
                <a:solidFill>
                  <a:schemeClr val="tx1"/>
                </a:solidFill>
                <a:latin typeface="Calibri" panose="020F0502020204030204" pitchFamily="34" charset="0"/>
                <a:cs typeface="Calibri" panose="020F0502020204030204" pitchFamily="34" charset="0"/>
              </a:rPr>
              <a:t>Leaving Canvas – </a:t>
            </a:r>
            <a:r>
              <a:rPr lang="en-US" sz="3800" b="1" dirty="0">
                <a:solidFill>
                  <a:srgbClr val="FF0000"/>
                </a:solidFill>
                <a:latin typeface="Calibri" panose="020F0502020204030204" pitchFamily="34" charset="0"/>
                <a:cs typeface="Calibri" panose="020F0502020204030204" pitchFamily="34" charset="0"/>
              </a:rPr>
              <a:t>for any reason </a:t>
            </a:r>
            <a:r>
              <a:rPr lang="en-US" sz="3800" b="1" dirty="0">
                <a:solidFill>
                  <a:schemeClr val="tx1"/>
                </a:solidFill>
                <a:latin typeface="Calibri" panose="020F0502020204030204" pitchFamily="34" charset="0"/>
                <a:cs typeface="Calibri" panose="020F0502020204030204" pitchFamily="34" charset="0"/>
              </a:rPr>
              <a:t>- will lead to failing the exam.</a:t>
            </a:r>
            <a:br>
              <a:rPr lang="en-US" sz="3800" b="1" dirty="0">
                <a:solidFill>
                  <a:schemeClr val="tx1"/>
                </a:solidFill>
                <a:latin typeface="Calibri" panose="020F0502020204030204" pitchFamily="34" charset="0"/>
                <a:cs typeface="Calibri" panose="020F0502020204030204" pitchFamily="34" charset="0"/>
              </a:rPr>
            </a:br>
            <a:endParaRPr lang="en-US" sz="3800" b="1" dirty="0">
              <a:solidFill>
                <a:schemeClr val="tx1"/>
              </a:solidFill>
              <a:latin typeface="Calibri" panose="020F0502020204030204" pitchFamily="34" charset="0"/>
              <a:cs typeface="Calibri" panose="020F0502020204030204" pitchFamily="34" charset="0"/>
            </a:endParaRPr>
          </a:p>
          <a:p>
            <a:pPr marL="27675" indent="0" algn="ctr">
              <a:buNone/>
            </a:pPr>
            <a:r>
              <a:rPr lang="en-US" sz="3800" b="1" dirty="0">
                <a:solidFill>
                  <a:srgbClr val="FFFF00"/>
                </a:solidFill>
                <a:latin typeface="Calibri" panose="020F0502020204030204" pitchFamily="34" charset="0"/>
                <a:cs typeface="Calibri" panose="020F0502020204030204" pitchFamily="34" charset="0"/>
              </a:rPr>
              <a:t>I am watching</a:t>
            </a:r>
            <a:r>
              <a:rPr lang="en-US" sz="3800" b="1" dirty="0">
                <a:solidFill>
                  <a:schemeClr val="tx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56403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F658-876D-44F3-B559-5ACBE76F3EA5}"/>
              </a:ext>
            </a:extLst>
          </p:cNvPr>
          <p:cNvSpPr>
            <a:spLocks noGrp="1"/>
          </p:cNvSpPr>
          <p:nvPr>
            <p:ph type="title"/>
          </p:nvPr>
        </p:nvSpPr>
        <p:spPr>
          <a:xfrm>
            <a:off x="1828800" y="457200"/>
            <a:ext cx="8603522" cy="727838"/>
          </a:xfrm>
        </p:spPr>
        <p:txBody>
          <a:bodyPr>
            <a:noAutofit/>
          </a:bodyPr>
          <a:lstStyle/>
          <a:p>
            <a:r>
              <a:rPr lang="en-US" sz="4000" b="1" dirty="0">
                <a:solidFill>
                  <a:schemeClr val="tx1"/>
                </a:solidFill>
                <a:latin typeface="Calibri" panose="020F0502020204030204" pitchFamily="34" charset="0"/>
                <a:cs typeface="Calibri" panose="020F0502020204030204" pitchFamily="34" charset="0"/>
              </a:rPr>
              <a:t>Class 12 Check-In | My Good Standing </a:t>
            </a:r>
          </a:p>
        </p:txBody>
      </p:sp>
      <p:sp>
        <p:nvSpPr>
          <p:cNvPr id="3" name="Content Placeholder 2">
            <a:extLst>
              <a:ext uri="{FF2B5EF4-FFF2-40B4-BE49-F238E27FC236}">
                <a16:creationId xmlns:a16="http://schemas.microsoft.com/office/drawing/2014/main" id="{CB4BFD3B-4745-4EA2-B88D-03F1ECB78F46}"/>
              </a:ext>
            </a:extLst>
          </p:cNvPr>
          <p:cNvSpPr>
            <a:spLocks noGrp="1"/>
          </p:cNvSpPr>
          <p:nvPr>
            <p:ph idx="1"/>
          </p:nvPr>
        </p:nvSpPr>
        <p:spPr>
          <a:xfrm>
            <a:off x="1068224" y="1657884"/>
            <a:ext cx="9878939" cy="4101205"/>
          </a:xfrm>
        </p:spPr>
        <p:txBody>
          <a:bodyPr>
            <a:noAutofit/>
          </a:bodyPr>
          <a:lstStyle/>
          <a:p>
            <a:r>
              <a:rPr lang="en-US" sz="3000" dirty="0">
                <a:latin typeface="Calibri" panose="020F0502020204030204" pitchFamily="34" charset="0"/>
                <a:cs typeface="Calibri" panose="020F0502020204030204" pitchFamily="34" charset="0"/>
              </a:rPr>
              <a:t>1. </a:t>
            </a:r>
            <a:r>
              <a:rPr lang="en-US" sz="3000" b="1" dirty="0">
                <a:latin typeface="Calibri" panose="020F0502020204030204" pitchFamily="34" charset="0"/>
                <a:cs typeface="Calibri" panose="020F0502020204030204" pitchFamily="34" charset="0"/>
              </a:rPr>
              <a:t>Go to Canvas/Assignments.</a:t>
            </a:r>
            <a:endParaRPr lang="en-US" sz="3000" dirty="0">
              <a:latin typeface="Calibri" panose="020F0502020204030204" pitchFamily="34" charset="0"/>
              <a:cs typeface="Calibri" panose="020F0502020204030204" pitchFamily="34" charset="0"/>
            </a:endParaRPr>
          </a:p>
          <a:p>
            <a:r>
              <a:rPr lang="en-US" sz="3000" dirty="0">
                <a:latin typeface="Calibri" panose="020F0502020204030204" pitchFamily="34" charset="0"/>
                <a:cs typeface="Calibri" panose="020F0502020204030204" pitchFamily="34" charset="0"/>
              </a:rPr>
              <a:t>2. </a:t>
            </a:r>
            <a:r>
              <a:rPr lang="en-US" sz="3000" b="1" dirty="0">
                <a:latin typeface="Calibri" panose="020F0502020204030204" pitchFamily="34" charset="0"/>
                <a:cs typeface="Calibri" panose="020F0502020204030204" pitchFamily="34" charset="0"/>
              </a:rPr>
              <a:t>Check for all missing Handwritten Notes.</a:t>
            </a:r>
            <a:endParaRPr lang="en-US" sz="3000" dirty="0">
              <a:latin typeface="Calibri" panose="020F0502020204030204" pitchFamily="34" charset="0"/>
              <a:cs typeface="Calibri" panose="020F0502020204030204" pitchFamily="34" charset="0"/>
            </a:endParaRPr>
          </a:p>
          <a:p>
            <a:r>
              <a:rPr lang="en-US" sz="3000" dirty="0">
                <a:latin typeface="Calibri" panose="020F0502020204030204" pitchFamily="34" charset="0"/>
                <a:cs typeface="Calibri" panose="020F0502020204030204" pitchFamily="34" charset="0"/>
              </a:rPr>
              <a:t>3. </a:t>
            </a:r>
            <a:r>
              <a:rPr lang="en-US" sz="3000" b="1" dirty="0">
                <a:latin typeface="Calibri" panose="020F0502020204030204" pitchFamily="34" charset="0"/>
                <a:cs typeface="Calibri" panose="020F0502020204030204" pitchFamily="34" charset="0"/>
              </a:rPr>
              <a:t>Check for all missing Daily Check-Ins.</a:t>
            </a:r>
            <a:endParaRPr lang="en-US" sz="3000" dirty="0">
              <a:latin typeface="Calibri" panose="020F0502020204030204" pitchFamily="34" charset="0"/>
              <a:cs typeface="Calibri" panose="020F0502020204030204" pitchFamily="34" charset="0"/>
            </a:endParaRPr>
          </a:p>
          <a:p>
            <a:r>
              <a:rPr lang="en-US" sz="3000" dirty="0">
                <a:latin typeface="Calibri" panose="020F0502020204030204" pitchFamily="34" charset="0"/>
                <a:cs typeface="Calibri" panose="020F0502020204030204" pitchFamily="34" charset="0"/>
              </a:rPr>
              <a:t>4. </a:t>
            </a:r>
            <a:r>
              <a:rPr lang="en-US" sz="3000" b="1" dirty="0">
                <a:effectLst/>
                <a:latin typeface="Calibri" panose="020F0502020204030204" pitchFamily="34" charset="0"/>
                <a:cs typeface="Calibri" panose="020F0502020204030204" pitchFamily="34" charset="0"/>
              </a:rPr>
              <a:t>List how many of each you are missing and your plan to complete them before Exam 1.</a:t>
            </a:r>
            <a:endParaRPr lang="en-US" sz="3000" dirty="0">
              <a:latin typeface="Calibri" panose="020F0502020204030204" pitchFamily="34" charset="0"/>
              <a:cs typeface="Calibri" panose="020F0502020204030204" pitchFamily="34" charset="0"/>
            </a:endParaRPr>
          </a:p>
          <a:p>
            <a:pPr marL="27675" indent="0" algn="ctr">
              <a:buNone/>
            </a:pPr>
            <a:br>
              <a:rPr lang="en-US" sz="3000" b="1" dirty="0">
                <a:solidFill>
                  <a:schemeClr val="tx1"/>
                </a:solidFill>
                <a:latin typeface="Calibri" panose="020F0502020204030204" pitchFamily="34" charset="0"/>
                <a:cs typeface="Calibri" panose="020F0502020204030204" pitchFamily="34" charset="0"/>
              </a:rPr>
            </a:br>
            <a:endParaRPr lang="en-US" sz="30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933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F68134DA-2A4D-DD8C-FE74-0F42ECF1F1EC}"/>
            </a:ext>
          </a:extLst>
        </p:cNvPr>
        <p:cNvGrpSpPr/>
        <p:nvPr/>
      </p:nvGrpSpPr>
      <p:grpSpPr>
        <a:xfrm>
          <a:off x="0" y="0"/>
          <a:ext cx="0" cy="0"/>
          <a:chOff x="0" y="0"/>
          <a:chExt cx="0" cy="0"/>
        </a:xfrm>
      </p:grpSpPr>
      <p:sp>
        <p:nvSpPr>
          <p:cNvPr id="38" name="Slide Number Placeholder 37">
            <a:extLst>
              <a:ext uri="{FF2B5EF4-FFF2-40B4-BE49-F238E27FC236}">
                <a16:creationId xmlns:a16="http://schemas.microsoft.com/office/drawing/2014/main" id="{462A6852-C74B-9232-642A-E49FEC410D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000" b="0" i="0" u="none" strike="noStrike" kern="1200" cap="none" spc="0" normalizeH="0" baseline="0" noProof="0" smtClean="0">
                <a:ln>
                  <a:noFill/>
                </a:ln>
                <a:solidFill>
                  <a:prstClr val="black"/>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dirty="0">
              <a:ln>
                <a:noFill/>
              </a:ln>
              <a:solidFill>
                <a:prstClr val="black"/>
              </a:solidFill>
              <a:effectLst/>
              <a:uLnTx/>
              <a:uFillTx/>
              <a:latin typeface="Avenir Next LT Pro Light"/>
              <a:ea typeface="+mn-ea"/>
              <a:cs typeface="+mn-cs"/>
            </a:endParaRPr>
          </a:p>
        </p:txBody>
      </p:sp>
      <p:sp>
        <p:nvSpPr>
          <p:cNvPr id="2" name="Title 3">
            <a:extLst>
              <a:ext uri="{FF2B5EF4-FFF2-40B4-BE49-F238E27FC236}">
                <a16:creationId xmlns:a16="http://schemas.microsoft.com/office/drawing/2014/main" id="{2EE38DA7-38FC-061F-937A-5C328064EF17}"/>
              </a:ext>
            </a:extLst>
          </p:cNvPr>
          <p:cNvSpPr txBox="1">
            <a:spLocks/>
          </p:cNvSpPr>
          <p:nvPr/>
        </p:nvSpPr>
        <p:spPr>
          <a:xfrm>
            <a:off x="795620" y="2503788"/>
            <a:ext cx="10876085" cy="4217687"/>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2500" b="1" i="0" u="none" strike="noStrike" kern="1200" cap="none" spc="0" normalizeH="0" baseline="0" noProof="0" dirty="0">
                <a:ln>
                  <a:noFill/>
                </a:ln>
                <a:solidFill>
                  <a:prstClr val="black"/>
                </a:solidFill>
                <a:effectLst/>
                <a:uLnTx/>
                <a:uFillTx/>
                <a:latin typeface="Amasis MT Pro Black" panose="020F0502020204030204" pitchFamily="18" charset="0"/>
                <a:ea typeface="+mj-ea"/>
                <a:cs typeface="+mj-cs"/>
              </a:rPr>
              <a:t>Today’s</a:t>
            </a:r>
          </a:p>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2500" b="1" i="0" u="none" strike="noStrike" kern="1200" cap="none" spc="0" normalizeH="0" baseline="0" noProof="0" dirty="0">
                <a:ln>
                  <a:noFill/>
                </a:ln>
                <a:solidFill>
                  <a:prstClr val="black"/>
                </a:solidFill>
                <a:effectLst/>
                <a:uLnTx/>
                <a:uFillTx/>
                <a:latin typeface="Amasis MT Pro Black" panose="020F0502020204030204" pitchFamily="18" charset="0"/>
                <a:ea typeface="+mj-ea"/>
                <a:cs typeface="+mj-cs"/>
              </a:rPr>
              <a:t>PM Problem</a:t>
            </a:r>
          </a:p>
        </p:txBody>
      </p:sp>
      <p:sp>
        <p:nvSpPr>
          <p:cNvPr id="7" name="Title 3">
            <a:extLst>
              <a:ext uri="{FF2B5EF4-FFF2-40B4-BE49-F238E27FC236}">
                <a16:creationId xmlns:a16="http://schemas.microsoft.com/office/drawing/2014/main" id="{3FDD61FC-2E18-A766-21F5-1B1891C8EE35}"/>
              </a:ext>
            </a:extLst>
          </p:cNvPr>
          <p:cNvSpPr txBox="1">
            <a:spLocks/>
          </p:cNvSpPr>
          <p:nvPr/>
        </p:nvSpPr>
        <p:spPr>
          <a:xfrm>
            <a:off x="745649" y="491956"/>
            <a:ext cx="9910957" cy="960829"/>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az-Cyrl-AZ" sz="4500" b="1" i="0" u="none" strike="noStrike" kern="1200" cap="none" spc="0" normalizeH="0" baseline="0" noProof="0" dirty="0">
                <a:ln>
                  <a:noFill/>
                </a:ln>
                <a:solidFill>
                  <a:prstClr val="black"/>
                </a:solidFill>
                <a:effectLst/>
                <a:uLnTx/>
                <a:uFillTx/>
                <a:latin typeface="Calibri" panose="020F0502020204030204" pitchFamily="34" charset="0"/>
                <a:ea typeface="+mj-ea"/>
                <a:cs typeface="Calibri" panose="020F0502020204030204" pitchFamily="34" charset="0"/>
              </a:rPr>
              <a:t>ꚙ</a:t>
            </a:r>
            <a:r>
              <a:rPr kumimoji="0" lang="en-US" sz="4500" b="1" i="0" u="none" strike="noStrike" kern="1200" cap="none" spc="0" normalizeH="0" baseline="0" noProof="0" dirty="0">
                <a:ln>
                  <a:noFill/>
                </a:ln>
                <a:solidFill>
                  <a:prstClr val="black"/>
                </a:solidFill>
                <a:effectLst/>
                <a:uLnTx/>
                <a:uFillTx/>
                <a:latin typeface="Amasis MT Pro Black" panose="02040A04050005020304" pitchFamily="18" charset="0"/>
                <a:ea typeface="+mj-ea"/>
                <a:cs typeface="+mj-cs"/>
              </a:rPr>
              <a:t> ‘The boss called …’ </a:t>
            </a:r>
            <a:r>
              <a:rPr kumimoji="0" lang="az-Cyrl-AZ" sz="4500" b="1" i="0" u="none" strike="noStrike" kern="1200" cap="none" spc="0" normalizeH="0" baseline="0" noProof="0" dirty="0">
                <a:ln>
                  <a:noFill/>
                </a:ln>
                <a:solidFill>
                  <a:prstClr val="black"/>
                </a:solidFill>
                <a:effectLst/>
                <a:uLnTx/>
                <a:uFillTx/>
                <a:latin typeface="Calibri" panose="020F0502020204030204" pitchFamily="34" charset="0"/>
                <a:ea typeface="+mj-ea"/>
                <a:cs typeface="Calibri" panose="020F0502020204030204" pitchFamily="34" charset="0"/>
              </a:rPr>
              <a:t>ꚙ</a:t>
            </a:r>
            <a:endParaRPr kumimoji="0" lang="en-US" sz="4500" b="1" i="0" u="none" strike="noStrike" kern="1200" cap="none" spc="0" normalizeH="0" baseline="0" noProof="0" dirty="0">
              <a:ln>
                <a:noFill/>
              </a:ln>
              <a:solidFill>
                <a:prstClr val="black"/>
              </a:solidFill>
              <a:effectLst/>
              <a:uLnTx/>
              <a:uFillTx/>
              <a:latin typeface="Amasis MT Pro Black" panose="02040A04050005020304" pitchFamily="18" charset="0"/>
              <a:ea typeface="+mj-ea"/>
              <a:cs typeface="+mj-cs"/>
            </a:endParaRPr>
          </a:p>
        </p:txBody>
      </p:sp>
    </p:spTree>
    <p:extLst>
      <p:ext uri="{BB962C8B-B14F-4D97-AF65-F5344CB8AC3E}">
        <p14:creationId xmlns:p14="http://schemas.microsoft.com/office/powerpoint/2010/main" val="1324877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5BF6F3-2C97-2D26-D6D8-327DA2A3AC55}"/>
              </a:ext>
            </a:extLst>
          </p:cNvPr>
          <p:cNvSpPr txBox="1">
            <a:spLocks/>
          </p:cNvSpPr>
          <p:nvPr/>
        </p:nvSpPr>
        <p:spPr>
          <a:xfrm>
            <a:off x="472428" y="380287"/>
            <a:ext cx="11175489" cy="6157245"/>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lvl="0">
              <a:defRPr/>
            </a:pPr>
            <a:r>
              <a:rPr lang="en-US" sz="3500" dirty="0">
                <a:solidFill>
                  <a:prstClr val="black"/>
                </a:solidFill>
              </a:rPr>
              <a:t>You’re a team member working on a project when you get an email from the client requesting you to run a meeting that’s not in the scope or WBS? What do you do?</a:t>
            </a:r>
          </a:p>
          <a:p>
            <a:pPr lvl="0">
              <a:defRPr/>
            </a:pPr>
            <a:endParaRPr lang="en-US" sz="3500" dirty="0">
              <a:solidFill>
                <a:prstClr val="black"/>
              </a:solidFill>
              <a:ea typeface="Meiryo" panose="020B0604030504040204" pitchFamily="34" charset="-128"/>
            </a:endParaRPr>
          </a:p>
          <a:p>
            <a:pPr lvl="0">
              <a:defRPr/>
            </a:pPr>
            <a:r>
              <a:rPr lang="en-US" sz="3500" dirty="0">
                <a:solidFill>
                  <a:prstClr val="black"/>
                </a:solidFill>
                <a:ea typeface="Meiryo" panose="020B0604030504040204" pitchFamily="34" charset="-128"/>
              </a:rPr>
              <a:t>What if the request is from the PM?</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j-ea"/>
              <a:cs typeface="Calibri" panose="020F0502020204030204" pitchFamily="34" charset="0"/>
            </a:endParaRPr>
          </a:p>
        </p:txBody>
      </p:sp>
    </p:spTree>
    <p:extLst>
      <p:ext uri="{BB962C8B-B14F-4D97-AF65-F5344CB8AC3E}">
        <p14:creationId xmlns:p14="http://schemas.microsoft.com/office/powerpoint/2010/main" val="157582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5A6FFB-8214-883C-A4FF-916C3D16DE30}"/>
              </a:ext>
            </a:extLst>
          </p:cNvPr>
          <p:cNvPicPr>
            <a:picLocks noChangeAspect="1"/>
          </p:cNvPicPr>
          <p:nvPr/>
        </p:nvPicPr>
        <p:blipFill>
          <a:blip r:embed="rId2"/>
          <a:stretch>
            <a:fillRect/>
          </a:stretch>
        </p:blipFill>
        <p:spPr>
          <a:xfrm>
            <a:off x="1" y="-74065"/>
            <a:ext cx="12192000" cy="6925891"/>
          </a:xfrm>
          <a:prstGeom prst="rect">
            <a:avLst/>
          </a:prstGeom>
        </p:spPr>
      </p:pic>
      <p:sp>
        <p:nvSpPr>
          <p:cNvPr id="5" name="Title 3">
            <a:extLst>
              <a:ext uri="{FF2B5EF4-FFF2-40B4-BE49-F238E27FC236}">
                <a16:creationId xmlns:a16="http://schemas.microsoft.com/office/drawing/2014/main" id="{4D17CA6E-28C8-B930-52C3-F72C1DB86013}"/>
              </a:ext>
            </a:extLst>
          </p:cNvPr>
          <p:cNvSpPr txBox="1">
            <a:spLocks/>
          </p:cNvSpPr>
          <p:nvPr/>
        </p:nvSpPr>
        <p:spPr>
          <a:xfrm>
            <a:off x="316194" y="136525"/>
            <a:ext cx="4965107" cy="3292475"/>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500" b="1" i="0" u="none" strike="noStrike" kern="1200" cap="none" spc="0" normalizeH="0" baseline="0" noProof="0" dirty="0">
                <a:ln>
                  <a:noFill/>
                </a:ln>
                <a:solidFill>
                  <a:srgbClr val="000000"/>
                </a:solidFill>
                <a:effectLst/>
                <a:uLnTx/>
                <a:uFillTx/>
                <a:latin typeface="Bierstadt"/>
                <a:ea typeface="+mj-ea"/>
                <a:cs typeface="+mj-cs"/>
              </a:rPr>
              <a:t>Write down 3 possible course of actions you could take.</a:t>
            </a:r>
          </a:p>
        </p:txBody>
      </p:sp>
    </p:spTree>
    <p:extLst>
      <p:ext uri="{BB962C8B-B14F-4D97-AF65-F5344CB8AC3E}">
        <p14:creationId xmlns:p14="http://schemas.microsoft.com/office/powerpoint/2010/main" val="396092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9C6EF8D5-CF4A-617B-36AF-B5F1604B4960}"/>
            </a:ext>
          </a:extLst>
        </p:cNvPr>
        <p:cNvGrpSpPr/>
        <p:nvPr/>
      </p:nvGrpSpPr>
      <p:grpSpPr>
        <a:xfrm>
          <a:off x="0" y="0"/>
          <a:ext cx="0" cy="0"/>
          <a:chOff x="0" y="0"/>
          <a:chExt cx="0" cy="0"/>
        </a:xfrm>
      </p:grpSpPr>
      <p:pic>
        <p:nvPicPr>
          <p:cNvPr id="2060" name="Picture 12" descr="Learning Labs • Training and Development • scitrain">
            <a:extLst>
              <a:ext uri="{FF2B5EF4-FFF2-40B4-BE49-F238E27FC236}">
                <a16:creationId xmlns:a16="http://schemas.microsoft.com/office/drawing/2014/main" id="{351FD63D-C5A4-983F-8A1A-9F68B234B0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394722">
            <a:off x="10974471" y="-13531"/>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BECE9FE5-131E-F840-6192-0575A2DBE4A7}"/>
              </a:ext>
            </a:extLst>
          </p:cNvPr>
          <p:cNvSpPr txBox="1">
            <a:spLocks/>
          </p:cNvSpPr>
          <p:nvPr/>
        </p:nvSpPr>
        <p:spPr>
          <a:xfrm>
            <a:off x="797169" y="568295"/>
            <a:ext cx="10893724" cy="5665862"/>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4500" b="0" i="0" u="none" strike="noStrike" kern="1200" cap="none" spc="0" normalizeH="0" baseline="0" noProof="0" dirty="0">
              <a:ln>
                <a:noFill/>
              </a:ln>
              <a:solidFill>
                <a:srgbClr val="000000"/>
              </a:solidFill>
              <a:effectLst/>
              <a:uLnTx/>
              <a:uFillTx/>
              <a:latin typeface="Calibri" panose="020F0502020204030204" pitchFamily="34" charset="0"/>
              <a:ea typeface="+mj-ea"/>
              <a:cs typeface="Calibri" panose="020F0502020204030204" pitchFamily="34" charset="0"/>
            </a:endParaRPr>
          </a:p>
        </p:txBody>
      </p:sp>
      <p:sp>
        <p:nvSpPr>
          <p:cNvPr id="4" name="TextBox 3">
            <a:extLst>
              <a:ext uri="{FF2B5EF4-FFF2-40B4-BE49-F238E27FC236}">
                <a16:creationId xmlns:a16="http://schemas.microsoft.com/office/drawing/2014/main" id="{78DAD4B8-EAD0-CC59-8BB3-25378469C0D9}"/>
              </a:ext>
            </a:extLst>
          </p:cNvPr>
          <p:cNvSpPr txBox="1"/>
          <p:nvPr/>
        </p:nvSpPr>
        <p:spPr>
          <a:xfrm>
            <a:off x="583524" y="623843"/>
            <a:ext cx="10893724" cy="4401205"/>
          </a:xfrm>
          <a:prstGeom prst="rect">
            <a:avLst/>
          </a:prstGeom>
          <a:noFill/>
        </p:spPr>
        <p:txBody>
          <a:bodyPr wrap="square">
            <a:spAutoFit/>
          </a:bodyPr>
          <a:lstStyle/>
          <a:p>
            <a:pPr>
              <a:lnSpc>
                <a:spcPct val="100000"/>
              </a:lnSpc>
              <a:spcBef>
                <a:spcPts val="0"/>
              </a:spcBef>
              <a:spcAft>
                <a:spcPts val="0"/>
              </a:spcAft>
            </a:pPr>
            <a:r>
              <a:rPr lang="en-US" sz="4000" dirty="0"/>
              <a:t>In both cases, the first order of business is to make sure the item is not already in the scope of work.</a:t>
            </a:r>
          </a:p>
          <a:p>
            <a:pPr>
              <a:lnSpc>
                <a:spcPct val="100000"/>
              </a:lnSpc>
              <a:spcBef>
                <a:spcPts val="0"/>
              </a:spcBef>
              <a:spcAft>
                <a:spcPts val="0"/>
              </a:spcAft>
              <a:buFont typeface="Wingdings" panose="05000000000000000000" pitchFamily="2" charset="2"/>
              <a:buChar char="§"/>
            </a:pPr>
            <a:endParaRPr lang="en-US" sz="4000" dirty="0"/>
          </a:p>
          <a:p>
            <a:pPr>
              <a:lnSpc>
                <a:spcPct val="100000"/>
              </a:lnSpc>
              <a:spcBef>
                <a:spcPts val="0"/>
              </a:spcBef>
              <a:spcAft>
                <a:spcPts val="0"/>
              </a:spcAft>
            </a:pPr>
            <a:r>
              <a:rPr lang="en-US" sz="4000" dirty="0"/>
              <a:t>If it is a new item, then you must begin the discussion of </a:t>
            </a:r>
            <a:r>
              <a:rPr lang="en-US" sz="4000" b="1" dirty="0"/>
              <a:t>what part of the Iron Triangle will have to change</a:t>
            </a:r>
            <a:r>
              <a:rPr lang="en-US" sz="4000" dirty="0"/>
              <a:t> to make room for it – time, cost or quality?</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6457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2AB0E-B64A-4CCD-1A66-D81B9454E29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425EC55-9404-68A9-F2A6-6F4588A09109}"/>
              </a:ext>
            </a:extLst>
          </p:cNvPr>
          <p:cNvSpPr>
            <a:spLocks noGrp="1"/>
          </p:cNvSpPr>
          <p:nvPr>
            <p:ph idx="1"/>
          </p:nvPr>
        </p:nvSpPr>
        <p:spPr>
          <a:xfrm>
            <a:off x="266700" y="416405"/>
            <a:ext cx="11658599" cy="916739"/>
          </a:xfrm>
        </p:spPr>
        <p:txBody>
          <a:bodyPr vert="horz" lIns="91440" tIns="45720" rIns="91440" bIns="45720" rtlCol="0" anchor="t">
            <a:normAutofit/>
          </a:bodyPr>
          <a:lstStyle/>
          <a:p>
            <a:pPr marL="0" indent="0" algn="ctr">
              <a:lnSpc>
                <a:spcPct val="100000"/>
              </a:lnSpc>
              <a:spcBef>
                <a:spcPts val="0"/>
              </a:spcBef>
              <a:buNone/>
            </a:pPr>
            <a:r>
              <a:rPr lang="en-US" sz="4500" b="1" noProof="1">
                <a:latin typeface="Gill Sans Ultra Bold" panose="020B0A02020104020203" pitchFamily="34" charset="0"/>
              </a:rPr>
              <a:t>Today’s Objectives</a:t>
            </a:r>
          </a:p>
          <a:p>
            <a:pPr marL="0" indent="0">
              <a:lnSpc>
                <a:spcPct val="100000"/>
              </a:lnSpc>
              <a:spcBef>
                <a:spcPts val="0"/>
              </a:spcBef>
              <a:buNone/>
            </a:pPr>
            <a:endParaRPr lang="en-US" sz="3800" noProof="1"/>
          </a:p>
          <a:p>
            <a:pPr marL="0" indent="0">
              <a:lnSpc>
                <a:spcPct val="100000"/>
              </a:lnSpc>
              <a:spcBef>
                <a:spcPts val="0"/>
              </a:spcBef>
              <a:buNone/>
            </a:pPr>
            <a:endParaRPr lang="en-US" sz="3800" noProof="1"/>
          </a:p>
          <a:p>
            <a:pPr marL="0" indent="0">
              <a:lnSpc>
                <a:spcPct val="100000"/>
              </a:lnSpc>
              <a:spcBef>
                <a:spcPts val="0"/>
              </a:spcBef>
              <a:buNone/>
            </a:pPr>
            <a:endParaRPr lang="en-US" sz="3800" noProof="1"/>
          </a:p>
          <a:p>
            <a:pPr marL="0" indent="0">
              <a:lnSpc>
                <a:spcPct val="100000"/>
              </a:lnSpc>
              <a:spcBef>
                <a:spcPts val="0"/>
              </a:spcBef>
              <a:buNone/>
            </a:pPr>
            <a:endParaRPr lang="en-US" sz="3800" noProof="1"/>
          </a:p>
        </p:txBody>
      </p:sp>
      <p:sp>
        <p:nvSpPr>
          <p:cNvPr id="38" name="Slide Number Placeholder 37">
            <a:extLst>
              <a:ext uri="{FF2B5EF4-FFF2-40B4-BE49-F238E27FC236}">
                <a16:creationId xmlns:a16="http://schemas.microsoft.com/office/drawing/2014/main" id="{30DFC3CF-EE19-9EE3-DBA8-DAF744FFC8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000" b="0" i="0" u="none" strike="noStrike" kern="1200" cap="none" spc="0" normalizeH="0" baseline="0" noProof="0" smtClean="0">
                <a:ln>
                  <a:noFill/>
                </a:ln>
                <a:solidFill>
                  <a:prstClr val="black"/>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dirty="0">
              <a:ln>
                <a:noFill/>
              </a:ln>
              <a:solidFill>
                <a:prstClr val="black"/>
              </a:solidFill>
              <a:effectLst/>
              <a:uLnTx/>
              <a:uFillTx/>
              <a:latin typeface="Avenir Next LT Pro Light"/>
              <a:ea typeface="+mn-ea"/>
              <a:cs typeface="+mn-cs"/>
            </a:endParaRPr>
          </a:p>
        </p:txBody>
      </p:sp>
      <p:sp>
        <p:nvSpPr>
          <p:cNvPr id="2" name="Rectangle 1">
            <a:extLst>
              <a:ext uri="{FF2B5EF4-FFF2-40B4-BE49-F238E27FC236}">
                <a16:creationId xmlns:a16="http://schemas.microsoft.com/office/drawing/2014/main" id="{FE0D8EE5-8B00-4F94-9DBF-EF0AC2417F74}"/>
              </a:ext>
              <a:ext uri="{C183D7F6-B498-43B3-948B-1728B52AA6E4}">
                <adec:decorative xmlns:adec="http://schemas.microsoft.com/office/drawing/2017/decorative" val="1"/>
              </a:ext>
            </a:extLst>
          </p:cNvPr>
          <p:cNvSpPr/>
          <p:nvPr/>
        </p:nvSpPr>
        <p:spPr>
          <a:xfrm>
            <a:off x="853868" y="1574561"/>
            <a:ext cx="2538813" cy="3572143"/>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 name="Rectangle 2">
            <a:extLst>
              <a:ext uri="{FF2B5EF4-FFF2-40B4-BE49-F238E27FC236}">
                <a16:creationId xmlns:a16="http://schemas.microsoft.com/office/drawing/2014/main" id="{5BFAFCFC-FA4A-7345-9E6A-1D31CD6329C3}"/>
              </a:ext>
              <a:ext uri="{C183D7F6-B498-43B3-948B-1728B52AA6E4}">
                <adec:decorative xmlns:adec="http://schemas.microsoft.com/office/drawing/2017/decorative" val="1"/>
              </a:ext>
            </a:extLst>
          </p:cNvPr>
          <p:cNvSpPr/>
          <p:nvPr/>
        </p:nvSpPr>
        <p:spPr>
          <a:xfrm>
            <a:off x="4904573" y="1576697"/>
            <a:ext cx="2649909" cy="3572142"/>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 name="Rectangle 3">
            <a:extLst>
              <a:ext uri="{FF2B5EF4-FFF2-40B4-BE49-F238E27FC236}">
                <a16:creationId xmlns:a16="http://schemas.microsoft.com/office/drawing/2014/main" id="{A9F040BB-2824-4DE9-070F-099CC55D627D}"/>
              </a:ext>
              <a:ext uri="{C183D7F6-B498-43B3-948B-1728B52AA6E4}">
                <adec:decorative xmlns:adec="http://schemas.microsoft.com/office/drawing/2017/decorative" val="1"/>
              </a:ext>
            </a:extLst>
          </p:cNvPr>
          <p:cNvSpPr/>
          <p:nvPr/>
        </p:nvSpPr>
        <p:spPr>
          <a:xfrm>
            <a:off x="8610600" y="1624390"/>
            <a:ext cx="2598098" cy="3458911"/>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5" name="Text Placeholder 19">
            <a:extLst>
              <a:ext uri="{FF2B5EF4-FFF2-40B4-BE49-F238E27FC236}">
                <a16:creationId xmlns:a16="http://schemas.microsoft.com/office/drawing/2014/main" id="{153A561B-90F9-A655-1B27-E53D9445535E}"/>
              </a:ext>
            </a:extLst>
          </p:cNvPr>
          <p:cNvSpPr txBox="1">
            <a:spLocks/>
          </p:cNvSpPr>
          <p:nvPr/>
        </p:nvSpPr>
        <p:spPr>
          <a:xfrm>
            <a:off x="983302" y="1893510"/>
            <a:ext cx="2221155" cy="30972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Know that </a:t>
            </a:r>
          </a:p>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A WBS is built upon the broad tasks outlined in the project scope action plan.</a:t>
            </a:r>
          </a:p>
        </p:txBody>
      </p:sp>
      <p:sp>
        <p:nvSpPr>
          <p:cNvPr id="7" name="Text Placeholder 19">
            <a:extLst>
              <a:ext uri="{FF2B5EF4-FFF2-40B4-BE49-F238E27FC236}">
                <a16:creationId xmlns:a16="http://schemas.microsoft.com/office/drawing/2014/main" id="{ABA12262-BE31-F79F-268A-11387F101653}"/>
              </a:ext>
            </a:extLst>
          </p:cNvPr>
          <p:cNvSpPr txBox="1">
            <a:spLocks/>
          </p:cNvSpPr>
          <p:nvPr/>
        </p:nvSpPr>
        <p:spPr>
          <a:xfrm>
            <a:off x="5118949" y="1893510"/>
            <a:ext cx="2221155" cy="261012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Make sure your WBS details each and every step needed to complete the scope – in order and by whom.</a:t>
            </a:r>
          </a:p>
        </p:txBody>
      </p:sp>
      <p:sp>
        <p:nvSpPr>
          <p:cNvPr id="12" name="Text Placeholder 19">
            <a:extLst>
              <a:ext uri="{FF2B5EF4-FFF2-40B4-BE49-F238E27FC236}">
                <a16:creationId xmlns:a16="http://schemas.microsoft.com/office/drawing/2014/main" id="{936FC880-3536-5354-0515-233D260954A4}"/>
              </a:ext>
            </a:extLst>
          </p:cNvPr>
          <p:cNvSpPr txBox="1">
            <a:spLocks/>
          </p:cNvSpPr>
          <p:nvPr/>
        </p:nvSpPr>
        <p:spPr>
          <a:xfrm>
            <a:off x="8799071" y="1893509"/>
            <a:ext cx="2221155" cy="298613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Realize that a WBS is an  anecdotes for  </a:t>
            </a:r>
            <a:br>
              <a:rPr lang="en-US" sz="2400" b="1" noProof="1">
                <a:latin typeface="Calibri" panose="020F0502020204030204" pitchFamily="34" charset="0"/>
                <a:cs typeface="Calibri" panose="020F0502020204030204" pitchFamily="34" charset="0"/>
              </a:rPr>
            </a:br>
            <a:r>
              <a:rPr lang="en-US" sz="2400" b="1" noProof="1">
                <a:latin typeface="Calibri" panose="020F0502020204030204" pitchFamily="34" charset="0"/>
                <a:cs typeface="Calibri" panose="020F0502020204030204" pitchFamily="34" charset="0"/>
              </a:rPr>
              <a:t>confusion on who’s doing what as a project wears on. </a:t>
            </a:r>
          </a:p>
        </p:txBody>
      </p:sp>
    </p:spTree>
    <p:extLst>
      <p:ext uri="{BB962C8B-B14F-4D97-AF65-F5344CB8AC3E}">
        <p14:creationId xmlns:p14="http://schemas.microsoft.com/office/powerpoint/2010/main" val="391438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fade">
                                      <p:cBhvr>
                                        <p:cTn id="22"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97BE-F647-4676-9B37-BC17E7E95735}"/>
              </a:ext>
            </a:extLst>
          </p:cNvPr>
          <p:cNvSpPr>
            <a:spLocks noGrp="1"/>
          </p:cNvSpPr>
          <p:nvPr>
            <p:ph idx="1"/>
          </p:nvPr>
        </p:nvSpPr>
        <p:spPr>
          <a:xfrm>
            <a:off x="492035" y="237064"/>
            <a:ext cx="11207930" cy="6514114"/>
          </a:xfrm>
        </p:spPr>
        <p:txBody>
          <a:bodyPr>
            <a:noAutofit/>
          </a:bodyPr>
          <a:lstStyle/>
          <a:p>
            <a:pPr marL="0" indent="0" algn="ctr">
              <a:lnSpc>
                <a:spcPct val="100000"/>
              </a:lnSpc>
              <a:spcBef>
                <a:spcPts val="0"/>
              </a:spcBef>
              <a:buNone/>
            </a:pPr>
            <a:r>
              <a:rPr lang="en-US" sz="3000" dirty="0">
                <a:latin typeface="Calibri" panose="020F0502020204030204" pitchFamily="34" charset="0"/>
                <a:cs typeface="Calibri" panose="020F0502020204030204" pitchFamily="34" charset="0"/>
              </a:rPr>
              <a:t>Big 5 Pre-Questions/Pre-Planning</a:t>
            </a:r>
          </a:p>
          <a:p>
            <a:pPr marL="0" indent="0" algn="ctr">
              <a:lnSpc>
                <a:spcPct val="100000"/>
              </a:lnSpc>
              <a:spcBef>
                <a:spcPts val="0"/>
              </a:spcBef>
              <a:buNone/>
            </a:pPr>
            <a:r>
              <a:rPr lang="en-US" sz="3000" dirty="0">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Requirements </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Expectations</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Goals &amp; Objectives</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Deliverables</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Scope of Work Action Plan </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highlight>
                  <a:srgbClr val="FFFF00"/>
                </a:highlight>
                <a:latin typeface="Calibri" panose="020F0502020204030204" pitchFamily="34" charset="0"/>
                <a:cs typeface="Calibri" panose="020F0502020204030204" pitchFamily="34" charset="0"/>
              </a:rPr>
              <a:t>Work Breakdown </a:t>
            </a:r>
            <a:r>
              <a:rPr lang="en-US" sz="3000">
                <a:solidFill>
                  <a:schemeClr val="tx1"/>
                </a:solidFill>
                <a:highlight>
                  <a:srgbClr val="FFFF00"/>
                </a:highlight>
                <a:latin typeface="Calibri" panose="020F0502020204030204" pitchFamily="34" charset="0"/>
                <a:cs typeface="Calibri" panose="020F0502020204030204" pitchFamily="34" charset="0"/>
              </a:rPr>
              <a:t>Structure (WBS)</a:t>
            </a:r>
            <a:endParaRPr lang="en-US" sz="3000" dirty="0">
              <a:highlight>
                <a:srgbClr val="FFFF00"/>
              </a:highlight>
              <a:latin typeface="Calibri" panose="020F0502020204030204" pitchFamily="34" charset="0"/>
              <a:cs typeface="Calibri" panose="020F0502020204030204" pitchFamily="34" charset="0"/>
            </a:endParaRPr>
          </a:p>
        </p:txBody>
      </p:sp>
      <p:graphicFrame>
        <p:nvGraphicFramePr>
          <p:cNvPr id="4" name="Diagram 3">
            <a:extLst>
              <a:ext uri="{FF2B5EF4-FFF2-40B4-BE49-F238E27FC236}">
                <a16:creationId xmlns:a16="http://schemas.microsoft.com/office/drawing/2014/main" id="{CCB7FCF9-46B4-0787-729E-847EB6F2014B}"/>
              </a:ext>
            </a:extLst>
          </p:cNvPr>
          <p:cNvGraphicFramePr/>
          <p:nvPr/>
        </p:nvGraphicFramePr>
        <p:xfrm>
          <a:off x="492035" y="1563881"/>
          <a:ext cx="3413393" cy="25808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E4EFDF6F-79FF-891B-DDED-BD94D82DBD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240944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7DD61A-2D3A-F25C-13A3-E2B4264BF93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8E415532-E528-DFE1-D262-6243E45FF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6" name="Picture 15">
            <a:extLst>
              <a:ext uri="{FF2B5EF4-FFF2-40B4-BE49-F238E27FC236}">
                <a16:creationId xmlns:a16="http://schemas.microsoft.com/office/drawing/2014/main" id="{149C06C3-6BEB-EB6F-2391-FC27D25079EB}"/>
              </a:ext>
            </a:extLst>
          </p:cNvPr>
          <p:cNvPicPr>
            <a:picLocks noChangeAspect="1"/>
          </p:cNvPicPr>
          <p:nvPr/>
        </p:nvPicPr>
        <p:blipFill>
          <a:blip r:embed="rId2"/>
          <a:srcRect l="4378" t="19727" r="-1" b="8556"/>
          <a:stretch>
            <a:fillRect/>
          </a:stretch>
        </p:blipFill>
        <p:spPr>
          <a:xfrm>
            <a:off x="-1" y="10"/>
            <a:ext cx="12191979" cy="6857990"/>
          </a:xfrm>
          <a:prstGeom prst="rect">
            <a:avLst/>
          </a:prstGeom>
        </p:spPr>
      </p:pic>
      <p:sp>
        <p:nvSpPr>
          <p:cNvPr id="17" name="Rectangle 16">
            <a:extLst>
              <a:ext uri="{FF2B5EF4-FFF2-40B4-BE49-F238E27FC236}">
                <a16:creationId xmlns:a16="http://schemas.microsoft.com/office/drawing/2014/main" id="{A9D4E10D-6D06-6BF6-BEDA-D232195AB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280160"/>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B55B1E18-D650-F4C2-188A-A4E29B00F900}"/>
              </a:ext>
            </a:extLst>
          </p:cNvPr>
          <p:cNvSpPr>
            <a:spLocks noGrp="1"/>
          </p:cNvSpPr>
          <p:nvPr>
            <p:ph type="ctrTitle"/>
          </p:nvPr>
        </p:nvSpPr>
        <p:spPr>
          <a:xfrm>
            <a:off x="4042161" y="2727389"/>
            <a:ext cx="8149839" cy="2683380"/>
          </a:xfrm>
        </p:spPr>
        <p:txBody>
          <a:bodyPr anchor="ctr">
            <a:noAutofit/>
          </a:bodyPr>
          <a:lstStyle/>
          <a:p>
            <a:pPr lvl="0" fontAlgn="base">
              <a:lnSpc>
                <a:spcPct val="90000"/>
              </a:lnSpc>
              <a:defRPr/>
            </a:pPr>
            <a:r>
              <a:rPr lang="en-US" sz="9600" dirty="0">
                <a:solidFill>
                  <a:prstClr val="black"/>
                </a:solidFill>
                <a:latin typeface="Calibri" panose="020F0502020204030204" pitchFamily="34" charset="0"/>
                <a:cs typeface="Calibri" panose="020F0502020204030204" pitchFamily="34" charset="0"/>
              </a:rPr>
              <a:t>Work Breakdown Structure </a:t>
            </a:r>
            <a:endParaRPr lang="en-US" sz="9600" b="0"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9864685"/>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631213" y="689788"/>
            <a:ext cx="11099353" cy="5478423"/>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A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project scope statement</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is a summary of all work that needs to be executed. It helps project managers </a:t>
            </a:r>
            <a:r>
              <a:rPr kumimoji="0" lang="en-US" sz="35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define the boundaries</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of what </a:t>
            </a:r>
            <a:r>
              <a:rPr kumimoji="0" lang="en-US" sz="35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will and what won’t be done</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A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project scope action plan</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makes clear to the client – and the planning team – all the steps that will be performed to complete the scope.</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A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work breakdown structure</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details </a:t>
            </a:r>
            <a:r>
              <a:rPr kumimoji="0" lang="en-US" sz="35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each and every step</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needed to complete the scope – in order and by whom.</a:t>
            </a:r>
          </a:p>
        </p:txBody>
      </p:sp>
      <p:pic>
        <p:nvPicPr>
          <p:cNvPr id="2" name="Picture 1">
            <a:extLst>
              <a:ext uri="{FF2B5EF4-FFF2-40B4-BE49-F238E27FC236}">
                <a16:creationId xmlns:a16="http://schemas.microsoft.com/office/drawing/2014/main" id="{9D502EC5-765A-7424-250F-D3931CEBB9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129495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B856C5-0C0E-4977-8E39-620B573315A6}"/>
              </a:ext>
            </a:extLst>
          </p:cNvPr>
          <p:cNvSpPr>
            <a:spLocks noGrp="1"/>
          </p:cNvSpPr>
          <p:nvPr>
            <p:ph idx="1"/>
          </p:nvPr>
        </p:nvSpPr>
        <p:spPr>
          <a:xfrm>
            <a:off x="729841" y="545285"/>
            <a:ext cx="10729519" cy="5914500"/>
          </a:xfrm>
        </p:spPr>
        <p:txBody>
          <a:bodyPr>
            <a:normAutofit fontScale="92500" lnSpcReduction="10000"/>
          </a:bodyPr>
          <a:lstStyle/>
          <a:p>
            <a:pPr marL="0" indent="0">
              <a:lnSpc>
                <a:spcPct val="110000"/>
              </a:lnSpc>
              <a:spcBef>
                <a:spcPts val="0"/>
              </a:spcBef>
              <a:spcAft>
                <a:spcPts val="0"/>
              </a:spcAft>
              <a:buNone/>
            </a:pPr>
            <a:r>
              <a:rPr lang="en-US" sz="4300" dirty="0">
                <a:solidFill>
                  <a:schemeClr val="tx1"/>
                </a:solidFill>
              </a:rPr>
              <a:t>To </a:t>
            </a:r>
            <a:r>
              <a:rPr lang="en-US" sz="4300" b="1" dirty="0">
                <a:solidFill>
                  <a:schemeClr val="tx1"/>
                </a:solidFill>
                <a:highlight>
                  <a:srgbClr val="FFFF00"/>
                </a:highlight>
              </a:rPr>
              <a:t>move from a wish list to a project</a:t>
            </a:r>
            <a:r>
              <a:rPr lang="en-US" sz="4300" dirty="0">
                <a:solidFill>
                  <a:schemeClr val="tx1"/>
                </a:solidFill>
              </a:rPr>
              <a:t>, a scope must include a work breakdown structure (WBS).</a:t>
            </a:r>
          </a:p>
          <a:p>
            <a:pPr>
              <a:lnSpc>
                <a:spcPct val="110000"/>
              </a:lnSpc>
              <a:spcBef>
                <a:spcPts val="0"/>
              </a:spcBef>
              <a:spcAft>
                <a:spcPts val="0"/>
              </a:spcAft>
            </a:pPr>
            <a:endParaRPr lang="en-US" sz="4300" dirty="0">
              <a:solidFill>
                <a:schemeClr val="tx1"/>
              </a:solidFill>
            </a:endParaRPr>
          </a:p>
          <a:p>
            <a:pPr marL="0" indent="0">
              <a:lnSpc>
                <a:spcPct val="110000"/>
              </a:lnSpc>
              <a:spcBef>
                <a:spcPts val="0"/>
              </a:spcBef>
              <a:spcAft>
                <a:spcPts val="0"/>
              </a:spcAft>
              <a:buNone/>
            </a:pPr>
            <a:r>
              <a:rPr lang="en-US" sz="4300" dirty="0">
                <a:solidFill>
                  <a:schemeClr val="tx1"/>
                </a:solidFill>
              </a:rPr>
              <a:t>Only by studying the </a:t>
            </a:r>
            <a:r>
              <a:rPr lang="en-US" sz="4300" b="1" dirty="0">
                <a:solidFill>
                  <a:schemeClr val="tx1"/>
                </a:solidFill>
              </a:rPr>
              <a:t>individual </a:t>
            </a:r>
            <a:r>
              <a:rPr lang="en-US" sz="4300" b="1" dirty="0">
                <a:solidFill>
                  <a:schemeClr val="tx1"/>
                </a:solidFill>
                <a:highlight>
                  <a:srgbClr val="FFFF00"/>
                </a:highlight>
              </a:rPr>
              <a:t>steps,</a:t>
            </a:r>
            <a:r>
              <a:rPr lang="en-US" sz="4300" b="1" dirty="0">
                <a:solidFill>
                  <a:schemeClr val="tx1"/>
                </a:solidFill>
              </a:rPr>
              <a:t> </a:t>
            </a:r>
            <a:r>
              <a:rPr lang="en-US" sz="4300" b="1" dirty="0">
                <a:solidFill>
                  <a:schemeClr val="tx1"/>
                </a:solidFill>
                <a:highlight>
                  <a:srgbClr val="FFFF00"/>
                </a:highlight>
              </a:rPr>
              <a:t>people</a:t>
            </a:r>
            <a:r>
              <a:rPr lang="en-US" sz="4300" b="1" dirty="0">
                <a:solidFill>
                  <a:schemeClr val="tx1"/>
                </a:solidFill>
              </a:rPr>
              <a:t> and </a:t>
            </a:r>
            <a:r>
              <a:rPr lang="en-US" sz="4300" b="1" dirty="0">
                <a:solidFill>
                  <a:schemeClr val="tx1"/>
                </a:solidFill>
                <a:highlight>
                  <a:srgbClr val="FFFF00"/>
                </a:highlight>
              </a:rPr>
              <a:t>time</a:t>
            </a:r>
            <a:r>
              <a:rPr lang="en-US" sz="4300" b="1" dirty="0">
                <a:solidFill>
                  <a:schemeClr val="tx1"/>
                </a:solidFill>
              </a:rPr>
              <a:t> </a:t>
            </a:r>
            <a:r>
              <a:rPr lang="en-US" sz="4300" dirty="0">
                <a:solidFill>
                  <a:schemeClr val="tx1"/>
                </a:solidFill>
              </a:rPr>
              <a:t>needed can you see the whole of what needs doing.</a:t>
            </a:r>
            <a:br>
              <a:rPr lang="en-US" sz="4300" dirty="0">
                <a:solidFill>
                  <a:schemeClr val="tx1"/>
                </a:solidFill>
              </a:rPr>
            </a:br>
            <a:endParaRPr lang="en-US" sz="4300" dirty="0">
              <a:solidFill>
                <a:schemeClr val="tx1"/>
              </a:solidFill>
            </a:endParaRPr>
          </a:p>
          <a:p>
            <a:pPr marL="0" indent="0">
              <a:lnSpc>
                <a:spcPct val="110000"/>
              </a:lnSpc>
              <a:spcBef>
                <a:spcPts val="0"/>
              </a:spcBef>
              <a:spcAft>
                <a:spcPts val="0"/>
              </a:spcAft>
              <a:buNone/>
            </a:pPr>
            <a:r>
              <a:rPr lang="en-US" sz="4300" dirty="0">
                <a:solidFill>
                  <a:schemeClr val="tx1"/>
                </a:solidFill>
              </a:rPr>
              <a:t>Invariably, you must determine this level of detail, so the sooner you create it, the better off you’ll be.</a:t>
            </a:r>
            <a:endParaRPr lang="en-US" sz="3200" dirty="0"/>
          </a:p>
        </p:txBody>
      </p:sp>
      <p:sp>
        <p:nvSpPr>
          <p:cNvPr id="4" name="Slide Number Placeholder 3">
            <a:extLst>
              <a:ext uri="{FF2B5EF4-FFF2-40B4-BE49-F238E27FC236}">
                <a16:creationId xmlns:a16="http://schemas.microsoft.com/office/drawing/2014/main" id="{B73E99B2-4670-447E-85CE-5CA9DD1ED1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421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B856C5-0C0E-4977-8E39-620B573315A6}"/>
              </a:ext>
            </a:extLst>
          </p:cNvPr>
          <p:cNvSpPr>
            <a:spLocks noGrp="1"/>
          </p:cNvSpPr>
          <p:nvPr>
            <p:ph idx="1"/>
          </p:nvPr>
        </p:nvSpPr>
        <p:spPr>
          <a:xfrm>
            <a:off x="729841" y="545285"/>
            <a:ext cx="10729519" cy="5914500"/>
          </a:xfrm>
        </p:spPr>
        <p:txBody>
          <a:bodyPr>
            <a:normAutofit/>
          </a:bodyPr>
          <a:lstStyle/>
          <a:p>
            <a:pPr marL="0" indent="0">
              <a:lnSpc>
                <a:spcPct val="100000"/>
              </a:lnSpc>
              <a:spcBef>
                <a:spcPts val="0"/>
              </a:spcBef>
              <a:spcAft>
                <a:spcPts val="0"/>
              </a:spcAft>
              <a:buNone/>
            </a:pPr>
            <a:r>
              <a:rPr lang="en-US" sz="4000" dirty="0">
                <a:solidFill>
                  <a:schemeClr val="tx1"/>
                </a:solidFill>
              </a:rPr>
              <a:t>A WBS is defined as the subdivision of the work into smaller, more </a:t>
            </a:r>
            <a:r>
              <a:rPr lang="en-US" sz="4000" b="1" dirty="0">
                <a:solidFill>
                  <a:schemeClr val="tx1"/>
                </a:solidFill>
                <a:highlight>
                  <a:srgbClr val="FFFF00"/>
                </a:highlight>
              </a:rPr>
              <a:t>manageable work packages</a:t>
            </a:r>
            <a:r>
              <a:rPr lang="en-US" sz="4000" dirty="0">
                <a:solidFill>
                  <a:schemeClr val="tx1"/>
                </a:solidFill>
              </a:rPr>
              <a:t>.  </a:t>
            </a:r>
          </a:p>
          <a:p>
            <a:pPr marL="0" indent="0">
              <a:lnSpc>
                <a:spcPct val="100000"/>
              </a:lnSpc>
              <a:spcBef>
                <a:spcPts val="0"/>
              </a:spcBef>
              <a:spcAft>
                <a:spcPts val="0"/>
              </a:spcAft>
              <a:buNone/>
            </a:pPr>
            <a:endParaRPr lang="en-US" sz="4000" dirty="0">
              <a:solidFill>
                <a:schemeClr val="tx1"/>
              </a:solidFill>
            </a:endParaRPr>
          </a:p>
          <a:p>
            <a:pPr marL="0" indent="0">
              <a:lnSpc>
                <a:spcPct val="100000"/>
              </a:lnSpc>
              <a:spcBef>
                <a:spcPts val="0"/>
              </a:spcBef>
              <a:spcAft>
                <a:spcPts val="0"/>
              </a:spcAft>
              <a:buNone/>
            </a:pPr>
            <a:r>
              <a:rPr lang="en-US" sz="4000" dirty="0">
                <a:solidFill>
                  <a:schemeClr val="tx1"/>
                </a:solidFill>
              </a:rPr>
              <a:t>To be effective, it must </a:t>
            </a:r>
            <a:r>
              <a:rPr lang="en-US" sz="4000" b="1" dirty="0">
                <a:solidFill>
                  <a:schemeClr val="tx1"/>
                </a:solidFill>
              </a:rPr>
              <a:t>include all of the work</a:t>
            </a:r>
            <a:r>
              <a:rPr lang="en-US" sz="4000" dirty="0">
                <a:solidFill>
                  <a:schemeClr val="tx1"/>
                </a:solidFill>
              </a:rPr>
              <a:t> to be done by the team.</a:t>
            </a:r>
          </a:p>
          <a:p>
            <a:pPr marL="0" indent="0">
              <a:lnSpc>
                <a:spcPct val="100000"/>
              </a:lnSpc>
              <a:spcBef>
                <a:spcPts val="0"/>
              </a:spcBef>
              <a:spcAft>
                <a:spcPts val="0"/>
              </a:spcAft>
              <a:buNone/>
            </a:pPr>
            <a:endParaRPr lang="en-US" sz="4000" dirty="0">
              <a:solidFill>
                <a:schemeClr val="tx1"/>
              </a:solidFill>
            </a:endParaRPr>
          </a:p>
          <a:p>
            <a:pPr marL="0" indent="0">
              <a:lnSpc>
                <a:spcPct val="100000"/>
              </a:lnSpc>
              <a:spcBef>
                <a:spcPts val="0"/>
              </a:spcBef>
              <a:spcAft>
                <a:spcPts val="0"/>
              </a:spcAft>
              <a:buNone/>
            </a:pPr>
            <a:r>
              <a:rPr lang="en-US" sz="4000" dirty="0">
                <a:solidFill>
                  <a:schemeClr val="tx1"/>
                </a:solidFill>
              </a:rPr>
              <a:t>Think in </a:t>
            </a:r>
            <a:r>
              <a:rPr lang="en-US" sz="4000" b="1" dirty="0">
                <a:solidFill>
                  <a:schemeClr val="tx1"/>
                </a:solidFill>
                <a:highlight>
                  <a:srgbClr val="FFFF00"/>
                </a:highlight>
              </a:rPr>
              <a:t>60-minute</a:t>
            </a:r>
            <a:r>
              <a:rPr lang="en-US" sz="4000" dirty="0">
                <a:solidFill>
                  <a:schemeClr val="tx1"/>
                </a:solidFill>
              </a:rPr>
              <a:t> or </a:t>
            </a:r>
            <a:r>
              <a:rPr lang="en-US" sz="4000" b="1" dirty="0">
                <a:solidFill>
                  <a:schemeClr val="tx1"/>
                </a:solidFill>
                <a:highlight>
                  <a:srgbClr val="FFFF00"/>
                </a:highlight>
              </a:rPr>
              <a:t>1-week</a:t>
            </a:r>
            <a:r>
              <a:rPr lang="en-US" sz="4000" dirty="0">
                <a:solidFill>
                  <a:schemeClr val="tx1"/>
                </a:solidFill>
              </a:rPr>
              <a:t> byte-sized chunks of work.</a:t>
            </a:r>
            <a:endParaRPr lang="en-US" sz="3200" dirty="0"/>
          </a:p>
        </p:txBody>
      </p:sp>
      <p:sp>
        <p:nvSpPr>
          <p:cNvPr id="4" name="Slide Number Placeholder 3">
            <a:extLst>
              <a:ext uri="{FF2B5EF4-FFF2-40B4-BE49-F238E27FC236}">
                <a16:creationId xmlns:a16="http://schemas.microsoft.com/office/drawing/2014/main" id="{B73E99B2-4670-447E-85CE-5CA9DD1ED1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7A168B62-5488-F59B-8A8C-7C5EE6C611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4127628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ow Of College Students Raising Hands">
            <a:extLst>
              <a:ext uri="{FF2B5EF4-FFF2-40B4-BE49-F238E27FC236}">
                <a16:creationId xmlns:a16="http://schemas.microsoft.com/office/drawing/2014/main" id="{03CEE61A-08EA-F658-23B9-371127FF5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35" y="0"/>
            <a:ext cx="12439135"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8C6F537-CE37-3BA6-B06A-601F522A9F07}"/>
              </a:ext>
            </a:extLst>
          </p:cNvPr>
          <p:cNvSpPr>
            <a:spLocks noGrp="1"/>
          </p:cNvSpPr>
          <p:nvPr>
            <p:ph idx="1"/>
          </p:nvPr>
        </p:nvSpPr>
        <p:spPr>
          <a:xfrm>
            <a:off x="706080" y="1039813"/>
            <a:ext cx="6275833" cy="3147626"/>
          </a:xfrm>
        </p:spPr>
        <p:txBody>
          <a:bodyPr>
            <a:normAutofit fontScale="92500"/>
          </a:bodyPr>
          <a:lstStyle/>
          <a:p>
            <a:pPr marL="0" lvl="0" indent="0">
              <a:lnSpc>
                <a:spcPct val="110000"/>
              </a:lnSpc>
              <a:spcBef>
                <a:spcPct val="0"/>
              </a:spcBef>
              <a:spcAft>
                <a:spcPts val="0"/>
              </a:spcAft>
              <a:buClrTx/>
              <a:buSzTx/>
              <a:buNone/>
              <a:defRPr/>
            </a:pPr>
            <a:r>
              <a:rPr lang="en-US" sz="3500" b="1" dirty="0">
                <a:solidFill>
                  <a:prstClr val="black"/>
                </a:solidFill>
              </a:rPr>
              <a:t>Why is it important that </a:t>
            </a:r>
            <a:r>
              <a:rPr lang="en-US" sz="3500" b="1" i="1" dirty="0">
                <a:solidFill>
                  <a:prstClr val="black"/>
                </a:solidFill>
              </a:rPr>
              <a:t>everything</a:t>
            </a:r>
            <a:r>
              <a:rPr lang="en-US" sz="3500" b="1" dirty="0">
                <a:solidFill>
                  <a:prstClr val="black"/>
                </a:solidFill>
              </a:rPr>
              <a:t> – even mundane or obvious things like scheduling steering committee meetings or preliminary research – be included in the WBS</a:t>
            </a:r>
            <a:r>
              <a:rPr lang="en-US" sz="3500" b="1" dirty="0">
                <a:solidFill>
                  <a:prstClr val="black"/>
                </a:solidFill>
                <a:ea typeface="Meiryo" panose="020B0604030504040204" pitchFamily="34" charset="-128"/>
              </a:rPr>
              <a:t>?</a:t>
            </a:r>
          </a:p>
        </p:txBody>
      </p:sp>
    </p:spTree>
    <p:extLst>
      <p:ext uri="{BB962C8B-B14F-4D97-AF65-F5344CB8AC3E}">
        <p14:creationId xmlns:p14="http://schemas.microsoft.com/office/powerpoint/2010/main" val="166122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B856C5-0C0E-4977-8E39-620B573315A6}"/>
              </a:ext>
            </a:extLst>
          </p:cNvPr>
          <p:cNvSpPr>
            <a:spLocks noGrp="1"/>
          </p:cNvSpPr>
          <p:nvPr>
            <p:ph idx="1"/>
          </p:nvPr>
        </p:nvSpPr>
        <p:spPr>
          <a:xfrm>
            <a:off x="729841" y="545285"/>
            <a:ext cx="10729519" cy="5914500"/>
          </a:xfrm>
        </p:spPr>
        <p:txBody>
          <a:bodyPr>
            <a:normAutofit/>
          </a:bodyPr>
          <a:lstStyle/>
          <a:p>
            <a:pPr marL="0" indent="0">
              <a:lnSpc>
                <a:spcPct val="100000"/>
              </a:lnSpc>
              <a:spcBef>
                <a:spcPts val="0"/>
              </a:spcBef>
              <a:spcAft>
                <a:spcPts val="0"/>
              </a:spcAft>
              <a:buNone/>
            </a:pPr>
            <a:r>
              <a:rPr lang="en-US" sz="4000" dirty="0">
                <a:solidFill>
                  <a:schemeClr val="tx1"/>
                </a:solidFill>
              </a:rPr>
              <a:t>What may seem mundane or obvious to the PM, may not be so the team member working in another location.</a:t>
            </a:r>
          </a:p>
          <a:p>
            <a:pPr marL="0" indent="0">
              <a:lnSpc>
                <a:spcPct val="100000"/>
              </a:lnSpc>
              <a:spcBef>
                <a:spcPts val="0"/>
              </a:spcBef>
              <a:spcAft>
                <a:spcPts val="0"/>
              </a:spcAft>
              <a:buNone/>
            </a:pPr>
            <a:endParaRPr lang="en-US" sz="4000" dirty="0">
              <a:solidFill>
                <a:schemeClr val="tx1"/>
              </a:solidFill>
            </a:endParaRPr>
          </a:p>
          <a:p>
            <a:pPr marL="0" indent="0">
              <a:lnSpc>
                <a:spcPct val="100000"/>
              </a:lnSpc>
              <a:spcBef>
                <a:spcPts val="0"/>
              </a:spcBef>
              <a:spcAft>
                <a:spcPts val="0"/>
              </a:spcAft>
              <a:buNone/>
            </a:pPr>
            <a:r>
              <a:rPr lang="en-US" sz="4000" dirty="0">
                <a:solidFill>
                  <a:schemeClr val="tx1"/>
                </a:solidFill>
              </a:rPr>
              <a:t>If even obvious tasks are left off, there’s no record indicating it should be done. The team member can rightfully ask, “</a:t>
            </a:r>
            <a:r>
              <a:rPr lang="en-US" sz="4000" b="1" dirty="0">
                <a:solidFill>
                  <a:schemeClr val="tx1"/>
                </a:solidFill>
                <a:highlight>
                  <a:srgbClr val="FFFF00"/>
                </a:highlight>
              </a:rPr>
              <a:t>How’s was I to know, you didn’t have it on the WBS?</a:t>
            </a:r>
            <a:r>
              <a:rPr lang="en-US" sz="4000" dirty="0">
                <a:solidFill>
                  <a:schemeClr val="tx1"/>
                </a:solidFill>
              </a:rPr>
              <a:t>”</a:t>
            </a:r>
          </a:p>
          <a:p>
            <a:endParaRPr lang="en-US" sz="3200" dirty="0"/>
          </a:p>
          <a:p>
            <a:endParaRPr lang="en-US" sz="3200" dirty="0"/>
          </a:p>
          <a:p>
            <a:endParaRPr lang="en-US" sz="2500" dirty="0"/>
          </a:p>
        </p:txBody>
      </p:sp>
      <p:sp>
        <p:nvSpPr>
          <p:cNvPr id="4" name="Slide Number Placeholder 3">
            <a:extLst>
              <a:ext uri="{FF2B5EF4-FFF2-40B4-BE49-F238E27FC236}">
                <a16:creationId xmlns:a16="http://schemas.microsoft.com/office/drawing/2014/main" id="{B73E99B2-4670-447E-85CE-5CA9DD1ED1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20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B856C5-0C0E-4977-8E39-620B573315A6}"/>
              </a:ext>
            </a:extLst>
          </p:cNvPr>
          <p:cNvSpPr>
            <a:spLocks noGrp="1"/>
          </p:cNvSpPr>
          <p:nvPr>
            <p:ph idx="1"/>
          </p:nvPr>
        </p:nvSpPr>
        <p:spPr>
          <a:xfrm>
            <a:off x="729841" y="545285"/>
            <a:ext cx="10729519" cy="5914500"/>
          </a:xfrm>
        </p:spPr>
        <p:txBody>
          <a:bodyPr>
            <a:normAutofit/>
          </a:bodyPr>
          <a:lstStyle/>
          <a:p>
            <a:pPr>
              <a:lnSpc>
                <a:spcPct val="100000"/>
              </a:lnSpc>
              <a:spcBef>
                <a:spcPts val="0"/>
              </a:spcBef>
              <a:spcAft>
                <a:spcPts val="0"/>
              </a:spcAft>
            </a:pPr>
            <a:r>
              <a:rPr lang="en-US" sz="4500" dirty="0">
                <a:solidFill>
                  <a:schemeClr val="tx1"/>
                </a:solidFill>
              </a:rPr>
              <a:t>A WBS is </a:t>
            </a:r>
            <a:r>
              <a:rPr lang="en-US" sz="4500" b="1" dirty="0">
                <a:solidFill>
                  <a:srgbClr val="FF0000"/>
                </a:solidFill>
              </a:rPr>
              <a:t>not shared with client</a:t>
            </a:r>
            <a:r>
              <a:rPr lang="en-US" sz="4500" dirty="0">
                <a:solidFill>
                  <a:srgbClr val="FF0000"/>
                </a:solidFill>
              </a:rPr>
              <a:t> </a:t>
            </a:r>
            <a:r>
              <a:rPr lang="en-US" sz="4500" dirty="0">
                <a:solidFill>
                  <a:schemeClr val="tx1"/>
                </a:solidFill>
              </a:rPr>
              <a:t>because it includes proprietary information on the team’s expertise and approach.</a:t>
            </a:r>
          </a:p>
          <a:p>
            <a:pPr>
              <a:lnSpc>
                <a:spcPct val="100000"/>
              </a:lnSpc>
              <a:spcBef>
                <a:spcPts val="0"/>
              </a:spcBef>
              <a:spcAft>
                <a:spcPts val="0"/>
              </a:spcAft>
            </a:pPr>
            <a:endParaRPr lang="en-US" sz="4500" dirty="0">
              <a:solidFill>
                <a:schemeClr val="tx1"/>
              </a:solidFill>
            </a:endParaRPr>
          </a:p>
          <a:p>
            <a:pPr>
              <a:lnSpc>
                <a:spcPct val="100000"/>
              </a:lnSpc>
              <a:spcBef>
                <a:spcPts val="0"/>
              </a:spcBef>
              <a:spcAft>
                <a:spcPts val="0"/>
              </a:spcAft>
            </a:pPr>
            <a:r>
              <a:rPr lang="en-US" sz="4500" dirty="0">
                <a:solidFill>
                  <a:schemeClr val="tx1"/>
                </a:solidFill>
              </a:rPr>
              <a:t>However, it must be the </a:t>
            </a:r>
            <a:r>
              <a:rPr lang="en-US" sz="4500" b="1" dirty="0">
                <a:solidFill>
                  <a:schemeClr val="tx1"/>
                </a:solidFill>
                <a:highlight>
                  <a:srgbClr val="FFFF00"/>
                </a:highlight>
              </a:rPr>
              <a:t>absolute marching orders</a:t>
            </a:r>
            <a:r>
              <a:rPr lang="en-US" sz="4500" dirty="0">
                <a:solidFill>
                  <a:schemeClr val="tx1"/>
                </a:solidFill>
              </a:rPr>
              <a:t> for the planning team, and drive everything they do. If it’s not in the WBS …?</a:t>
            </a:r>
            <a:br>
              <a:rPr lang="en-US" sz="4500" dirty="0">
                <a:solidFill>
                  <a:schemeClr val="tx1"/>
                </a:solidFill>
              </a:rPr>
            </a:br>
            <a:endParaRPr lang="en-US" sz="3200" dirty="0"/>
          </a:p>
          <a:p>
            <a:endParaRPr lang="en-US" sz="3200" dirty="0"/>
          </a:p>
          <a:p>
            <a:endParaRPr lang="en-US" sz="2500" dirty="0"/>
          </a:p>
        </p:txBody>
      </p:sp>
      <p:sp>
        <p:nvSpPr>
          <p:cNvPr id="4" name="Slide Number Placeholder 3">
            <a:extLst>
              <a:ext uri="{FF2B5EF4-FFF2-40B4-BE49-F238E27FC236}">
                <a16:creationId xmlns:a16="http://schemas.microsoft.com/office/drawing/2014/main" id="{B73E99B2-4670-447E-85CE-5CA9DD1ED1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586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1DE02F-33D0-1BE2-CC16-4716FAF6E1FA}"/>
              </a:ext>
            </a:extLst>
          </p:cNvPr>
          <p:cNvPicPr>
            <a:picLocks noChangeAspect="1"/>
          </p:cNvPicPr>
          <p:nvPr/>
        </p:nvPicPr>
        <p:blipFill>
          <a:blip r:embed="rId3"/>
          <a:stretch>
            <a:fillRect/>
          </a:stretch>
        </p:blipFill>
        <p:spPr>
          <a:xfrm>
            <a:off x="3075726" y="0"/>
            <a:ext cx="6040547" cy="6858000"/>
          </a:xfrm>
          <a:prstGeom prst="rect">
            <a:avLst/>
          </a:prstGeom>
        </p:spPr>
      </p:pic>
      <p:sp>
        <p:nvSpPr>
          <p:cNvPr id="2" name="Oval 1">
            <a:extLst>
              <a:ext uri="{FF2B5EF4-FFF2-40B4-BE49-F238E27FC236}">
                <a16:creationId xmlns:a16="http://schemas.microsoft.com/office/drawing/2014/main" id="{314A965C-4B34-03A6-5B00-14A31327B4B7}"/>
              </a:ext>
            </a:extLst>
          </p:cNvPr>
          <p:cNvSpPr/>
          <p:nvPr/>
        </p:nvSpPr>
        <p:spPr>
          <a:xfrm rot="5400000">
            <a:off x="5371028" y="-499928"/>
            <a:ext cx="1657884" cy="6469165"/>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1942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687978" y="511729"/>
            <a:ext cx="10972800" cy="6071634"/>
          </a:xfrm>
        </p:spPr>
        <p:txBody>
          <a:bodyPr>
            <a:normAutofit/>
          </a:bodyPr>
          <a:lstStyle/>
          <a:p>
            <a:pPr marL="0" indent="0" fontAlgn="base">
              <a:lnSpc>
                <a:spcPct val="100000"/>
              </a:lnSpc>
              <a:spcBef>
                <a:spcPts val="0"/>
              </a:spcBef>
              <a:spcAft>
                <a:spcPts val="0"/>
              </a:spcAft>
              <a:buNone/>
            </a:pPr>
            <a:r>
              <a:rPr lang="en-US" sz="4000" dirty="0">
                <a:solidFill>
                  <a:schemeClr val="tx1"/>
                </a:solidFill>
                <a:latin typeface="Calibri" panose="020F0502020204030204" pitchFamily="34" charset="0"/>
                <a:cs typeface="Calibri" panose="020F0502020204030204" pitchFamily="34" charset="0"/>
              </a:rPr>
              <a:t>The secret to a good WBS is making the steps </a:t>
            </a:r>
            <a:r>
              <a:rPr lang="en-US" sz="4000" dirty="0">
                <a:solidFill>
                  <a:schemeClr val="tx1"/>
                </a:solidFill>
                <a:highlight>
                  <a:srgbClr val="FFFF00"/>
                </a:highlight>
                <a:latin typeface="Calibri" panose="020F0502020204030204" pitchFamily="34" charset="0"/>
                <a:cs typeface="Calibri" panose="020F0502020204030204" pitchFamily="34" charset="0"/>
              </a:rPr>
              <a:t>so </a:t>
            </a:r>
            <a:r>
              <a:rPr lang="en-US" sz="4000" b="1" dirty="0">
                <a:solidFill>
                  <a:schemeClr val="bg1"/>
                </a:solidFill>
                <a:highlight>
                  <a:srgbClr val="FF0000"/>
                </a:highlight>
                <a:latin typeface="Calibri" panose="020F0502020204030204" pitchFamily="34" charset="0"/>
                <a:cs typeface="Calibri" panose="020F0502020204030204" pitchFamily="34" charset="0"/>
              </a:rPr>
              <a:t>specific</a:t>
            </a:r>
            <a:r>
              <a:rPr lang="en-US" sz="4000" dirty="0">
                <a:solidFill>
                  <a:schemeClr val="tx1"/>
                </a:solidFill>
                <a:highlight>
                  <a:srgbClr val="FFFF00"/>
                </a:highlight>
                <a:latin typeface="Calibri" panose="020F0502020204030204" pitchFamily="34" charset="0"/>
                <a:cs typeface="Calibri" panose="020F0502020204030204" pitchFamily="34" charset="0"/>
              </a:rPr>
              <a:t> that any other person (say a new team member or intern) could immediately understand</a:t>
            </a:r>
            <a:r>
              <a:rPr lang="en-US" sz="4000" dirty="0">
                <a:solidFill>
                  <a:schemeClr val="tx1"/>
                </a:solidFill>
                <a:latin typeface="Calibri" panose="020F0502020204030204" pitchFamily="34" charset="0"/>
                <a:cs typeface="Calibri" panose="020F0502020204030204" pitchFamily="34" charset="0"/>
              </a:rPr>
              <a:t> what needs to be done and get started. </a:t>
            </a:r>
          </a:p>
          <a:p>
            <a:pPr marL="0" indent="0" fontAlgn="base">
              <a:lnSpc>
                <a:spcPct val="100000"/>
              </a:lnSpc>
              <a:spcBef>
                <a:spcPts val="0"/>
              </a:spcBef>
              <a:spcAft>
                <a:spcPts val="0"/>
              </a:spcAft>
              <a:buNone/>
            </a:pPr>
            <a:endParaRPr lang="en-US" sz="4000" dirty="0">
              <a:solidFill>
                <a:schemeClr val="tx1"/>
              </a:solidFill>
              <a:latin typeface="Calibri" panose="020F0502020204030204" pitchFamily="34" charset="0"/>
              <a:cs typeface="Calibri" panose="020F0502020204030204" pitchFamily="34" charset="0"/>
            </a:endParaRPr>
          </a:p>
          <a:p>
            <a:pPr marL="0" indent="0" fontAlgn="base">
              <a:lnSpc>
                <a:spcPct val="100000"/>
              </a:lnSpc>
              <a:spcBef>
                <a:spcPts val="0"/>
              </a:spcBef>
              <a:spcAft>
                <a:spcPts val="0"/>
              </a:spcAft>
              <a:buNone/>
            </a:pPr>
            <a:r>
              <a:rPr lang="en-US" sz="4000" b="1" dirty="0">
                <a:solidFill>
                  <a:schemeClr val="tx1"/>
                </a:solidFill>
                <a:latin typeface="Calibri" panose="020F0502020204030204" pitchFamily="34" charset="0"/>
                <a:cs typeface="Calibri" panose="020F0502020204030204" pitchFamily="34" charset="0"/>
              </a:rPr>
              <a:t>Too vague</a:t>
            </a:r>
            <a:r>
              <a:rPr lang="en-US" sz="4000" dirty="0">
                <a:solidFill>
                  <a:schemeClr val="tx1"/>
                </a:solidFill>
                <a:latin typeface="Calibri" panose="020F0502020204030204" pitchFamily="34" charset="0"/>
                <a:cs typeface="Calibri" panose="020F0502020204030204" pitchFamily="34" charset="0"/>
              </a:rPr>
              <a:t>: “Find demographics on poverty.”</a:t>
            </a:r>
            <a:br>
              <a:rPr lang="en-US" sz="4000" dirty="0">
                <a:solidFill>
                  <a:schemeClr val="tx1"/>
                </a:solidFill>
                <a:latin typeface="Calibri" panose="020F0502020204030204" pitchFamily="34" charset="0"/>
                <a:cs typeface="Calibri" panose="020F0502020204030204" pitchFamily="34" charset="0"/>
              </a:rPr>
            </a:br>
            <a:endParaRPr lang="en-US" sz="4000" dirty="0">
              <a:solidFill>
                <a:schemeClr val="tx1"/>
              </a:solidFill>
              <a:latin typeface="Calibri" panose="020F0502020204030204" pitchFamily="34" charset="0"/>
              <a:cs typeface="Calibri" panose="020F0502020204030204" pitchFamily="34" charset="0"/>
            </a:endParaRPr>
          </a:p>
          <a:p>
            <a:pPr marL="0" indent="0" fontAlgn="base">
              <a:lnSpc>
                <a:spcPct val="100000"/>
              </a:lnSpc>
              <a:spcBef>
                <a:spcPts val="0"/>
              </a:spcBef>
              <a:spcAft>
                <a:spcPts val="0"/>
              </a:spcAft>
              <a:buNone/>
            </a:pPr>
            <a:r>
              <a:rPr lang="en-US" sz="4000" b="1" dirty="0">
                <a:solidFill>
                  <a:schemeClr val="tx1"/>
                </a:solidFill>
                <a:latin typeface="Calibri" panose="020F0502020204030204" pitchFamily="34" charset="0"/>
                <a:cs typeface="Calibri" panose="020F0502020204030204" pitchFamily="34" charset="0"/>
              </a:rPr>
              <a:t>Specific</a:t>
            </a:r>
            <a:r>
              <a:rPr lang="en-US" sz="4000" dirty="0">
                <a:solidFill>
                  <a:schemeClr val="tx1"/>
                </a:solidFill>
                <a:latin typeface="Calibri" panose="020F0502020204030204" pitchFamily="34" charset="0"/>
                <a:cs typeface="Calibri" panose="020F0502020204030204" pitchFamily="34" charset="0"/>
              </a:rPr>
              <a:t>: “Use U.S. Census top indicators of poverty. Compile data from American Community Survey.”</a:t>
            </a:r>
          </a:p>
        </p:txBody>
      </p:sp>
      <p:pic>
        <p:nvPicPr>
          <p:cNvPr id="2" name="Picture 1">
            <a:extLst>
              <a:ext uri="{FF2B5EF4-FFF2-40B4-BE49-F238E27FC236}">
                <a16:creationId xmlns:a16="http://schemas.microsoft.com/office/drawing/2014/main" id="{30BB2390-08EA-6AFF-3A84-8156642CBA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2958333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fade">
                                      <p:cBhvr>
                                        <p:cTn id="12" dur="5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animEffect transition="in" filter="fade">
                                      <p:cBhvr>
                                        <p:cTn id="17" dur="500"/>
                                        <p:tgtEl>
                                          <p:spTgt spid="7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B856C5-0C0E-4977-8E39-620B573315A6}"/>
              </a:ext>
            </a:extLst>
          </p:cNvPr>
          <p:cNvSpPr>
            <a:spLocks noGrp="1"/>
          </p:cNvSpPr>
          <p:nvPr>
            <p:ph idx="1"/>
          </p:nvPr>
        </p:nvSpPr>
        <p:spPr>
          <a:xfrm>
            <a:off x="729841" y="545285"/>
            <a:ext cx="10729519" cy="5914500"/>
          </a:xfrm>
        </p:spPr>
        <p:txBody>
          <a:bodyPr>
            <a:normAutofit/>
          </a:bodyPr>
          <a:lstStyle/>
          <a:p>
            <a:pPr marL="0" indent="0">
              <a:lnSpc>
                <a:spcPct val="100000"/>
              </a:lnSpc>
              <a:spcBef>
                <a:spcPts val="0"/>
              </a:spcBef>
              <a:spcAft>
                <a:spcPts val="0"/>
              </a:spcAft>
              <a:buNone/>
            </a:pPr>
            <a:r>
              <a:rPr lang="en-US" sz="4000" dirty="0">
                <a:solidFill>
                  <a:schemeClr val="tx1"/>
                </a:solidFill>
              </a:rPr>
              <a:t>A WBS can take numerous forms:</a:t>
            </a:r>
          </a:p>
          <a:p>
            <a:pPr>
              <a:lnSpc>
                <a:spcPct val="100000"/>
              </a:lnSpc>
              <a:spcBef>
                <a:spcPts val="0"/>
              </a:spcBef>
              <a:spcAft>
                <a:spcPts val="0"/>
              </a:spcAft>
              <a:buFont typeface="Wingdings" panose="05000000000000000000" pitchFamily="2" charset="2"/>
              <a:buChar char="§"/>
            </a:pPr>
            <a:r>
              <a:rPr lang="en-US" sz="4000" dirty="0">
                <a:solidFill>
                  <a:schemeClr val="tx1"/>
                </a:solidFill>
              </a:rPr>
              <a:t> division by phases</a:t>
            </a:r>
          </a:p>
          <a:p>
            <a:pPr>
              <a:lnSpc>
                <a:spcPct val="100000"/>
              </a:lnSpc>
              <a:spcBef>
                <a:spcPts val="0"/>
              </a:spcBef>
              <a:spcAft>
                <a:spcPts val="0"/>
              </a:spcAft>
              <a:buFont typeface="Wingdings" panose="05000000000000000000" pitchFamily="2" charset="2"/>
              <a:buChar char="§"/>
            </a:pPr>
            <a:r>
              <a:rPr lang="en-US" sz="4000" dirty="0">
                <a:solidFill>
                  <a:schemeClr val="tx1"/>
                </a:solidFill>
              </a:rPr>
              <a:t> deliverables</a:t>
            </a:r>
          </a:p>
          <a:p>
            <a:pPr>
              <a:lnSpc>
                <a:spcPct val="100000"/>
              </a:lnSpc>
              <a:spcBef>
                <a:spcPts val="0"/>
              </a:spcBef>
              <a:spcAft>
                <a:spcPts val="0"/>
              </a:spcAft>
              <a:buFont typeface="Wingdings" panose="05000000000000000000" pitchFamily="2" charset="2"/>
              <a:buChar char="§"/>
            </a:pPr>
            <a:r>
              <a:rPr lang="en-US" sz="4000" dirty="0">
                <a:solidFill>
                  <a:schemeClr val="tx1"/>
                </a:solidFill>
              </a:rPr>
              <a:t> subprojects. </a:t>
            </a:r>
          </a:p>
          <a:p>
            <a:pPr>
              <a:lnSpc>
                <a:spcPct val="100000"/>
              </a:lnSpc>
              <a:spcBef>
                <a:spcPts val="0"/>
              </a:spcBef>
              <a:spcAft>
                <a:spcPts val="0"/>
              </a:spcAft>
              <a:buFont typeface="Wingdings" panose="05000000000000000000" pitchFamily="2" charset="2"/>
              <a:buChar char="§"/>
            </a:pPr>
            <a:endParaRPr lang="en-US" sz="4000" dirty="0">
              <a:solidFill>
                <a:schemeClr val="tx1"/>
              </a:solidFill>
            </a:endParaRPr>
          </a:p>
          <a:p>
            <a:pPr marL="0" indent="0">
              <a:lnSpc>
                <a:spcPct val="100000"/>
              </a:lnSpc>
              <a:spcBef>
                <a:spcPts val="0"/>
              </a:spcBef>
              <a:spcAft>
                <a:spcPts val="0"/>
              </a:spcAft>
              <a:buNone/>
            </a:pPr>
            <a:r>
              <a:rPr lang="en-US" sz="4000" dirty="0">
                <a:solidFill>
                  <a:schemeClr val="tx1"/>
                </a:solidFill>
              </a:rPr>
              <a:t>But regardless of how you structure it, the WBS should contain the </a:t>
            </a:r>
            <a:r>
              <a:rPr lang="en-US" sz="4000" b="1" dirty="0">
                <a:solidFill>
                  <a:schemeClr val="tx1"/>
                </a:solidFill>
                <a:highlight>
                  <a:srgbClr val="FFFF00"/>
                </a:highlight>
              </a:rPr>
              <a:t>people-hours</a:t>
            </a:r>
            <a:r>
              <a:rPr lang="en-US" sz="4000" dirty="0">
                <a:solidFill>
                  <a:schemeClr val="tx1"/>
                </a:solidFill>
              </a:rPr>
              <a:t>, </a:t>
            </a:r>
            <a:r>
              <a:rPr lang="en-US" sz="4000" b="1" dirty="0">
                <a:solidFill>
                  <a:schemeClr val="tx1"/>
                </a:solidFill>
                <a:highlight>
                  <a:srgbClr val="FFFF00"/>
                </a:highlight>
              </a:rPr>
              <a:t>equipment</a:t>
            </a:r>
            <a:r>
              <a:rPr lang="en-US" sz="4000" dirty="0">
                <a:solidFill>
                  <a:schemeClr val="tx1"/>
                </a:solidFill>
              </a:rPr>
              <a:t>, tools, </a:t>
            </a:r>
            <a:r>
              <a:rPr lang="en-US" sz="4000" b="1" dirty="0">
                <a:solidFill>
                  <a:schemeClr val="tx1"/>
                </a:solidFill>
                <a:highlight>
                  <a:srgbClr val="FFFF00"/>
                </a:highlight>
              </a:rPr>
              <a:t>contractor expenses</a:t>
            </a:r>
            <a:r>
              <a:rPr lang="en-US" sz="4000" dirty="0">
                <a:solidFill>
                  <a:schemeClr val="tx1"/>
                </a:solidFill>
              </a:rPr>
              <a:t>, and any other item of cost.</a:t>
            </a:r>
            <a:endParaRPr lang="en-US" sz="3200" dirty="0"/>
          </a:p>
        </p:txBody>
      </p:sp>
      <p:sp>
        <p:nvSpPr>
          <p:cNvPr id="4" name="Slide Number Placeholder 3">
            <a:extLst>
              <a:ext uri="{FF2B5EF4-FFF2-40B4-BE49-F238E27FC236}">
                <a16:creationId xmlns:a16="http://schemas.microsoft.com/office/drawing/2014/main" id="{B73E99B2-4670-447E-85CE-5CA9DD1ED1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7875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525608" y="787196"/>
            <a:ext cx="10972800" cy="5283607"/>
          </a:xfrm>
        </p:spPr>
        <p:txBody>
          <a:bodyPr>
            <a:normAutofit/>
          </a:bodyPr>
          <a:lstStyle/>
          <a:p>
            <a:pPr marL="0" indent="0" algn="ctr">
              <a:lnSpc>
                <a:spcPct val="100000"/>
              </a:lnSpc>
              <a:spcBef>
                <a:spcPts val="0"/>
              </a:spcBef>
              <a:buNone/>
            </a:pPr>
            <a:r>
              <a:rPr lang="en-US" sz="4500" dirty="0">
                <a:solidFill>
                  <a:schemeClr val="tx1"/>
                </a:solidFill>
                <a:latin typeface="Calibri" panose="020F0502020204030204" pitchFamily="34" charset="0"/>
                <a:cs typeface="Calibri" panose="020F0502020204030204" pitchFamily="34" charset="0"/>
              </a:rPr>
              <a:t>Build your WBS categories under the headings of the </a:t>
            </a:r>
            <a:r>
              <a:rPr lang="en-US" sz="4500" b="1" dirty="0">
                <a:solidFill>
                  <a:schemeClr val="tx1"/>
                </a:solidFill>
                <a:latin typeface="Calibri" panose="020F0502020204030204" pitchFamily="34" charset="0"/>
                <a:cs typeface="Calibri" panose="020F0502020204030204" pitchFamily="34" charset="0"/>
              </a:rPr>
              <a:t>SOW categories</a:t>
            </a:r>
            <a:r>
              <a:rPr lang="en-US" sz="4500" dirty="0">
                <a:solidFill>
                  <a:schemeClr val="tx1"/>
                </a:solidFill>
                <a:latin typeface="Calibri" panose="020F0502020204030204" pitchFamily="34" charset="0"/>
                <a:cs typeface="Calibri" panose="020F0502020204030204" pitchFamily="34" charset="0"/>
              </a:rPr>
              <a:t> or the </a:t>
            </a:r>
            <a:r>
              <a:rPr lang="en-US" sz="4500" b="1" dirty="0">
                <a:solidFill>
                  <a:schemeClr val="tx1"/>
                </a:solidFill>
                <a:latin typeface="Calibri" panose="020F0502020204030204" pitchFamily="34" charset="0"/>
                <a:cs typeface="Calibri" panose="020F0502020204030204" pitchFamily="34" charset="0"/>
              </a:rPr>
              <a:t>Deliverables</a:t>
            </a:r>
            <a:r>
              <a:rPr lang="en-US" sz="4500" dirty="0">
                <a:solidFill>
                  <a:schemeClr val="tx1"/>
                </a:solidFill>
                <a:latin typeface="Calibri" panose="020F0502020204030204" pitchFamily="34" charset="0"/>
                <a:cs typeface="Calibri" panose="020F0502020204030204" pitchFamily="34" charset="0"/>
              </a:rPr>
              <a:t>.</a:t>
            </a:r>
          </a:p>
        </p:txBody>
      </p:sp>
      <p:pic>
        <p:nvPicPr>
          <p:cNvPr id="2" name="Picture 1">
            <a:extLst>
              <a:ext uri="{FF2B5EF4-FFF2-40B4-BE49-F238E27FC236}">
                <a16:creationId xmlns:a16="http://schemas.microsoft.com/office/drawing/2014/main" id="{D31B88C6-4BAC-567B-6EAD-2C350E6A4D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4288084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BD6E7-5C99-D779-FFE6-D5FC9B4D23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A8044E-BCC7-AD50-D3E0-44B0E8F1F6A3}"/>
              </a:ext>
            </a:extLst>
          </p:cNvPr>
          <p:cNvSpPr>
            <a:spLocks noGrp="1"/>
          </p:cNvSpPr>
          <p:nvPr>
            <p:ph idx="1"/>
          </p:nvPr>
        </p:nvSpPr>
        <p:spPr/>
        <p:txBody>
          <a:bodyPr/>
          <a:lstStyle/>
          <a:p>
            <a:endParaRPr lang="en-US"/>
          </a:p>
        </p:txBody>
      </p:sp>
      <p:pic>
        <p:nvPicPr>
          <p:cNvPr id="4" name="Picture 2" descr="https://i1.wp.com/www.projectengineer.net/wp-content/uploads/2014/05/work-breakdown-structure.png">
            <a:extLst>
              <a:ext uri="{FF2B5EF4-FFF2-40B4-BE49-F238E27FC236}">
                <a16:creationId xmlns:a16="http://schemas.microsoft.com/office/drawing/2014/main" id="{ABF765B5-A7FE-57AB-2F9F-4C8B757354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6" y="287477"/>
            <a:ext cx="12190614" cy="6365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784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A50FEB37-49E4-EB3A-22AE-C2FBA7E51D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8262" y="797918"/>
            <a:ext cx="7708306" cy="4792986"/>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097B1B86-AEBE-6CB7-DE05-B933F2DEC952}"/>
              </a:ext>
            </a:extLst>
          </p:cNvPr>
          <p:cNvSpPr/>
          <p:nvPr/>
        </p:nvSpPr>
        <p:spPr>
          <a:xfrm rot="5400000">
            <a:off x="5170204" y="-1110949"/>
            <a:ext cx="1358778" cy="7169917"/>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19974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at is a Work Breakdown Structure (WBS) - Workbreakdownstructure.com">
            <a:extLst>
              <a:ext uri="{FF2B5EF4-FFF2-40B4-BE49-F238E27FC236}">
                <a16:creationId xmlns:a16="http://schemas.microsoft.com/office/drawing/2014/main" id="{7D5985C5-6BA9-3826-D315-BCE774BD1A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7238" y="0"/>
            <a:ext cx="81359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328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A97026-2F76-E895-E5A1-FCD829E3EE77}"/>
              </a:ext>
            </a:extLst>
          </p:cNvPr>
          <p:cNvPicPr>
            <a:picLocks noChangeAspect="1"/>
          </p:cNvPicPr>
          <p:nvPr/>
        </p:nvPicPr>
        <p:blipFill>
          <a:blip r:embed="rId3"/>
          <a:stretch>
            <a:fillRect/>
          </a:stretch>
        </p:blipFill>
        <p:spPr>
          <a:xfrm>
            <a:off x="0" y="642480"/>
            <a:ext cx="12192000" cy="5573040"/>
          </a:xfrm>
          <a:prstGeom prst="rect">
            <a:avLst/>
          </a:prstGeom>
        </p:spPr>
      </p:pic>
    </p:spTree>
    <p:extLst>
      <p:ext uri="{BB962C8B-B14F-4D97-AF65-F5344CB8AC3E}">
        <p14:creationId xmlns:p14="http://schemas.microsoft.com/office/powerpoint/2010/main" val="2572531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48F21-6761-9FC7-35C6-0A4659CE077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DC77370-B9F2-8EB3-90D1-82C734FFF349}"/>
              </a:ext>
            </a:extLst>
          </p:cNvPr>
          <p:cNvPicPr>
            <a:picLocks noChangeAspect="1"/>
          </p:cNvPicPr>
          <p:nvPr/>
        </p:nvPicPr>
        <p:blipFill>
          <a:blip r:embed="rId3"/>
          <a:stretch>
            <a:fillRect/>
          </a:stretch>
        </p:blipFill>
        <p:spPr>
          <a:xfrm>
            <a:off x="0" y="642480"/>
            <a:ext cx="12192000" cy="5573040"/>
          </a:xfrm>
          <a:prstGeom prst="rect">
            <a:avLst/>
          </a:prstGeom>
        </p:spPr>
      </p:pic>
      <p:sp>
        <p:nvSpPr>
          <p:cNvPr id="2" name="Oval 1">
            <a:extLst>
              <a:ext uri="{FF2B5EF4-FFF2-40B4-BE49-F238E27FC236}">
                <a16:creationId xmlns:a16="http://schemas.microsoft.com/office/drawing/2014/main" id="{33DC86C0-F5ED-B379-0AC2-E9AD68A3C510}"/>
              </a:ext>
            </a:extLst>
          </p:cNvPr>
          <p:cNvSpPr/>
          <p:nvPr/>
        </p:nvSpPr>
        <p:spPr>
          <a:xfrm rot="5400000">
            <a:off x="9203514" y="3238146"/>
            <a:ext cx="783773" cy="1165481"/>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Oval 3">
            <a:extLst>
              <a:ext uri="{FF2B5EF4-FFF2-40B4-BE49-F238E27FC236}">
                <a16:creationId xmlns:a16="http://schemas.microsoft.com/office/drawing/2014/main" id="{051F126A-A42E-2055-52CE-C334D7E06C78}"/>
              </a:ext>
            </a:extLst>
          </p:cNvPr>
          <p:cNvSpPr/>
          <p:nvPr/>
        </p:nvSpPr>
        <p:spPr>
          <a:xfrm rot="5400000">
            <a:off x="6443808" y="3161946"/>
            <a:ext cx="631373" cy="1165481"/>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Oval 4">
            <a:extLst>
              <a:ext uri="{FF2B5EF4-FFF2-40B4-BE49-F238E27FC236}">
                <a16:creationId xmlns:a16="http://schemas.microsoft.com/office/drawing/2014/main" id="{8F513E59-49EF-21B5-7F6B-3EBDBDB80EF7}"/>
              </a:ext>
            </a:extLst>
          </p:cNvPr>
          <p:cNvSpPr/>
          <p:nvPr/>
        </p:nvSpPr>
        <p:spPr>
          <a:xfrm rot="5400000">
            <a:off x="3531703" y="2606773"/>
            <a:ext cx="783773" cy="1165481"/>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7822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3CCF28-2341-5E6C-B6D4-8A44EC0973A4}"/>
              </a:ext>
            </a:extLst>
          </p:cNvPr>
          <p:cNvPicPr>
            <a:picLocks noChangeAspect="1"/>
          </p:cNvPicPr>
          <p:nvPr/>
        </p:nvPicPr>
        <p:blipFill>
          <a:blip r:embed="rId3"/>
          <a:stretch>
            <a:fillRect/>
          </a:stretch>
        </p:blipFill>
        <p:spPr>
          <a:xfrm>
            <a:off x="5281300" y="495127"/>
            <a:ext cx="8237612" cy="5867746"/>
          </a:xfrm>
          <a:prstGeom prst="rect">
            <a:avLst/>
          </a:prstGeom>
        </p:spPr>
      </p:pic>
      <p:sp>
        <p:nvSpPr>
          <p:cNvPr id="4" name="Oval 3">
            <a:extLst>
              <a:ext uri="{FF2B5EF4-FFF2-40B4-BE49-F238E27FC236}">
                <a16:creationId xmlns:a16="http://schemas.microsoft.com/office/drawing/2014/main" id="{D8A43EC5-8529-F5F0-5A89-A2C5DF1CE8CB}"/>
              </a:ext>
            </a:extLst>
          </p:cNvPr>
          <p:cNvSpPr/>
          <p:nvPr/>
        </p:nvSpPr>
        <p:spPr>
          <a:xfrm rot="5400000">
            <a:off x="6734088" y="461476"/>
            <a:ext cx="666574" cy="3315771"/>
          </a:xfrm>
          <a:prstGeom prst="ellipse">
            <a:avLst/>
          </a:prstGeom>
          <a:noFill/>
          <a:ln w="603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Content Placeholder 2">
            <a:extLst>
              <a:ext uri="{FF2B5EF4-FFF2-40B4-BE49-F238E27FC236}">
                <a16:creationId xmlns:a16="http://schemas.microsoft.com/office/drawing/2014/main" id="{3245AFC3-DC39-4D48-AAC2-B1288D2B1909}"/>
              </a:ext>
            </a:extLst>
          </p:cNvPr>
          <p:cNvSpPr txBox="1">
            <a:spLocks/>
          </p:cNvSpPr>
          <p:nvPr/>
        </p:nvSpPr>
        <p:spPr>
          <a:xfrm>
            <a:off x="385273" y="828942"/>
            <a:ext cx="4545650" cy="46472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70C0"/>
                </a:solidFill>
                <a:effectLst/>
                <a:uLnTx/>
                <a:uFillTx/>
                <a:latin typeface="Calibri" panose="020F0502020204030204"/>
                <a:ea typeface="+mn-ea"/>
                <a:cs typeface="+mn-cs"/>
              </a:rPr>
              <a:t>Example</a:t>
            </a: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 WBS that includes pre-planning stage.</a:t>
            </a:r>
          </a:p>
        </p:txBody>
      </p:sp>
    </p:spTree>
    <p:extLst>
      <p:ext uri="{BB962C8B-B14F-4D97-AF65-F5344CB8AC3E}">
        <p14:creationId xmlns:p14="http://schemas.microsoft.com/office/powerpoint/2010/main" val="1294635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E1EB446B-5093-4063-801F-A449943DE86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D50FCA1-70CD-492F-992E-200438579213}"/>
              </a:ext>
            </a:extLst>
          </p:cNvPr>
          <p:cNvSpPr>
            <a:spLocks noGrp="1"/>
          </p:cNvSpPr>
          <p:nvPr>
            <p:ph type="sldNum" sz="quarter" idx="12"/>
          </p:nvPr>
        </p:nvSpPr>
        <p:spPr>
          <a:xfrm>
            <a:off x="10558300" y="5956137"/>
            <a:ext cx="1052510" cy="365125"/>
          </a:xfrm>
        </p:spPr>
        <p:txBody>
          <a:bodyPr vert="horz" lIns="91440" tIns="45720" rIns="91440" bIns="45720" rtlCol="0" anchor="ctr">
            <a:norm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D57F1E4F-1CFF-5643-939E-217C01CDF565}" type="slidenum">
              <a:rPr kumimoji="0" lang="en-US" sz="900" b="0" i="0" u="none" strike="noStrike" kern="1200" cap="none" spc="0" normalizeH="0" baseline="0" noProof="0">
                <a:ln>
                  <a:noFill/>
                </a:ln>
                <a:solidFill>
                  <a:srgbClr val="FFFFFF"/>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31</a:t>
            </a:fld>
            <a:endParaRPr kumimoji="0" lang="en-US" sz="9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7" name="Title 3">
            <a:extLst>
              <a:ext uri="{FF2B5EF4-FFF2-40B4-BE49-F238E27FC236}">
                <a16:creationId xmlns:a16="http://schemas.microsoft.com/office/drawing/2014/main" id="{9005493A-AD1D-4A4D-BB58-71ACB34E0A6B}"/>
              </a:ext>
            </a:extLst>
          </p:cNvPr>
          <p:cNvSpPr>
            <a:spLocks noGrp="1"/>
          </p:cNvSpPr>
          <p:nvPr>
            <p:ph type="title"/>
          </p:nvPr>
        </p:nvSpPr>
        <p:spPr>
          <a:xfrm>
            <a:off x="446049" y="1322173"/>
            <a:ext cx="5979465" cy="2621124"/>
          </a:xfrm>
        </p:spPr>
        <p:txBody>
          <a:bodyPr>
            <a:noAutofit/>
          </a:bodyPr>
          <a:lstStyle/>
          <a:p>
            <a:pPr algn="ctr"/>
            <a:r>
              <a:rPr lang="en-US" sz="5500" b="1" cap="none" dirty="0">
                <a:latin typeface="Calibri" panose="020F0502020204030204" pitchFamily="34" charset="0"/>
                <a:cs typeface="Calibri" panose="020F0502020204030204" pitchFamily="34" charset="0"/>
              </a:rPr>
              <a:t>WBS are Anecdotes for  </a:t>
            </a:r>
            <a:br>
              <a:rPr lang="en-US" sz="5500" b="1" cap="none" dirty="0">
                <a:latin typeface="Calibri" panose="020F0502020204030204" pitchFamily="34" charset="0"/>
                <a:cs typeface="Calibri" panose="020F0502020204030204" pitchFamily="34" charset="0"/>
              </a:rPr>
            </a:br>
            <a:r>
              <a:rPr lang="en-US" sz="5500" b="1" cap="none" dirty="0">
                <a:latin typeface="Calibri" panose="020F0502020204030204" pitchFamily="34" charset="0"/>
                <a:cs typeface="Calibri" panose="020F0502020204030204" pitchFamily="34" charset="0"/>
              </a:rPr>
              <a:t>The Free Rider</a:t>
            </a:r>
          </a:p>
        </p:txBody>
      </p:sp>
    </p:spTree>
    <p:extLst>
      <p:ext uri="{BB962C8B-B14F-4D97-AF65-F5344CB8AC3E}">
        <p14:creationId xmlns:p14="http://schemas.microsoft.com/office/powerpoint/2010/main" val="2246434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4AF6C-B6AF-8F5C-BFAA-F9BB57B2BA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7D94B-6C6D-71A9-4757-28C11D90D3B7}"/>
              </a:ext>
            </a:extLst>
          </p:cNvPr>
          <p:cNvSpPr>
            <a:spLocks noGrp="1"/>
          </p:cNvSpPr>
          <p:nvPr>
            <p:ph idx="1"/>
          </p:nvPr>
        </p:nvSpPr>
        <p:spPr>
          <a:xfrm>
            <a:off x="729841" y="545285"/>
            <a:ext cx="10729519" cy="5914500"/>
          </a:xfrm>
        </p:spPr>
        <p:txBody>
          <a:bodyPr>
            <a:normAutofit/>
          </a:bodyPr>
          <a:lstStyle/>
          <a:p>
            <a:pPr marL="0" indent="0">
              <a:lnSpc>
                <a:spcPct val="100000"/>
              </a:lnSpc>
              <a:spcBef>
                <a:spcPts val="0"/>
              </a:spcBef>
              <a:spcAft>
                <a:spcPts val="0"/>
              </a:spcAft>
              <a:buNone/>
            </a:pPr>
            <a:r>
              <a:rPr lang="en-US" sz="4500" b="1" dirty="0">
                <a:solidFill>
                  <a:schemeClr val="tx1"/>
                </a:solidFill>
              </a:rPr>
              <a:t>Alas, there are common WBS problems:</a:t>
            </a:r>
          </a:p>
          <a:p>
            <a:pPr>
              <a:lnSpc>
                <a:spcPct val="100000"/>
              </a:lnSpc>
              <a:spcBef>
                <a:spcPts val="0"/>
              </a:spcBef>
              <a:spcAft>
                <a:spcPts val="0"/>
              </a:spcAft>
              <a:buFont typeface="Wingdings" panose="05000000000000000000" pitchFamily="2" charset="2"/>
              <a:buChar char="§"/>
            </a:pPr>
            <a:r>
              <a:rPr lang="en-US" sz="3200" dirty="0"/>
              <a:t> Not taking the original estimating seriously. “</a:t>
            </a:r>
            <a:r>
              <a:rPr lang="en-US" sz="3200" i="1" dirty="0"/>
              <a:t>Too much work.”</a:t>
            </a:r>
            <a:endParaRPr lang="en-US" sz="3200" dirty="0"/>
          </a:p>
          <a:p>
            <a:pPr>
              <a:lnSpc>
                <a:spcPct val="100000"/>
              </a:lnSpc>
              <a:spcBef>
                <a:spcPts val="0"/>
              </a:spcBef>
              <a:spcAft>
                <a:spcPts val="0"/>
              </a:spcAft>
              <a:buFont typeface="Wingdings" panose="05000000000000000000" pitchFamily="2" charset="2"/>
              <a:buChar char="§"/>
            </a:pPr>
            <a:r>
              <a:rPr lang="en-US" sz="3200" dirty="0"/>
              <a:t> Going into too much or not enough detail</a:t>
            </a:r>
          </a:p>
          <a:p>
            <a:pPr>
              <a:lnSpc>
                <a:spcPct val="100000"/>
              </a:lnSpc>
              <a:spcBef>
                <a:spcPts val="0"/>
              </a:spcBef>
              <a:spcAft>
                <a:spcPts val="0"/>
              </a:spcAft>
              <a:buFont typeface="Wingdings" panose="05000000000000000000" pitchFamily="2" charset="2"/>
              <a:buChar char="§"/>
            </a:pPr>
            <a:r>
              <a:rPr lang="en-US" sz="3200" dirty="0"/>
              <a:t> Letting strong voices dominate</a:t>
            </a:r>
          </a:p>
          <a:p>
            <a:pPr>
              <a:lnSpc>
                <a:spcPct val="100000"/>
              </a:lnSpc>
              <a:spcBef>
                <a:spcPts val="0"/>
              </a:spcBef>
              <a:spcAft>
                <a:spcPts val="0"/>
              </a:spcAft>
              <a:buFont typeface="Wingdings" panose="05000000000000000000" pitchFamily="2" charset="2"/>
              <a:buChar char="§"/>
            </a:pPr>
            <a:r>
              <a:rPr lang="en-US" sz="3200" dirty="0"/>
              <a:t> </a:t>
            </a:r>
            <a:r>
              <a:rPr lang="en-US" sz="3200" b="1" dirty="0">
                <a:highlight>
                  <a:srgbClr val="FFFF00"/>
                </a:highlight>
              </a:rPr>
              <a:t>Expecting more than 100% </a:t>
            </a:r>
            <a:r>
              <a:rPr lang="en-US" sz="3200" dirty="0"/>
              <a:t>from your WBS</a:t>
            </a:r>
          </a:p>
          <a:p>
            <a:pPr>
              <a:lnSpc>
                <a:spcPct val="100000"/>
              </a:lnSpc>
              <a:spcBef>
                <a:spcPts val="0"/>
              </a:spcBef>
              <a:spcAft>
                <a:spcPts val="0"/>
              </a:spcAft>
              <a:buFont typeface="Wingdings" panose="05000000000000000000" pitchFamily="2" charset="2"/>
              <a:buChar char="§"/>
            </a:pPr>
            <a:r>
              <a:rPr lang="en-US" sz="3200" dirty="0"/>
              <a:t> Overcomplicating the structure</a:t>
            </a:r>
          </a:p>
          <a:p>
            <a:pPr>
              <a:lnSpc>
                <a:spcPct val="100000"/>
              </a:lnSpc>
              <a:spcBef>
                <a:spcPts val="0"/>
              </a:spcBef>
              <a:spcAft>
                <a:spcPts val="0"/>
              </a:spcAft>
              <a:buFont typeface="Wingdings" panose="05000000000000000000" pitchFamily="2" charset="2"/>
              <a:buChar char="§"/>
            </a:pPr>
            <a:r>
              <a:rPr lang="en-US" sz="3200" dirty="0"/>
              <a:t> Adding requirements in lieu of tasks</a:t>
            </a:r>
          </a:p>
          <a:p>
            <a:pPr>
              <a:lnSpc>
                <a:spcPct val="100000"/>
              </a:lnSpc>
              <a:spcBef>
                <a:spcPts val="0"/>
              </a:spcBef>
              <a:spcAft>
                <a:spcPts val="0"/>
              </a:spcAft>
              <a:buFont typeface="Wingdings" panose="05000000000000000000" pitchFamily="2" charset="2"/>
              <a:buChar char="§"/>
            </a:pPr>
            <a:r>
              <a:rPr lang="en-US" sz="3200" dirty="0"/>
              <a:t> Skipping the buy-in process</a:t>
            </a:r>
          </a:p>
          <a:p>
            <a:pPr>
              <a:lnSpc>
                <a:spcPct val="100000"/>
              </a:lnSpc>
              <a:spcBef>
                <a:spcPts val="0"/>
              </a:spcBef>
              <a:spcAft>
                <a:spcPts val="0"/>
              </a:spcAft>
              <a:buFont typeface="Wingdings" panose="05000000000000000000" pitchFamily="2" charset="2"/>
              <a:buChar char="§"/>
            </a:pPr>
            <a:r>
              <a:rPr lang="en-US" sz="3200" dirty="0"/>
              <a:t> Underestimation of </a:t>
            </a:r>
            <a:r>
              <a:rPr lang="en-US" sz="3200" b="1" dirty="0">
                <a:highlight>
                  <a:srgbClr val="FFFF00"/>
                </a:highlight>
              </a:rPr>
              <a:t>Soft Factors </a:t>
            </a:r>
            <a:r>
              <a:rPr lang="en-US" sz="3200" dirty="0"/>
              <a:t>(team dynamics, abilities). </a:t>
            </a:r>
          </a:p>
          <a:p>
            <a:pPr>
              <a:lnSpc>
                <a:spcPct val="100000"/>
              </a:lnSpc>
              <a:spcBef>
                <a:spcPts val="0"/>
              </a:spcBef>
              <a:spcAft>
                <a:spcPts val="0"/>
              </a:spcAft>
              <a:buFont typeface="Wingdings" panose="05000000000000000000" pitchFamily="2" charset="2"/>
              <a:buChar char="§"/>
            </a:pPr>
            <a:r>
              <a:rPr lang="en-US" sz="3200" dirty="0"/>
              <a:t> Not sticking to tasks, </a:t>
            </a:r>
            <a:r>
              <a:rPr lang="en-US" sz="3200" b="1" dirty="0">
                <a:solidFill>
                  <a:srgbClr val="FF0000"/>
                </a:solidFill>
              </a:rPr>
              <a:t>enforcement is not established early</a:t>
            </a:r>
            <a:r>
              <a:rPr lang="en-US" sz="3200" dirty="0"/>
              <a:t>.</a:t>
            </a:r>
          </a:p>
          <a:p>
            <a:pPr>
              <a:lnSpc>
                <a:spcPct val="100000"/>
              </a:lnSpc>
              <a:spcBef>
                <a:spcPts val="0"/>
              </a:spcBef>
              <a:spcAft>
                <a:spcPts val="0"/>
              </a:spcAft>
              <a:buFont typeface="Wingdings" panose="05000000000000000000" pitchFamily="2" charset="2"/>
              <a:buChar char="§"/>
            </a:pPr>
            <a:endParaRPr lang="en-US" b="1" dirty="0"/>
          </a:p>
          <a:p>
            <a:pPr>
              <a:lnSpc>
                <a:spcPct val="100000"/>
              </a:lnSpc>
              <a:spcBef>
                <a:spcPts val="0"/>
              </a:spcBef>
              <a:spcAft>
                <a:spcPts val="0"/>
              </a:spcAft>
              <a:buFont typeface="Wingdings" panose="05000000000000000000" pitchFamily="2" charset="2"/>
              <a:buChar char="§"/>
            </a:pPr>
            <a:endParaRPr lang="en-US" sz="3200" dirty="0"/>
          </a:p>
        </p:txBody>
      </p:sp>
      <p:sp>
        <p:nvSpPr>
          <p:cNvPr id="4" name="Slide Number Placeholder 3">
            <a:extLst>
              <a:ext uri="{FF2B5EF4-FFF2-40B4-BE49-F238E27FC236}">
                <a16:creationId xmlns:a16="http://schemas.microsoft.com/office/drawing/2014/main" id="{9C55A8DB-D647-9A8E-8C0A-29BA18870A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6E0C2375-152D-A076-3187-8EF66C783E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316646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fade">
                                      <p:cBhvr>
                                        <p:cTn id="12" dur="500"/>
                                        <p:tgtEl>
                                          <p:spTgt spid="3">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animEffect transition="in" filter="fade">
                                      <p:cBhvr>
                                        <p:cTn id="17" dur="500"/>
                                        <p:tgtEl>
                                          <p:spTgt spid="3">
                                            <p:txEl>
                                              <p:pRg st="9"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Backgrounds Gold - Wallpaper Cave">
            <a:extLst>
              <a:ext uri="{FF2B5EF4-FFF2-40B4-BE49-F238E27FC236}">
                <a16:creationId xmlns:a16="http://schemas.microsoft.com/office/drawing/2014/main" id="{4BF0455D-E564-0A6B-5755-A1213975B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942"/>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6" descr="Tuition PNG Transparent Images Free Download | Vector Files | Pngtree">
            <a:extLst>
              <a:ext uri="{FF2B5EF4-FFF2-40B4-BE49-F238E27FC236}">
                <a16:creationId xmlns:a16="http://schemas.microsoft.com/office/drawing/2014/main" id="{086CC3C1-7BE7-395E-10BB-AE0F9B71D3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599264">
            <a:off x="9446440" y="481259"/>
            <a:ext cx="3059730" cy="11941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4C1E0D5-8078-41F7-92FD-B0778A6FFADD}"/>
              </a:ext>
            </a:extLst>
          </p:cNvPr>
          <p:cNvSpPr txBox="1"/>
          <p:nvPr/>
        </p:nvSpPr>
        <p:spPr>
          <a:xfrm>
            <a:off x="689986" y="1078325"/>
            <a:ext cx="10812027" cy="1200329"/>
          </a:xfrm>
          <a:prstGeom prst="rect">
            <a:avLst/>
          </a:prstGeom>
          <a:noFill/>
        </p:spPr>
        <p:txBody>
          <a:bodyPr wrap="square">
            <a:spAutoFit/>
          </a:bodyPr>
          <a:lstStyle/>
          <a:p>
            <a:pPr marL="571500" lvl="0" indent="-571500">
              <a:buFont typeface="Wingdings" panose="05000000000000000000" pitchFamily="2" charset="2"/>
              <a:buChar char="v"/>
              <a:defRPr/>
            </a:pPr>
            <a:r>
              <a:rPr lang="en-US" sz="3600" b="1" dirty="0"/>
              <a:t>Include all the pre-planning tasks we’ve discussed.</a:t>
            </a:r>
            <a:endParaRPr kumimoji="0" lang="en-US" sz="3500" b="0" i="0" u="none" strike="noStrike" kern="1200" cap="none" spc="0" normalizeH="0" baseline="0" noProof="0" dirty="0">
              <a:ln>
                <a:noFill/>
              </a:ln>
              <a:effectLst/>
              <a:uLnTx/>
              <a:uFillTx/>
              <a:latin typeface="Calibri" panose="020F0502020204030204"/>
              <a:ea typeface="Meiryo" panose="020B0604030504040204" pitchFamily="34" charset="-128"/>
              <a:cs typeface="Calibri" panose="020F0502020204030204" pitchFamily="34" charset="0"/>
            </a:endParaRPr>
          </a:p>
        </p:txBody>
      </p:sp>
    </p:spTree>
    <p:extLst>
      <p:ext uri="{BB962C8B-B14F-4D97-AF65-F5344CB8AC3E}">
        <p14:creationId xmlns:p14="http://schemas.microsoft.com/office/powerpoint/2010/main" val="18427106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http://www.shankyfinance.com/uploaded_files/main_img/shankyfinance.com5877335340ff511505663-the-word-project-placed-over-a-plan-project-3d-render--Stock-Photo.jpg">
            <a:extLst>
              <a:ext uri="{FF2B5EF4-FFF2-40B4-BE49-F238E27FC236}">
                <a16:creationId xmlns:a16="http://schemas.microsoft.com/office/drawing/2014/main" id="{7FA62F0B-9AE8-42B0-AD9A-1EB9E05D67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316"/>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0143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85500-3683-3137-5E2C-C61563D7FE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B8A766-170A-6772-4F26-E71EFA533E54}"/>
              </a:ext>
            </a:extLst>
          </p:cNvPr>
          <p:cNvSpPr>
            <a:spLocks noGrp="1"/>
          </p:cNvSpPr>
          <p:nvPr>
            <p:ph idx="1"/>
          </p:nvPr>
        </p:nvSpPr>
        <p:spPr>
          <a:xfrm>
            <a:off x="564022" y="534825"/>
            <a:ext cx="10921526" cy="6156532"/>
          </a:xfrm>
        </p:spPr>
        <p:txBody>
          <a:bodyPr/>
          <a:lstStyle/>
          <a:p>
            <a:pPr marL="457200" indent="-457200">
              <a:buAutoNum type="arabicPeriod"/>
            </a:pPr>
            <a:r>
              <a:rPr lang="en-US" sz="3000" strike="sngStrike" dirty="0">
                <a:latin typeface="Calibri" panose="020F0502020204030204" pitchFamily="34" charset="0"/>
                <a:cs typeface="Calibri" panose="020F0502020204030204" pitchFamily="34" charset="0"/>
              </a:rPr>
              <a:t>Pick a project.</a:t>
            </a:r>
          </a:p>
          <a:p>
            <a:pPr marL="457200" indent="-457200">
              <a:buAutoNum type="arabicPeriod"/>
            </a:pPr>
            <a:r>
              <a:rPr lang="en-US" sz="3000" strike="sngStrike" dirty="0">
                <a:latin typeface="Calibri" panose="020F0502020204030204" pitchFamily="34" charset="0"/>
                <a:cs typeface="Calibri" panose="020F0502020204030204" pitchFamily="34" charset="0"/>
              </a:rPr>
              <a:t>Individual Skills Inventory</a:t>
            </a:r>
            <a:endParaRPr lang="en-US" sz="3000" b="1" strike="sngStrike" dirty="0">
              <a:solidFill>
                <a:srgbClr val="FF0000"/>
              </a:solidFill>
              <a:latin typeface="Calibri" panose="020F0502020204030204" pitchFamily="34" charset="0"/>
              <a:cs typeface="Calibri" panose="020F0502020204030204" pitchFamily="34" charset="0"/>
            </a:endParaRPr>
          </a:p>
          <a:p>
            <a:pPr marL="457200" indent="-457200">
              <a:buAutoNum type="arabicPeriod"/>
            </a:pPr>
            <a:r>
              <a:rPr lang="en-US" sz="3000" dirty="0">
                <a:latin typeface="Calibri" panose="020F0502020204030204" pitchFamily="34" charset="0"/>
                <a:cs typeface="Calibri" panose="020F0502020204030204" pitchFamily="34" charset="0"/>
              </a:rPr>
              <a:t>Microsoft Teams</a:t>
            </a:r>
            <a:r>
              <a:rPr lang="en-US" sz="3000" b="1" dirty="0">
                <a:solidFill>
                  <a:srgbClr val="FF0000"/>
                </a:solidFill>
                <a:latin typeface="Calibri" panose="020F0502020204030204" pitchFamily="34" charset="0"/>
                <a:cs typeface="Calibri" panose="020F0502020204030204" pitchFamily="34" charset="0"/>
              </a:rPr>
              <a:t> 	Due Sept. 28</a:t>
            </a:r>
            <a:r>
              <a:rPr lang="en-US" sz="3000" dirty="0">
                <a:latin typeface="Calibri" panose="020F0502020204030204" pitchFamily="34" charset="0"/>
                <a:cs typeface="Calibri" panose="020F0502020204030204" pitchFamily="34" charset="0"/>
              </a:rPr>
              <a:t>.</a:t>
            </a:r>
          </a:p>
          <a:p>
            <a:pPr marL="457200" indent="-457200">
              <a:buAutoNum type="arabicPeriod"/>
            </a:pPr>
            <a:r>
              <a:rPr lang="en-US" sz="3000" dirty="0">
                <a:latin typeface="Calibri" panose="020F0502020204030204" pitchFamily="34" charset="0"/>
                <a:cs typeface="Calibri" panose="020F0502020204030204" pitchFamily="34" charset="0"/>
              </a:rPr>
              <a:t>My User’s Manual.	</a:t>
            </a:r>
            <a:r>
              <a:rPr lang="en-US" sz="3000" b="1" dirty="0">
                <a:solidFill>
                  <a:srgbClr val="FF0000"/>
                </a:solidFill>
                <a:latin typeface="Calibri" panose="020F0502020204030204" pitchFamily="34" charset="0"/>
                <a:cs typeface="Calibri" panose="020F0502020204030204" pitchFamily="34" charset="0"/>
              </a:rPr>
              <a:t>Due Oct. 1</a:t>
            </a:r>
            <a:r>
              <a:rPr lang="en-US" sz="3000" dirty="0">
                <a:latin typeface="Calibri" panose="020F0502020204030204" pitchFamily="34" charset="0"/>
                <a:cs typeface="Calibri" panose="020F0502020204030204" pitchFamily="34" charset="0"/>
              </a:rPr>
              <a:t>.</a:t>
            </a:r>
          </a:p>
          <a:p>
            <a:pPr marL="457200" indent="-457200">
              <a:buAutoNum type="arabicPeriod"/>
            </a:pPr>
            <a:r>
              <a:rPr lang="en-US" sz="3000" dirty="0">
                <a:latin typeface="Calibri" panose="020F0502020204030204" pitchFamily="34" charset="0"/>
                <a:cs typeface="Calibri" panose="020F0502020204030204" pitchFamily="34" charset="0"/>
              </a:rPr>
              <a:t>Phase 1: Initiating	</a:t>
            </a:r>
            <a:r>
              <a:rPr lang="en-US" sz="3000" b="1" dirty="0">
                <a:solidFill>
                  <a:srgbClr val="FF0000"/>
                </a:solidFill>
                <a:latin typeface="Calibri" panose="020F0502020204030204" pitchFamily="34" charset="0"/>
                <a:cs typeface="Calibri" panose="020F0502020204030204" pitchFamily="34" charset="0"/>
              </a:rPr>
              <a:t>Due Oct. 5</a:t>
            </a:r>
            <a:r>
              <a:rPr lang="en-US" sz="3000" dirty="0">
                <a:latin typeface="Calibri" panose="020F0502020204030204" pitchFamily="34" charset="0"/>
                <a:cs typeface="Calibri" panose="020F0502020204030204" pitchFamily="34" charset="0"/>
              </a:rPr>
              <a:t>.</a:t>
            </a:r>
          </a:p>
          <a:p>
            <a:pPr marL="457200" indent="-457200">
              <a:buFontTx/>
              <a:buAutoNum type="arabicPeriod"/>
            </a:pPr>
            <a:r>
              <a:rPr lang="en-US" sz="3000" dirty="0">
                <a:latin typeface="Calibri" panose="020F0502020204030204" pitchFamily="34" charset="0"/>
                <a:cs typeface="Calibri" panose="020F0502020204030204" pitchFamily="34" charset="0"/>
              </a:rPr>
              <a:t>Phase 2A Planning: Work Breakdown Structure </a:t>
            </a:r>
            <a:r>
              <a:rPr lang="en-US" sz="3000" b="1" dirty="0">
                <a:solidFill>
                  <a:srgbClr val="FF0000"/>
                </a:solidFill>
                <a:latin typeface="Calibri" panose="020F0502020204030204" pitchFamily="34" charset="0"/>
                <a:cs typeface="Calibri" panose="020F0502020204030204" pitchFamily="34" charset="0"/>
              </a:rPr>
              <a:t>Due Oct. 19</a:t>
            </a:r>
            <a:r>
              <a:rPr lang="en-US" sz="3000" dirty="0">
                <a:latin typeface="Calibri" panose="020F0502020204030204" pitchFamily="34" charset="0"/>
                <a:cs typeface="Calibri" panose="020F0502020204030204" pitchFamily="34" charset="0"/>
              </a:rPr>
              <a:t>.</a:t>
            </a:r>
          </a:p>
          <a:p>
            <a:pPr marL="457200" indent="-457200">
              <a:buFontTx/>
              <a:buAutoNum type="arabicPeriod"/>
            </a:pPr>
            <a:r>
              <a:rPr lang="en-US" sz="3000" dirty="0">
                <a:latin typeface="Calibri" panose="020F0502020204030204" pitchFamily="34" charset="0"/>
                <a:cs typeface="Calibri" panose="020F0502020204030204" pitchFamily="34" charset="0"/>
              </a:rPr>
              <a:t>Phase 2B Planning: Gannt Chart	</a:t>
            </a:r>
            <a:r>
              <a:rPr lang="en-US" sz="3000" b="1" dirty="0">
                <a:solidFill>
                  <a:srgbClr val="FF0000"/>
                </a:solidFill>
                <a:latin typeface="Calibri" panose="020F0502020204030204" pitchFamily="34" charset="0"/>
                <a:cs typeface="Calibri" panose="020F0502020204030204" pitchFamily="34" charset="0"/>
              </a:rPr>
              <a:t>Due Nov. 2</a:t>
            </a:r>
            <a:r>
              <a:rPr lang="en-US" sz="3000" dirty="0">
                <a:latin typeface="Calibri" panose="020F0502020204030204" pitchFamily="34" charset="0"/>
                <a:cs typeface="Calibri" panose="020F0502020204030204" pitchFamily="34" charset="0"/>
              </a:rPr>
              <a:t>.</a:t>
            </a:r>
          </a:p>
          <a:p>
            <a:pPr marL="457200" indent="-457200">
              <a:buFontTx/>
              <a:buAutoNum type="arabicPeriod"/>
            </a:pPr>
            <a:r>
              <a:rPr lang="en-US" sz="3000" dirty="0">
                <a:latin typeface="Calibri" panose="020F0502020204030204" pitchFamily="34" charset="0"/>
                <a:cs typeface="Calibri" panose="020F0502020204030204" pitchFamily="34" charset="0"/>
              </a:rPr>
              <a:t>Phase 3: Executing. 	</a:t>
            </a:r>
            <a:r>
              <a:rPr lang="en-US" sz="3000" b="1" dirty="0">
                <a:solidFill>
                  <a:srgbClr val="FF0000"/>
                </a:solidFill>
                <a:latin typeface="Calibri" panose="020F0502020204030204" pitchFamily="34" charset="0"/>
                <a:cs typeface="Calibri" panose="020F0502020204030204" pitchFamily="34" charset="0"/>
              </a:rPr>
              <a:t>Due Nov. 9</a:t>
            </a:r>
            <a:r>
              <a:rPr lang="en-US" sz="3000" dirty="0">
                <a:latin typeface="Calibri" panose="020F0502020204030204" pitchFamily="34" charset="0"/>
                <a:cs typeface="Calibri" panose="020F0502020204030204" pitchFamily="34" charset="0"/>
              </a:rPr>
              <a:t>.</a:t>
            </a:r>
          </a:p>
          <a:p>
            <a:pPr marL="457200" indent="-457200">
              <a:buAutoNum type="arabicPeriod"/>
            </a:pPr>
            <a:r>
              <a:rPr lang="en-US" sz="3000" dirty="0">
                <a:latin typeface="Calibri" panose="020F0502020204030204" pitchFamily="34" charset="0"/>
                <a:cs typeface="Calibri" panose="020F0502020204030204" pitchFamily="34" charset="0"/>
              </a:rPr>
              <a:t>Phase 4: Monitoring. </a:t>
            </a:r>
            <a:r>
              <a:rPr lang="en-US" sz="3000" b="1" dirty="0">
                <a:solidFill>
                  <a:srgbClr val="FF0000"/>
                </a:solidFill>
                <a:latin typeface="Calibri" panose="020F0502020204030204" pitchFamily="34" charset="0"/>
                <a:cs typeface="Calibri" panose="020F0502020204030204" pitchFamily="34" charset="0"/>
              </a:rPr>
              <a:t>Due Nov. 16 </a:t>
            </a:r>
            <a:r>
              <a:rPr lang="en-US" sz="3000" dirty="0">
                <a:latin typeface="Calibri" panose="020F0502020204030204" pitchFamily="34" charset="0"/>
                <a:cs typeface="Calibri" panose="020F0502020204030204" pitchFamily="34" charset="0"/>
              </a:rPr>
              <a:t>	</a:t>
            </a:r>
          </a:p>
          <a:p>
            <a:pPr marL="457200" indent="-457200">
              <a:buFontTx/>
              <a:buAutoNum type="arabicPeriod"/>
            </a:pPr>
            <a:r>
              <a:rPr lang="en-US" sz="3000" dirty="0">
                <a:latin typeface="Calibri" panose="020F0502020204030204" pitchFamily="34" charset="0"/>
                <a:cs typeface="Calibri" panose="020F0502020204030204" pitchFamily="34" charset="0"/>
              </a:rPr>
              <a:t> Phase 5 Closing.	</a:t>
            </a:r>
            <a:r>
              <a:rPr lang="en-US" sz="3000" b="1" dirty="0">
                <a:solidFill>
                  <a:srgbClr val="FF0000"/>
                </a:solidFill>
                <a:latin typeface="Calibri" panose="020F0502020204030204" pitchFamily="34" charset="0"/>
                <a:cs typeface="Calibri" panose="020F0502020204030204" pitchFamily="34" charset="0"/>
              </a:rPr>
              <a:t>Due Dec. 4</a:t>
            </a:r>
            <a:r>
              <a:rPr lang="en-US" sz="3000" dirty="0">
                <a:latin typeface="Calibri" panose="020F0502020204030204" pitchFamily="34" charset="0"/>
                <a:cs typeface="Calibri" panose="020F0502020204030204" pitchFamily="34" charset="0"/>
              </a:rPr>
              <a:t>.</a:t>
            </a:r>
          </a:p>
          <a:p>
            <a:pPr marL="457200" indent="-457200">
              <a:buAutoNum type="arabicPeriod"/>
            </a:pPr>
            <a:r>
              <a:rPr lang="en-US" sz="3000" dirty="0">
                <a:latin typeface="Calibri" panose="020F0502020204030204" pitchFamily="34" charset="0"/>
                <a:cs typeface="Calibri" panose="020F0502020204030204" pitchFamily="34" charset="0"/>
              </a:rPr>
              <a:t> Self &amp; Peer Evaluation.</a:t>
            </a:r>
          </a:p>
          <a:p>
            <a:pPr marL="0" indent="0">
              <a:buNone/>
            </a:pPr>
            <a:endParaRPr lang="en-US" dirty="0"/>
          </a:p>
        </p:txBody>
      </p:sp>
    </p:spTree>
    <p:extLst>
      <p:ext uri="{BB962C8B-B14F-4D97-AF65-F5344CB8AC3E}">
        <p14:creationId xmlns:p14="http://schemas.microsoft.com/office/powerpoint/2010/main" val="494978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F4CC7-C578-F92D-9E8E-E63284048365}"/>
              </a:ext>
            </a:extLst>
          </p:cNvPr>
          <p:cNvSpPr>
            <a:spLocks noGrp="1"/>
          </p:cNvSpPr>
          <p:nvPr>
            <p:ph type="title"/>
          </p:nvPr>
        </p:nvSpPr>
        <p:spPr>
          <a:xfrm rot="20012255">
            <a:off x="106873" y="2766218"/>
            <a:ext cx="11473266" cy="1325563"/>
          </a:xfrm>
        </p:spPr>
        <p:txBody>
          <a:bodyPr>
            <a:noAutofit/>
          </a:bodyPr>
          <a:lstStyle/>
          <a:p>
            <a:pPr algn="ctr"/>
            <a:r>
              <a:rPr lang="en-US" sz="15000" b="1" dirty="0">
                <a:solidFill>
                  <a:schemeClr val="bg1"/>
                </a:solidFill>
                <a:latin typeface="+mn-lt"/>
              </a:rPr>
              <a:t>Expectations</a:t>
            </a:r>
          </a:p>
        </p:txBody>
      </p:sp>
    </p:spTree>
    <p:extLst>
      <p:ext uri="{BB962C8B-B14F-4D97-AF65-F5344CB8AC3E}">
        <p14:creationId xmlns:p14="http://schemas.microsoft.com/office/powerpoint/2010/main" val="638941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9823C267-8D7E-EA00-849D-8A1EA2E7D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8FC4DC-BB71-ABAF-5F4D-EBCF9F2BFADA}"/>
              </a:ext>
            </a:extLst>
          </p:cNvPr>
          <p:cNvSpPr>
            <a:spLocks noGrp="1"/>
          </p:cNvSpPr>
          <p:nvPr>
            <p:ph type="title"/>
          </p:nvPr>
        </p:nvSpPr>
        <p:spPr>
          <a:xfrm rot="20012255">
            <a:off x="106873" y="2766218"/>
            <a:ext cx="11473266" cy="1325563"/>
          </a:xfrm>
        </p:spPr>
        <p:txBody>
          <a:bodyPr>
            <a:noAutofit/>
          </a:bodyPr>
          <a:lstStyle/>
          <a:p>
            <a:pPr algn="ctr"/>
            <a:r>
              <a:rPr lang="en-US" sz="15000" b="1" dirty="0">
                <a:solidFill>
                  <a:schemeClr val="bg1"/>
                </a:solidFill>
                <a:latin typeface="+mn-lt"/>
              </a:rPr>
              <a:t>Expectations</a:t>
            </a:r>
          </a:p>
        </p:txBody>
      </p:sp>
      <p:sp>
        <p:nvSpPr>
          <p:cNvPr id="3" name="Title 1">
            <a:extLst>
              <a:ext uri="{FF2B5EF4-FFF2-40B4-BE49-F238E27FC236}">
                <a16:creationId xmlns:a16="http://schemas.microsoft.com/office/drawing/2014/main" id="{3F2695ED-5F27-A845-3491-8CD5A9090181}"/>
              </a:ext>
            </a:extLst>
          </p:cNvPr>
          <p:cNvSpPr txBox="1">
            <a:spLocks/>
          </p:cNvSpPr>
          <p:nvPr/>
        </p:nvSpPr>
        <p:spPr>
          <a:xfrm rot="20012255">
            <a:off x="1355102" y="3577707"/>
            <a:ext cx="11473266" cy="17946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0000" b="1" dirty="0">
                <a:solidFill>
                  <a:srgbClr val="FFFF00"/>
                </a:solidFill>
                <a:latin typeface="+mn-lt"/>
              </a:rPr>
              <a:t>Project Charter</a:t>
            </a:r>
          </a:p>
        </p:txBody>
      </p:sp>
    </p:spTree>
    <p:extLst>
      <p:ext uri="{BB962C8B-B14F-4D97-AF65-F5344CB8AC3E}">
        <p14:creationId xmlns:p14="http://schemas.microsoft.com/office/powerpoint/2010/main" val="286648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E1223E-B72F-1C83-E68B-A2B0A16A538A}"/>
              </a:ext>
            </a:extLst>
          </p:cNvPr>
          <p:cNvSpPr>
            <a:spLocks noGrp="1"/>
          </p:cNvSpPr>
          <p:nvPr>
            <p:ph idx="1"/>
          </p:nvPr>
        </p:nvSpPr>
        <p:spPr>
          <a:xfrm>
            <a:off x="729143" y="293614"/>
            <a:ext cx="10515600" cy="6350467"/>
          </a:xfrm>
        </p:spPr>
        <p:txBody>
          <a:bodyPr>
            <a:normAutofit fontScale="92500" lnSpcReduction="10000"/>
          </a:bodyPr>
          <a:lstStyle/>
          <a:p>
            <a:pPr marL="0" indent="0">
              <a:lnSpc>
                <a:spcPct val="110000"/>
              </a:lnSpc>
              <a:spcBef>
                <a:spcPts val="0"/>
              </a:spcBef>
              <a:buNone/>
            </a:pPr>
            <a:r>
              <a:rPr lang="en-US" sz="3500" dirty="0">
                <a:solidFill>
                  <a:schemeClr val="bg1"/>
                </a:solidFill>
              </a:rPr>
              <a:t>○ </a:t>
            </a:r>
            <a:r>
              <a:rPr lang="en-US" sz="3500" b="1" dirty="0">
                <a:solidFill>
                  <a:schemeClr val="bg1"/>
                </a:solidFill>
              </a:rPr>
              <a:t>Team will </a:t>
            </a:r>
            <a:r>
              <a:rPr lang="en-US" sz="3500" b="1" dirty="0">
                <a:solidFill>
                  <a:srgbClr val="FFFF00"/>
                </a:solidFill>
              </a:rPr>
              <a:t>review</a:t>
            </a:r>
            <a:r>
              <a:rPr lang="en-US" sz="3500" b="1" dirty="0">
                <a:solidFill>
                  <a:schemeClr val="bg1"/>
                </a:solidFill>
              </a:rPr>
              <a:t> advice from book, class and slides and this analysis will reveal itself in the scenario.</a:t>
            </a:r>
            <a:br>
              <a:rPr lang="en-US" sz="3500" b="1" dirty="0">
                <a:solidFill>
                  <a:schemeClr val="bg1"/>
                </a:solidFill>
              </a:rPr>
            </a:br>
            <a:endParaRPr lang="en-US" sz="3500" b="1" dirty="0">
              <a:solidFill>
                <a:schemeClr val="bg1"/>
              </a:solidFill>
            </a:endParaRPr>
          </a:p>
          <a:p>
            <a:pPr marL="0" indent="0">
              <a:lnSpc>
                <a:spcPct val="110000"/>
              </a:lnSpc>
              <a:spcBef>
                <a:spcPts val="0"/>
              </a:spcBef>
              <a:buNone/>
            </a:pPr>
            <a:r>
              <a:rPr lang="en-US" sz="3500" dirty="0">
                <a:solidFill>
                  <a:schemeClr val="bg1"/>
                </a:solidFill>
              </a:rPr>
              <a:t>● </a:t>
            </a:r>
            <a:r>
              <a:rPr lang="en-US" sz="3500" b="1" dirty="0">
                <a:solidFill>
                  <a:schemeClr val="bg1"/>
                </a:solidFill>
              </a:rPr>
              <a:t>Team will </a:t>
            </a:r>
            <a:r>
              <a:rPr lang="en-US" sz="3500" b="1" dirty="0">
                <a:solidFill>
                  <a:srgbClr val="FFFF00"/>
                </a:solidFill>
              </a:rPr>
              <a:t>apply</a:t>
            </a:r>
            <a:r>
              <a:rPr lang="en-US" sz="3500" b="1" dirty="0">
                <a:solidFill>
                  <a:schemeClr val="bg1"/>
                </a:solidFill>
              </a:rPr>
              <a:t> material from book, class and slides, especially today’s lecture.  </a:t>
            </a:r>
            <a:br>
              <a:rPr lang="en-US" sz="3500" b="1" dirty="0">
                <a:solidFill>
                  <a:schemeClr val="bg1"/>
                </a:solidFill>
              </a:rPr>
            </a:br>
            <a:endParaRPr lang="en-US" sz="3500" b="1" dirty="0">
              <a:solidFill>
                <a:schemeClr val="bg1"/>
              </a:solidFill>
            </a:endParaRPr>
          </a:p>
          <a:p>
            <a:pPr marL="0" indent="0">
              <a:lnSpc>
                <a:spcPct val="110000"/>
              </a:lnSpc>
              <a:spcBef>
                <a:spcPts val="0"/>
              </a:spcBef>
              <a:buNone/>
            </a:pPr>
            <a:r>
              <a:rPr lang="en-US" sz="3500" dirty="0">
                <a:solidFill>
                  <a:schemeClr val="bg1"/>
                </a:solidFill>
              </a:rPr>
              <a:t>○ </a:t>
            </a:r>
            <a:r>
              <a:rPr lang="en-US" sz="3500" b="1" dirty="0">
                <a:solidFill>
                  <a:schemeClr val="bg1"/>
                </a:solidFill>
              </a:rPr>
              <a:t>Team will ask Scott or Brenda about any questions, uncertainties or confusion some time </a:t>
            </a:r>
            <a:r>
              <a:rPr lang="en-US" sz="3500" b="1" dirty="0">
                <a:solidFill>
                  <a:srgbClr val="FF0000"/>
                </a:solidFill>
              </a:rPr>
              <a:t>well</a:t>
            </a:r>
            <a:r>
              <a:rPr lang="en-US" sz="3500" b="1" dirty="0">
                <a:solidFill>
                  <a:srgbClr val="FFFF00"/>
                </a:solidFill>
              </a:rPr>
              <a:t> before it is due</a:t>
            </a:r>
            <a:r>
              <a:rPr lang="en-US" sz="3500" b="1" dirty="0">
                <a:solidFill>
                  <a:schemeClr val="bg1"/>
                </a:solidFill>
              </a:rPr>
              <a:t>. </a:t>
            </a:r>
            <a:br>
              <a:rPr lang="en-US" sz="3500" b="1" dirty="0">
                <a:solidFill>
                  <a:schemeClr val="bg1"/>
                </a:solidFill>
              </a:rPr>
            </a:br>
            <a:endParaRPr lang="en-US" sz="3500" b="1" dirty="0">
              <a:solidFill>
                <a:schemeClr val="bg1"/>
              </a:solidFill>
            </a:endParaRPr>
          </a:p>
          <a:p>
            <a:pPr marL="0" indent="0">
              <a:lnSpc>
                <a:spcPct val="110000"/>
              </a:lnSpc>
              <a:spcBef>
                <a:spcPts val="0"/>
              </a:spcBef>
              <a:buNone/>
            </a:pPr>
            <a:r>
              <a:rPr lang="en-US" sz="3500" dirty="0">
                <a:solidFill>
                  <a:schemeClr val="bg1"/>
                </a:solidFill>
              </a:rPr>
              <a:t>● </a:t>
            </a:r>
            <a:r>
              <a:rPr lang="en-US" sz="3500" b="1" dirty="0">
                <a:solidFill>
                  <a:schemeClr val="bg1"/>
                </a:solidFill>
              </a:rPr>
              <a:t>What might hustle look like with this assignment? Reflect on your personal experience, show-off R&amp;D, “looking down the track.”</a:t>
            </a:r>
          </a:p>
          <a:p>
            <a:pPr marL="0" indent="0">
              <a:buNone/>
            </a:pPr>
            <a:endParaRPr lang="en-US" dirty="0"/>
          </a:p>
        </p:txBody>
      </p:sp>
    </p:spTree>
    <p:extLst>
      <p:ext uri="{BB962C8B-B14F-4D97-AF65-F5344CB8AC3E}">
        <p14:creationId xmlns:p14="http://schemas.microsoft.com/office/powerpoint/2010/main" val="371623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4684E2-94EA-699D-A999-525E69F1391D}"/>
              </a:ext>
            </a:extLst>
          </p:cNvPr>
          <p:cNvSpPr>
            <a:spLocks noGrp="1"/>
          </p:cNvSpPr>
          <p:nvPr>
            <p:ph idx="1"/>
          </p:nvPr>
        </p:nvSpPr>
        <p:spPr>
          <a:xfrm>
            <a:off x="838200" y="854579"/>
            <a:ext cx="10515600" cy="5322384"/>
          </a:xfrm>
        </p:spPr>
        <p:txBody>
          <a:bodyPr/>
          <a:lstStyle/>
          <a:p>
            <a:pPr marL="0" indent="0">
              <a:buNone/>
            </a:pPr>
            <a:r>
              <a:rPr lang="en-US" dirty="0"/>
              <a:t>A project charter clarifies for the clients and stakeholders why the plan is being conducted and explains its goals. This statement informs the creation of the scope of work, which in turn governs all other actions. For PMs, understanding the core components of a charter is crucial.</a:t>
            </a:r>
          </a:p>
          <a:p>
            <a:pPr marL="0" indent="0">
              <a:buNone/>
            </a:pPr>
            <a:endParaRPr lang="en-US" dirty="0"/>
          </a:p>
          <a:p>
            <a:pPr marL="0" indent="0">
              <a:buNone/>
            </a:pPr>
            <a:r>
              <a:rPr lang="en-US" b="1" dirty="0"/>
              <a:t>Study slides from classes 7-10 for vital information,</a:t>
            </a:r>
            <a:r>
              <a:rPr lang="en-US" dirty="0"/>
              <a:t> then complete the charter for whichever project your pod is tackling (government, not-for-profit or environmental). </a:t>
            </a:r>
          </a:p>
          <a:p>
            <a:pPr marL="0" indent="0">
              <a:buNone/>
            </a:pPr>
            <a:endParaRPr lang="en-US" dirty="0"/>
          </a:p>
        </p:txBody>
      </p:sp>
    </p:spTree>
    <p:extLst>
      <p:ext uri="{BB962C8B-B14F-4D97-AF65-F5344CB8AC3E}">
        <p14:creationId xmlns:p14="http://schemas.microsoft.com/office/powerpoint/2010/main" val="3047797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7F82A91-2D41-E90C-4D0C-F556B2B3BD3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9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16EA2949-153C-7915-71C0-698A37CE001E}"/>
              </a:ext>
            </a:extLst>
          </p:cNvPr>
          <p:cNvGraphicFramePr>
            <a:graphicFrameLocks noGrp="1"/>
          </p:cNvGraphicFramePr>
          <p:nvPr>
            <p:extLst>
              <p:ext uri="{D42A27DB-BD31-4B8C-83A1-F6EECF244321}">
                <p14:modId xmlns:p14="http://schemas.microsoft.com/office/powerpoint/2010/main" val="519600355"/>
              </p:ext>
            </p:extLst>
          </p:nvPr>
        </p:nvGraphicFramePr>
        <p:xfrm>
          <a:off x="675405" y="987039"/>
          <a:ext cx="10841190" cy="5734438"/>
        </p:xfrm>
        <a:graphic>
          <a:graphicData uri="http://schemas.openxmlformats.org/drawingml/2006/table">
            <a:tbl>
              <a:tblPr firstRow="1" firstCol="1" bandRow="1">
                <a:tableStyleId>{5C22544A-7EE6-4342-B048-85BDC9FD1C3A}</a:tableStyleId>
              </a:tblPr>
              <a:tblGrid>
                <a:gridCol w="9602004">
                  <a:extLst>
                    <a:ext uri="{9D8B030D-6E8A-4147-A177-3AD203B41FA5}">
                      <a16:colId xmlns:a16="http://schemas.microsoft.com/office/drawing/2014/main" val="3007954126"/>
                    </a:ext>
                  </a:extLst>
                </a:gridCol>
                <a:gridCol w="1239186">
                  <a:extLst>
                    <a:ext uri="{9D8B030D-6E8A-4147-A177-3AD203B41FA5}">
                      <a16:colId xmlns:a16="http://schemas.microsoft.com/office/drawing/2014/main" val="4217578502"/>
                    </a:ext>
                  </a:extLst>
                </a:gridCol>
              </a:tblGrid>
              <a:tr h="1728367">
                <a:tc>
                  <a:txBody>
                    <a:bodyPr/>
                    <a:lstStyle/>
                    <a:p>
                      <a:pPr marL="0" marR="0">
                        <a:spcBef>
                          <a:spcPts val="0"/>
                        </a:spcBef>
                        <a:spcAft>
                          <a:spcPts val="0"/>
                        </a:spcAft>
                      </a:pPr>
                      <a:r>
                        <a:rPr lang="en-US" sz="1800" dirty="0">
                          <a:effectLst/>
                        </a:rPr>
                        <a:t>COMPONENTS </a:t>
                      </a:r>
                    </a:p>
                    <a:p>
                      <a:pPr marL="0" marR="0">
                        <a:spcBef>
                          <a:spcPts val="0"/>
                        </a:spcBef>
                        <a:spcAft>
                          <a:spcPts val="0"/>
                        </a:spcAft>
                      </a:pPr>
                      <a:r>
                        <a:rPr lang="en-US" sz="1500" dirty="0">
                          <a:effectLst/>
                        </a:rPr>
                        <a:t>[1] project statement </a:t>
                      </a:r>
                    </a:p>
                    <a:p>
                      <a:pPr marL="0" marR="0">
                        <a:spcBef>
                          <a:spcPts val="0"/>
                        </a:spcBef>
                        <a:spcAft>
                          <a:spcPts val="0"/>
                        </a:spcAft>
                      </a:pPr>
                      <a:r>
                        <a:rPr lang="en-US" sz="1500" dirty="0">
                          <a:effectLst/>
                        </a:rPr>
                        <a:t>[2] trigger   </a:t>
                      </a:r>
                    </a:p>
                    <a:p>
                      <a:pPr marL="0" marR="0" lvl="0" indent="0" algn="l" defTabSz="685800" rtl="0" eaLnBrk="1" fontAlgn="auto" latinLnBrk="0" hangingPunct="1">
                        <a:lnSpc>
                          <a:spcPct val="100000"/>
                        </a:lnSpc>
                        <a:spcBef>
                          <a:spcPts val="0"/>
                        </a:spcBef>
                        <a:spcAft>
                          <a:spcPts val="0"/>
                        </a:spcAft>
                        <a:buClrTx/>
                        <a:buSzTx/>
                        <a:buFontTx/>
                        <a:buNone/>
                        <a:tabLst/>
                        <a:defRPr/>
                      </a:pPr>
                      <a:r>
                        <a:rPr lang="en-US" sz="1500" dirty="0">
                          <a:effectLst/>
                        </a:rPr>
                        <a:t>[3] action</a:t>
                      </a:r>
                      <a:br>
                        <a:rPr lang="en-US" sz="1500" dirty="0">
                          <a:effectLst/>
                        </a:rPr>
                      </a:br>
                      <a:r>
                        <a:rPr lang="en-US" sz="1500" dirty="0">
                          <a:effectLst/>
                        </a:rPr>
                        <a:t>[4]  scope </a:t>
                      </a:r>
                      <a:br>
                        <a:rPr lang="en-US" sz="1500" dirty="0">
                          <a:effectLst/>
                        </a:rPr>
                      </a:br>
                      <a:r>
                        <a:rPr lang="en-US" sz="1500" dirty="0">
                          <a:effectLst/>
                        </a:rPr>
                        <a:t>[5]  assumptions, constraints &amp; uncertainty</a:t>
                      </a:r>
                      <a:br>
                        <a:rPr lang="en-US" sz="1500" dirty="0">
                          <a:effectLst/>
                        </a:rPr>
                      </a:br>
                      <a:endParaRPr lang="en-US" sz="1500" dirty="0">
                        <a:effectLst/>
                        <a:latin typeface="Calibri" panose="020F0502020204030204" pitchFamily="34" charset="0"/>
                        <a:ea typeface="Calibri" panose="020F0502020204030204" pitchFamily="34" charset="0"/>
                      </a:endParaRPr>
                    </a:p>
                  </a:txBody>
                  <a:tcPr marL="47993" marR="47993" marT="0" marB="0"/>
                </a:tc>
                <a:tc>
                  <a:txBody>
                    <a:bodyPr/>
                    <a:lstStyle/>
                    <a:p>
                      <a:pPr marL="342900" marR="0" lvl="0" indent="-342900">
                        <a:spcBef>
                          <a:spcPts val="0"/>
                        </a:spcBef>
                        <a:spcAft>
                          <a:spcPts val="0"/>
                        </a:spcAft>
                        <a:buFont typeface="Wingdings" panose="05000000000000000000" pitchFamily="2" charset="2"/>
                        <a:buChar char=""/>
                      </a:pPr>
                      <a:endParaRPr lang="en-US" sz="800" dirty="0">
                        <a:effectLst/>
                        <a:latin typeface="Calibri" panose="020F0502020204030204" pitchFamily="34" charset="0"/>
                        <a:ea typeface="Calibri" panose="020F0502020204030204" pitchFamily="34" charset="0"/>
                      </a:endParaRPr>
                    </a:p>
                  </a:txBody>
                  <a:tcPr marL="47993" marR="47993" marT="0" marB="0"/>
                </a:tc>
                <a:extLst>
                  <a:ext uri="{0D108BD9-81ED-4DB2-BD59-A6C34878D82A}">
                    <a16:rowId xmlns:a16="http://schemas.microsoft.com/office/drawing/2014/main" val="1180148100"/>
                  </a:ext>
                </a:extLst>
              </a:tr>
              <a:tr h="768163">
                <a:tc>
                  <a:txBody>
                    <a:bodyPr/>
                    <a:lstStyle/>
                    <a:p>
                      <a:pPr marL="0" marR="0">
                        <a:spcBef>
                          <a:spcPts val="0"/>
                        </a:spcBef>
                        <a:spcAft>
                          <a:spcPts val="0"/>
                        </a:spcAft>
                      </a:pPr>
                      <a:r>
                        <a:rPr lang="en-US" sz="1800" dirty="0">
                          <a:effectLst/>
                        </a:rPr>
                        <a:t>PROJECT OBJECTIVES &amp; SUCCESS CRITERIA   </a:t>
                      </a:r>
                    </a:p>
                    <a:p>
                      <a:pPr marL="0" marR="0">
                        <a:spcBef>
                          <a:spcPts val="0"/>
                        </a:spcBef>
                        <a:spcAft>
                          <a:spcPts val="0"/>
                        </a:spcAft>
                      </a:pPr>
                      <a:r>
                        <a:rPr lang="en-US" sz="1500" dirty="0">
                          <a:effectLst/>
                        </a:rPr>
                        <a:t>Directly address the project's purpose. Should be SMART: Specific/Measurable/Attainable/Realistic/Time-based</a:t>
                      </a:r>
                      <a:endParaRPr lang="en-US" sz="15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500" dirty="0">
                          <a:effectLst/>
                        </a:rPr>
                        <a:t>Criteria are tangible, quantifiable indicators.</a:t>
                      </a:r>
                      <a:endParaRPr lang="en-US" sz="1500" dirty="0">
                        <a:effectLst/>
                        <a:latin typeface="Calibri" panose="020F0502020204030204" pitchFamily="34" charset="0"/>
                        <a:ea typeface="Calibri" panose="020F0502020204030204" pitchFamily="34" charset="0"/>
                      </a:endParaRPr>
                    </a:p>
                  </a:txBody>
                  <a:tcPr marL="47993" marR="47993" marT="0" marB="0"/>
                </a:tc>
                <a:tc>
                  <a:txBody>
                    <a:bodyPr/>
                    <a:lstStyle/>
                    <a:p>
                      <a:pPr marL="0" marR="0">
                        <a:spcBef>
                          <a:spcPts val="0"/>
                        </a:spcBef>
                        <a:spcAft>
                          <a:spcPts val="0"/>
                        </a:spcAft>
                      </a:pPr>
                      <a:endParaRPr lang="en-US" sz="800">
                        <a:effectLst/>
                        <a:latin typeface="Calibri" panose="020F0502020204030204" pitchFamily="34" charset="0"/>
                        <a:ea typeface="Calibri" panose="020F0502020204030204" pitchFamily="34" charset="0"/>
                      </a:endParaRPr>
                    </a:p>
                  </a:txBody>
                  <a:tcPr marL="47993" marR="47993" marT="0" marB="0"/>
                </a:tc>
                <a:extLst>
                  <a:ext uri="{0D108BD9-81ED-4DB2-BD59-A6C34878D82A}">
                    <a16:rowId xmlns:a16="http://schemas.microsoft.com/office/drawing/2014/main" val="2230521139"/>
                  </a:ext>
                </a:extLst>
              </a:tr>
              <a:tr h="545421">
                <a:tc>
                  <a:txBody>
                    <a:bodyPr/>
                    <a:lstStyle/>
                    <a:p>
                      <a:pPr marL="0" marR="0">
                        <a:spcBef>
                          <a:spcPts val="0"/>
                        </a:spcBef>
                        <a:spcAft>
                          <a:spcPts val="0"/>
                        </a:spcAft>
                      </a:pPr>
                      <a:r>
                        <a:rPr lang="en-US" sz="1800" dirty="0">
                          <a:effectLst/>
                        </a:rPr>
                        <a:t>SCOPE OF WORK</a:t>
                      </a:r>
                    </a:p>
                    <a:p>
                      <a:pPr marL="0" marR="0">
                        <a:spcBef>
                          <a:spcPts val="0"/>
                        </a:spcBef>
                        <a:spcAft>
                          <a:spcPts val="0"/>
                        </a:spcAft>
                      </a:pPr>
                      <a:r>
                        <a:rPr lang="en-US" sz="1500" dirty="0">
                          <a:effectLst/>
                        </a:rPr>
                        <a:t>High-level concepts/ What may be expected, but is not scheduled.</a:t>
                      </a:r>
                      <a:endParaRPr lang="en-US" sz="1500" dirty="0">
                        <a:effectLst/>
                        <a:latin typeface="Calibri" panose="020F0502020204030204" pitchFamily="34" charset="0"/>
                        <a:ea typeface="Calibri" panose="020F0502020204030204" pitchFamily="34" charset="0"/>
                      </a:endParaRPr>
                    </a:p>
                  </a:txBody>
                  <a:tcPr marL="47993" marR="47993" marT="0" marB="0"/>
                </a:tc>
                <a:tc>
                  <a:txBody>
                    <a:bodyPr/>
                    <a:lstStyle/>
                    <a:p>
                      <a:pPr marL="342900" marR="0" lvl="0" indent="-342900">
                        <a:spcBef>
                          <a:spcPts val="0"/>
                        </a:spcBef>
                        <a:spcAft>
                          <a:spcPts val="0"/>
                        </a:spcAft>
                        <a:buFont typeface="Wingdings" panose="05000000000000000000" pitchFamily="2" charset="2"/>
                        <a:buChar char=""/>
                      </a:pPr>
                      <a:endParaRPr lang="en-US" sz="800" dirty="0">
                        <a:effectLst/>
                        <a:latin typeface="Calibri" panose="020F0502020204030204" pitchFamily="34" charset="0"/>
                        <a:ea typeface="Calibri" panose="020F0502020204030204" pitchFamily="34" charset="0"/>
                      </a:endParaRPr>
                    </a:p>
                  </a:txBody>
                  <a:tcPr marL="47993" marR="47993" marT="0" marB="0"/>
                </a:tc>
                <a:extLst>
                  <a:ext uri="{0D108BD9-81ED-4DB2-BD59-A6C34878D82A}">
                    <a16:rowId xmlns:a16="http://schemas.microsoft.com/office/drawing/2014/main" val="290922519"/>
                  </a:ext>
                </a:extLst>
              </a:tr>
              <a:tr h="727227">
                <a:tc>
                  <a:txBody>
                    <a:bodyPr/>
                    <a:lstStyle/>
                    <a:p>
                      <a:pPr marL="0" marR="0">
                        <a:spcBef>
                          <a:spcPts val="0"/>
                        </a:spcBef>
                        <a:spcAft>
                          <a:spcPts val="0"/>
                        </a:spcAft>
                      </a:pPr>
                      <a:r>
                        <a:rPr lang="en-US" sz="1800" dirty="0">
                          <a:effectLst/>
                        </a:rPr>
                        <a:t>DELIVERABLES</a:t>
                      </a:r>
                    </a:p>
                    <a:p>
                      <a:pPr marL="0" marR="0">
                        <a:spcBef>
                          <a:spcPts val="0"/>
                        </a:spcBef>
                        <a:spcAft>
                          <a:spcPts val="0"/>
                        </a:spcAft>
                      </a:pPr>
                      <a:r>
                        <a:rPr lang="en-US" sz="1500" dirty="0">
                          <a:effectLst/>
                        </a:rPr>
                        <a:t>Logically organized and phased.</a:t>
                      </a:r>
                      <a:endParaRPr lang="en-US" sz="1500" dirty="0">
                        <a:effectLst/>
                        <a:latin typeface="Calibri" panose="020F0502020204030204" pitchFamily="34" charset="0"/>
                        <a:ea typeface="Calibri" panose="020F0502020204030204" pitchFamily="34" charset="0"/>
                      </a:endParaRPr>
                    </a:p>
                  </a:txBody>
                  <a:tcPr marL="47993" marR="47993" marT="0" marB="0"/>
                </a:tc>
                <a:tc>
                  <a:txBody>
                    <a:bodyPr/>
                    <a:lstStyle/>
                    <a:p>
                      <a:pPr marL="342900" marR="0" lvl="0" indent="-342900">
                        <a:spcBef>
                          <a:spcPts val="0"/>
                        </a:spcBef>
                        <a:spcAft>
                          <a:spcPts val="0"/>
                        </a:spcAft>
                        <a:buFont typeface="Wingdings" panose="05000000000000000000" pitchFamily="2" charset="2"/>
                        <a:buChar char=""/>
                      </a:pPr>
                      <a:endParaRPr lang="en-US" sz="800">
                        <a:effectLst/>
                        <a:latin typeface="Calibri" panose="020F0502020204030204" pitchFamily="34" charset="0"/>
                        <a:ea typeface="Calibri" panose="020F0502020204030204" pitchFamily="34" charset="0"/>
                      </a:endParaRPr>
                    </a:p>
                  </a:txBody>
                  <a:tcPr marL="47993" marR="47993" marT="0" marB="0"/>
                </a:tc>
                <a:extLst>
                  <a:ext uri="{0D108BD9-81ED-4DB2-BD59-A6C34878D82A}">
                    <a16:rowId xmlns:a16="http://schemas.microsoft.com/office/drawing/2014/main" val="1827454970"/>
                  </a:ext>
                </a:extLst>
              </a:tr>
              <a:tr h="528112">
                <a:tc>
                  <a:txBody>
                    <a:bodyPr/>
                    <a:lstStyle/>
                    <a:p>
                      <a:pPr marL="0" marR="0">
                        <a:spcBef>
                          <a:spcPts val="0"/>
                        </a:spcBef>
                        <a:spcAft>
                          <a:spcPts val="0"/>
                        </a:spcAft>
                      </a:pPr>
                      <a:r>
                        <a:rPr lang="en-US" sz="1800" dirty="0">
                          <a:effectLst/>
                        </a:rPr>
                        <a:t>SCOPE ACTION PLAN</a:t>
                      </a:r>
                    </a:p>
                    <a:p>
                      <a:pPr marL="0" marR="0">
                        <a:spcBef>
                          <a:spcPts val="0"/>
                        </a:spcBef>
                        <a:spcAft>
                          <a:spcPts val="0"/>
                        </a:spcAft>
                      </a:pPr>
                      <a:r>
                        <a:rPr lang="en-US" sz="1500" dirty="0">
                          <a:effectLst/>
                        </a:rPr>
                        <a:t>All activities promised in the scope, listed under Deliverables. </a:t>
                      </a:r>
                      <a:endParaRPr lang="en-US" sz="1500" dirty="0">
                        <a:effectLst/>
                        <a:latin typeface="Calibri" panose="020F0502020204030204" pitchFamily="34" charset="0"/>
                        <a:ea typeface="Calibri" panose="020F0502020204030204" pitchFamily="34" charset="0"/>
                      </a:endParaRPr>
                    </a:p>
                  </a:txBody>
                  <a:tcPr marL="47993" marR="47993" marT="0" marB="0"/>
                </a:tc>
                <a:tc>
                  <a:txBody>
                    <a:bodyPr/>
                    <a:lstStyle/>
                    <a:p>
                      <a:pPr marL="342900" marR="0" lvl="0" indent="-342900">
                        <a:spcBef>
                          <a:spcPts val="0"/>
                        </a:spcBef>
                        <a:spcAft>
                          <a:spcPts val="0"/>
                        </a:spcAft>
                        <a:buFont typeface="Wingdings" panose="05000000000000000000" pitchFamily="2" charset="2"/>
                        <a:buChar char=""/>
                      </a:pPr>
                      <a:endParaRPr lang="en-US" sz="800" dirty="0">
                        <a:effectLst/>
                        <a:latin typeface="Calibri" panose="020F0502020204030204" pitchFamily="34" charset="0"/>
                        <a:ea typeface="Calibri" panose="020F0502020204030204" pitchFamily="34" charset="0"/>
                      </a:endParaRPr>
                    </a:p>
                  </a:txBody>
                  <a:tcPr marL="47993" marR="47993" marT="0" marB="0"/>
                </a:tc>
                <a:extLst>
                  <a:ext uri="{0D108BD9-81ED-4DB2-BD59-A6C34878D82A}">
                    <a16:rowId xmlns:a16="http://schemas.microsoft.com/office/drawing/2014/main" val="1877104520"/>
                  </a:ext>
                </a:extLst>
              </a:tr>
              <a:tr h="528112">
                <a:tc>
                  <a:txBody>
                    <a:bodyPr/>
                    <a:lstStyle/>
                    <a:p>
                      <a:pPr marL="0" marR="0">
                        <a:spcBef>
                          <a:spcPts val="0"/>
                        </a:spcBef>
                        <a:spcAft>
                          <a:spcPts val="0"/>
                        </a:spcAft>
                      </a:pPr>
                      <a:r>
                        <a:rPr lang="en-US" sz="1800" dirty="0">
                          <a:effectLst/>
                        </a:rPr>
                        <a:t>CONSTRAINTS &amp; UNCERTAINTIES </a:t>
                      </a:r>
                    </a:p>
                    <a:p>
                      <a:pPr marL="0" marR="0">
                        <a:spcBef>
                          <a:spcPts val="0"/>
                        </a:spcBef>
                        <a:spcAft>
                          <a:spcPts val="0"/>
                        </a:spcAft>
                      </a:pPr>
                      <a:r>
                        <a:rPr lang="en-US" sz="1500" dirty="0">
                          <a:effectLst/>
                        </a:rPr>
                        <a:t>Covers anticipated issues and possible risks. </a:t>
                      </a:r>
                      <a:endParaRPr lang="en-US" sz="1500" dirty="0">
                        <a:effectLst/>
                        <a:latin typeface="Calibri" panose="020F0502020204030204" pitchFamily="34" charset="0"/>
                        <a:ea typeface="Calibri" panose="020F0502020204030204" pitchFamily="34" charset="0"/>
                      </a:endParaRPr>
                    </a:p>
                  </a:txBody>
                  <a:tcPr marL="47993" marR="47993" marT="0" marB="0"/>
                </a:tc>
                <a:tc>
                  <a:txBody>
                    <a:bodyPr/>
                    <a:lstStyle/>
                    <a:p>
                      <a:pPr marL="342900" marR="0" lvl="0" indent="-342900">
                        <a:spcBef>
                          <a:spcPts val="0"/>
                        </a:spcBef>
                        <a:spcAft>
                          <a:spcPts val="0"/>
                        </a:spcAft>
                        <a:buFont typeface="Wingdings" panose="05000000000000000000" pitchFamily="2" charset="2"/>
                        <a:buChar char=""/>
                      </a:pPr>
                      <a:endParaRPr lang="en-US" sz="800" dirty="0">
                        <a:effectLst/>
                        <a:latin typeface="Calibri" panose="020F0502020204030204" pitchFamily="34" charset="0"/>
                        <a:ea typeface="Calibri" panose="020F0502020204030204" pitchFamily="34" charset="0"/>
                      </a:endParaRPr>
                    </a:p>
                  </a:txBody>
                  <a:tcPr marL="47993" marR="47993" marT="0" marB="0"/>
                </a:tc>
                <a:extLst>
                  <a:ext uri="{0D108BD9-81ED-4DB2-BD59-A6C34878D82A}">
                    <a16:rowId xmlns:a16="http://schemas.microsoft.com/office/drawing/2014/main" val="733278113"/>
                  </a:ext>
                </a:extLst>
              </a:tr>
              <a:tr h="909036">
                <a:tc>
                  <a:txBody>
                    <a:bodyPr/>
                    <a:lstStyle/>
                    <a:p>
                      <a:pPr marL="0" marR="0">
                        <a:spcBef>
                          <a:spcPts val="0"/>
                        </a:spcBef>
                        <a:spcAft>
                          <a:spcPts val="0"/>
                        </a:spcAft>
                      </a:pPr>
                      <a:r>
                        <a:rPr lang="en-US" sz="1800" dirty="0">
                          <a:effectLst/>
                        </a:rPr>
                        <a:t>DO YOU DELIVER? </a:t>
                      </a:r>
                    </a:p>
                    <a:p>
                      <a:pPr marL="0" marR="0">
                        <a:spcBef>
                          <a:spcPts val="0"/>
                        </a:spcBef>
                        <a:spcAft>
                          <a:spcPts val="0"/>
                        </a:spcAft>
                      </a:pPr>
                      <a:r>
                        <a:rPr lang="en-US" sz="1500" dirty="0">
                          <a:effectLst/>
                        </a:rPr>
                        <a:t>What’s the likelihood of the Project Manager giving a slight, but perceptibly positive nod at your work, (indicating they’d be claiming the work as their own)?</a:t>
                      </a:r>
                      <a:endParaRPr lang="en-US" sz="1500" dirty="0">
                        <a:effectLst/>
                        <a:latin typeface="Calibri" panose="020F0502020204030204" pitchFamily="34" charset="0"/>
                        <a:ea typeface="Calibri" panose="020F0502020204030204" pitchFamily="34" charset="0"/>
                      </a:endParaRPr>
                    </a:p>
                  </a:txBody>
                  <a:tcPr marL="47993" marR="47993" marT="0" marB="0"/>
                </a:tc>
                <a:tc>
                  <a:txBody>
                    <a:bodyPr/>
                    <a:lstStyle/>
                    <a:p>
                      <a:pPr marL="0" marR="0">
                        <a:spcBef>
                          <a:spcPts val="0"/>
                        </a:spcBef>
                        <a:spcAft>
                          <a:spcPts val="0"/>
                        </a:spcAft>
                      </a:pPr>
                      <a:endParaRPr lang="en-US" sz="800" dirty="0">
                        <a:effectLst/>
                        <a:latin typeface="Calibri" panose="020F0502020204030204" pitchFamily="34" charset="0"/>
                        <a:ea typeface="Calibri" panose="020F0502020204030204" pitchFamily="34" charset="0"/>
                      </a:endParaRPr>
                    </a:p>
                  </a:txBody>
                  <a:tcPr marL="47993" marR="47993" marT="0" marB="0"/>
                </a:tc>
                <a:extLst>
                  <a:ext uri="{0D108BD9-81ED-4DB2-BD59-A6C34878D82A}">
                    <a16:rowId xmlns:a16="http://schemas.microsoft.com/office/drawing/2014/main" val="3830632791"/>
                  </a:ext>
                </a:extLst>
              </a:tr>
            </a:tbl>
          </a:graphicData>
        </a:graphic>
      </p:graphicFrame>
      <p:sp>
        <p:nvSpPr>
          <p:cNvPr id="4" name="TextBox 3">
            <a:extLst>
              <a:ext uri="{FF2B5EF4-FFF2-40B4-BE49-F238E27FC236}">
                <a16:creationId xmlns:a16="http://schemas.microsoft.com/office/drawing/2014/main" id="{6CACEC2C-549E-785D-0547-889108D187D6}"/>
              </a:ext>
            </a:extLst>
          </p:cNvPr>
          <p:cNvSpPr txBox="1"/>
          <p:nvPr/>
        </p:nvSpPr>
        <p:spPr>
          <a:xfrm>
            <a:off x="612475" y="215986"/>
            <a:ext cx="10420709" cy="784830"/>
          </a:xfrm>
          <a:prstGeom prst="rect">
            <a:avLst/>
          </a:prstGeom>
          <a:noFill/>
        </p:spPr>
        <p:txBody>
          <a:bodyPr wrap="square">
            <a:spAutoFit/>
          </a:bodyPr>
          <a:lstStyle/>
          <a:p>
            <a:pPr marL="0" indent="0" algn="ctr">
              <a:lnSpc>
                <a:spcPct val="100000"/>
              </a:lnSpc>
              <a:spcBef>
                <a:spcPts val="0"/>
              </a:spcBef>
              <a:buNone/>
            </a:pPr>
            <a:r>
              <a:rPr lang="en-US" sz="4500" b="1" dirty="0">
                <a:solidFill>
                  <a:schemeClr val="tx1"/>
                </a:solidFill>
                <a:latin typeface="Calibri" panose="020F0502020204030204" pitchFamily="34" charset="0"/>
                <a:cs typeface="Calibri" panose="020F0502020204030204" pitchFamily="34" charset="0"/>
              </a:rPr>
              <a:t>Rubric for Project Chater</a:t>
            </a:r>
          </a:p>
        </p:txBody>
      </p:sp>
    </p:spTree>
    <p:extLst>
      <p:ext uri="{BB962C8B-B14F-4D97-AF65-F5344CB8AC3E}">
        <p14:creationId xmlns:p14="http://schemas.microsoft.com/office/powerpoint/2010/main" val="7104946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ED2AD058-660B-506B-0924-F6BCB756C8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79" y="0"/>
            <a:ext cx="1204672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908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ED2AD058-660B-506B-0924-F6BCB756C8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79" y="0"/>
            <a:ext cx="12046721"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CA006236-8143-BBFF-EDC7-28FB1FD89D5C}"/>
              </a:ext>
            </a:extLst>
          </p:cNvPr>
          <p:cNvSpPr txBox="1">
            <a:spLocks/>
          </p:cNvSpPr>
          <p:nvPr/>
        </p:nvSpPr>
        <p:spPr>
          <a:xfrm>
            <a:off x="6773966" y="461802"/>
            <a:ext cx="5418034" cy="104653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base">
              <a:lnSpc>
                <a:spcPct val="120000"/>
              </a:lnSpc>
              <a:spcBef>
                <a:spcPts val="0"/>
              </a:spcBef>
              <a:buFont typeface="Wingdings" panose="05000000000000000000" pitchFamily="2" charset="2"/>
              <a:buChar char="q"/>
            </a:pPr>
            <a:r>
              <a:rPr lang="en-US" sz="4000" b="1" dirty="0"/>
              <a:t> Class 11 Check-In</a:t>
            </a:r>
          </a:p>
        </p:txBody>
      </p:sp>
    </p:spTree>
    <p:extLst>
      <p:ext uri="{BB962C8B-B14F-4D97-AF65-F5344CB8AC3E}">
        <p14:creationId xmlns:p14="http://schemas.microsoft.com/office/powerpoint/2010/main" val="413296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_rels/theme1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op 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3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Metropolitan">
  <a:themeElements>
    <a:clrScheme name="Custom 3">
      <a:dk1>
        <a:sysClr val="windowText" lastClr="000000"/>
      </a:dk1>
      <a:lt1>
        <a:sysClr val="window" lastClr="FFFFFF"/>
      </a:lt1>
      <a:dk2>
        <a:srgbClr val="162F33"/>
      </a:dk2>
      <a:lt2>
        <a:srgbClr val="E4E7DD"/>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8.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9.xml><?xml version="1.0" encoding="utf-8"?>
<a:theme xmlns:a="http://schemas.openxmlformats.org/drawingml/2006/main" name="8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circles">
  <a:themeElements>
    <a:clrScheme name="Custom 372">
      <a:dk1>
        <a:srgbClr val="000000"/>
      </a:dk1>
      <a:lt1>
        <a:srgbClr val="FFFFFF"/>
      </a:lt1>
      <a:dk2>
        <a:srgbClr val="000000"/>
      </a:dk2>
      <a:lt2>
        <a:srgbClr val="000000"/>
      </a:lt2>
      <a:accent1>
        <a:srgbClr val="FFFFFF"/>
      </a:accent1>
      <a:accent2>
        <a:srgbClr val="333399"/>
      </a:accent2>
      <a:accent3>
        <a:srgbClr val="FFFFFF"/>
      </a:accent3>
      <a:accent4>
        <a:srgbClr val="989898"/>
      </a:accent4>
      <a:accent5>
        <a:srgbClr val="FFFFFF"/>
      </a:accent5>
      <a:accent6>
        <a:srgbClr val="2D2D8A"/>
      </a:accent6>
      <a:hlink>
        <a:srgbClr val="4C4C4C"/>
      </a:hlink>
      <a:folHlink>
        <a:srgbClr val="66CCFF"/>
      </a:folHlink>
    </a:clrScheme>
    <a:fontScheme name="circ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ircl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ircl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ircl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ircl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ircl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ircl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ircl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ircl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ircl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ircl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ircl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ircl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ircles 13">
        <a:dk1>
          <a:srgbClr val="000066"/>
        </a:dk1>
        <a:lt1>
          <a:srgbClr val="FFFFFF"/>
        </a:lt1>
        <a:dk2>
          <a:srgbClr val="000066"/>
        </a:dk2>
        <a:lt2>
          <a:srgbClr val="808080"/>
        </a:lt2>
        <a:accent1>
          <a:srgbClr val="BBE0E3"/>
        </a:accent1>
        <a:accent2>
          <a:srgbClr val="333399"/>
        </a:accent2>
        <a:accent3>
          <a:srgbClr val="FFFFFF"/>
        </a:accent3>
        <a:accent4>
          <a:srgbClr val="000056"/>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ircles 14">
        <a:dk1>
          <a:srgbClr val="000066"/>
        </a:dk1>
        <a:lt1>
          <a:srgbClr val="FFFFFF"/>
        </a:lt1>
        <a:dk2>
          <a:srgbClr val="000066"/>
        </a:dk2>
        <a:lt2>
          <a:srgbClr val="808080"/>
        </a:lt2>
        <a:accent1>
          <a:srgbClr val="BBE0E3"/>
        </a:accent1>
        <a:accent2>
          <a:srgbClr val="333399"/>
        </a:accent2>
        <a:accent3>
          <a:srgbClr val="FFFFFF"/>
        </a:accent3>
        <a:accent4>
          <a:srgbClr val="000056"/>
        </a:accent4>
        <a:accent5>
          <a:srgbClr val="DAEDEF"/>
        </a:accent5>
        <a:accent6>
          <a:srgbClr val="2D2D8A"/>
        </a:accent6>
        <a:hlink>
          <a:srgbClr val="3366FF"/>
        </a:hlink>
        <a:folHlink>
          <a:srgbClr val="6699FF"/>
        </a:folHlink>
      </a:clrScheme>
      <a:clrMap bg1="lt1" tx1="dk1" bg2="lt2" tx2="dk2" accent1="accent1" accent2="accent2" accent3="accent3" accent4="accent4" accent5="accent5" accent6="accent6" hlink="hlink" folHlink="folHlink"/>
    </a:extraClrScheme>
    <a:extraClrScheme>
      <a:clrScheme name="circles 15">
        <a:dk1>
          <a:srgbClr val="000066"/>
        </a:dk1>
        <a:lt1>
          <a:srgbClr val="FFFFFF"/>
        </a:lt1>
        <a:dk2>
          <a:srgbClr val="000066"/>
        </a:dk2>
        <a:lt2>
          <a:srgbClr val="808080"/>
        </a:lt2>
        <a:accent1>
          <a:srgbClr val="BBE0E3"/>
        </a:accent1>
        <a:accent2>
          <a:srgbClr val="333399"/>
        </a:accent2>
        <a:accent3>
          <a:srgbClr val="FFFFFF"/>
        </a:accent3>
        <a:accent4>
          <a:srgbClr val="000056"/>
        </a:accent4>
        <a:accent5>
          <a:srgbClr val="DAEDEF"/>
        </a:accent5>
        <a:accent6>
          <a:srgbClr val="2D2D8A"/>
        </a:accent6>
        <a:hlink>
          <a:srgbClr val="000066"/>
        </a:hlink>
        <a:folHlink>
          <a:srgbClr val="3333FF"/>
        </a:folHlink>
      </a:clrScheme>
      <a:clrMap bg1="lt1" tx1="dk1" bg2="lt2" tx2="dk2" accent1="accent1" accent2="accent2" accent3="accent3" accent4="accent4" accent5="accent5" accent6="accent6" hlink="hlink" folHlink="folHlink"/>
    </a:extraClrScheme>
    <a:extraClrScheme>
      <a:clrScheme name="circles 16">
        <a:dk1>
          <a:srgbClr val="000066"/>
        </a:dk1>
        <a:lt1>
          <a:srgbClr val="FFFFFF"/>
        </a:lt1>
        <a:dk2>
          <a:srgbClr val="000066"/>
        </a:dk2>
        <a:lt2>
          <a:srgbClr val="808080"/>
        </a:lt2>
        <a:accent1>
          <a:srgbClr val="CCECFF"/>
        </a:accent1>
        <a:accent2>
          <a:srgbClr val="333399"/>
        </a:accent2>
        <a:accent3>
          <a:srgbClr val="FFFFFF"/>
        </a:accent3>
        <a:accent4>
          <a:srgbClr val="000056"/>
        </a:accent4>
        <a:accent5>
          <a:srgbClr val="E2F4FF"/>
        </a:accent5>
        <a:accent6>
          <a:srgbClr val="2D2D8A"/>
        </a:accent6>
        <a:hlink>
          <a:srgbClr val="000066"/>
        </a:hlink>
        <a:folHlink>
          <a:srgbClr val="3333FF"/>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1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1089</TotalTime>
  <Words>1797</Words>
  <Application>Microsoft Office PowerPoint</Application>
  <PresentationFormat>Widescreen</PresentationFormat>
  <Paragraphs>196</Paragraphs>
  <Slides>42</Slides>
  <Notes>17</Notes>
  <HiddenSlides>0</HiddenSlides>
  <MMClips>0</MMClips>
  <ScaleCrop>false</ScaleCrop>
  <HeadingPairs>
    <vt:vector size="6" baseType="variant">
      <vt:variant>
        <vt:lpstr>Fonts Used</vt:lpstr>
      </vt:variant>
      <vt:variant>
        <vt:i4>14</vt:i4>
      </vt:variant>
      <vt:variant>
        <vt:lpstr>Theme</vt:lpstr>
      </vt:variant>
      <vt:variant>
        <vt:i4>12</vt:i4>
      </vt:variant>
      <vt:variant>
        <vt:lpstr>Slide Titles</vt:lpstr>
      </vt:variant>
      <vt:variant>
        <vt:i4>42</vt:i4>
      </vt:variant>
    </vt:vector>
  </HeadingPairs>
  <TitlesOfParts>
    <vt:vector size="68" baseType="lpstr">
      <vt:lpstr>Meiryo</vt:lpstr>
      <vt:lpstr>Amasis MT Pro Black</vt:lpstr>
      <vt:lpstr>Aptos</vt:lpstr>
      <vt:lpstr>Aptos Display</vt:lpstr>
      <vt:lpstr>Arial</vt:lpstr>
      <vt:lpstr>Avenir Next LT Pro Light</vt:lpstr>
      <vt:lpstr>Bierstadt</vt:lpstr>
      <vt:lpstr>Calibri</vt:lpstr>
      <vt:lpstr>Calibri Light</vt:lpstr>
      <vt:lpstr>Calisto MT</vt:lpstr>
      <vt:lpstr>Gill Sans MT</vt:lpstr>
      <vt:lpstr>Gill Sans Ultra Bold</vt:lpstr>
      <vt:lpstr>Wingdings</vt:lpstr>
      <vt:lpstr>Wingdings 2</vt:lpstr>
      <vt:lpstr>GestaltVTI</vt:lpstr>
      <vt:lpstr>5_Office Theme</vt:lpstr>
      <vt:lpstr>Parcel</vt:lpstr>
      <vt:lpstr>3_Office Theme</vt:lpstr>
      <vt:lpstr>3_Retrospect</vt:lpstr>
      <vt:lpstr>1_Office Theme</vt:lpstr>
      <vt:lpstr>Metropolitan</vt:lpstr>
      <vt:lpstr>Dividend</vt:lpstr>
      <vt:lpstr>8_Office Theme</vt:lpstr>
      <vt:lpstr>circles</vt:lpstr>
      <vt:lpstr>Slate</vt:lpstr>
      <vt:lpstr>2_Office Theme</vt:lpstr>
      <vt:lpstr>V450: Project Management &amp; Implementation </vt:lpstr>
      <vt:lpstr>Warm-Up</vt:lpstr>
      <vt:lpstr>PowerPoint Presentation</vt:lpstr>
      <vt:lpstr>Exam 1</vt:lpstr>
      <vt:lpstr>Exam 1</vt:lpstr>
      <vt:lpstr>Exam 1</vt:lpstr>
      <vt:lpstr>Class 12 Check-In | My Good Standing </vt:lpstr>
      <vt:lpstr>PowerPoint Presentation</vt:lpstr>
      <vt:lpstr>PowerPoint Presentation</vt:lpstr>
      <vt:lpstr>PowerPoint Presentation</vt:lpstr>
      <vt:lpstr>PowerPoint Presentation</vt:lpstr>
      <vt:lpstr>PowerPoint Presentation</vt:lpstr>
      <vt:lpstr>PowerPoint Presentation</vt:lpstr>
      <vt:lpstr>Work Breakdown Structure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WBS are Anecdotes for   The Free Rider</vt:lpstr>
      <vt:lpstr>PowerPoint Presentation</vt:lpstr>
      <vt:lpstr>PowerPoint Presentation</vt:lpstr>
      <vt:lpstr>PowerPoint Presentation</vt:lpstr>
      <vt:lpstr>PowerPoint Presentation</vt:lpstr>
      <vt:lpstr>Expectations</vt:lpstr>
      <vt:lpstr>Expectations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Burgins, Robert Scott</dc:creator>
  <cp:lastModifiedBy>Burgins, Robert Scott</cp:lastModifiedBy>
  <cp:revision>28</cp:revision>
  <dcterms:created xsi:type="dcterms:W3CDTF">2025-07-21T16:13:04Z</dcterms:created>
  <dcterms:modified xsi:type="dcterms:W3CDTF">2026-01-07T19:31:21Z</dcterms:modified>
</cp:coreProperties>
</file>