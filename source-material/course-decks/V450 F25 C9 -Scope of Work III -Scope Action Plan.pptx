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785" r:id="rId3"/>
    <p:sldMasterId id="2147483847" r:id="rId4"/>
    <p:sldMasterId id="2147483884" r:id="rId5"/>
    <p:sldMasterId id="2147483920" r:id="rId6"/>
    <p:sldMasterId id="2147483944" r:id="rId7"/>
    <p:sldMasterId id="2147483956" r:id="rId8"/>
  </p:sldMasterIdLst>
  <p:notesMasterIdLst>
    <p:notesMasterId r:id="rId73"/>
  </p:notesMasterIdLst>
  <p:sldIdLst>
    <p:sldId id="256" r:id="rId9"/>
    <p:sldId id="299" r:id="rId10"/>
    <p:sldId id="2142533431" r:id="rId11"/>
    <p:sldId id="2142533432" r:id="rId12"/>
    <p:sldId id="2142533428" r:id="rId13"/>
    <p:sldId id="2142533433" r:id="rId14"/>
    <p:sldId id="2142533495" r:id="rId15"/>
    <p:sldId id="2456" r:id="rId16"/>
    <p:sldId id="1082" r:id="rId17"/>
    <p:sldId id="2134804586" r:id="rId18"/>
    <p:sldId id="2142533467" r:id="rId19"/>
    <p:sldId id="2142533456" r:id="rId20"/>
    <p:sldId id="1104" r:id="rId21"/>
    <p:sldId id="2142533468" r:id="rId22"/>
    <p:sldId id="2142533470" r:id="rId23"/>
    <p:sldId id="1086" r:id="rId24"/>
    <p:sldId id="2134804584" r:id="rId25"/>
    <p:sldId id="2142533496" r:id="rId26"/>
    <p:sldId id="763" r:id="rId27"/>
    <p:sldId id="2142533448" r:id="rId28"/>
    <p:sldId id="2142533454" r:id="rId29"/>
    <p:sldId id="2142533463" r:id="rId30"/>
    <p:sldId id="2142533464" r:id="rId31"/>
    <p:sldId id="2134804572" r:id="rId32"/>
    <p:sldId id="2134804573" r:id="rId33"/>
    <p:sldId id="2134804581" r:id="rId34"/>
    <p:sldId id="2142533466" r:id="rId35"/>
    <p:sldId id="2142533459" r:id="rId36"/>
    <p:sldId id="2134804580" r:id="rId37"/>
    <p:sldId id="1113" r:id="rId38"/>
    <p:sldId id="1131" r:id="rId39"/>
    <p:sldId id="2134804576" r:id="rId40"/>
    <p:sldId id="2142533458" r:id="rId41"/>
    <p:sldId id="2134804544" r:id="rId42"/>
    <p:sldId id="2134804578" r:id="rId43"/>
    <p:sldId id="2134804582" r:id="rId44"/>
    <p:sldId id="849" r:id="rId45"/>
    <p:sldId id="792" r:id="rId46"/>
    <p:sldId id="2142533462" r:id="rId47"/>
    <p:sldId id="2142533416" r:id="rId48"/>
    <p:sldId id="2142533449" r:id="rId49"/>
    <p:sldId id="874" r:id="rId50"/>
    <p:sldId id="535" r:id="rId51"/>
    <p:sldId id="844" r:id="rId52"/>
    <p:sldId id="709" r:id="rId53"/>
    <p:sldId id="2134804583" r:id="rId54"/>
    <p:sldId id="2134804618" r:id="rId55"/>
    <p:sldId id="2134804617" r:id="rId56"/>
    <p:sldId id="2134804619" r:id="rId57"/>
    <p:sldId id="2134804612" r:id="rId58"/>
    <p:sldId id="2134804613" r:id="rId59"/>
    <p:sldId id="2142533450" r:id="rId60"/>
    <p:sldId id="2134804614" r:id="rId61"/>
    <p:sldId id="2134804615" r:id="rId62"/>
    <p:sldId id="2134804616" r:id="rId63"/>
    <p:sldId id="926" r:id="rId64"/>
    <p:sldId id="927" r:id="rId65"/>
    <p:sldId id="910" r:id="rId66"/>
    <p:sldId id="2142533451" r:id="rId67"/>
    <p:sldId id="2142533452" r:id="rId68"/>
    <p:sldId id="2142533453" r:id="rId69"/>
    <p:sldId id="259" r:id="rId70"/>
    <p:sldId id="265" r:id="rId71"/>
    <p:sldId id="2142533447"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83" autoAdjust="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16" Type="http://schemas.openxmlformats.org/officeDocument/2006/relationships/slide" Target="slides/slide8.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slide" Target="slides/slide58.xml"/><Relationship Id="rId74"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63.xml"/><Relationship Id="rId2" Type="http://schemas.openxmlformats.org/officeDocument/2006/relationships/slideMaster" Target="slideMasters/slideMaster2.xml"/><Relationship Id="rId29"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B1B928-EA0E-4EB1-BAE0-A25300FC460F}"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US"/>
        </a:p>
      </dgm:t>
    </dgm:pt>
    <dgm:pt modelId="{23810F67-0730-41D1-8476-887FB8D5EE06}">
      <dgm:prSet/>
      <dgm:spPr/>
      <dgm:t>
        <a:bodyPr/>
        <a:lstStyle/>
        <a:p>
          <a:r>
            <a:rPr lang="en-US" b="1" dirty="0"/>
            <a:t>The Big Plan</a:t>
          </a:r>
          <a:endParaRPr lang="en-US" dirty="0"/>
        </a:p>
      </dgm:t>
    </dgm:pt>
    <dgm:pt modelId="{2AE19D67-6F12-4A51-AC86-721447E0F2AC}" type="parTrans" cxnId="{61690175-9996-4232-99DF-9CD9784AE115}">
      <dgm:prSet/>
      <dgm:spPr/>
      <dgm:t>
        <a:bodyPr/>
        <a:lstStyle/>
        <a:p>
          <a:endParaRPr lang="en-US"/>
        </a:p>
      </dgm:t>
    </dgm:pt>
    <dgm:pt modelId="{5522CE5C-EE3A-4997-A0F2-440AD271CD5D}" type="sibTrans" cxnId="{61690175-9996-4232-99DF-9CD9784AE115}">
      <dgm:prSet/>
      <dgm:spPr/>
      <dgm:t>
        <a:bodyPr/>
        <a:lstStyle/>
        <a:p>
          <a:endParaRPr lang="en-US"/>
        </a:p>
      </dgm:t>
    </dgm:pt>
    <dgm:pt modelId="{68C39B26-AAC8-4516-B426-8482D2F6D3FF}" type="pres">
      <dgm:prSet presAssocID="{98B1B928-EA0E-4EB1-BAE0-A25300FC460F}" presName="CompostProcess" presStyleCnt="0">
        <dgm:presLayoutVars>
          <dgm:dir/>
          <dgm:resizeHandles val="exact"/>
        </dgm:presLayoutVars>
      </dgm:prSet>
      <dgm:spPr/>
    </dgm:pt>
    <dgm:pt modelId="{E4D4E6B6-63D8-4E31-BDD8-E558FB845222}" type="pres">
      <dgm:prSet presAssocID="{98B1B928-EA0E-4EB1-BAE0-A25300FC460F}" presName="arrow" presStyleLbl="bgShp" presStyleIdx="0" presStyleCnt="1"/>
      <dgm:spPr/>
    </dgm:pt>
    <dgm:pt modelId="{0F30D785-C20F-4911-A42E-36F385453C96}" type="pres">
      <dgm:prSet presAssocID="{98B1B928-EA0E-4EB1-BAE0-A25300FC460F}" presName="linearProcess" presStyleCnt="0"/>
      <dgm:spPr/>
    </dgm:pt>
    <dgm:pt modelId="{D2DE497D-9441-46B6-B5AC-9161D6FF838E}" type="pres">
      <dgm:prSet presAssocID="{23810F67-0730-41D1-8476-887FB8D5EE06}" presName="textNode" presStyleLbl="node1" presStyleIdx="0" presStyleCnt="1">
        <dgm:presLayoutVars>
          <dgm:bulletEnabled val="1"/>
        </dgm:presLayoutVars>
      </dgm:prSet>
      <dgm:spPr/>
    </dgm:pt>
  </dgm:ptLst>
  <dgm:cxnLst>
    <dgm:cxn modelId="{B81E5120-63A1-4FDD-9DD5-457AD8A2489F}" type="presOf" srcId="{98B1B928-EA0E-4EB1-BAE0-A25300FC460F}" destId="{68C39B26-AAC8-4516-B426-8482D2F6D3FF}" srcOrd="0" destOrd="0" presId="urn:microsoft.com/office/officeart/2005/8/layout/hProcess9"/>
    <dgm:cxn modelId="{A3CCBF67-8F56-46BF-960E-28752F13A883}" type="presOf" srcId="{23810F67-0730-41D1-8476-887FB8D5EE06}" destId="{D2DE497D-9441-46B6-B5AC-9161D6FF838E}" srcOrd="0" destOrd="0" presId="urn:microsoft.com/office/officeart/2005/8/layout/hProcess9"/>
    <dgm:cxn modelId="{61690175-9996-4232-99DF-9CD9784AE115}" srcId="{98B1B928-EA0E-4EB1-BAE0-A25300FC460F}" destId="{23810F67-0730-41D1-8476-887FB8D5EE06}" srcOrd="0" destOrd="0" parTransId="{2AE19D67-6F12-4A51-AC86-721447E0F2AC}" sibTransId="{5522CE5C-EE3A-4997-A0F2-440AD271CD5D}"/>
    <dgm:cxn modelId="{15D189F3-9147-4E95-AE4A-89BD95C3A497}" type="presParOf" srcId="{68C39B26-AAC8-4516-B426-8482D2F6D3FF}" destId="{E4D4E6B6-63D8-4E31-BDD8-E558FB845222}" srcOrd="0" destOrd="0" presId="urn:microsoft.com/office/officeart/2005/8/layout/hProcess9"/>
    <dgm:cxn modelId="{6B1F4A8A-7B6C-43E4-830E-340D47084BB0}" type="presParOf" srcId="{68C39B26-AAC8-4516-B426-8482D2F6D3FF}" destId="{0F30D785-C20F-4911-A42E-36F385453C96}" srcOrd="1" destOrd="0" presId="urn:microsoft.com/office/officeart/2005/8/layout/hProcess9"/>
    <dgm:cxn modelId="{C1F082D8-5BD9-447B-BF6C-9CBD6835557A}" type="presParOf" srcId="{0F30D785-C20F-4911-A42E-36F385453C96}" destId="{D2DE497D-9441-46B6-B5AC-9161D6FF838E}" srcOrd="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D4E6B6-63D8-4E31-BDD8-E558FB845222}">
      <dsp:nvSpPr>
        <dsp:cNvPr id="0" name=""/>
        <dsp:cNvSpPr/>
      </dsp:nvSpPr>
      <dsp:spPr>
        <a:xfrm>
          <a:off x="256004" y="0"/>
          <a:ext cx="2901384" cy="258082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DE497D-9441-46B6-B5AC-9161D6FF838E}">
      <dsp:nvSpPr>
        <dsp:cNvPr id="0" name=""/>
        <dsp:cNvSpPr/>
      </dsp:nvSpPr>
      <dsp:spPr>
        <a:xfrm>
          <a:off x="0" y="774248"/>
          <a:ext cx="3413393" cy="103233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b="1" kern="1200" dirty="0"/>
            <a:t>The Big Plan</a:t>
          </a:r>
          <a:endParaRPr lang="en-US" sz="4200" kern="1200" dirty="0"/>
        </a:p>
      </dsp:txBody>
      <dsp:txXfrm>
        <a:off x="50394" y="824642"/>
        <a:ext cx="3312605" cy="93154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2A19A9-FA46-4B86-AB4B-3EECAD4EA5A1}"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B9FF3-43FA-4DF8-86E5-8E9F07331F79}" type="slidenum">
              <a:rPr lang="en-US" smtClean="0"/>
              <a:t>‹#›</a:t>
            </a:fld>
            <a:endParaRPr lang="en-US"/>
          </a:p>
        </p:txBody>
      </p:sp>
    </p:spTree>
    <p:extLst>
      <p:ext uri="{BB962C8B-B14F-4D97-AF65-F5344CB8AC3E}">
        <p14:creationId xmlns:p14="http://schemas.microsoft.com/office/powerpoint/2010/main" val="108716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flow of works when preparing the scope for a project.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5418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16B7-75CE-EA0C-5C67-232EA1577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0824DD-E8BC-9B8D-DC14-347BFBF05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F901C-9ECA-AE04-5DCA-9D198620BEB8}"/>
              </a:ext>
            </a:extLst>
          </p:cNvPr>
          <p:cNvSpPr>
            <a:spLocks noGrp="1"/>
          </p:cNvSpPr>
          <p:nvPr>
            <p:ph type="body" idx="1"/>
          </p:nvPr>
        </p:nvSpPr>
        <p:spPr/>
        <p:txBody>
          <a:bodyPr/>
          <a:lstStyle/>
          <a:p>
            <a:r>
              <a:rPr lang="en-US" dirty="0"/>
              <a:t>Read.</a:t>
            </a:r>
          </a:p>
        </p:txBody>
      </p:sp>
      <p:sp>
        <p:nvSpPr>
          <p:cNvPr id="4" name="Slide Number Placeholder 3">
            <a:extLst>
              <a:ext uri="{FF2B5EF4-FFF2-40B4-BE49-F238E27FC236}">
                <a16:creationId xmlns:a16="http://schemas.microsoft.com/office/drawing/2014/main" id="{35F7B3FC-6751-20F4-7627-DA1DDD72F2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0921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2A484-AAF7-E535-3780-B4DC4B0FB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ECE7F-5060-1252-83D2-D347056BA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0A13CA-D31E-3FD0-BAB5-E816D820F446}"/>
              </a:ext>
            </a:extLst>
          </p:cNvPr>
          <p:cNvSpPr>
            <a:spLocks noGrp="1"/>
          </p:cNvSpPr>
          <p:nvPr>
            <p:ph type="body" idx="1"/>
          </p:nvPr>
        </p:nvSpPr>
        <p:spPr/>
        <p:txBody>
          <a:bodyPr/>
          <a:lstStyle/>
          <a:p>
            <a:r>
              <a:rPr lang="en-US" dirty="0"/>
              <a:t>And it’s worth repeating that I virtually guarantee not everyone has the same expectations for a project when it starts. NOW is the time to sort those differences. </a:t>
            </a:r>
          </a:p>
        </p:txBody>
      </p:sp>
      <p:sp>
        <p:nvSpPr>
          <p:cNvPr id="4" name="Slide Number Placeholder 3">
            <a:extLst>
              <a:ext uri="{FF2B5EF4-FFF2-40B4-BE49-F238E27FC236}">
                <a16:creationId xmlns:a16="http://schemas.microsoft.com/office/drawing/2014/main" id="{05B6F029-5995-7CF0-6A70-D414C5CDE9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46501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it’s worth repeating that I virtually guarantee not everyone has the same expectations for a project when it starts. NOW is the time to sort those differences.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31892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prstClr val="black"/>
                </a:solidFill>
                <a:ea typeface="Meiryo" panose="020B0604030504040204" pitchFamily="34" charset="-128"/>
                <a:cs typeface="Calibri" panose="020F0502020204030204" pitchFamily="34" charset="0"/>
              </a:rPr>
              <a:t>A project scope statement is vital if you’re going to avoid common mistakes like:</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77533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2635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ACE4F-E36F-42F8-BC69-84C3860C0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569E3-ED78-D47B-11A5-CE4C627A8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E26989-BCD4-7C4B-073C-E075B7823CDD}"/>
              </a:ext>
            </a:extLst>
          </p:cNvPr>
          <p:cNvSpPr>
            <a:spLocks noGrp="1"/>
          </p:cNvSpPr>
          <p:nvPr>
            <p:ph type="body" idx="1"/>
          </p:nvPr>
        </p:nvSpPr>
        <p:spPr/>
        <p:txBody>
          <a:bodyPr/>
          <a:lstStyle/>
          <a:p>
            <a:r>
              <a:rPr lang="en-US" dirty="0"/>
              <a:t>And it’s worth repeating that I virtually guarantee not everyone has the same expectations for a project when it starts. NOW is the time to sort those differences. </a:t>
            </a:r>
          </a:p>
        </p:txBody>
      </p:sp>
      <p:sp>
        <p:nvSpPr>
          <p:cNvPr id="4" name="Slide Number Placeholder 3">
            <a:extLst>
              <a:ext uri="{FF2B5EF4-FFF2-40B4-BE49-F238E27FC236}">
                <a16:creationId xmlns:a16="http://schemas.microsoft.com/office/drawing/2014/main" id="{6462543E-4E2E-AB21-AFCC-10BC023A5A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02376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F9499-9F84-6F70-FD83-1ACD45C6E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2D64F-FF88-7C84-223D-E90C3B87EA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AEB5D2-6390-7D26-A021-DCBD11F138CC}"/>
              </a:ext>
            </a:extLst>
          </p:cNvPr>
          <p:cNvSpPr>
            <a:spLocks noGrp="1"/>
          </p:cNvSpPr>
          <p:nvPr>
            <p:ph type="body" idx="1"/>
          </p:nvPr>
        </p:nvSpPr>
        <p:spPr/>
        <p:txBody>
          <a:bodyPr/>
          <a:lstStyle/>
          <a:p>
            <a:r>
              <a:rPr lang="en-US" dirty="0"/>
              <a:t>And it’s worth repeating that I virtually guarantee not everyone has the same expectations for a project when it starts. NOW is the time to sort those differences. </a:t>
            </a:r>
          </a:p>
        </p:txBody>
      </p:sp>
      <p:sp>
        <p:nvSpPr>
          <p:cNvPr id="4" name="Slide Number Placeholder 3">
            <a:extLst>
              <a:ext uri="{FF2B5EF4-FFF2-40B4-BE49-F238E27FC236}">
                <a16:creationId xmlns:a16="http://schemas.microsoft.com/office/drawing/2014/main" id="{CE1D75F3-337A-C806-1237-1D443AD110C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63610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prstClr val="black"/>
                </a:solidFill>
                <a:ea typeface="Meiryo" panose="020B0604030504040204" pitchFamily="34" charset="-128"/>
                <a:cs typeface="Calibri" panose="020F0502020204030204" pitchFamily="34" charset="0"/>
              </a:rPr>
              <a:t>A project scope statement is the sum of all work that needs to be done and will be your trusty road map throughout the </a:t>
            </a:r>
            <a:r>
              <a:rPr lang="en-US" sz="1200" dirty="0" err="1">
                <a:solidFill>
                  <a:prstClr val="black"/>
                </a:solidFill>
                <a:ea typeface="Meiryo" panose="020B0604030504040204" pitchFamily="34" charset="-128"/>
                <a:cs typeface="Calibri" panose="020F0502020204030204" pitchFamily="34" charset="0"/>
              </a:rPr>
              <a:t>prject</a:t>
            </a:r>
            <a:r>
              <a:rPr lang="en-US" sz="1200" dirty="0">
                <a:solidFill>
                  <a:prstClr val="black"/>
                </a:solidFill>
                <a:ea typeface="Meiryo" panose="020B0604030504040204" pitchFamily="34" charset="-128"/>
                <a:cs typeface="Calibri" panose="020F0502020204030204" pitchFamily="34" charset="0"/>
              </a:rPr>
              <a:t>.. </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60793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prstClr val="black"/>
                </a:solidFill>
                <a:ea typeface="Meiryo" panose="020B0604030504040204" pitchFamily="34" charset="-128"/>
                <a:cs typeface="Calibri" panose="020F0502020204030204" pitchFamily="34" charset="0"/>
              </a:rPr>
              <a:t>To write a project scope statement, you’ll need to understand the </a:t>
            </a:r>
            <a:r>
              <a:rPr lang="en-US" sz="1200" b="1" dirty="0">
                <a:solidFill>
                  <a:prstClr val="black"/>
                </a:solidFill>
                <a:ea typeface="Meiryo" panose="020B0604030504040204" pitchFamily="34" charset="-128"/>
                <a:cs typeface="Calibri" panose="020F0502020204030204" pitchFamily="34" charset="0"/>
              </a:rPr>
              <a:t>project goals</a:t>
            </a:r>
            <a:r>
              <a:rPr lang="en-US" sz="1200" dirty="0">
                <a:solidFill>
                  <a:prstClr val="black"/>
                </a:solidFill>
                <a:ea typeface="Meiryo" panose="020B0604030504040204" pitchFamily="34" charset="-128"/>
                <a:cs typeface="Calibri" panose="020F0502020204030204" pitchFamily="34" charset="0"/>
              </a:rPr>
              <a:t>, </a:t>
            </a:r>
            <a:r>
              <a:rPr lang="en-US" sz="1200" b="1" dirty="0">
                <a:solidFill>
                  <a:prstClr val="black"/>
                </a:solidFill>
                <a:ea typeface="Meiryo" panose="020B0604030504040204" pitchFamily="34" charset="-128"/>
                <a:cs typeface="Calibri" panose="020F0502020204030204" pitchFamily="34" charset="0"/>
              </a:rPr>
              <a:t>work breakdown structure </a:t>
            </a:r>
            <a:r>
              <a:rPr lang="en-US" sz="1200" dirty="0">
                <a:solidFill>
                  <a:prstClr val="black"/>
                </a:solidFill>
                <a:ea typeface="Meiryo" panose="020B0604030504040204" pitchFamily="34" charset="-128"/>
                <a:cs typeface="Calibri" panose="020F0502020204030204" pitchFamily="34" charset="0"/>
              </a:rPr>
              <a:t>and </a:t>
            </a:r>
            <a:r>
              <a:rPr lang="en-US" sz="1200" b="1" dirty="0">
                <a:solidFill>
                  <a:prstClr val="black"/>
                </a:solidFill>
                <a:ea typeface="Meiryo" panose="020B0604030504040204" pitchFamily="34" charset="-128"/>
                <a:cs typeface="Calibri" panose="020F0502020204030204" pitchFamily="34" charset="0"/>
              </a:rPr>
              <a:t>requirements</a:t>
            </a:r>
            <a:r>
              <a:rPr lang="en-US" sz="1200" dirty="0">
                <a:solidFill>
                  <a:prstClr val="black"/>
                </a:solidFill>
                <a:ea typeface="Meiryo" panose="020B0604030504040204" pitchFamily="34" charset="-128"/>
                <a:cs typeface="Calibri" panose="020F0502020204030204" pitchFamily="34" charset="0"/>
              </a:rPr>
              <a:t>, among other things. </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13697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you’re new to writing scope statements, GET HELP! Ask around. Find examples. R&amp;D.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67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AF6C4-5376-39E5-39CC-31D8E0084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6D217-B9AA-645E-DEAD-FB879435C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E2CE27-F1EF-D8EF-79FD-69D15EDF4795}"/>
              </a:ext>
            </a:extLst>
          </p:cNvPr>
          <p:cNvSpPr>
            <a:spLocks noGrp="1"/>
          </p:cNvSpPr>
          <p:nvPr>
            <p:ph type="body" idx="1"/>
          </p:nvPr>
        </p:nvSpPr>
        <p:spPr/>
        <p:txBody>
          <a:bodyPr/>
          <a:lstStyle/>
          <a:p>
            <a:r>
              <a:rPr lang="en-US" dirty="0"/>
              <a:t>And it’s worth repeating that I virtually guarantee not everyone has the same expectations for a project when it starts. NOW is the time to sort those differences. </a:t>
            </a:r>
          </a:p>
        </p:txBody>
      </p:sp>
      <p:sp>
        <p:nvSpPr>
          <p:cNvPr id="4" name="Slide Number Placeholder 3">
            <a:extLst>
              <a:ext uri="{FF2B5EF4-FFF2-40B4-BE49-F238E27FC236}">
                <a16:creationId xmlns:a16="http://schemas.microsoft.com/office/drawing/2014/main" id="{F451E5E1-3A44-1DE1-155F-31189D8B63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24422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highlight>
                  <a:srgbClr val="FFFF00"/>
                </a:highlight>
                <a:latin typeface="Calibri" panose="020F0502020204030204" pitchFamily="34" charset="0"/>
                <a:cs typeface="Calibri" panose="020F0502020204030204" pitchFamily="34" charset="0"/>
              </a:rPr>
              <a:t>A special word about constraints, because all projects have them. </a:t>
            </a:r>
            <a:r>
              <a:rPr lang="en-US" sz="1200" b="0" dirty="0">
                <a:latin typeface="Calibri" panose="020F0502020204030204" pitchFamily="34" charset="0"/>
                <a:cs typeface="Calibri" panose="020F0502020204030204" pitchFamily="34" charset="0"/>
              </a:rPr>
              <a:t>All projects work within constraints, and stakeholders might not be aware of them.  By listing the constraints explicitly, the stakeholders can understand what has been assumed and this can result in a listening ear when problems arise.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356499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clear about constraints can help clear up faulty assumptions.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7029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500" dirty="0"/>
              <a:t>Note the appearance of key words like Goals, Scope of Work and </a:t>
            </a:r>
            <a:r>
              <a:rPr lang="en-US" sz="1500" dirty="0" err="1"/>
              <a:t>Contstraints</a:t>
            </a:r>
            <a:r>
              <a:rPr lang="en-US" sz="1500" dirty="0"/>
              <a:t>.</a:t>
            </a:r>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4E1AEDEA-3D07-4CA6-99F3-BF623709DD51}"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34651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500" dirty="0"/>
              <a:t>Note how it includes things like Assumptions about how the project will go, and Deliverables for the client.</a:t>
            </a:r>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4E1AEDEA-3D07-4CA6-99F3-BF623709DD51}"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30789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of a scope statement.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54543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it includes a list of what you’re going to do – AND – to avoid unspoken expectations, it also lists what you’re NOT going to do.</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7376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Calibri" panose="020F0502020204030204" pitchFamily="34" charset="0"/>
                <a:cs typeface="Calibri" panose="020F0502020204030204" pitchFamily="34" charset="0"/>
              </a:rPr>
              <a:t>A project statement provides a </a:t>
            </a:r>
            <a:r>
              <a:rPr lang="en-US" sz="1200" b="1" dirty="0">
                <a:solidFill>
                  <a:schemeClr val="tx1"/>
                </a:solidFill>
                <a:latin typeface="Calibri" panose="020F0502020204030204" pitchFamily="34" charset="0"/>
                <a:cs typeface="Calibri" panose="020F0502020204030204" pitchFamily="34" charset="0"/>
              </a:rPr>
              <a:t>short narrative</a:t>
            </a:r>
            <a:r>
              <a:rPr lang="en-US" sz="1200" dirty="0">
                <a:solidFill>
                  <a:schemeClr val="tx1"/>
                </a:solidFill>
                <a:latin typeface="Calibri" panose="020F0502020204030204" pitchFamily="34" charset="0"/>
                <a:cs typeface="Calibri" panose="020F0502020204030204" pitchFamily="34" charset="0"/>
              </a:rPr>
              <a:t> on the nature of the project, why it is necessary and how the team intents to go about it.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44409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369111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5761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52274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16458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said all this, eventually the scope must be completed. Don’t be afraid to finalize it. Fortunately, you’ll get better at it as you go.</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2F3DD-337F-4941-863E-6011FF68168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28992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878284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kidding – get the scope of work right and you’re half-way home.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40206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79613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you start deciding specific things to do – meetings, interviews, research – begin </a:t>
            </a:r>
            <a:r>
              <a:rPr lang="en-US" sz="1200" dirty="0">
                <a:solidFill>
                  <a:schemeClr val="tx1">
                    <a:lumMod val="95000"/>
                    <a:lumOff val="5000"/>
                  </a:schemeClr>
                </a:solidFill>
                <a:latin typeface="Calibri" panose="020F0502020204030204" pitchFamily="34" charset="0"/>
                <a:cs typeface="Calibri" panose="020F0502020204030204" pitchFamily="34" charset="0"/>
              </a:rPr>
              <a:t>each statement with an </a:t>
            </a:r>
            <a:r>
              <a:rPr lang="en-US" sz="1200" b="1" u="sng" dirty="0">
                <a:solidFill>
                  <a:srgbClr val="FF0000"/>
                </a:solidFill>
                <a:highlight>
                  <a:srgbClr val="FFFF00"/>
                </a:highlight>
                <a:latin typeface="Calibri" panose="020F0502020204030204" pitchFamily="34" charset="0"/>
                <a:cs typeface="Calibri" panose="020F0502020204030204" pitchFamily="34" charset="0"/>
              </a:rPr>
              <a:t>action</a:t>
            </a:r>
            <a:r>
              <a:rPr lang="en-US" sz="1200" dirty="0">
                <a:solidFill>
                  <a:schemeClr val="tx1">
                    <a:lumMod val="95000"/>
                    <a:lumOff val="5000"/>
                  </a:schemeClr>
                </a:solidFill>
                <a:latin typeface="Calibri" panose="020F0502020204030204" pitchFamily="34" charset="0"/>
                <a:cs typeface="Calibri" panose="020F0502020204030204" pitchFamily="34" charset="0"/>
              </a:rPr>
              <a:t> </a:t>
            </a:r>
            <a:r>
              <a:rPr lang="en-US" sz="1200" b="0" dirty="0">
                <a:solidFill>
                  <a:schemeClr val="tx1">
                    <a:lumMod val="95000"/>
                    <a:lumOff val="5000"/>
                  </a:schemeClr>
                </a:solidFill>
                <a:latin typeface="Calibri" panose="020F0502020204030204" pitchFamily="34" charset="0"/>
                <a:cs typeface="Calibri" panose="020F0502020204030204" pitchFamily="34" charset="0"/>
              </a:rPr>
              <a:t>verb.</a:t>
            </a:r>
            <a:endParaRPr lang="en-US" sz="1200" dirty="0">
              <a:solidFill>
                <a:schemeClr val="tx1">
                  <a:lumMod val="95000"/>
                  <a:lumOff val="5000"/>
                </a:schemeClr>
              </a:solidFill>
              <a:latin typeface="Calibri" panose="020F0502020204030204" pitchFamily="34" charset="0"/>
              <a:cs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068136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these highlighted examples.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301934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minute to answer this question.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13281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255231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7177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740615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of a city making clear their expectations and scope of work. They sent this Request for a Proposal to consultant firms, who are competing to win the work.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59429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another example where the city makes clear to the consult what the scope should include.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047226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consultants get these RFPs from cities, they research and create a fancy Response. Most of these are good-looking documents with lots of photos and explanations. Here’s an example of one I worked 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029733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closer look at the Scope of Work for the Proposal we prepared for a comp plan, where we explain all the public input we’ll perform, such as surveys and focus groups.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61178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how detailed the scope is, explaining in detail what we’ll do at each step and why.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067934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Proposals also carry a timeline, in  what order – and during what period – we will perform the scope of work.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81301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another example. Again, note the big category, such as Research and Data Collection, followed by specific tasks.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07142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example.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508859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147971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52A11-B000-20B6-4395-05DAD73F9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FC029-4998-8A07-7962-07A6C77CAE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66E57A-22A2-0EFC-C8DD-3699BC8B9E18}"/>
              </a:ext>
            </a:extLst>
          </p:cNvPr>
          <p:cNvSpPr>
            <a:spLocks noGrp="1"/>
          </p:cNvSpPr>
          <p:nvPr>
            <p:ph type="body" idx="1"/>
          </p:nvPr>
        </p:nvSpPr>
        <p:spPr/>
        <p:txBody>
          <a:bodyPr/>
          <a:lstStyle/>
          <a:p>
            <a:r>
              <a:rPr lang="en-US" dirty="0"/>
              <a:t>Read. </a:t>
            </a:r>
          </a:p>
        </p:txBody>
      </p:sp>
      <p:sp>
        <p:nvSpPr>
          <p:cNvPr id="4" name="Slide Number Placeholder 3">
            <a:extLst>
              <a:ext uri="{FF2B5EF4-FFF2-40B4-BE49-F238E27FC236}">
                <a16:creationId xmlns:a16="http://schemas.microsoft.com/office/drawing/2014/main" id="{C7877DE8-0D1D-427F-9EB6-386454513C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8045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6CF30-E1BD-A2BF-5BC4-451D153AD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9E5B0-266D-CDC1-731C-D4577F144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D1BE1-DA4D-1F38-436D-1FAC29ABC812}"/>
              </a:ext>
            </a:extLst>
          </p:cNvPr>
          <p:cNvSpPr>
            <a:spLocks noGrp="1"/>
          </p:cNvSpPr>
          <p:nvPr>
            <p:ph type="body" idx="1"/>
          </p:nvPr>
        </p:nvSpPr>
        <p:spPr/>
        <p:txBody>
          <a:bodyPr/>
          <a:lstStyle/>
          <a:p>
            <a:r>
              <a:rPr lang="en-US" dirty="0"/>
              <a:t>Read. </a:t>
            </a:r>
          </a:p>
        </p:txBody>
      </p:sp>
      <p:sp>
        <p:nvSpPr>
          <p:cNvPr id="4" name="Slide Number Placeholder 3">
            <a:extLst>
              <a:ext uri="{FF2B5EF4-FFF2-40B4-BE49-F238E27FC236}">
                <a16:creationId xmlns:a16="http://schemas.microsoft.com/office/drawing/2014/main" id="{6FA9954A-EF41-4931-878F-574746B02E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386776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B7B4F-16DE-3ECB-8256-75B72086F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1C262-826D-1615-2CDC-0A5C815A6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8E4610-F0E7-ED15-86B5-CB7B45C32357}"/>
              </a:ext>
            </a:extLst>
          </p:cNvPr>
          <p:cNvSpPr>
            <a:spLocks noGrp="1"/>
          </p:cNvSpPr>
          <p:nvPr>
            <p:ph type="body" idx="1"/>
          </p:nvPr>
        </p:nvSpPr>
        <p:spPr/>
        <p:txBody>
          <a:bodyPr/>
          <a:lstStyle/>
          <a:p>
            <a:r>
              <a:rPr lang="en-US" dirty="0"/>
              <a:t>Read. </a:t>
            </a:r>
          </a:p>
        </p:txBody>
      </p:sp>
      <p:sp>
        <p:nvSpPr>
          <p:cNvPr id="4" name="Slide Number Placeholder 3">
            <a:extLst>
              <a:ext uri="{FF2B5EF4-FFF2-40B4-BE49-F238E27FC236}">
                <a16:creationId xmlns:a16="http://schemas.microsoft.com/office/drawing/2014/main" id="{5AD54B23-3708-2E22-35EE-015A85743E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71817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4/2/2026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6735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4/2/2026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98908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4/2/2026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698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4/2/2026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3313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4/2/2026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51212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4/2/2026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88259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4/2/2026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63246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4/2/2026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10576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4/2/2026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43505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4/2/2026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06676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4/2/2026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0993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71FA-BE16-4C1E-86D0-DC8A0B329A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249172-0525-49D7-A2E8-DD77D0AEF3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D11EA3-381A-499E-A133-8CA01CB7CD48}"/>
              </a:ext>
            </a:extLst>
          </p:cNvPr>
          <p:cNvSpPr>
            <a:spLocks noGrp="1"/>
          </p:cNvSpPr>
          <p:nvPr>
            <p:ph type="dt" sz="half" idx="10"/>
          </p:nvPr>
        </p:nvSpPr>
        <p:spPr/>
        <p:txBody>
          <a:bodyPr/>
          <a:lstStyle/>
          <a:p>
            <a:fld id="{1210552C-D2EE-429C-8F10-87868A576033}" type="datetimeFigureOut">
              <a:rPr lang="en-US" smtClean="0"/>
              <a:t>4/2/2026</a:t>
            </a:fld>
            <a:endParaRPr lang="en-US"/>
          </a:p>
        </p:txBody>
      </p:sp>
      <p:sp>
        <p:nvSpPr>
          <p:cNvPr id="5" name="Footer Placeholder 4">
            <a:extLst>
              <a:ext uri="{FF2B5EF4-FFF2-40B4-BE49-F238E27FC236}">
                <a16:creationId xmlns:a16="http://schemas.microsoft.com/office/drawing/2014/main" id="{4F8B604E-7C2E-4FEC-AA3D-97FEAE58BA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76043C-8401-4887-887B-9E41FEA9DA24}"/>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168774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F157-DA10-4A11-A29B-50549C9347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00FB92-069D-4BCF-AFFF-D6669C4FEBA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CAB370-84AC-4D00-8918-4CEB78AC8279}"/>
              </a:ext>
            </a:extLst>
          </p:cNvPr>
          <p:cNvSpPr>
            <a:spLocks noGrp="1"/>
          </p:cNvSpPr>
          <p:nvPr>
            <p:ph type="dt" sz="half" idx="10"/>
          </p:nvPr>
        </p:nvSpPr>
        <p:spPr/>
        <p:txBody>
          <a:bodyPr/>
          <a:lstStyle/>
          <a:p>
            <a:fld id="{1210552C-D2EE-429C-8F10-87868A576033}" type="datetimeFigureOut">
              <a:rPr lang="en-US" smtClean="0"/>
              <a:t>4/2/2026</a:t>
            </a:fld>
            <a:endParaRPr lang="en-US"/>
          </a:p>
        </p:txBody>
      </p:sp>
      <p:sp>
        <p:nvSpPr>
          <p:cNvPr id="5" name="Footer Placeholder 4">
            <a:extLst>
              <a:ext uri="{FF2B5EF4-FFF2-40B4-BE49-F238E27FC236}">
                <a16:creationId xmlns:a16="http://schemas.microsoft.com/office/drawing/2014/main" id="{70953B6E-2A04-48C5-B33D-F54F6A8779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BA076F-45FB-4745-91EC-D1F76C7145E9}"/>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344492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AFCD3-A38E-4C0C-99F0-70BA26480E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AC9567-8BE3-4660-924E-B8F1C5F80F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4A124AE-C6BD-458E-994C-A6D0B0EE8378}"/>
              </a:ext>
            </a:extLst>
          </p:cNvPr>
          <p:cNvSpPr>
            <a:spLocks noGrp="1"/>
          </p:cNvSpPr>
          <p:nvPr>
            <p:ph type="dt" sz="half" idx="10"/>
          </p:nvPr>
        </p:nvSpPr>
        <p:spPr/>
        <p:txBody>
          <a:bodyPr/>
          <a:lstStyle/>
          <a:p>
            <a:fld id="{1210552C-D2EE-429C-8F10-87868A576033}" type="datetimeFigureOut">
              <a:rPr lang="en-US" smtClean="0"/>
              <a:t>4/2/2026</a:t>
            </a:fld>
            <a:endParaRPr lang="en-US"/>
          </a:p>
        </p:txBody>
      </p:sp>
      <p:sp>
        <p:nvSpPr>
          <p:cNvPr id="5" name="Footer Placeholder 4">
            <a:extLst>
              <a:ext uri="{FF2B5EF4-FFF2-40B4-BE49-F238E27FC236}">
                <a16:creationId xmlns:a16="http://schemas.microsoft.com/office/drawing/2014/main" id="{D947A992-4F67-4DE5-8D3F-FD6443F3B4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FE13F2-491D-420A-B326-DAD8D2758318}"/>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36497068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5F4AA-5195-4782-A216-9BE8D32646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744A1C-BD6D-4446-9214-E36B77CA1BF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989C59-552C-4DD0-B95B-B557F0BE622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69013F-3ED5-4315-B25A-92CA90D95364}"/>
              </a:ext>
            </a:extLst>
          </p:cNvPr>
          <p:cNvSpPr>
            <a:spLocks noGrp="1"/>
          </p:cNvSpPr>
          <p:nvPr>
            <p:ph type="dt" sz="half" idx="10"/>
          </p:nvPr>
        </p:nvSpPr>
        <p:spPr/>
        <p:txBody>
          <a:bodyPr/>
          <a:lstStyle/>
          <a:p>
            <a:fld id="{1210552C-D2EE-429C-8F10-87868A576033}" type="datetimeFigureOut">
              <a:rPr lang="en-US" smtClean="0"/>
              <a:t>4/2/2026</a:t>
            </a:fld>
            <a:endParaRPr lang="en-US"/>
          </a:p>
        </p:txBody>
      </p:sp>
      <p:sp>
        <p:nvSpPr>
          <p:cNvPr id="6" name="Footer Placeholder 5">
            <a:extLst>
              <a:ext uri="{FF2B5EF4-FFF2-40B4-BE49-F238E27FC236}">
                <a16:creationId xmlns:a16="http://schemas.microsoft.com/office/drawing/2014/main" id="{F2310BE9-B419-4141-8EAA-CFBABC3F0A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B2B25-636C-49A9-A2AD-03474D97DB64}"/>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34611752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C580F-5DE3-4802-AB94-5C551C56CA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06DEFB-C589-4867-B1A6-2F636336E0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4072145-8E5B-40E1-955E-311B0ECEE08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605866-8DB6-4992-BDD7-07F154682F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596DCED-16F6-45C3-9DCC-3194AA7FF3F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869C04-23DD-49C9-A9CA-67FC48A17B34}"/>
              </a:ext>
            </a:extLst>
          </p:cNvPr>
          <p:cNvSpPr>
            <a:spLocks noGrp="1"/>
          </p:cNvSpPr>
          <p:nvPr>
            <p:ph type="dt" sz="half" idx="10"/>
          </p:nvPr>
        </p:nvSpPr>
        <p:spPr/>
        <p:txBody>
          <a:bodyPr/>
          <a:lstStyle/>
          <a:p>
            <a:fld id="{1210552C-D2EE-429C-8F10-87868A576033}" type="datetimeFigureOut">
              <a:rPr lang="en-US" smtClean="0"/>
              <a:t>4/2/2026</a:t>
            </a:fld>
            <a:endParaRPr lang="en-US"/>
          </a:p>
        </p:txBody>
      </p:sp>
      <p:sp>
        <p:nvSpPr>
          <p:cNvPr id="8" name="Footer Placeholder 7">
            <a:extLst>
              <a:ext uri="{FF2B5EF4-FFF2-40B4-BE49-F238E27FC236}">
                <a16:creationId xmlns:a16="http://schemas.microsoft.com/office/drawing/2014/main" id="{0B0DED90-6357-473E-9649-9412162B81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60121F-D176-4BD8-A8AE-0EDF3436D73B}"/>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1586559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E1BE2-3645-4604-AA51-CCA02B5A2C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F1B2D3-2F30-4757-ACF9-6EAEC869FC3C}"/>
              </a:ext>
            </a:extLst>
          </p:cNvPr>
          <p:cNvSpPr>
            <a:spLocks noGrp="1"/>
          </p:cNvSpPr>
          <p:nvPr>
            <p:ph type="dt" sz="half" idx="10"/>
          </p:nvPr>
        </p:nvSpPr>
        <p:spPr/>
        <p:txBody>
          <a:bodyPr/>
          <a:lstStyle/>
          <a:p>
            <a:fld id="{1210552C-D2EE-429C-8F10-87868A576033}" type="datetimeFigureOut">
              <a:rPr lang="en-US" smtClean="0"/>
              <a:t>4/2/2026</a:t>
            </a:fld>
            <a:endParaRPr lang="en-US"/>
          </a:p>
        </p:txBody>
      </p:sp>
      <p:sp>
        <p:nvSpPr>
          <p:cNvPr id="4" name="Footer Placeholder 3">
            <a:extLst>
              <a:ext uri="{FF2B5EF4-FFF2-40B4-BE49-F238E27FC236}">
                <a16:creationId xmlns:a16="http://schemas.microsoft.com/office/drawing/2014/main" id="{448B7B7B-0050-4B5B-842C-B81B757577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F7F962-DE99-4D14-AF88-3918B8F59A82}"/>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16647138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336AD3-A99A-4152-9828-DA9C8AC5088B}"/>
              </a:ext>
            </a:extLst>
          </p:cNvPr>
          <p:cNvSpPr>
            <a:spLocks noGrp="1"/>
          </p:cNvSpPr>
          <p:nvPr>
            <p:ph type="dt" sz="half" idx="10"/>
          </p:nvPr>
        </p:nvSpPr>
        <p:spPr/>
        <p:txBody>
          <a:bodyPr/>
          <a:lstStyle/>
          <a:p>
            <a:fld id="{1210552C-D2EE-429C-8F10-87868A576033}" type="datetimeFigureOut">
              <a:rPr lang="en-US" smtClean="0"/>
              <a:t>4/2/2026</a:t>
            </a:fld>
            <a:endParaRPr lang="en-US"/>
          </a:p>
        </p:txBody>
      </p:sp>
      <p:sp>
        <p:nvSpPr>
          <p:cNvPr id="3" name="Footer Placeholder 2">
            <a:extLst>
              <a:ext uri="{FF2B5EF4-FFF2-40B4-BE49-F238E27FC236}">
                <a16:creationId xmlns:a16="http://schemas.microsoft.com/office/drawing/2014/main" id="{71FE5AFF-0B74-49EF-836A-6AB403A7EE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525EFA-1A8E-48BE-BCF0-A4EDCA1916C9}"/>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863800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5B29-6546-4270-8053-079AF003CE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5F534A-7F7F-4C5A-ADD0-DF775C0A40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2DCEAE-DDC0-47C2-806B-2EA0D66FA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5A841BC-169D-487B-866B-06193FB50550}"/>
              </a:ext>
            </a:extLst>
          </p:cNvPr>
          <p:cNvSpPr>
            <a:spLocks noGrp="1"/>
          </p:cNvSpPr>
          <p:nvPr>
            <p:ph type="dt" sz="half" idx="10"/>
          </p:nvPr>
        </p:nvSpPr>
        <p:spPr/>
        <p:txBody>
          <a:bodyPr/>
          <a:lstStyle/>
          <a:p>
            <a:fld id="{1210552C-D2EE-429C-8F10-87868A576033}" type="datetimeFigureOut">
              <a:rPr lang="en-US" smtClean="0"/>
              <a:t>4/2/2026</a:t>
            </a:fld>
            <a:endParaRPr lang="en-US"/>
          </a:p>
        </p:txBody>
      </p:sp>
      <p:sp>
        <p:nvSpPr>
          <p:cNvPr id="6" name="Footer Placeholder 5">
            <a:extLst>
              <a:ext uri="{FF2B5EF4-FFF2-40B4-BE49-F238E27FC236}">
                <a16:creationId xmlns:a16="http://schemas.microsoft.com/office/drawing/2014/main" id="{F756DD77-C322-4158-B590-40B140DDEB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CD8DE7-664A-45BB-890E-353D2EAC0748}"/>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518889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D0D41-7458-4A2E-80B7-EDAF79A62A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8A3135-255B-493E-A673-E4AD9888CF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252E37-FFA0-48E8-A4A3-FF5975E58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8292746-D8A5-46E0-8DCF-F14A65F60362}"/>
              </a:ext>
            </a:extLst>
          </p:cNvPr>
          <p:cNvSpPr>
            <a:spLocks noGrp="1"/>
          </p:cNvSpPr>
          <p:nvPr>
            <p:ph type="dt" sz="half" idx="10"/>
          </p:nvPr>
        </p:nvSpPr>
        <p:spPr/>
        <p:txBody>
          <a:bodyPr/>
          <a:lstStyle/>
          <a:p>
            <a:fld id="{1210552C-D2EE-429C-8F10-87868A576033}" type="datetimeFigureOut">
              <a:rPr lang="en-US" smtClean="0"/>
              <a:t>4/2/2026</a:t>
            </a:fld>
            <a:endParaRPr lang="en-US"/>
          </a:p>
        </p:txBody>
      </p:sp>
      <p:sp>
        <p:nvSpPr>
          <p:cNvPr id="6" name="Footer Placeholder 5">
            <a:extLst>
              <a:ext uri="{FF2B5EF4-FFF2-40B4-BE49-F238E27FC236}">
                <a16:creationId xmlns:a16="http://schemas.microsoft.com/office/drawing/2014/main" id="{847C0451-133E-4015-B1A7-1171A1BEFB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8C6061-593B-4067-BC28-F60009237A7B}"/>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628415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EC986-062D-4268-AAF8-628F962CE3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3DFF04-5BCB-4BCB-A68C-36DC2BFE35A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A146C0-7B1B-451D-98F1-CD73A586BBB1}"/>
              </a:ext>
            </a:extLst>
          </p:cNvPr>
          <p:cNvSpPr>
            <a:spLocks noGrp="1"/>
          </p:cNvSpPr>
          <p:nvPr>
            <p:ph type="dt" sz="half" idx="10"/>
          </p:nvPr>
        </p:nvSpPr>
        <p:spPr/>
        <p:txBody>
          <a:bodyPr/>
          <a:lstStyle/>
          <a:p>
            <a:fld id="{1210552C-D2EE-429C-8F10-87868A576033}" type="datetimeFigureOut">
              <a:rPr lang="en-US" smtClean="0"/>
              <a:t>4/2/2026</a:t>
            </a:fld>
            <a:endParaRPr lang="en-US"/>
          </a:p>
        </p:txBody>
      </p:sp>
      <p:sp>
        <p:nvSpPr>
          <p:cNvPr id="5" name="Footer Placeholder 4">
            <a:extLst>
              <a:ext uri="{FF2B5EF4-FFF2-40B4-BE49-F238E27FC236}">
                <a16:creationId xmlns:a16="http://schemas.microsoft.com/office/drawing/2014/main" id="{EFD2749D-CAB0-4871-907A-8B5FB39E5C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E692D2-D623-4F67-88F3-370FB72B018E}"/>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1429351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20A2EB-8377-4CAB-BD90-CE047EF81A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A36EDB-7A09-4D57-ABD4-16B46459250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9B29B3-93C4-4FB7-9BD2-B7196BD476AA}"/>
              </a:ext>
            </a:extLst>
          </p:cNvPr>
          <p:cNvSpPr>
            <a:spLocks noGrp="1"/>
          </p:cNvSpPr>
          <p:nvPr>
            <p:ph type="dt" sz="half" idx="10"/>
          </p:nvPr>
        </p:nvSpPr>
        <p:spPr/>
        <p:txBody>
          <a:bodyPr/>
          <a:lstStyle/>
          <a:p>
            <a:fld id="{1210552C-D2EE-429C-8F10-87868A576033}" type="datetimeFigureOut">
              <a:rPr lang="en-US" smtClean="0"/>
              <a:t>4/2/2026</a:t>
            </a:fld>
            <a:endParaRPr lang="en-US"/>
          </a:p>
        </p:txBody>
      </p:sp>
      <p:sp>
        <p:nvSpPr>
          <p:cNvPr id="5" name="Footer Placeholder 4">
            <a:extLst>
              <a:ext uri="{FF2B5EF4-FFF2-40B4-BE49-F238E27FC236}">
                <a16:creationId xmlns:a16="http://schemas.microsoft.com/office/drawing/2014/main" id="{4538B756-1600-499F-A625-3E554C34EC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EB865B-EE72-44AB-9195-7B97EF3E9065}"/>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1553161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285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5" y="4352544"/>
            <a:ext cx="6801612" cy="1239894"/>
          </a:xfrm>
          <a:noFill/>
        </p:spPr>
        <p:txBody>
          <a:bodyPr>
            <a:normAutofit/>
          </a:bodyPr>
          <a:lstStyle>
            <a:lvl1pPr marL="0" indent="0" algn="ctr">
              <a:buNone/>
              <a:defRPr sz="15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BC1D1087-A499-403C-9706-56256D6A62D2}"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91829727"/>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1D1087-A499-403C-9706-56256D6A62D2}"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8640401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285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5" y="4352465"/>
            <a:ext cx="6801612" cy="126508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BC1D1087-A499-403C-9706-56256D6A62D2}"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696150528"/>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7"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BC1D1087-A499-403C-9706-56256D6A62D2}" type="datetimeFigureOut">
              <a:rPr lang="en-US" smtClean="0"/>
              <a:t>4/2/2026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2381474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5"/>
            <a:ext cx="4270248" cy="704087"/>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7"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5"/>
            <a:ext cx="4270248" cy="704087"/>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7" name="Date Placeholder 6"/>
          <p:cNvSpPr>
            <a:spLocks noGrp="1"/>
          </p:cNvSpPr>
          <p:nvPr>
            <p:ph type="dt" sz="half" idx="10"/>
          </p:nvPr>
        </p:nvSpPr>
        <p:spPr/>
        <p:txBody>
          <a:bodyPr/>
          <a:lstStyle/>
          <a:p>
            <a:fld id="{BC1D1087-A499-403C-9706-56256D6A62D2}"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7469594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1D1087-A499-403C-9706-56256D6A62D2}"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1198414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1D1087-A499-403C-9706-56256D6A62D2}"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4253730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30"/>
            <a:ext cx="4486656" cy="1141497"/>
          </a:xfrm>
          <a:solidFill>
            <a:srgbClr val="FFFFFF"/>
          </a:solidFill>
          <a:ln>
            <a:solidFill>
              <a:srgbClr val="404040"/>
            </a:solidFill>
          </a:ln>
        </p:spPr>
        <p:txBody>
          <a:bodyPr anchor="ctr" anchorCtr="1">
            <a:normAutofit/>
          </a:bodyPr>
          <a:lstStyle>
            <a:lvl1pPr>
              <a:defRPr sz="165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9" name="Date Placeholder 8"/>
          <p:cNvSpPr>
            <a:spLocks noGrp="1"/>
          </p:cNvSpPr>
          <p:nvPr>
            <p:ph type="dt" sz="half" idx="10"/>
          </p:nvPr>
        </p:nvSpPr>
        <p:spPr/>
        <p:txBody>
          <a:bodyPr/>
          <a:lstStyle/>
          <a:p>
            <a:fld id="{BC1D1087-A499-403C-9706-56256D6A62D2}" type="datetimeFigureOut">
              <a:rPr lang="en-US" smtClean="0"/>
              <a:t>4/2/2026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0853636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2"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9" cy="1134640"/>
          </a:xfrm>
          <a:solidFill>
            <a:srgbClr val="FFFFFF"/>
          </a:solidFill>
          <a:ln>
            <a:solidFill>
              <a:srgbClr val="404040"/>
            </a:solidFill>
          </a:ln>
        </p:spPr>
        <p:txBody>
          <a:bodyPr anchor="ctr" anchorCtr="1">
            <a:noAutofit/>
          </a:bodyPr>
          <a:lstStyle>
            <a:lvl1pPr>
              <a:defRPr sz="165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6001" y="0"/>
            <a:ext cx="6102097" cy="6858000"/>
          </a:xfrm>
          <a:solidFill>
            <a:schemeClr val="bg1">
              <a:lumMod val="75000"/>
            </a:schemeClr>
          </a:solidFill>
        </p:spPr>
        <p:txBody>
          <a:bodyPr anchor="t"/>
          <a:lstStyle>
            <a:lvl1pPr marL="0" indent="0">
              <a:buNone/>
              <a:defRPr sz="2400">
                <a:solidFill>
                  <a:schemeClr val="bg1">
                    <a:lumMod val="85000"/>
                    <a:lumOff val="15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115568" y="3549920"/>
            <a:ext cx="3794760" cy="219403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C1D1087-A499-403C-9706-56256D6A62D2}" type="datetimeFigureOut">
              <a:rPr lang="en-US" smtClean="0"/>
              <a:t>4/2/2026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617249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1D1087-A499-403C-9706-56256D6A62D2}"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969051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7"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1D1087-A499-403C-9706-56256D6A62D2}"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3104430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9B7F-7CFC-939E-D9C8-5AC210BD6A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22C5D8-6DAF-D0DC-8432-AC9AB121AB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56625E-7481-E689-219E-D355FD7D094A}"/>
              </a:ext>
            </a:extLst>
          </p:cNvPr>
          <p:cNvSpPr>
            <a:spLocks noGrp="1"/>
          </p:cNvSpPr>
          <p:nvPr>
            <p:ph type="dt" sz="half" idx="10"/>
          </p:nvPr>
        </p:nvSpPr>
        <p:spPr/>
        <p:txBody>
          <a:bodyPr/>
          <a:lstStyle/>
          <a:p>
            <a:fld id="{CCA18DE0-C786-4B81-A280-816435620A3C}" type="datetimeFigureOut">
              <a:rPr lang="en-US" smtClean="0"/>
              <a:t>4/2/2026</a:t>
            </a:fld>
            <a:endParaRPr lang="en-US"/>
          </a:p>
        </p:txBody>
      </p:sp>
      <p:sp>
        <p:nvSpPr>
          <p:cNvPr id="5" name="Footer Placeholder 4">
            <a:extLst>
              <a:ext uri="{FF2B5EF4-FFF2-40B4-BE49-F238E27FC236}">
                <a16:creationId xmlns:a16="http://schemas.microsoft.com/office/drawing/2014/main" id="{CABD3010-B82D-363D-FA3B-9099012669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345D17-63C7-0808-9657-96AD3778B6D7}"/>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367164278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611C4-7B35-4509-4346-C0C273ECD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3D39C3-BD5C-64A3-3A89-CBC0E0E6D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6F4B79-3A5C-37D8-2E0F-27F17A593E62}"/>
              </a:ext>
            </a:extLst>
          </p:cNvPr>
          <p:cNvSpPr>
            <a:spLocks noGrp="1"/>
          </p:cNvSpPr>
          <p:nvPr>
            <p:ph type="dt" sz="half" idx="10"/>
          </p:nvPr>
        </p:nvSpPr>
        <p:spPr/>
        <p:txBody>
          <a:bodyPr/>
          <a:lstStyle/>
          <a:p>
            <a:fld id="{CCA18DE0-C786-4B81-A280-816435620A3C}" type="datetimeFigureOut">
              <a:rPr lang="en-US" smtClean="0"/>
              <a:t>4/2/2026</a:t>
            </a:fld>
            <a:endParaRPr lang="en-US"/>
          </a:p>
        </p:txBody>
      </p:sp>
      <p:sp>
        <p:nvSpPr>
          <p:cNvPr id="5" name="Footer Placeholder 4">
            <a:extLst>
              <a:ext uri="{FF2B5EF4-FFF2-40B4-BE49-F238E27FC236}">
                <a16:creationId xmlns:a16="http://schemas.microsoft.com/office/drawing/2014/main" id="{5F28BB08-2C52-786E-1027-9A079F2EA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7493C-5341-FB57-406F-AF12D5B05D71}"/>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21544714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28127-74B9-847C-8F77-70E9FCBAAB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56A9DB-1B7E-86AF-18CF-0027969EAC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8E8454-8942-9F09-0553-56E15B3DC2E4}"/>
              </a:ext>
            </a:extLst>
          </p:cNvPr>
          <p:cNvSpPr>
            <a:spLocks noGrp="1"/>
          </p:cNvSpPr>
          <p:nvPr>
            <p:ph type="dt" sz="half" idx="10"/>
          </p:nvPr>
        </p:nvSpPr>
        <p:spPr/>
        <p:txBody>
          <a:bodyPr/>
          <a:lstStyle/>
          <a:p>
            <a:fld id="{CCA18DE0-C786-4B81-A280-816435620A3C}" type="datetimeFigureOut">
              <a:rPr lang="en-US" smtClean="0"/>
              <a:t>4/2/2026</a:t>
            </a:fld>
            <a:endParaRPr lang="en-US"/>
          </a:p>
        </p:txBody>
      </p:sp>
      <p:sp>
        <p:nvSpPr>
          <p:cNvPr id="5" name="Footer Placeholder 4">
            <a:extLst>
              <a:ext uri="{FF2B5EF4-FFF2-40B4-BE49-F238E27FC236}">
                <a16:creationId xmlns:a16="http://schemas.microsoft.com/office/drawing/2014/main" id="{90E5F4F9-3102-709F-FEDA-3E340663E2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8972B-A295-1A12-925C-502D88038D60}"/>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40921952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D1E99-A174-4D4B-027B-C839C4695A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AFD693-1A06-6148-4CB2-0CA5504732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0A3DCB-5CE8-C697-DECB-241DBBD4E6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78820C-2E4D-B7E6-4D4B-8A77FE7668F9}"/>
              </a:ext>
            </a:extLst>
          </p:cNvPr>
          <p:cNvSpPr>
            <a:spLocks noGrp="1"/>
          </p:cNvSpPr>
          <p:nvPr>
            <p:ph type="dt" sz="half" idx="10"/>
          </p:nvPr>
        </p:nvSpPr>
        <p:spPr/>
        <p:txBody>
          <a:bodyPr/>
          <a:lstStyle/>
          <a:p>
            <a:fld id="{CCA18DE0-C786-4B81-A280-816435620A3C}" type="datetimeFigureOut">
              <a:rPr lang="en-US" smtClean="0"/>
              <a:t>4/2/2026</a:t>
            </a:fld>
            <a:endParaRPr lang="en-US"/>
          </a:p>
        </p:txBody>
      </p:sp>
      <p:sp>
        <p:nvSpPr>
          <p:cNvPr id="6" name="Footer Placeholder 5">
            <a:extLst>
              <a:ext uri="{FF2B5EF4-FFF2-40B4-BE49-F238E27FC236}">
                <a16:creationId xmlns:a16="http://schemas.microsoft.com/office/drawing/2014/main" id="{F6AC2F49-B564-D7DA-70EE-0842D18FFA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7C1344-3903-3C70-1A80-9795E40648DD}"/>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2904074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92482-37D4-8DF5-A574-B34D3E6B31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CF5B66-D36C-343D-9F25-215CACA2AC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083C05-E030-FB87-2163-3D7DC22F61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99DEED-2143-A7FF-8440-5FD2EDF9D0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F33D45-EA73-92E1-F159-4D36BDB312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FCA8E8-8E67-2610-EA33-90A90D74E034}"/>
              </a:ext>
            </a:extLst>
          </p:cNvPr>
          <p:cNvSpPr>
            <a:spLocks noGrp="1"/>
          </p:cNvSpPr>
          <p:nvPr>
            <p:ph type="dt" sz="half" idx="10"/>
          </p:nvPr>
        </p:nvSpPr>
        <p:spPr/>
        <p:txBody>
          <a:bodyPr/>
          <a:lstStyle/>
          <a:p>
            <a:fld id="{CCA18DE0-C786-4B81-A280-816435620A3C}" type="datetimeFigureOut">
              <a:rPr lang="en-US" smtClean="0"/>
              <a:t>4/2/2026</a:t>
            </a:fld>
            <a:endParaRPr lang="en-US"/>
          </a:p>
        </p:txBody>
      </p:sp>
      <p:sp>
        <p:nvSpPr>
          <p:cNvPr id="8" name="Footer Placeholder 7">
            <a:extLst>
              <a:ext uri="{FF2B5EF4-FFF2-40B4-BE49-F238E27FC236}">
                <a16:creationId xmlns:a16="http://schemas.microsoft.com/office/drawing/2014/main" id="{8F97B122-78E8-1600-7B5C-15665BBCAB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5C1CCF-6B0B-3BCE-206A-418F2DB0B42A}"/>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6043538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FE00A-BE56-2768-CCBA-4ACE9893BF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40E630-792D-F528-DE7E-4205159BEE1A}"/>
              </a:ext>
            </a:extLst>
          </p:cNvPr>
          <p:cNvSpPr>
            <a:spLocks noGrp="1"/>
          </p:cNvSpPr>
          <p:nvPr>
            <p:ph type="dt" sz="half" idx="10"/>
          </p:nvPr>
        </p:nvSpPr>
        <p:spPr/>
        <p:txBody>
          <a:bodyPr/>
          <a:lstStyle/>
          <a:p>
            <a:fld id="{CCA18DE0-C786-4B81-A280-816435620A3C}" type="datetimeFigureOut">
              <a:rPr lang="en-US" smtClean="0"/>
              <a:t>4/2/2026</a:t>
            </a:fld>
            <a:endParaRPr lang="en-US"/>
          </a:p>
        </p:txBody>
      </p:sp>
      <p:sp>
        <p:nvSpPr>
          <p:cNvPr id="4" name="Footer Placeholder 3">
            <a:extLst>
              <a:ext uri="{FF2B5EF4-FFF2-40B4-BE49-F238E27FC236}">
                <a16:creationId xmlns:a16="http://schemas.microsoft.com/office/drawing/2014/main" id="{EAD8A62C-AFC3-A71F-7FA1-7C6C79D577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DB9FA3-DF40-884E-2945-45E3BC34C0EE}"/>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20250576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D5B98-7E0A-4E53-9F0F-433F42E6F94F}"/>
              </a:ext>
            </a:extLst>
          </p:cNvPr>
          <p:cNvSpPr>
            <a:spLocks noGrp="1"/>
          </p:cNvSpPr>
          <p:nvPr>
            <p:ph type="dt" sz="half" idx="10"/>
          </p:nvPr>
        </p:nvSpPr>
        <p:spPr/>
        <p:txBody>
          <a:bodyPr/>
          <a:lstStyle/>
          <a:p>
            <a:fld id="{CCA18DE0-C786-4B81-A280-816435620A3C}" type="datetimeFigureOut">
              <a:rPr lang="en-US" smtClean="0"/>
              <a:t>4/2/2026</a:t>
            </a:fld>
            <a:endParaRPr lang="en-US"/>
          </a:p>
        </p:txBody>
      </p:sp>
      <p:sp>
        <p:nvSpPr>
          <p:cNvPr id="3" name="Footer Placeholder 2">
            <a:extLst>
              <a:ext uri="{FF2B5EF4-FFF2-40B4-BE49-F238E27FC236}">
                <a16:creationId xmlns:a16="http://schemas.microsoft.com/office/drawing/2014/main" id="{76ADD496-A8F2-4963-76AA-BBDA272468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0FCA0D-1D0E-6195-D111-848C09C771B1}"/>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9889700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2C464-31CF-491C-DED3-114E832B42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5148B6-ADC5-A8D3-E4A2-AA4534F8EB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E5AB75-3867-6E7C-CD8F-ECDFA3DA3A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4EDD6D-F216-168B-F199-0B35E881D553}"/>
              </a:ext>
            </a:extLst>
          </p:cNvPr>
          <p:cNvSpPr>
            <a:spLocks noGrp="1"/>
          </p:cNvSpPr>
          <p:nvPr>
            <p:ph type="dt" sz="half" idx="10"/>
          </p:nvPr>
        </p:nvSpPr>
        <p:spPr/>
        <p:txBody>
          <a:bodyPr/>
          <a:lstStyle/>
          <a:p>
            <a:fld id="{CCA18DE0-C786-4B81-A280-816435620A3C}" type="datetimeFigureOut">
              <a:rPr lang="en-US" smtClean="0"/>
              <a:t>4/2/2026</a:t>
            </a:fld>
            <a:endParaRPr lang="en-US"/>
          </a:p>
        </p:txBody>
      </p:sp>
      <p:sp>
        <p:nvSpPr>
          <p:cNvPr id="6" name="Footer Placeholder 5">
            <a:extLst>
              <a:ext uri="{FF2B5EF4-FFF2-40B4-BE49-F238E27FC236}">
                <a16:creationId xmlns:a16="http://schemas.microsoft.com/office/drawing/2014/main" id="{C1FA60C4-31F0-1A1B-E82E-3861260554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579437-F898-58E9-36E7-BAC9E6E68047}"/>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8582592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95386-0EA6-7B3E-0CF4-F6B0A35C43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B807D5-6E0A-6232-A0AD-93CDF04669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7735A9-4C82-4823-27E6-E0BFC73252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73A2E-8957-406C-2FAF-576FA8471F39}"/>
              </a:ext>
            </a:extLst>
          </p:cNvPr>
          <p:cNvSpPr>
            <a:spLocks noGrp="1"/>
          </p:cNvSpPr>
          <p:nvPr>
            <p:ph type="dt" sz="half" idx="10"/>
          </p:nvPr>
        </p:nvSpPr>
        <p:spPr/>
        <p:txBody>
          <a:bodyPr/>
          <a:lstStyle/>
          <a:p>
            <a:fld id="{CCA18DE0-C786-4B81-A280-816435620A3C}" type="datetimeFigureOut">
              <a:rPr lang="en-US" smtClean="0"/>
              <a:t>4/2/2026</a:t>
            </a:fld>
            <a:endParaRPr lang="en-US"/>
          </a:p>
        </p:txBody>
      </p:sp>
      <p:sp>
        <p:nvSpPr>
          <p:cNvPr id="6" name="Footer Placeholder 5">
            <a:extLst>
              <a:ext uri="{FF2B5EF4-FFF2-40B4-BE49-F238E27FC236}">
                <a16:creationId xmlns:a16="http://schemas.microsoft.com/office/drawing/2014/main" id="{CF7B3E0B-EA59-33D3-4428-34EBD0D030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67235F-6A78-3750-F3A1-CF064FB72AC6}"/>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4395527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87A8E-DA89-B00F-59C8-9A80E15E47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AD0749-0C61-78AF-B4AB-0766217A9D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349A40-C0B6-624C-1643-9399171971C4}"/>
              </a:ext>
            </a:extLst>
          </p:cNvPr>
          <p:cNvSpPr>
            <a:spLocks noGrp="1"/>
          </p:cNvSpPr>
          <p:nvPr>
            <p:ph type="dt" sz="half" idx="10"/>
          </p:nvPr>
        </p:nvSpPr>
        <p:spPr/>
        <p:txBody>
          <a:bodyPr/>
          <a:lstStyle/>
          <a:p>
            <a:fld id="{CCA18DE0-C786-4B81-A280-816435620A3C}" type="datetimeFigureOut">
              <a:rPr lang="en-US" smtClean="0"/>
              <a:t>4/2/2026</a:t>
            </a:fld>
            <a:endParaRPr lang="en-US"/>
          </a:p>
        </p:txBody>
      </p:sp>
      <p:sp>
        <p:nvSpPr>
          <p:cNvPr id="5" name="Footer Placeholder 4">
            <a:extLst>
              <a:ext uri="{FF2B5EF4-FFF2-40B4-BE49-F238E27FC236}">
                <a16:creationId xmlns:a16="http://schemas.microsoft.com/office/drawing/2014/main" id="{4E526577-E22B-4E74-2382-04CB062A72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AEA85-7297-753E-B9B2-EDD61D5CB1AD}"/>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13944087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AAA74C-79C9-1805-DA32-98620DFC58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7A0A4F-056F-36D8-A8AE-86A037D14B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F60AF0-791E-6300-1A99-8A5BBE934394}"/>
              </a:ext>
            </a:extLst>
          </p:cNvPr>
          <p:cNvSpPr>
            <a:spLocks noGrp="1"/>
          </p:cNvSpPr>
          <p:nvPr>
            <p:ph type="dt" sz="half" idx="10"/>
          </p:nvPr>
        </p:nvSpPr>
        <p:spPr/>
        <p:txBody>
          <a:bodyPr/>
          <a:lstStyle/>
          <a:p>
            <a:fld id="{CCA18DE0-C786-4B81-A280-816435620A3C}" type="datetimeFigureOut">
              <a:rPr lang="en-US" smtClean="0"/>
              <a:t>4/2/2026</a:t>
            </a:fld>
            <a:endParaRPr lang="en-US"/>
          </a:p>
        </p:txBody>
      </p:sp>
      <p:sp>
        <p:nvSpPr>
          <p:cNvPr id="5" name="Footer Placeholder 4">
            <a:extLst>
              <a:ext uri="{FF2B5EF4-FFF2-40B4-BE49-F238E27FC236}">
                <a16:creationId xmlns:a16="http://schemas.microsoft.com/office/drawing/2014/main" id="{BF1AD8A5-D500-5DE6-DADB-5E07BB738D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C5D47E-6B20-84ED-6138-5C0DA5F47188}"/>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21909411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9A0E6C2A-85C6-4763-B97A-9CB1A3C5CA1A}" type="datetime1">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44413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F6831CBB-E587-4C0C-A6F8-430621204336}" type="datetime1">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lvl1pPr>
          </a:lstStyle>
          <a:p>
            <a:r>
              <a:rPr lang="en-US" dirty="0"/>
              <a:t>1</a:t>
            </a:r>
          </a:p>
        </p:txBody>
      </p:sp>
    </p:spTree>
    <p:extLst>
      <p:ext uri="{BB962C8B-B14F-4D97-AF65-F5344CB8AC3E}">
        <p14:creationId xmlns:p14="http://schemas.microsoft.com/office/powerpoint/2010/main" val="6418374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DA4A5C29-8B6B-4284-A7DC-DA9815FC9D66}" type="datetime1">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72358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1097280" y="6459785"/>
            <a:ext cx="2472271" cy="365125"/>
          </a:xfrm>
          <a:prstGeom prst="rect">
            <a:avLst/>
          </a:prstGeom>
        </p:spPr>
        <p:txBody>
          <a:bodyPr/>
          <a:lstStyle/>
          <a:p>
            <a:fld id="{0ECD0ED3-E3FF-49C2-BEB6-3CB3BB8F6B01}" type="datetime1">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9109391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097280" y="6459785"/>
            <a:ext cx="2472271" cy="365125"/>
          </a:xfrm>
          <a:prstGeom prst="rect">
            <a:avLst/>
          </a:prstGeom>
        </p:spPr>
        <p:txBody>
          <a:bodyPr/>
          <a:lstStyle/>
          <a:p>
            <a:fld id="{BC1D00F5-7B0B-434C-92F6-D4A501945092}" type="datetime1">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7170203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1097280" y="6459785"/>
            <a:ext cx="2472271" cy="365125"/>
          </a:xfrm>
          <a:prstGeom prst="rect">
            <a:avLst/>
          </a:prstGeom>
        </p:spPr>
        <p:txBody>
          <a:bodyPr/>
          <a:lstStyle/>
          <a:p>
            <a:fld id="{F86AD80F-763D-4800-AC1F-C97D17DD2E33}" type="datetime1">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527897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a:xfrm>
            <a:off x="1097280" y="6459785"/>
            <a:ext cx="2472271" cy="365125"/>
          </a:xfrm>
          <a:prstGeom prst="rect">
            <a:avLst/>
          </a:prstGeom>
        </p:spPr>
        <p:txBody>
          <a:bodyPr/>
          <a:lstStyle/>
          <a:p>
            <a:fld id="{1481E8BD-8411-47D2-BCC1-3CC240AE6870}" type="datetime1">
              <a:rPr lang="en-US" smtClean="0"/>
              <a:t>4/2/2026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4384968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a:prstGeom prst="rect">
            <a:avLst/>
          </a:prstGeom>
        </p:spPr>
        <p:txBody>
          <a:bodyPr/>
          <a:lstStyle>
            <a:lvl1pPr algn="l">
              <a:defRPr/>
            </a:lvl1pPr>
          </a:lstStyle>
          <a:p>
            <a:fld id="{B615E2FD-3C7B-408C-8930-01309CA3A77B}" type="datetime1">
              <a:rPr lang="en-US" smtClean="0"/>
              <a:t>4/2/2026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7EB5961-2DF2-47D3-A538-C3172A95AC44}" type="slidenum">
              <a:rPr lang="en-US" smtClean="0"/>
              <a:t>‹#›</a:t>
            </a:fld>
            <a:endParaRPr lang="en-US"/>
          </a:p>
        </p:txBody>
      </p:sp>
    </p:spTree>
    <p:extLst>
      <p:ext uri="{BB962C8B-B14F-4D97-AF65-F5344CB8AC3E}">
        <p14:creationId xmlns:p14="http://schemas.microsoft.com/office/powerpoint/2010/main" val="2093888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1097280" y="6459785"/>
            <a:ext cx="2472271" cy="365125"/>
          </a:xfrm>
          <a:prstGeom prst="rect">
            <a:avLst/>
          </a:prstGeom>
        </p:spPr>
        <p:txBody>
          <a:bodyPr/>
          <a:lstStyle/>
          <a:p>
            <a:fld id="{5A02716E-CE70-4312-B252-2F0243E2D4E8}" type="datetime1">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9213000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F7467F08-7016-449B-8057-F5CBC8B29386}" type="datetime1">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7819463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63453A84-61F2-4B80-819C-46242AF185E7}" type="datetime1">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4821367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78827-7DAA-4B12-BBA5-27FF5C8BD2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5CE7D9-DC3E-4AB0-8E40-0C04CBA27B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0D79C1-DE76-4FCB-8188-181C040E4FF4}"/>
              </a:ext>
            </a:extLst>
          </p:cNvPr>
          <p:cNvSpPr>
            <a:spLocks noGrp="1"/>
          </p:cNvSpPr>
          <p:nvPr>
            <p:ph type="dt" sz="half" idx="10"/>
          </p:nvPr>
        </p:nvSpPr>
        <p:spPr/>
        <p:txBody>
          <a:bodyPr/>
          <a:lstStyle/>
          <a:p>
            <a:fld id="{BC1D1087-A499-403C-9706-56256D6A62D2}" type="datetimeFigureOut">
              <a:rPr lang="en-US" smtClean="0"/>
              <a:t>4/2/2026</a:t>
            </a:fld>
            <a:endParaRPr lang="en-US"/>
          </a:p>
        </p:txBody>
      </p:sp>
      <p:sp>
        <p:nvSpPr>
          <p:cNvPr id="5" name="Footer Placeholder 4">
            <a:extLst>
              <a:ext uri="{FF2B5EF4-FFF2-40B4-BE49-F238E27FC236}">
                <a16:creationId xmlns:a16="http://schemas.microsoft.com/office/drawing/2014/main" id="{C2405598-672E-4D50-854E-B96733DD55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4805C8-BB65-4C8D-B691-88211A1AA9FE}"/>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2512238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AD076-4798-4C50-A8B1-90B0468016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6131B4-EEF7-4807-8CFA-BB139C1C490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813381-0A75-43C3-B1E7-E16A27D650F3}"/>
              </a:ext>
            </a:extLst>
          </p:cNvPr>
          <p:cNvSpPr>
            <a:spLocks noGrp="1"/>
          </p:cNvSpPr>
          <p:nvPr>
            <p:ph type="dt" sz="half" idx="10"/>
          </p:nvPr>
        </p:nvSpPr>
        <p:spPr/>
        <p:txBody>
          <a:bodyPr/>
          <a:lstStyle/>
          <a:p>
            <a:fld id="{BC1D1087-A499-403C-9706-56256D6A62D2}" type="datetimeFigureOut">
              <a:rPr lang="en-US" smtClean="0"/>
              <a:t>4/2/2026</a:t>
            </a:fld>
            <a:endParaRPr lang="en-US"/>
          </a:p>
        </p:txBody>
      </p:sp>
      <p:sp>
        <p:nvSpPr>
          <p:cNvPr id="5" name="Footer Placeholder 4">
            <a:extLst>
              <a:ext uri="{FF2B5EF4-FFF2-40B4-BE49-F238E27FC236}">
                <a16:creationId xmlns:a16="http://schemas.microsoft.com/office/drawing/2014/main" id="{3CD45E5C-A815-4AAC-A044-A72DB10FF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BF8D4E-A7F2-40E3-A8C3-E9A85B81FCE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53287079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03AF2-1750-42D3-A8EC-CDD7324A7A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1DF344-AA40-4E59-92F2-C2DA544233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7461F01-B958-4045-84C3-B0BB71ED415A}"/>
              </a:ext>
            </a:extLst>
          </p:cNvPr>
          <p:cNvSpPr>
            <a:spLocks noGrp="1"/>
          </p:cNvSpPr>
          <p:nvPr>
            <p:ph type="dt" sz="half" idx="10"/>
          </p:nvPr>
        </p:nvSpPr>
        <p:spPr/>
        <p:txBody>
          <a:bodyPr/>
          <a:lstStyle/>
          <a:p>
            <a:fld id="{BC1D1087-A499-403C-9706-56256D6A62D2}" type="datetimeFigureOut">
              <a:rPr lang="en-US" smtClean="0"/>
              <a:t>4/2/2026</a:t>
            </a:fld>
            <a:endParaRPr lang="en-US"/>
          </a:p>
        </p:txBody>
      </p:sp>
      <p:sp>
        <p:nvSpPr>
          <p:cNvPr id="5" name="Footer Placeholder 4">
            <a:extLst>
              <a:ext uri="{FF2B5EF4-FFF2-40B4-BE49-F238E27FC236}">
                <a16:creationId xmlns:a16="http://schemas.microsoft.com/office/drawing/2014/main" id="{E3CA38DF-389B-4A00-B1DD-FE1B8BAAF5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EC238-8C07-4957-9D43-A464BB5CE8AE}"/>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42365575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1C08A-3821-4D5C-909A-2C45E6CD10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274B3D-856C-47D4-A448-D6C4CBAAF53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3493D3-BBCA-45F3-91CA-7D094F9655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90E599-4AB1-4101-8B86-5D077A72D0A0}"/>
              </a:ext>
            </a:extLst>
          </p:cNvPr>
          <p:cNvSpPr>
            <a:spLocks noGrp="1"/>
          </p:cNvSpPr>
          <p:nvPr>
            <p:ph type="dt" sz="half" idx="10"/>
          </p:nvPr>
        </p:nvSpPr>
        <p:spPr/>
        <p:txBody>
          <a:bodyPr/>
          <a:lstStyle/>
          <a:p>
            <a:fld id="{BC1D1087-A499-403C-9706-56256D6A62D2}" type="datetimeFigureOut">
              <a:rPr lang="en-US" smtClean="0"/>
              <a:t>4/2/2026</a:t>
            </a:fld>
            <a:endParaRPr lang="en-US"/>
          </a:p>
        </p:txBody>
      </p:sp>
      <p:sp>
        <p:nvSpPr>
          <p:cNvPr id="6" name="Footer Placeholder 5">
            <a:extLst>
              <a:ext uri="{FF2B5EF4-FFF2-40B4-BE49-F238E27FC236}">
                <a16:creationId xmlns:a16="http://schemas.microsoft.com/office/drawing/2014/main" id="{181E23CE-AD0B-4D46-AC56-7B7C168BDA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E6DB82-02F1-41A3-B56E-2065A7358113}"/>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96017017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21B23-AB25-4C4E-B792-FDBB1E15B2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F026DB-C6AC-434D-8DD1-074AB824D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FEFF785-4E71-4121-A402-E8FD4B32D72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1338B6-DDF8-4D85-8A93-1DA7C32575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1735309-8E56-4FFD-B8DE-BF2C87DB7E0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94C889-958E-4EDB-A992-ABF68B4D3F54}"/>
              </a:ext>
            </a:extLst>
          </p:cNvPr>
          <p:cNvSpPr>
            <a:spLocks noGrp="1"/>
          </p:cNvSpPr>
          <p:nvPr>
            <p:ph type="dt" sz="half" idx="10"/>
          </p:nvPr>
        </p:nvSpPr>
        <p:spPr/>
        <p:txBody>
          <a:bodyPr/>
          <a:lstStyle/>
          <a:p>
            <a:fld id="{BC1D1087-A499-403C-9706-56256D6A62D2}" type="datetimeFigureOut">
              <a:rPr lang="en-US" smtClean="0"/>
              <a:t>4/2/2026</a:t>
            </a:fld>
            <a:endParaRPr lang="en-US"/>
          </a:p>
        </p:txBody>
      </p:sp>
      <p:sp>
        <p:nvSpPr>
          <p:cNvPr id="8" name="Footer Placeholder 7">
            <a:extLst>
              <a:ext uri="{FF2B5EF4-FFF2-40B4-BE49-F238E27FC236}">
                <a16:creationId xmlns:a16="http://schemas.microsoft.com/office/drawing/2014/main" id="{DCECBBD6-57EE-4AC2-BF91-F33F856504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8224FF-CDF8-4626-985E-37641164FA9F}"/>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81785813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4D6F0-6A61-4D68-9ADD-12ECD765B8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AC6083-803D-40D1-AF86-62B35A100120}"/>
              </a:ext>
            </a:extLst>
          </p:cNvPr>
          <p:cNvSpPr>
            <a:spLocks noGrp="1"/>
          </p:cNvSpPr>
          <p:nvPr>
            <p:ph type="dt" sz="half" idx="10"/>
          </p:nvPr>
        </p:nvSpPr>
        <p:spPr/>
        <p:txBody>
          <a:bodyPr/>
          <a:lstStyle/>
          <a:p>
            <a:fld id="{BC1D1087-A499-403C-9706-56256D6A62D2}" type="datetimeFigureOut">
              <a:rPr lang="en-US" smtClean="0"/>
              <a:t>4/2/2026</a:t>
            </a:fld>
            <a:endParaRPr lang="en-US"/>
          </a:p>
        </p:txBody>
      </p:sp>
      <p:sp>
        <p:nvSpPr>
          <p:cNvPr id="4" name="Footer Placeholder 3">
            <a:extLst>
              <a:ext uri="{FF2B5EF4-FFF2-40B4-BE49-F238E27FC236}">
                <a16:creationId xmlns:a16="http://schemas.microsoft.com/office/drawing/2014/main" id="{06E28194-0D70-40AB-9E2C-52A6C15F48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5B879-22E7-4AFA-BB68-2B949443116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76264331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245807-40C6-44C9-80CA-BFD4B8007C72}"/>
              </a:ext>
            </a:extLst>
          </p:cNvPr>
          <p:cNvSpPr>
            <a:spLocks noGrp="1"/>
          </p:cNvSpPr>
          <p:nvPr>
            <p:ph type="dt" sz="half" idx="10"/>
          </p:nvPr>
        </p:nvSpPr>
        <p:spPr/>
        <p:txBody>
          <a:bodyPr/>
          <a:lstStyle/>
          <a:p>
            <a:fld id="{BC1D1087-A499-403C-9706-56256D6A62D2}" type="datetimeFigureOut">
              <a:rPr lang="en-US" smtClean="0"/>
              <a:t>4/2/2026</a:t>
            </a:fld>
            <a:endParaRPr lang="en-US"/>
          </a:p>
        </p:txBody>
      </p:sp>
      <p:sp>
        <p:nvSpPr>
          <p:cNvPr id="3" name="Footer Placeholder 2">
            <a:extLst>
              <a:ext uri="{FF2B5EF4-FFF2-40B4-BE49-F238E27FC236}">
                <a16:creationId xmlns:a16="http://schemas.microsoft.com/office/drawing/2014/main" id="{7590DC38-D02A-4F45-A87E-775BB3719C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59F3A2-CBE7-404E-AED4-60C437788B5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5205674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1898D-83DC-4932-8FCF-C9612815C2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4D70E1-EFA7-4F48-ABFB-AF343677D2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4D2C29-36E8-430E-BE9C-06B62E230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40C6058-FD47-4A03-BFF1-4954DDC6A959}"/>
              </a:ext>
            </a:extLst>
          </p:cNvPr>
          <p:cNvSpPr>
            <a:spLocks noGrp="1"/>
          </p:cNvSpPr>
          <p:nvPr>
            <p:ph type="dt" sz="half" idx="10"/>
          </p:nvPr>
        </p:nvSpPr>
        <p:spPr/>
        <p:txBody>
          <a:bodyPr/>
          <a:lstStyle/>
          <a:p>
            <a:fld id="{BC1D1087-A499-403C-9706-56256D6A62D2}" type="datetimeFigureOut">
              <a:rPr lang="en-US" smtClean="0"/>
              <a:t>4/2/2026</a:t>
            </a:fld>
            <a:endParaRPr lang="en-US"/>
          </a:p>
        </p:txBody>
      </p:sp>
      <p:sp>
        <p:nvSpPr>
          <p:cNvPr id="6" name="Footer Placeholder 5">
            <a:extLst>
              <a:ext uri="{FF2B5EF4-FFF2-40B4-BE49-F238E27FC236}">
                <a16:creationId xmlns:a16="http://schemas.microsoft.com/office/drawing/2014/main" id="{4E4533B8-BA50-49E8-8F51-5FFAD31F0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60799A-F109-4FFB-8FE4-78B1B964464D}"/>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7759259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FD8E-6853-4457-9E2A-560147A384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3367B8-7F55-4B6B-8DC1-CA7466A2E0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F435A9-F101-4D1C-9344-C46AD7B5C2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019DC05-BE1A-4423-ABAB-5C90D9A73D36}"/>
              </a:ext>
            </a:extLst>
          </p:cNvPr>
          <p:cNvSpPr>
            <a:spLocks noGrp="1"/>
          </p:cNvSpPr>
          <p:nvPr>
            <p:ph type="dt" sz="half" idx="10"/>
          </p:nvPr>
        </p:nvSpPr>
        <p:spPr/>
        <p:txBody>
          <a:bodyPr/>
          <a:lstStyle/>
          <a:p>
            <a:fld id="{BC1D1087-A499-403C-9706-56256D6A62D2}" type="datetimeFigureOut">
              <a:rPr lang="en-US" smtClean="0"/>
              <a:t>4/2/2026</a:t>
            </a:fld>
            <a:endParaRPr lang="en-US"/>
          </a:p>
        </p:txBody>
      </p:sp>
      <p:sp>
        <p:nvSpPr>
          <p:cNvPr id="6" name="Footer Placeholder 5">
            <a:extLst>
              <a:ext uri="{FF2B5EF4-FFF2-40B4-BE49-F238E27FC236}">
                <a16:creationId xmlns:a16="http://schemas.microsoft.com/office/drawing/2014/main" id="{6EAF8F60-6705-4B79-98FA-D02C3FFDA7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22494-3A9F-40FD-83DF-C79D3F43B525}"/>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48219125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AD530-FD25-4393-95C3-66ECAD601A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D12BA7-0160-45FB-8877-6ACB0F6429D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A91E08-0225-43D6-AE4D-3EF59ED63FA2}"/>
              </a:ext>
            </a:extLst>
          </p:cNvPr>
          <p:cNvSpPr>
            <a:spLocks noGrp="1"/>
          </p:cNvSpPr>
          <p:nvPr>
            <p:ph type="dt" sz="half" idx="10"/>
          </p:nvPr>
        </p:nvSpPr>
        <p:spPr/>
        <p:txBody>
          <a:bodyPr/>
          <a:lstStyle/>
          <a:p>
            <a:fld id="{BC1D1087-A499-403C-9706-56256D6A62D2}" type="datetimeFigureOut">
              <a:rPr lang="en-US" smtClean="0"/>
              <a:t>4/2/2026</a:t>
            </a:fld>
            <a:endParaRPr lang="en-US"/>
          </a:p>
        </p:txBody>
      </p:sp>
      <p:sp>
        <p:nvSpPr>
          <p:cNvPr id="5" name="Footer Placeholder 4">
            <a:extLst>
              <a:ext uri="{FF2B5EF4-FFF2-40B4-BE49-F238E27FC236}">
                <a16:creationId xmlns:a16="http://schemas.microsoft.com/office/drawing/2014/main" id="{71948B2C-1FFD-4D0C-A29A-6743E0A623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A02C6A-83F2-4C44-92F1-CAD39BE768A9}"/>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80107316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3EFAE8-9B12-4E1E-876E-310AD2FB1E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753A4B-4004-4596-A7F8-17D75B91D33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4476B8-A8D0-415B-9638-B6A6AFE967B9}"/>
              </a:ext>
            </a:extLst>
          </p:cNvPr>
          <p:cNvSpPr>
            <a:spLocks noGrp="1"/>
          </p:cNvSpPr>
          <p:nvPr>
            <p:ph type="dt" sz="half" idx="10"/>
          </p:nvPr>
        </p:nvSpPr>
        <p:spPr/>
        <p:txBody>
          <a:bodyPr/>
          <a:lstStyle/>
          <a:p>
            <a:fld id="{BC1D1087-A499-403C-9706-56256D6A62D2}" type="datetimeFigureOut">
              <a:rPr lang="en-US" smtClean="0"/>
              <a:t>4/2/2026</a:t>
            </a:fld>
            <a:endParaRPr lang="en-US"/>
          </a:p>
        </p:txBody>
      </p:sp>
      <p:sp>
        <p:nvSpPr>
          <p:cNvPr id="5" name="Footer Placeholder 4">
            <a:extLst>
              <a:ext uri="{FF2B5EF4-FFF2-40B4-BE49-F238E27FC236}">
                <a16:creationId xmlns:a16="http://schemas.microsoft.com/office/drawing/2014/main" id="{ADD18B58-4B67-4A0C-92F4-24A7241D3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B9D46-566C-473A-9F38-4F26001360D1}"/>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0633526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6" y="770467"/>
            <a:ext cx="10782300" cy="3352800"/>
          </a:xfrm>
        </p:spPr>
        <p:txBody>
          <a:bodyPr anchor="b">
            <a:noAutofit/>
          </a:bodyPr>
          <a:lstStyle>
            <a:lvl1pPr algn="l">
              <a:lnSpc>
                <a:spcPct val="80000"/>
              </a:lnSpc>
              <a:defRPr sz="4950" spc="-68"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4" y="4206876"/>
            <a:ext cx="9228201" cy="1645920"/>
          </a:xfrm>
        </p:spPr>
        <p:txBody>
          <a:bodyPr>
            <a:normAutofit/>
          </a:bodyPr>
          <a:lstStyle>
            <a:lvl1pPr marL="0" indent="0" algn="l">
              <a:buNone/>
              <a:defRPr sz="1800">
                <a:solidFill>
                  <a:schemeClr val="bg1"/>
                </a:solidFill>
                <a:latin typeface="+mj-lt"/>
              </a:defRPr>
            </a:lvl1pPr>
            <a:lvl2pPr marL="257175" indent="0" algn="ctr">
              <a:buNone/>
              <a:defRPr sz="1575"/>
            </a:lvl2pPr>
            <a:lvl3pPr marL="514350" indent="0" algn="ctr">
              <a:buNone/>
              <a:defRPr sz="1350"/>
            </a:lvl3pPr>
            <a:lvl4pPr marL="771525" indent="0" algn="ctr">
              <a:buNone/>
              <a:defRPr sz="1125"/>
            </a:lvl4pPr>
            <a:lvl5pPr marL="1028700" indent="0" algn="ctr">
              <a:buNone/>
              <a:defRPr sz="1125"/>
            </a:lvl5pPr>
            <a:lvl6pPr marL="1285875" indent="0" algn="ctr">
              <a:buNone/>
              <a:defRPr sz="1125"/>
            </a:lvl6pPr>
            <a:lvl7pPr marL="1543050" indent="0" algn="ctr">
              <a:buNone/>
              <a:defRPr sz="1125"/>
            </a:lvl7pPr>
            <a:lvl8pPr marL="1800225" indent="0" algn="ctr">
              <a:buNone/>
              <a:defRPr sz="1125"/>
            </a:lvl8pPr>
            <a:lvl9pPr marL="2057400" indent="0" algn="ctr">
              <a:buNone/>
              <a:defRPr sz="1125"/>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AF239A9A-B4B0-4B32-B8CD-2E25E95134C4}" type="datetimeFigureOut">
              <a:rPr lang="en-US" smtClean="0"/>
              <a:t>4/2/2026</a:t>
            </a:fld>
            <a:endParaRPr lang="en-US" dirty="0"/>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92705263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1E21DC-8981-44E6-BC8C-2BA8F673FFBB}"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5628774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495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1800">
                <a:solidFill>
                  <a:schemeClr val="tx1"/>
                </a:solidFill>
                <a:latin typeface="+mj-lt"/>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EB9C5D3-0140-4E75-8D7F-C0623D06DFD7}"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9105507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1" y="1998134"/>
            <a:ext cx="4663440" cy="376732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5666F9-5B40-48E0-8DFD-99EF944CDD22}" type="datetimeFigureOut">
              <a:rPr lang="en-US" smtClean="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0047521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1238" b="0" cap="all" baseline="0">
                <a:solidFill>
                  <a:schemeClr val="tx1">
                    <a:lumMod val="85000"/>
                    <a:lumOff val="15000"/>
                  </a:schemeClr>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1238" b="0" cap="all" baseline="0">
                <a:solidFill>
                  <a:schemeClr val="tx1">
                    <a:lumMod val="85000"/>
                    <a:lumOff val="15000"/>
                  </a:schemeClr>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698D6B-2C72-4E21-9893-A649C6E2A47D}" type="datetimeFigureOut">
              <a:rPr lang="en-US" smtClean="0"/>
              <a:t>4/2/2026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2252586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6811C9-A66C-49F0-970E-F7B68D9109A0}" type="datetimeFigureOut">
              <a:rPr lang="en-US" smtClean="0"/>
              <a:t>4/2/2026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0597430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1AE78-96A2-4A23-B183-3B6DB4374FE7}" type="datetimeFigureOut">
              <a:rPr lang="en-US" smtClean="0"/>
              <a:t>4/2/2026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3102716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225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3" y="2511813"/>
            <a:ext cx="3398520" cy="3126987"/>
          </a:xfrm>
        </p:spPr>
        <p:txBody>
          <a:bodyPr>
            <a:normAutofit/>
          </a:bodyPr>
          <a:lstStyle>
            <a:lvl1pPr marL="0" marR="0" indent="0" algn="l" defTabSz="514350" rtl="0" eaLnBrk="1" fontAlgn="auto" latinLnBrk="0" hangingPunct="1">
              <a:lnSpc>
                <a:spcPct val="100000"/>
              </a:lnSpc>
              <a:spcBef>
                <a:spcPts val="675"/>
              </a:spcBef>
              <a:spcAft>
                <a:spcPts val="0"/>
              </a:spcAft>
              <a:buClrTx/>
              <a:buSzTx/>
              <a:buFontTx/>
              <a:buNone/>
              <a:tabLst/>
              <a:defRPr sz="1013">
                <a:solidFill>
                  <a:srgbClr val="262626"/>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marL="0" marR="0" lvl="0" indent="0" algn="l" defTabSz="514350" rtl="0" eaLnBrk="1" fontAlgn="auto" latinLnBrk="0" hangingPunct="1">
              <a:lnSpc>
                <a:spcPct val="100000"/>
              </a:lnSpc>
              <a:spcBef>
                <a:spcPts val="788"/>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fld id="{73AE0757-B101-4811-9189-10EB2F458E2D}" type="datetimeFigureOut">
              <a:rPr lang="en-US" smtClean="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77693592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71"/>
            <a:ext cx="10780776" cy="613283"/>
          </a:xfrm>
        </p:spPr>
        <p:txBody>
          <a:bodyPr anchor="b">
            <a:normAutofit/>
          </a:bodyPr>
          <a:lstStyle>
            <a:lvl1pPr>
              <a:defRPr sz="18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450"/>
              </a:spcBef>
              <a:buNone/>
              <a:defRPr sz="1800">
                <a:solidFill>
                  <a:schemeClr val="tx1">
                    <a:lumMod val="75000"/>
                    <a:lumOff val="25000"/>
                  </a:schemeClr>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788">
                <a:solidFill>
                  <a:srgbClr val="262626"/>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7EBDC078-589F-40E3-816C-EE21D62B5BBA}" type="datetimeFigureOut">
              <a:rPr lang="en-US" smtClean="0"/>
              <a:t>4/2/2026</a:t>
            </a:fld>
            <a:endParaRPr lang="en-US" dirty="0"/>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223611971"/>
      </p:ext>
    </p:extLst>
  </p:cSld>
  <p:clrMapOvr>
    <a:overrideClrMapping bg1="lt1" tx1="dk1" bg2="lt2" tx2="dk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61E721-B01C-4D5D-A3CA-2E5518383F1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1701764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1"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6" y="714379"/>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13FEF9-69D0-4F8C-A336-59491FBEDC47}"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1364294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3A6A481-4185-416C-B0AE-3D8396B35273}" type="slidenum">
              <a:rPr lang="en-US" altLang="en-US"/>
              <a:pPr>
                <a:defRPr/>
              </a:pPr>
              <a:t>‹#›</a:t>
            </a:fld>
            <a:endParaRPr lang="en-US" altLang="en-US"/>
          </a:p>
        </p:txBody>
      </p:sp>
    </p:spTree>
    <p:extLst>
      <p:ext uri="{BB962C8B-B14F-4D97-AF65-F5344CB8AC3E}">
        <p14:creationId xmlns:p14="http://schemas.microsoft.com/office/powerpoint/2010/main" val="143140330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525DAA86-D487-4582-8852-AA829BCF81E2}" type="slidenum">
              <a:rPr lang="en-US" altLang="en-US"/>
              <a:pPr>
                <a:defRPr/>
              </a:pPr>
              <a:t>‹#›</a:t>
            </a:fld>
            <a:endParaRPr lang="en-US" altLang="en-US"/>
          </a:p>
        </p:txBody>
      </p:sp>
    </p:spTree>
    <p:extLst>
      <p:ext uri="{BB962C8B-B14F-4D97-AF65-F5344CB8AC3E}">
        <p14:creationId xmlns:p14="http://schemas.microsoft.com/office/powerpoint/2010/main" val="216402682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225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210BE2E-6396-470C-A5EF-11FD5D874D17}" type="slidenum">
              <a:rPr lang="en-US" altLang="en-US"/>
              <a:pPr>
                <a:defRPr/>
              </a:pPr>
              <a:t>‹#›</a:t>
            </a:fld>
            <a:endParaRPr lang="en-US" altLang="en-US"/>
          </a:p>
        </p:txBody>
      </p:sp>
    </p:spTree>
    <p:extLst>
      <p:ext uri="{BB962C8B-B14F-4D97-AF65-F5344CB8AC3E}">
        <p14:creationId xmlns:p14="http://schemas.microsoft.com/office/powerpoint/2010/main" val="115670090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02F141B5-3D08-4999-8B27-551A22F4C907}" type="slidenum">
              <a:rPr lang="en-US" altLang="en-US"/>
              <a:pPr>
                <a:defRPr/>
              </a:pPr>
              <a:t>‹#›</a:t>
            </a:fld>
            <a:endParaRPr lang="en-US" altLang="en-US"/>
          </a:p>
        </p:txBody>
      </p:sp>
    </p:spTree>
    <p:extLst>
      <p:ext uri="{BB962C8B-B14F-4D97-AF65-F5344CB8AC3E}">
        <p14:creationId xmlns:p14="http://schemas.microsoft.com/office/powerpoint/2010/main" val="350465034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8F17390-B0F6-4A5C-8E97-34214B383216}" type="slidenum">
              <a:rPr lang="en-US" altLang="en-US"/>
              <a:pPr>
                <a:defRPr/>
              </a:pPr>
              <a:t>‹#›</a:t>
            </a:fld>
            <a:endParaRPr lang="en-US" altLang="en-US"/>
          </a:p>
        </p:txBody>
      </p:sp>
    </p:spTree>
    <p:extLst>
      <p:ext uri="{BB962C8B-B14F-4D97-AF65-F5344CB8AC3E}">
        <p14:creationId xmlns:p14="http://schemas.microsoft.com/office/powerpoint/2010/main" val="197786802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94F9B65C-78BE-461D-AE71-441C4988390D}" type="slidenum">
              <a:rPr lang="en-US" altLang="en-US"/>
              <a:pPr>
                <a:defRPr/>
              </a:pPr>
              <a:t>‹#›</a:t>
            </a:fld>
            <a:endParaRPr lang="en-US" altLang="en-US"/>
          </a:p>
        </p:txBody>
      </p:sp>
    </p:spTree>
    <p:extLst>
      <p:ext uri="{BB962C8B-B14F-4D97-AF65-F5344CB8AC3E}">
        <p14:creationId xmlns:p14="http://schemas.microsoft.com/office/powerpoint/2010/main" val="57252757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7FF3451F-0E83-4ABA-9E13-21CF2A3199D9}" type="slidenum">
              <a:rPr lang="en-US" altLang="en-US"/>
              <a:pPr>
                <a:defRPr/>
              </a:pPr>
              <a:t>‹#›</a:t>
            </a:fld>
            <a:endParaRPr lang="en-US" altLang="en-US"/>
          </a:p>
        </p:txBody>
      </p:sp>
    </p:spTree>
    <p:extLst>
      <p:ext uri="{BB962C8B-B14F-4D97-AF65-F5344CB8AC3E}">
        <p14:creationId xmlns:p14="http://schemas.microsoft.com/office/powerpoint/2010/main" val="255488596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1125" b="1"/>
            </a:lvl1pPr>
          </a:lstStyle>
          <a:p>
            <a:r>
              <a:rPr lang="en-US"/>
              <a:t>Click to edit Master title style</a:t>
            </a:r>
          </a:p>
        </p:txBody>
      </p:sp>
      <p:sp>
        <p:nvSpPr>
          <p:cNvPr id="3" name="Content Placeholder 2"/>
          <p:cNvSpPr>
            <a:spLocks noGrp="1"/>
          </p:cNvSpPr>
          <p:nvPr>
            <p:ph idx="1"/>
          </p:nvPr>
        </p:nvSpPr>
        <p:spPr>
          <a:xfrm>
            <a:off x="4766733" y="273055"/>
            <a:ext cx="6815667"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61EF910-1344-4C5D-BC30-2161215A0F62}" type="slidenum">
              <a:rPr lang="en-US" altLang="en-US"/>
              <a:pPr>
                <a:defRPr/>
              </a:pPr>
              <a:t>‹#›</a:t>
            </a:fld>
            <a:endParaRPr lang="en-US" altLang="en-US"/>
          </a:p>
        </p:txBody>
      </p:sp>
    </p:spTree>
    <p:extLst>
      <p:ext uri="{BB962C8B-B14F-4D97-AF65-F5344CB8AC3E}">
        <p14:creationId xmlns:p14="http://schemas.microsoft.com/office/powerpoint/2010/main" val="84622090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125"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3185156-6697-43F4-8AEF-8A7581F10907}" type="slidenum">
              <a:rPr lang="en-US" altLang="en-US"/>
              <a:pPr>
                <a:defRPr/>
              </a:pPr>
              <a:t>‹#›</a:t>
            </a:fld>
            <a:endParaRPr lang="en-US" altLang="en-US"/>
          </a:p>
        </p:txBody>
      </p:sp>
    </p:spTree>
    <p:extLst>
      <p:ext uri="{BB962C8B-B14F-4D97-AF65-F5344CB8AC3E}">
        <p14:creationId xmlns:p14="http://schemas.microsoft.com/office/powerpoint/2010/main" val="192346551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27072B4-7338-4C79-A187-96B50929E634}" type="slidenum">
              <a:rPr lang="en-US" altLang="en-US"/>
              <a:pPr>
                <a:defRPr/>
              </a:pPr>
              <a:t>‹#›</a:t>
            </a:fld>
            <a:endParaRPr lang="en-US" altLang="en-US"/>
          </a:p>
        </p:txBody>
      </p:sp>
    </p:spTree>
    <p:extLst>
      <p:ext uri="{BB962C8B-B14F-4D97-AF65-F5344CB8AC3E}">
        <p14:creationId xmlns:p14="http://schemas.microsoft.com/office/powerpoint/2010/main" val="387812716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1C440989-2367-435C-94F0-B43EE48357AF}" type="slidenum">
              <a:rPr lang="en-US" altLang="en-US"/>
              <a:pPr>
                <a:defRPr/>
              </a:pPr>
              <a:t>‹#›</a:t>
            </a:fld>
            <a:endParaRPr lang="en-US" altLang="en-US"/>
          </a:p>
        </p:txBody>
      </p:sp>
    </p:spTree>
    <p:extLst>
      <p:ext uri="{BB962C8B-B14F-4D97-AF65-F5344CB8AC3E}">
        <p14:creationId xmlns:p14="http://schemas.microsoft.com/office/powerpoint/2010/main" val="3263793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4/2/2026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32076440"/>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31B9A1-2196-4E70-A6E8-F81E3423D6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57A298-1527-4D6F-922F-35E32737A5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B70ED-3BA3-40AD-9D41-D32F67752F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10552C-D2EE-429C-8F10-87868A576033}" type="datetimeFigureOut">
              <a:rPr lang="en-US" smtClean="0"/>
              <a:t>4/2/2026</a:t>
            </a:fld>
            <a:endParaRPr lang="en-US"/>
          </a:p>
        </p:txBody>
      </p:sp>
      <p:sp>
        <p:nvSpPr>
          <p:cNvPr id="5" name="Footer Placeholder 4">
            <a:extLst>
              <a:ext uri="{FF2B5EF4-FFF2-40B4-BE49-F238E27FC236}">
                <a16:creationId xmlns:a16="http://schemas.microsoft.com/office/drawing/2014/main" id="{698A1C5B-F977-4812-AF37-FCC77B94AC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B6E8A7-F108-49E0-A737-B2104CBBA3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A935CD-6950-45A5-B2A5-CC8A5C839D84}" type="slidenum">
              <a:rPr lang="en-US" smtClean="0"/>
              <a:t>‹#›</a:t>
            </a:fld>
            <a:endParaRPr lang="en-US"/>
          </a:p>
        </p:txBody>
      </p:sp>
    </p:spTree>
    <p:extLst>
      <p:ext uri="{BB962C8B-B14F-4D97-AF65-F5344CB8AC3E}">
        <p14:creationId xmlns:p14="http://schemas.microsoft.com/office/powerpoint/2010/main" val="42805207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6"/>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7" cy="323968"/>
          </a:xfrm>
          <a:prstGeom prst="rect">
            <a:avLst/>
          </a:prstGeom>
        </p:spPr>
        <p:txBody>
          <a:bodyPr vert="horz" lIns="91440" tIns="45720" rIns="91440" bIns="45720" rtlCol="0" anchor="ctr"/>
          <a:lstStyle>
            <a:lvl1pPr algn="r">
              <a:defRPr sz="788">
                <a:solidFill>
                  <a:schemeClr val="tx1">
                    <a:alpha val="70000"/>
                  </a:schemeClr>
                </a:solidFill>
              </a:defRPr>
            </a:lvl1pPr>
          </a:lstStyle>
          <a:p>
            <a:fld id="{BC1D1087-A499-403C-9706-56256D6A62D2}" type="datetimeFigureOut">
              <a:rPr lang="en-US" smtClean="0"/>
              <a:t>4/2/2026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788">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3"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825" spc="0" baseline="0">
                <a:solidFill>
                  <a:srgbClr val="FFFFFF"/>
                </a:solidFill>
              </a:defRPr>
            </a:lvl1pPr>
          </a:lstStyle>
          <a:p>
            <a:fld id="{27EB5961-2DF2-47D3-A538-C3172A95AC44}" type="slidenum">
              <a:rPr lang="en-US" smtClean="0"/>
              <a:t>‹#›</a:t>
            </a:fld>
            <a:endParaRPr lang="en-US"/>
          </a:p>
        </p:txBody>
      </p:sp>
    </p:spTree>
    <p:extLst>
      <p:ext uri="{BB962C8B-B14F-4D97-AF65-F5344CB8AC3E}">
        <p14:creationId xmlns:p14="http://schemas.microsoft.com/office/powerpoint/2010/main" val="153735989"/>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xStyles>
    <p:titleStyle>
      <a:lvl1pPr algn="ctr" defTabSz="685800" rtl="0" eaLnBrk="1" latinLnBrk="0" hangingPunct="1">
        <a:lnSpc>
          <a:spcPct val="90000"/>
        </a:lnSpc>
        <a:spcBef>
          <a:spcPct val="0"/>
        </a:spcBef>
        <a:buNone/>
        <a:defRPr sz="2100" kern="1200" cap="all" spc="150" baseline="0">
          <a:solidFill>
            <a:srgbClr val="262626"/>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E7E59B-8EE4-D16B-FBBD-CC3DF40F4D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1B6CCF-402A-C914-7056-1723B18B2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2706DA-83BD-0340-AC0A-6997FFA67D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A18DE0-C786-4B81-A280-816435620A3C}" type="datetimeFigureOut">
              <a:rPr lang="en-US" smtClean="0"/>
              <a:t>4/2/2026</a:t>
            </a:fld>
            <a:endParaRPr lang="en-US"/>
          </a:p>
        </p:txBody>
      </p:sp>
      <p:sp>
        <p:nvSpPr>
          <p:cNvPr id="5" name="Footer Placeholder 4">
            <a:extLst>
              <a:ext uri="{FF2B5EF4-FFF2-40B4-BE49-F238E27FC236}">
                <a16:creationId xmlns:a16="http://schemas.microsoft.com/office/drawing/2014/main" id="{66D27432-7159-D64E-0AF4-78513E6428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31B137-3A41-7711-05AA-F7F9BFC4A0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3F38D7-825B-4323-8E94-8106C1066F5C}" type="slidenum">
              <a:rPr lang="en-US" smtClean="0"/>
              <a:t>‹#›</a:t>
            </a:fld>
            <a:endParaRPr lang="en-US"/>
          </a:p>
        </p:txBody>
      </p:sp>
    </p:spTree>
    <p:extLst>
      <p:ext uri="{BB962C8B-B14F-4D97-AF65-F5344CB8AC3E}">
        <p14:creationId xmlns:p14="http://schemas.microsoft.com/office/powerpoint/2010/main" val="727047947"/>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82599" y="6413747"/>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r>
              <a:rPr lang="en-US" dirty="0"/>
              <a:t>1</a:t>
            </a: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502688"/>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D50097-E68E-47E7-BB42-E331A2C38D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9EECED-6870-4AE0-972D-649C0D4EA6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3A1839-A75A-47AC-B398-AB1C4B7F9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1D1087-A499-403C-9706-56256D6A62D2}" type="datetimeFigureOut">
              <a:rPr lang="en-US" smtClean="0"/>
              <a:t>4/2/2026</a:t>
            </a:fld>
            <a:endParaRPr lang="en-US"/>
          </a:p>
        </p:txBody>
      </p:sp>
      <p:sp>
        <p:nvSpPr>
          <p:cNvPr id="5" name="Footer Placeholder 4">
            <a:extLst>
              <a:ext uri="{FF2B5EF4-FFF2-40B4-BE49-F238E27FC236}">
                <a16:creationId xmlns:a16="http://schemas.microsoft.com/office/drawing/2014/main" id="{273768A3-42FB-4191-9620-3370692C3A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0FEBEB-49AA-415B-9EEE-6AA47D47CC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EB5961-2DF2-47D3-A538-C3172A95AC44}" type="slidenum">
              <a:rPr lang="en-US" smtClean="0"/>
              <a:t>‹#›</a:t>
            </a:fld>
            <a:endParaRPr lang="en-US"/>
          </a:p>
        </p:txBody>
      </p:sp>
    </p:spTree>
    <p:extLst>
      <p:ext uri="{BB962C8B-B14F-4D97-AF65-F5344CB8AC3E}">
        <p14:creationId xmlns:p14="http://schemas.microsoft.com/office/powerpoint/2010/main" val="783903143"/>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7"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535">
                <a:solidFill>
                  <a:schemeClr val="tx1">
                    <a:alpha val="80000"/>
                  </a:schemeClr>
                </a:solidFill>
              </a:defRPr>
            </a:lvl1pPr>
          </a:lstStyle>
          <a:p>
            <a:fld id="{C7004436-CA73-4D53-89B4-2A5C7347BF2F}" type="datetimeFigureOut">
              <a:rPr lang="en-US" smtClean="0"/>
              <a:t>4/2/2026</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535" cap="all" baseline="0">
                <a:solidFill>
                  <a:schemeClr val="tx1">
                    <a:alpha val="80000"/>
                  </a:schemeClr>
                </a:solidFill>
              </a:defRPr>
            </a:lvl1pPr>
          </a:lstStyle>
          <a:p>
            <a:endParaRPr lang="en-US" dirty="0"/>
          </a:p>
        </p:txBody>
      </p:sp>
      <p:sp>
        <p:nvSpPr>
          <p:cNvPr id="6" name="Slide Number Placeholder 5"/>
          <p:cNvSpPr>
            <a:spLocks noGrp="1"/>
          </p:cNvSpPr>
          <p:nvPr>
            <p:ph type="sldNum" sz="quarter" idx="4"/>
          </p:nvPr>
        </p:nvSpPr>
        <p:spPr>
          <a:xfrm>
            <a:off x="8763927" y="5876416"/>
            <a:ext cx="2926080" cy="1397039"/>
          </a:xfrm>
          <a:prstGeom prst="rect">
            <a:avLst/>
          </a:prstGeom>
        </p:spPr>
        <p:txBody>
          <a:bodyPr vert="horz" lIns="91440" tIns="45720" rIns="91440" bIns="45720" rtlCol="0" anchor="b"/>
          <a:lstStyle>
            <a:lvl1pPr algn="r">
              <a:defRPr sz="5794" b="0">
                <a:ln>
                  <a:noFill/>
                </a:ln>
                <a:solidFill>
                  <a:schemeClr val="accent1">
                    <a:alpha val="25000"/>
                  </a:schemeClr>
                </a:solidFill>
                <a:latin typeface="+mj-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85785020"/>
      </p:ext>
    </p:extLst>
  </p:cSld>
  <p:clrMap bg1="lt1" tx1="dk1" bg2="lt2" tx2="dk2" accent1="accent1" accent2="accent2" accent3="accent3" accent4="accent4" accent5="accent5" accent6="accent6" hlink="hlink" folHlink="folHlink"/>
  <p:sldLayoutIdLst>
    <p:sldLayoutId id="2147483945"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 id="2147483954" r:id="rId10"/>
    <p:sldLayoutId id="2147483955" r:id="rId11"/>
  </p:sldLayoutIdLst>
  <p:hf sldNum="0" hdr="0" ftr="0" dt="0"/>
  <p:txStyles>
    <p:titleStyle>
      <a:lvl1pPr algn="l" defTabSz="514350" rtl="0" eaLnBrk="1" latinLnBrk="0" hangingPunct="1">
        <a:lnSpc>
          <a:spcPct val="85000"/>
        </a:lnSpc>
        <a:spcBef>
          <a:spcPct val="0"/>
        </a:spcBef>
        <a:buNone/>
        <a:defRPr sz="3038" kern="1200" spc="-68" baseline="0">
          <a:solidFill>
            <a:schemeClr val="accent1"/>
          </a:solidFill>
          <a:latin typeface="+mj-lt"/>
          <a:ea typeface="+mj-ea"/>
          <a:cs typeface="+mj-cs"/>
        </a:defRPr>
      </a:lvl1pPr>
    </p:titleStyle>
    <p:bodyStyle>
      <a:lvl1pPr marL="51435" indent="-51435" algn="l" defTabSz="514350" rtl="0" eaLnBrk="1" latinLnBrk="0" hangingPunct="1">
        <a:lnSpc>
          <a:spcPct val="85000"/>
        </a:lnSpc>
        <a:spcBef>
          <a:spcPts val="731"/>
        </a:spcBef>
        <a:buFont typeface="Arial" pitchFamily="34" charset="0"/>
        <a:buChar char=" "/>
        <a:defRPr sz="1350" kern="1200">
          <a:solidFill>
            <a:schemeClr val="tx1">
              <a:lumMod val="85000"/>
              <a:lumOff val="15000"/>
            </a:schemeClr>
          </a:solidFill>
          <a:latin typeface="+mn-lt"/>
          <a:ea typeface="+mn-ea"/>
          <a:cs typeface="+mn-cs"/>
        </a:defRPr>
      </a:lvl1pPr>
      <a:lvl2pPr marL="195453" indent="-192881" algn="l" defTabSz="514350" rtl="0" eaLnBrk="1" latinLnBrk="0" hangingPunct="1">
        <a:lnSpc>
          <a:spcPct val="85000"/>
        </a:lnSpc>
        <a:spcBef>
          <a:spcPts val="338"/>
        </a:spcBef>
        <a:buFont typeface="Arial" pitchFamily="34" charset="0"/>
        <a:buChar char=" "/>
        <a:defRPr sz="1350" kern="1200">
          <a:solidFill>
            <a:schemeClr val="tx1">
              <a:lumMod val="85000"/>
              <a:lumOff val="15000"/>
            </a:schemeClr>
          </a:solidFill>
          <a:latin typeface="+mn-lt"/>
          <a:ea typeface="+mn-ea"/>
          <a:cs typeface="+mn-cs"/>
        </a:defRPr>
      </a:lvl2pPr>
      <a:lvl3pPr marL="308610" indent="-308610" algn="l" defTabSz="514350" rtl="0" eaLnBrk="1" latinLnBrk="0" hangingPunct="1">
        <a:lnSpc>
          <a:spcPct val="85000"/>
        </a:lnSpc>
        <a:spcBef>
          <a:spcPts val="338"/>
        </a:spcBef>
        <a:buFont typeface="Arial" pitchFamily="34" charset="0"/>
        <a:buChar char=" "/>
        <a:defRPr sz="1125" i="1" kern="1200">
          <a:solidFill>
            <a:schemeClr val="tx1">
              <a:lumMod val="85000"/>
              <a:lumOff val="15000"/>
            </a:schemeClr>
          </a:solidFill>
          <a:latin typeface="+mn-lt"/>
          <a:ea typeface="+mn-ea"/>
          <a:cs typeface="+mn-cs"/>
        </a:defRPr>
      </a:lvl3pPr>
      <a:lvl4pPr marL="462915" indent="-462915" algn="l" defTabSz="514350" rtl="0" eaLnBrk="1" latinLnBrk="0" hangingPunct="1">
        <a:lnSpc>
          <a:spcPct val="85000"/>
        </a:lnSpc>
        <a:spcBef>
          <a:spcPts val="338"/>
        </a:spcBef>
        <a:buFont typeface="Arial" pitchFamily="34" charset="0"/>
        <a:buChar char=" "/>
        <a:defRPr sz="1013" kern="1200">
          <a:solidFill>
            <a:schemeClr val="tx1">
              <a:lumMod val="85000"/>
              <a:lumOff val="15000"/>
            </a:schemeClr>
          </a:solidFill>
          <a:latin typeface="+mn-lt"/>
          <a:ea typeface="+mn-ea"/>
          <a:cs typeface="+mn-cs"/>
        </a:defRPr>
      </a:lvl4pPr>
      <a:lvl5pPr marL="617220" indent="-617220" algn="l" defTabSz="514350" rtl="0" eaLnBrk="1" latinLnBrk="0" hangingPunct="1">
        <a:lnSpc>
          <a:spcPct val="85000"/>
        </a:lnSpc>
        <a:spcBef>
          <a:spcPts val="338"/>
        </a:spcBef>
        <a:buFont typeface="Arial" pitchFamily="34" charset="0"/>
        <a:buChar char=" "/>
        <a:defRPr sz="1013" kern="1200">
          <a:solidFill>
            <a:schemeClr val="tx1">
              <a:lumMod val="85000"/>
              <a:lumOff val="15000"/>
            </a:schemeClr>
          </a:solidFill>
          <a:latin typeface="+mn-lt"/>
          <a:ea typeface="+mn-ea"/>
          <a:cs typeface="+mn-cs"/>
        </a:defRPr>
      </a:lvl5pPr>
      <a:lvl6pPr marL="675000" indent="-128588" algn="l" defTabSz="514350" rtl="0" eaLnBrk="1" latinLnBrk="0" hangingPunct="1">
        <a:lnSpc>
          <a:spcPct val="85000"/>
        </a:lnSpc>
        <a:spcBef>
          <a:spcPts val="338"/>
        </a:spcBef>
        <a:buFont typeface="Arial" pitchFamily="34" charset="0"/>
        <a:buChar char=" "/>
        <a:defRPr sz="1013" kern="1200">
          <a:solidFill>
            <a:schemeClr val="tx1">
              <a:lumMod val="85000"/>
              <a:lumOff val="15000"/>
            </a:schemeClr>
          </a:solidFill>
          <a:latin typeface="+mn-lt"/>
          <a:ea typeface="+mn-ea"/>
          <a:cs typeface="+mn-cs"/>
        </a:defRPr>
      </a:lvl6pPr>
      <a:lvl7pPr marL="787500" indent="-128588" algn="l" defTabSz="514350" rtl="0" eaLnBrk="1" latinLnBrk="0" hangingPunct="1">
        <a:lnSpc>
          <a:spcPct val="85000"/>
        </a:lnSpc>
        <a:spcBef>
          <a:spcPts val="338"/>
        </a:spcBef>
        <a:buFont typeface="Arial" pitchFamily="34" charset="0"/>
        <a:buChar char=" "/>
        <a:defRPr sz="1013" kern="1200">
          <a:solidFill>
            <a:schemeClr val="tx1">
              <a:lumMod val="85000"/>
              <a:lumOff val="15000"/>
            </a:schemeClr>
          </a:solidFill>
          <a:latin typeface="+mn-lt"/>
          <a:ea typeface="+mn-ea"/>
          <a:cs typeface="+mn-cs"/>
        </a:defRPr>
      </a:lvl7pPr>
      <a:lvl8pPr marL="900000" indent="-128588" algn="l" defTabSz="514350" rtl="0" eaLnBrk="1" latinLnBrk="0" hangingPunct="1">
        <a:lnSpc>
          <a:spcPct val="85000"/>
        </a:lnSpc>
        <a:spcBef>
          <a:spcPts val="338"/>
        </a:spcBef>
        <a:buFont typeface="Arial" pitchFamily="34" charset="0"/>
        <a:buChar char=" "/>
        <a:defRPr sz="1013" kern="1200">
          <a:solidFill>
            <a:schemeClr val="tx1">
              <a:lumMod val="85000"/>
              <a:lumOff val="15000"/>
            </a:schemeClr>
          </a:solidFill>
          <a:latin typeface="+mn-lt"/>
          <a:ea typeface="+mn-ea"/>
          <a:cs typeface="+mn-cs"/>
        </a:defRPr>
      </a:lvl8pPr>
      <a:lvl9pPr marL="1012500" indent="-128588" algn="l" defTabSz="514350" rtl="0" eaLnBrk="1" latinLnBrk="0" hangingPunct="1">
        <a:lnSpc>
          <a:spcPct val="85000"/>
        </a:lnSpc>
        <a:spcBef>
          <a:spcPts val="338"/>
        </a:spcBef>
        <a:buFont typeface="Arial" pitchFamily="34" charset="0"/>
        <a:buChar char=" "/>
        <a:defRPr sz="1013" kern="1200">
          <a:solidFill>
            <a:schemeClr val="tx1">
              <a:lumMod val="85000"/>
              <a:lumOff val="15000"/>
            </a:schemeClr>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 name="Text Placeholder 2"/>
          <p:cNvSpPr>
            <a:spLocks noGrp="1"/>
          </p:cNvSpPr>
          <p:nvPr>
            <p:ph type="body" idx="1"/>
          </p:nvPr>
        </p:nvSpPr>
        <p:spPr bwMode="auto">
          <a:xfrm>
            <a:off x="609600" y="1600205"/>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514350">
              <a:defRPr/>
            </a:pPr>
            <a:endParaRPr lang="en-US">
              <a:solidFill>
                <a:prstClr val="black">
                  <a:tint val="75000"/>
                </a:prstClr>
              </a:solidFill>
              <a:latin typeface="Verdana" panose="020B0604030504040204" pitchFamily="34" charset="0"/>
            </a:endParaRPr>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pPr defTabSz="514350">
              <a:defRPr/>
            </a:pPr>
            <a:endParaRPr lang="en-US">
              <a:solidFill>
                <a:prstClr val="black">
                  <a:tint val="75000"/>
                </a:prstClr>
              </a:solidFill>
              <a:latin typeface="Verdana" panose="020B0604030504040204" pitchFamily="34" charset="0"/>
            </a:endParaRPr>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675">
                <a:solidFill>
                  <a:srgbClr val="898989"/>
                </a:solidFill>
              </a:defRPr>
            </a:lvl1pPr>
          </a:lstStyle>
          <a:p>
            <a:pPr defTabSz="514350">
              <a:defRPr/>
            </a:pPr>
            <a:fld id="{70316B3B-81D3-4DA6-9C8C-D747F98811E8}" type="slidenum">
              <a:rPr lang="en-US" altLang="en-US" smtClean="0">
                <a:latin typeface="Verdana" panose="020B0604030504040204" pitchFamily="34" charset="0"/>
              </a:rPr>
              <a:pPr defTabSz="514350">
                <a:defRPr/>
              </a:pPr>
              <a:t>‹#›</a:t>
            </a:fld>
            <a:endParaRPr lang="en-US" altLang="en-US">
              <a:latin typeface="Verdana" panose="020B0604030504040204" pitchFamily="34" charset="0"/>
            </a:endParaRPr>
          </a:p>
        </p:txBody>
      </p:sp>
    </p:spTree>
    <p:extLst>
      <p:ext uri="{BB962C8B-B14F-4D97-AF65-F5344CB8AC3E}">
        <p14:creationId xmlns:p14="http://schemas.microsoft.com/office/powerpoint/2010/main" val="3765863601"/>
      </p:ext>
    </p:extLst>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2000"/>
                        <p:tgtEl>
                          <p:spTgt spid="3"/>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20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20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20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2000"/>
                        <p:tgtEl>
                          <p:spTgt spid="3"/>
                        </p:tgtEl>
                      </p:cBhvr>
                    </p:animEffect>
                  </p:childTnLst>
                </p:cTn>
              </p:par>
            </p:tnLst>
          </p:tmpl>
        </p:tmplLst>
      </p:bldP>
    </p:bldLst>
  </p:timing>
  <p:hf hdr="0" ftr="0" dt="0"/>
  <p:txStyles>
    <p:titleStyle>
      <a:lvl1pPr algn="ctr" rtl="0" eaLnBrk="0" fontAlgn="base" hangingPunct="0">
        <a:spcBef>
          <a:spcPct val="0"/>
        </a:spcBef>
        <a:spcAft>
          <a:spcPct val="0"/>
        </a:spcAft>
        <a:defRPr sz="2475" kern="1200">
          <a:solidFill>
            <a:schemeClr val="tx1"/>
          </a:solidFill>
          <a:latin typeface="+mj-lt"/>
          <a:ea typeface="+mj-ea"/>
          <a:cs typeface="+mj-cs"/>
        </a:defRPr>
      </a:lvl1pPr>
      <a:lvl2pPr algn="ctr" rtl="0" eaLnBrk="0" fontAlgn="base" hangingPunct="0">
        <a:spcBef>
          <a:spcPct val="0"/>
        </a:spcBef>
        <a:spcAft>
          <a:spcPct val="0"/>
        </a:spcAft>
        <a:defRPr sz="2475">
          <a:solidFill>
            <a:schemeClr val="tx1"/>
          </a:solidFill>
          <a:latin typeface="Calibri" pitchFamily="34" charset="0"/>
        </a:defRPr>
      </a:lvl2pPr>
      <a:lvl3pPr algn="ctr" rtl="0" eaLnBrk="0" fontAlgn="base" hangingPunct="0">
        <a:spcBef>
          <a:spcPct val="0"/>
        </a:spcBef>
        <a:spcAft>
          <a:spcPct val="0"/>
        </a:spcAft>
        <a:defRPr sz="2475">
          <a:solidFill>
            <a:schemeClr val="tx1"/>
          </a:solidFill>
          <a:latin typeface="Calibri" pitchFamily="34" charset="0"/>
        </a:defRPr>
      </a:lvl3pPr>
      <a:lvl4pPr algn="ctr" rtl="0" eaLnBrk="0" fontAlgn="base" hangingPunct="0">
        <a:spcBef>
          <a:spcPct val="0"/>
        </a:spcBef>
        <a:spcAft>
          <a:spcPct val="0"/>
        </a:spcAft>
        <a:defRPr sz="2475">
          <a:solidFill>
            <a:schemeClr val="tx1"/>
          </a:solidFill>
          <a:latin typeface="Calibri" pitchFamily="34" charset="0"/>
        </a:defRPr>
      </a:lvl4pPr>
      <a:lvl5pPr algn="ctr" rtl="0" eaLnBrk="0" fontAlgn="base" hangingPunct="0">
        <a:spcBef>
          <a:spcPct val="0"/>
        </a:spcBef>
        <a:spcAft>
          <a:spcPct val="0"/>
        </a:spcAft>
        <a:defRPr sz="2475">
          <a:solidFill>
            <a:schemeClr val="tx1"/>
          </a:solidFill>
          <a:latin typeface="Calibri" pitchFamily="34" charset="0"/>
        </a:defRPr>
      </a:lvl5pPr>
      <a:lvl6pPr marL="257175" algn="ctr" rtl="0" fontAlgn="base">
        <a:spcBef>
          <a:spcPct val="0"/>
        </a:spcBef>
        <a:spcAft>
          <a:spcPct val="0"/>
        </a:spcAft>
        <a:defRPr sz="2475">
          <a:solidFill>
            <a:schemeClr val="tx1"/>
          </a:solidFill>
          <a:latin typeface="Calibri" pitchFamily="34" charset="0"/>
        </a:defRPr>
      </a:lvl6pPr>
      <a:lvl7pPr marL="514350" algn="ctr" rtl="0" fontAlgn="base">
        <a:spcBef>
          <a:spcPct val="0"/>
        </a:spcBef>
        <a:spcAft>
          <a:spcPct val="0"/>
        </a:spcAft>
        <a:defRPr sz="2475">
          <a:solidFill>
            <a:schemeClr val="tx1"/>
          </a:solidFill>
          <a:latin typeface="Calibri" pitchFamily="34" charset="0"/>
        </a:defRPr>
      </a:lvl7pPr>
      <a:lvl8pPr marL="771525" algn="ctr" rtl="0" fontAlgn="base">
        <a:spcBef>
          <a:spcPct val="0"/>
        </a:spcBef>
        <a:spcAft>
          <a:spcPct val="0"/>
        </a:spcAft>
        <a:defRPr sz="2475">
          <a:solidFill>
            <a:schemeClr val="tx1"/>
          </a:solidFill>
          <a:latin typeface="Calibri" pitchFamily="34" charset="0"/>
        </a:defRPr>
      </a:lvl8pPr>
      <a:lvl9pPr marL="1028700" algn="ctr" rtl="0" fontAlgn="base">
        <a:spcBef>
          <a:spcPct val="0"/>
        </a:spcBef>
        <a:spcAft>
          <a:spcPct val="0"/>
        </a:spcAft>
        <a:defRPr sz="2475">
          <a:solidFill>
            <a:schemeClr val="tx1"/>
          </a:solidFill>
          <a:latin typeface="Calibri" pitchFamily="34" charset="0"/>
        </a:defRPr>
      </a:lvl9pPr>
    </p:titleStyle>
    <p:bodyStyle>
      <a:lvl1pPr marL="192881" indent="-192881"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1pPr>
      <a:lvl2pPr marL="417910" indent="-160735" algn="l" rtl="0" eaLnBrk="0" fontAlgn="base" hangingPunct="0">
        <a:spcBef>
          <a:spcPct val="20000"/>
        </a:spcBef>
        <a:spcAft>
          <a:spcPct val="0"/>
        </a:spcAft>
        <a:buFont typeface="Arial" panose="020B0604020202020204" pitchFamily="34" charset="0"/>
        <a:buChar char="–"/>
        <a:defRPr sz="1575" kern="1200">
          <a:solidFill>
            <a:schemeClr val="tx1"/>
          </a:solidFill>
          <a:latin typeface="+mn-lt"/>
          <a:ea typeface="+mn-ea"/>
          <a:cs typeface="+mn-cs"/>
        </a:defRPr>
      </a:lvl2pPr>
      <a:lvl3pPr marL="642938" indent="-128588" algn="l" rtl="0" eaLnBrk="0" fontAlgn="base" hangingPunct="0">
        <a:spcBef>
          <a:spcPct val="20000"/>
        </a:spcBef>
        <a:spcAft>
          <a:spcPct val="0"/>
        </a:spcAft>
        <a:buFont typeface="Arial" panose="020B0604020202020204" pitchFamily="34" charset="0"/>
        <a:buChar char="•"/>
        <a:defRPr sz="1350" kern="1200">
          <a:solidFill>
            <a:schemeClr val="tx1"/>
          </a:solidFill>
          <a:latin typeface="+mn-lt"/>
          <a:ea typeface="+mn-ea"/>
          <a:cs typeface="+mn-cs"/>
        </a:defRPr>
      </a:lvl3pPr>
      <a:lvl4pPr marL="900113" indent="-128588" algn="l" rtl="0" eaLnBrk="0" fontAlgn="base" hangingPunct="0">
        <a:spcBef>
          <a:spcPct val="20000"/>
        </a:spcBef>
        <a:spcAft>
          <a:spcPct val="0"/>
        </a:spcAft>
        <a:buFont typeface="Arial" panose="020B0604020202020204" pitchFamily="34" charset="0"/>
        <a:buChar char="–"/>
        <a:defRPr sz="1125" kern="1200">
          <a:solidFill>
            <a:schemeClr val="tx1"/>
          </a:solidFill>
          <a:latin typeface="+mn-lt"/>
          <a:ea typeface="+mn-ea"/>
          <a:cs typeface="+mn-cs"/>
        </a:defRPr>
      </a:lvl4pPr>
      <a:lvl5pPr marL="1157288" indent="-128588" algn="l" rtl="0" eaLnBrk="0" fontAlgn="base" hangingPunct="0">
        <a:spcBef>
          <a:spcPct val="20000"/>
        </a:spcBef>
        <a:spcAft>
          <a:spcPct val="0"/>
        </a:spcAft>
        <a:buFont typeface="Arial" panose="020B0604020202020204" pitchFamily="34" charset="0"/>
        <a:buChar char="»"/>
        <a:defRPr sz="1125" kern="1200">
          <a:solidFill>
            <a:schemeClr val="tx1"/>
          </a:solidFill>
          <a:latin typeface="+mn-lt"/>
          <a:ea typeface="+mn-ea"/>
          <a:cs typeface="+mn-cs"/>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7.xml"/></Relationships>
</file>

<file path=ppt/slides/_rels/slide1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jpeg"/><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7.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57.xml"/></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62.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6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7.xml"/></Relationships>
</file>

<file path=ppt/slides/_rels/slide3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2.xml"/><Relationship Id="rId1" Type="http://schemas.openxmlformats.org/officeDocument/2006/relationships/slideLayout" Target="../slideLayouts/slideLayout5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2.xml"/></Relationships>
</file>

<file path=ppt/slides/_rels/slide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0.xml"/></Relationships>
</file>

<file path=ppt/slides/_rels/slide4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0.xml"/><Relationship Id="rId1" Type="http://schemas.openxmlformats.org/officeDocument/2006/relationships/slideLayout" Target="../slideLayouts/slideLayout5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7.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62.xml"/></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62.xml"/></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62.xml"/></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62.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62.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6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0.xml"/><Relationship Id="rId1" Type="http://schemas.openxmlformats.org/officeDocument/2006/relationships/slideLayout" Target="../slideLayouts/slideLayout46.xml"/><Relationship Id="rId4" Type="http://schemas.openxmlformats.org/officeDocument/2006/relationships/image" Target="../media/image21.e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6.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40.xml"/></Relationships>
</file>

<file path=ppt/slides/_rels/slide6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0.xml"/></Relationships>
</file>

<file path=ppt/slides/_rels/slide6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Topview of mint green workspace with laptop, coffee, notebook, pen, glasses, and mouse">
            <a:extLst>
              <a:ext uri="{FF2B5EF4-FFF2-40B4-BE49-F238E27FC236}">
                <a16:creationId xmlns:a16="http://schemas.microsoft.com/office/drawing/2014/main" id="{F0F8CEE5-2E71-1C78-3336-9A61DCABC304}"/>
              </a:ext>
            </a:extLst>
          </p:cNvPr>
          <p:cNvPicPr>
            <a:picLocks noChangeAspect="1"/>
          </p:cNvPicPr>
          <p:nvPr/>
        </p:nvPicPr>
        <p:blipFill>
          <a:blip r:embed="rId2"/>
          <a:srcRect r="9091" b="23391"/>
          <a:stretch>
            <a:fillRect/>
          </a:stretch>
        </p:blipFill>
        <p:spPr>
          <a:xfrm>
            <a:off x="20" y="10"/>
            <a:ext cx="12191979" cy="6857990"/>
          </a:xfrm>
          <a:prstGeom prst="rect">
            <a:avLst/>
          </a:prstGeom>
        </p:spPr>
      </p:pic>
      <p:sp>
        <p:nvSpPr>
          <p:cNvPr id="15" name="Rectangle 14">
            <a:extLst>
              <a:ext uri="{FF2B5EF4-FFF2-40B4-BE49-F238E27FC236}">
                <a16:creationId xmlns:a16="http://schemas.microsoft.com/office/drawing/2014/main" id="{0DBFCB27-760B-5FF3-72F5-581461CE1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280160"/>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889C93-7A75-67E2-414B-CFE3F9C67EAA}"/>
              </a:ext>
            </a:extLst>
          </p:cNvPr>
          <p:cNvSpPr>
            <a:spLocks noGrp="1"/>
          </p:cNvSpPr>
          <p:nvPr>
            <p:ph type="ctrTitle"/>
          </p:nvPr>
        </p:nvSpPr>
        <p:spPr>
          <a:xfrm>
            <a:off x="5527431" y="-184902"/>
            <a:ext cx="6664569" cy="1649961"/>
          </a:xfrm>
        </p:spPr>
        <p:txBody>
          <a:bodyPr anchor="ctr">
            <a:normAutofit fontScale="90000"/>
          </a:bodyPr>
          <a:lstStyle/>
          <a:p>
            <a:pPr algn="ctr"/>
            <a:r>
              <a:rPr lang="en-US" sz="4400" dirty="0">
                <a:solidFill>
                  <a:schemeClr val="bg1"/>
                </a:solidFill>
              </a:rPr>
              <a:t>V450: Project Management &amp; Implementation </a:t>
            </a:r>
          </a:p>
        </p:txBody>
      </p:sp>
      <p:sp>
        <p:nvSpPr>
          <p:cNvPr id="3" name="Subtitle 2">
            <a:extLst>
              <a:ext uri="{FF2B5EF4-FFF2-40B4-BE49-F238E27FC236}">
                <a16:creationId xmlns:a16="http://schemas.microsoft.com/office/drawing/2014/main" id="{A032B49F-D8D2-5623-DC28-689E025329E5}"/>
              </a:ext>
            </a:extLst>
          </p:cNvPr>
          <p:cNvSpPr>
            <a:spLocks noGrp="1"/>
          </p:cNvSpPr>
          <p:nvPr>
            <p:ph type="subTitle" idx="1"/>
          </p:nvPr>
        </p:nvSpPr>
        <p:spPr>
          <a:xfrm>
            <a:off x="5256075" y="5208039"/>
            <a:ext cx="6453553" cy="1777525"/>
          </a:xfrm>
        </p:spPr>
        <p:txBody>
          <a:bodyPr anchor="ctr">
            <a:normAutofit/>
          </a:bodyPr>
          <a:lstStyle/>
          <a:p>
            <a:pPr>
              <a:lnSpc>
                <a:spcPct val="100000"/>
              </a:lnSpc>
              <a:spcBef>
                <a:spcPts val="0"/>
              </a:spcBef>
            </a:pPr>
            <a:r>
              <a:rPr lang="en-US" sz="3000" i="0" dirty="0">
                <a:solidFill>
                  <a:schemeClr val="bg1"/>
                </a:solidFill>
                <a:latin typeface="Calibri" panose="020F0502020204030204" pitchFamily="34" charset="0"/>
                <a:cs typeface="Calibri" panose="020F0502020204030204" pitchFamily="34" charset="0"/>
              </a:rPr>
              <a:t>“Unless commitment is made, there are only promises and hopes; but no plans.”     – Peter F. Drucker."</a:t>
            </a:r>
          </a:p>
          <a:p>
            <a:pPr algn="r"/>
            <a:endParaRPr lang="en-US" sz="1900" dirty="0"/>
          </a:p>
        </p:txBody>
      </p:sp>
      <p:sp>
        <p:nvSpPr>
          <p:cNvPr id="5" name="Title 1">
            <a:extLst>
              <a:ext uri="{FF2B5EF4-FFF2-40B4-BE49-F238E27FC236}">
                <a16:creationId xmlns:a16="http://schemas.microsoft.com/office/drawing/2014/main" id="{5301D76F-3E0D-9ACC-56BD-2C71F4219BA7}"/>
              </a:ext>
            </a:extLst>
          </p:cNvPr>
          <p:cNvSpPr txBox="1">
            <a:spLocks/>
          </p:cNvSpPr>
          <p:nvPr/>
        </p:nvSpPr>
        <p:spPr>
          <a:xfrm>
            <a:off x="5527432" y="1649961"/>
            <a:ext cx="6579576" cy="3152775"/>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6500" b="0" dirty="0">
                <a:solidFill>
                  <a:schemeClr val="bg1"/>
                </a:solidFill>
              </a:rPr>
              <a:t>Class 9</a:t>
            </a:r>
          </a:p>
          <a:p>
            <a:r>
              <a:rPr lang="en-US" sz="5800" dirty="0">
                <a:solidFill>
                  <a:schemeClr val="bg1"/>
                </a:solidFill>
              </a:rPr>
              <a:t>Scope of Work III: Scope Action Plan</a:t>
            </a:r>
          </a:p>
        </p:txBody>
      </p:sp>
    </p:spTree>
    <p:extLst>
      <p:ext uri="{BB962C8B-B14F-4D97-AF65-F5344CB8AC3E}">
        <p14:creationId xmlns:p14="http://schemas.microsoft.com/office/powerpoint/2010/main" val="340189235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CCEC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D036-CDBC-4EB9-A94F-BEAB3E20CFD1}"/>
              </a:ext>
            </a:extLst>
          </p:cNvPr>
          <p:cNvSpPr>
            <a:spLocks noGrp="1"/>
          </p:cNvSpPr>
          <p:nvPr>
            <p:ph type="title"/>
          </p:nvPr>
        </p:nvSpPr>
        <p:spPr>
          <a:xfrm>
            <a:off x="2914045" y="379834"/>
            <a:ext cx="5797296" cy="891540"/>
          </a:xfrm>
        </p:spPr>
        <p:txBody>
          <a:bodyPr>
            <a:noAutofit/>
          </a:bodyPr>
          <a:lstStyle/>
          <a:p>
            <a:r>
              <a:rPr lang="en-US" sz="4500" b="1" dirty="0">
                <a:latin typeface="Calibri" panose="020F0502020204030204" pitchFamily="34" charset="0"/>
                <a:cs typeface="Calibri" panose="020F0502020204030204" pitchFamily="34" charset="0"/>
              </a:rPr>
              <a:t>Warm-Up</a:t>
            </a:r>
          </a:p>
        </p:txBody>
      </p:sp>
      <p:sp>
        <p:nvSpPr>
          <p:cNvPr id="3" name="Content Placeholder 2">
            <a:extLst>
              <a:ext uri="{FF2B5EF4-FFF2-40B4-BE49-F238E27FC236}">
                <a16:creationId xmlns:a16="http://schemas.microsoft.com/office/drawing/2014/main" id="{575D226D-E10B-411E-9429-7607C04BA749}"/>
              </a:ext>
            </a:extLst>
          </p:cNvPr>
          <p:cNvSpPr>
            <a:spLocks noGrp="1"/>
          </p:cNvSpPr>
          <p:nvPr>
            <p:ph idx="1"/>
          </p:nvPr>
        </p:nvSpPr>
        <p:spPr>
          <a:xfrm>
            <a:off x="914400" y="1768980"/>
            <a:ext cx="10363199" cy="4128238"/>
          </a:xfrm>
        </p:spPr>
        <p:txBody>
          <a:bodyPr>
            <a:normAutofit/>
          </a:bodyPr>
          <a:lstStyle/>
          <a:p>
            <a:pPr marL="557213" indent="-557213">
              <a:spcBef>
                <a:spcPts val="0"/>
              </a:spcBef>
              <a:buFont typeface="+mj-lt"/>
              <a:buAutoNum type="alphaLcParenR"/>
            </a:pPr>
            <a:r>
              <a:rPr lang="en-US" sz="3500" dirty="0">
                <a:solidFill>
                  <a:schemeClr val="tx1"/>
                </a:solidFill>
                <a:latin typeface="Calibri" panose="020F0502020204030204" pitchFamily="34" charset="0"/>
                <a:cs typeface="Calibri" panose="020F0502020204030204" pitchFamily="34" charset="0"/>
              </a:rPr>
              <a:t>How do you stay motivated during challenging courses? What resources do you use? </a:t>
            </a:r>
          </a:p>
          <a:p>
            <a:pPr marL="557213" indent="-557213">
              <a:spcBef>
                <a:spcPts val="0"/>
              </a:spcBef>
              <a:buFont typeface="+mj-lt"/>
              <a:buAutoNum type="alphaLcParenR"/>
            </a:pPr>
            <a:endParaRPr lang="en-US" sz="3500" dirty="0">
              <a:solidFill>
                <a:schemeClr val="tx1"/>
              </a:solidFill>
              <a:latin typeface="Calibri" panose="020F0502020204030204" pitchFamily="34" charset="0"/>
              <a:cs typeface="Calibri" panose="020F0502020204030204" pitchFamily="34" charset="0"/>
            </a:endParaRPr>
          </a:p>
          <a:p>
            <a:pPr marL="557213" indent="-557213">
              <a:spcBef>
                <a:spcPts val="0"/>
              </a:spcBef>
              <a:buFont typeface="+mj-lt"/>
              <a:buAutoNum type="alphaLcParenR"/>
            </a:pPr>
            <a:endParaRPr lang="en-US" sz="3500" dirty="0">
              <a:solidFill>
                <a:schemeClr val="tx1"/>
              </a:solidFill>
              <a:latin typeface="Calibri" panose="020F0502020204030204" pitchFamily="34" charset="0"/>
              <a:cs typeface="Calibri" panose="020F0502020204030204" pitchFamily="34" charset="0"/>
            </a:endParaRPr>
          </a:p>
          <a:p>
            <a:pPr marL="557213" indent="-557213">
              <a:spcBef>
                <a:spcPts val="0"/>
              </a:spcBef>
              <a:buFont typeface="+mj-lt"/>
              <a:buAutoNum type="alphaLcParenR"/>
            </a:pPr>
            <a:r>
              <a:rPr lang="en-US" sz="3500" dirty="0">
                <a:solidFill>
                  <a:schemeClr val="tx1"/>
                </a:solidFill>
                <a:latin typeface="Calibri" panose="020F0502020204030204" pitchFamily="34" charset="0"/>
                <a:cs typeface="Calibri" panose="020F0502020204030204" pitchFamily="34" charset="0"/>
              </a:rPr>
              <a:t>How has your approach to learning changed since starting college?  </a:t>
            </a:r>
          </a:p>
        </p:txBody>
      </p:sp>
    </p:spTree>
    <p:extLst>
      <p:ext uri="{BB962C8B-B14F-4D97-AF65-F5344CB8AC3E}">
        <p14:creationId xmlns:p14="http://schemas.microsoft.com/office/powerpoint/2010/main" val="749461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a:extLst>
            <a:ext uri="{FF2B5EF4-FFF2-40B4-BE49-F238E27FC236}">
              <a16:creationId xmlns:a16="http://schemas.microsoft.com/office/drawing/2014/main" id="{F68134DA-2A4D-DD8C-FE74-0F42ECF1F1EC}"/>
            </a:ext>
          </a:extLst>
        </p:cNvPr>
        <p:cNvGrpSpPr/>
        <p:nvPr/>
      </p:nvGrpSpPr>
      <p:grpSpPr>
        <a:xfrm>
          <a:off x="0" y="0"/>
          <a:ext cx="0" cy="0"/>
          <a:chOff x="0" y="0"/>
          <a:chExt cx="0" cy="0"/>
        </a:xfrm>
      </p:grpSpPr>
      <p:sp>
        <p:nvSpPr>
          <p:cNvPr id="38" name="Slide Number Placeholder 37">
            <a:extLst>
              <a:ext uri="{FF2B5EF4-FFF2-40B4-BE49-F238E27FC236}">
                <a16:creationId xmlns:a16="http://schemas.microsoft.com/office/drawing/2014/main" id="{462A6852-C74B-9232-642A-E49FEC410D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000" b="0" i="0" u="none" strike="noStrike" kern="1200" cap="none" spc="0" normalizeH="0" baseline="0" noProof="0" smtClean="0">
                <a:ln>
                  <a:noFill/>
                </a:ln>
                <a:solidFill>
                  <a:prstClr val="black"/>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dirty="0">
              <a:ln>
                <a:noFill/>
              </a:ln>
              <a:solidFill>
                <a:prstClr val="black"/>
              </a:solidFill>
              <a:effectLst/>
              <a:uLnTx/>
              <a:uFillTx/>
              <a:latin typeface="Avenir Next LT Pro Light"/>
              <a:ea typeface="+mn-ea"/>
              <a:cs typeface="+mn-cs"/>
            </a:endParaRPr>
          </a:p>
        </p:txBody>
      </p:sp>
      <p:sp>
        <p:nvSpPr>
          <p:cNvPr id="2" name="Title 3">
            <a:extLst>
              <a:ext uri="{FF2B5EF4-FFF2-40B4-BE49-F238E27FC236}">
                <a16:creationId xmlns:a16="http://schemas.microsoft.com/office/drawing/2014/main" id="{2EE38DA7-38FC-061F-937A-5C328064EF17}"/>
              </a:ext>
            </a:extLst>
          </p:cNvPr>
          <p:cNvSpPr txBox="1">
            <a:spLocks/>
          </p:cNvSpPr>
          <p:nvPr/>
        </p:nvSpPr>
        <p:spPr>
          <a:xfrm>
            <a:off x="795620" y="2503788"/>
            <a:ext cx="10876085" cy="4217687"/>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2500" b="1" i="0" u="none" strike="noStrike" kern="1200" cap="none" spc="0" normalizeH="0" baseline="0" noProof="0" dirty="0">
                <a:ln>
                  <a:noFill/>
                </a:ln>
                <a:solidFill>
                  <a:prstClr val="black"/>
                </a:solidFill>
                <a:effectLst/>
                <a:uLnTx/>
                <a:uFillTx/>
                <a:latin typeface="Amasis MT Pro Black" panose="020F0502020204030204" pitchFamily="18" charset="0"/>
                <a:ea typeface="+mj-ea"/>
                <a:cs typeface="+mj-cs"/>
              </a:rPr>
              <a:t>Today’s</a:t>
            </a:r>
          </a:p>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2500" b="1" i="0" u="none" strike="noStrike" kern="1200" cap="none" spc="0" normalizeH="0" baseline="0" noProof="0" dirty="0">
                <a:ln>
                  <a:noFill/>
                </a:ln>
                <a:solidFill>
                  <a:prstClr val="black"/>
                </a:solidFill>
                <a:effectLst/>
                <a:uLnTx/>
                <a:uFillTx/>
                <a:latin typeface="Amasis MT Pro Black" panose="020F0502020204030204" pitchFamily="18" charset="0"/>
                <a:ea typeface="+mj-ea"/>
                <a:cs typeface="+mj-cs"/>
              </a:rPr>
              <a:t>PM Problem</a:t>
            </a:r>
          </a:p>
        </p:txBody>
      </p:sp>
      <p:sp>
        <p:nvSpPr>
          <p:cNvPr id="7" name="Title 3">
            <a:extLst>
              <a:ext uri="{FF2B5EF4-FFF2-40B4-BE49-F238E27FC236}">
                <a16:creationId xmlns:a16="http://schemas.microsoft.com/office/drawing/2014/main" id="{3FDD61FC-2E18-A766-21F5-1B1891C8EE35}"/>
              </a:ext>
            </a:extLst>
          </p:cNvPr>
          <p:cNvSpPr txBox="1">
            <a:spLocks/>
          </p:cNvSpPr>
          <p:nvPr/>
        </p:nvSpPr>
        <p:spPr>
          <a:xfrm>
            <a:off x="745649" y="491956"/>
            <a:ext cx="9910957" cy="960829"/>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az-Cyrl-AZ" sz="4500" b="1" i="0" u="none" strike="noStrike" kern="1200" cap="none" spc="0" normalizeH="0" baseline="0" noProof="0" dirty="0">
                <a:ln>
                  <a:noFill/>
                </a:ln>
                <a:solidFill>
                  <a:prstClr val="black"/>
                </a:solidFill>
                <a:effectLst/>
                <a:uLnTx/>
                <a:uFillTx/>
                <a:latin typeface="Calibri" panose="020F0502020204030204" pitchFamily="34" charset="0"/>
                <a:ea typeface="+mj-ea"/>
                <a:cs typeface="Calibri" panose="020F0502020204030204" pitchFamily="34" charset="0"/>
              </a:rPr>
              <a:t>ꚙ</a:t>
            </a:r>
            <a:r>
              <a:rPr kumimoji="0" lang="en-US" sz="4500" b="1" i="0" u="none" strike="noStrike" kern="1200" cap="none" spc="0" normalizeH="0" baseline="0" noProof="0" dirty="0">
                <a:ln>
                  <a:noFill/>
                </a:ln>
                <a:solidFill>
                  <a:prstClr val="black"/>
                </a:solidFill>
                <a:effectLst/>
                <a:uLnTx/>
                <a:uFillTx/>
                <a:latin typeface="Amasis MT Pro Black" panose="02040A04050005020304" pitchFamily="18" charset="0"/>
                <a:ea typeface="+mj-ea"/>
                <a:cs typeface="+mj-cs"/>
              </a:rPr>
              <a:t> “Oh, hey, wait a minute…”  </a:t>
            </a:r>
            <a:r>
              <a:rPr kumimoji="0" lang="az-Cyrl-AZ" sz="4500" b="1" i="0" u="none" strike="noStrike" kern="1200" cap="none" spc="0" normalizeH="0" baseline="0" noProof="0" dirty="0">
                <a:ln>
                  <a:noFill/>
                </a:ln>
                <a:solidFill>
                  <a:prstClr val="black"/>
                </a:solidFill>
                <a:effectLst/>
                <a:uLnTx/>
                <a:uFillTx/>
                <a:latin typeface="Calibri" panose="020F0502020204030204" pitchFamily="34" charset="0"/>
                <a:ea typeface="+mj-ea"/>
                <a:cs typeface="Calibri" panose="020F0502020204030204" pitchFamily="34" charset="0"/>
              </a:rPr>
              <a:t>ꚙ</a:t>
            </a:r>
            <a:endParaRPr kumimoji="0" lang="en-US" sz="4500" b="1" i="0" u="none" strike="noStrike" kern="1200" cap="none" spc="0" normalizeH="0" baseline="0" noProof="0" dirty="0">
              <a:ln>
                <a:noFill/>
              </a:ln>
              <a:solidFill>
                <a:prstClr val="black"/>
              </a:solidFill>
              <a:effectLst/>
              <a:uLnTx/>
              <a:uFillTx/>
              <a:latin typeface="Amasis MT Pro Black" panose="02040A04050005020304" pitchFamily="18" charset="0"/>
              <a:ea typeface="+mj-ea"/>
              <a:cs typeface="+mj-cs"/>
            </a:endParaRPr>
          </a:p>
        </p:txBody>
      </p:sp>
    </p:spTree>
    <p:extLst>
      <p:ext uri="{BB962C8B-B14F-4D97-AF65-F5344CB8AC3E}">
        <p14:creationId xmlns:p14="http://schemas.microsoft.com/office/powerpoint/2010/main" val="1324877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5BF6F3-2C97-2D26-D6D8-327DA2A3AC55}"/>
              </a:ext>
            </a:extLst>
          </p:cNvPr>
          <p:cNvSpPr txBox="1">
            <a:spLocks/>
          </p:cNvSpPr>
          <p:nvPr/>
        </p:nvSpPr>
        <p:spPr>
          <a:xfrm>
            <a:off x="472428" y="380287"/>
            <a:ext cx="11175489" cy="6157245"/>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lvl="0">
              <a:defRPr/>
            </a:pPr>
            <a:r>
              <a:rPr lang="en-US" sz="3000" b="0" dirty="0">
                <a:solidFill>
                  <a:srgbClr val="000000"/>
                </a:solidFill>
                <a:latin typeface="Calibri" panose="020F0502020204030204" pitchFamily="34" charset="0"/>
                <a:cs typeface="Calibri" panose="020F0502020204030204" pitchFamily="34" charset="0"/>
              </a:rPr>
              <a:t>The city of Oakwood decided to upgrade its public transportation with a new "Smart Transit System" that included real-time bus tracking and digital payment options. A major software company, </a:t>
            </a:r>
            <a:r>
              <a:rPr lang="en-US" sz="3000" b="0" dirty="0" err="1">
                <a:solidFill>
                  <a:srgbClr val="000000"/>
                </a:solidFill>
                <a:latin typeface="Calibri" panose="020F0502020204030204" pitchFamily="34" charset="0"/>
                <a:cs typeface="Calibri" panose="020F0502020204030204" pitchFamily="34" charset="0"/>
              </a:rPr>
              <a:t>TechSolutions</a:t>
            </a:r>
            <a:r>
              <a:rPr lang="en-US" sz="3000" b="0" dirty="0">
                <a:solidFill>
                  <a:srgbClr val="000000"/>
                </a:solidFill>
                <a:latin typeface="Calibri" panose="020F0502020204030204" pitchFamily="34" charset="0"/>
                <a:cs typeface="Calibri" panose="020F0502020204030204" pitchFamily="34" charset="0"/>
              </a:rPr>
              <a:t>, was hired to develop the system.</a:t>
            </a:r>
          </a:p>
          <a:p>
            <a:pPr lvl="0">
              <a:defRPr/>
            </a:pPr>
            <a:endParaRPr lang="en-US" sz="3000" b="0" dirty="0">
              <a:solidFill>
                <a:srgbClr val="000000"/>
              </a:solidFill>
              <a:latin typeface="Calibri" panose="020F0502020204030204" pitchFamily="34" charset="0"/>
              <a:cs typeface="Calibri" panose="020F0502020204030204" pitchFamily="34" charset="0"/>
            </a:endParaRPr>
          </a:p>
          <a:p>
            <a:pPr lvl="0">
              <a:defRPr/>
            </a:pPr>
            <a:r>
              <a:rPr lang="en-US" sz="3000" b="0" dirty="0">
                <a:solidFill>
                  <a:srgbClr val="000000"/>
                </a:solidFill>
                <a:latin typeface="Calibri" panose="020F0502020204030204" pitchFamily="34" charset="0"/>
                <a:cs typeface="Calibri" panose="020F0502020204030204" pitchFamily="34" charset="0"/>
              </a:rPr>
              <a:t>The project charter was signed, and </a:t>
            </a:r>
            <a:r>
              <a:rPr lang="en-US" sz="3000" b="0" dirty="0" err="1">
                <a:solidFill>
                  <a:srgbClr val="000000"/>
                </a:solidFill>
                <a:latin typeface="Calibri" panose="020F0502020204030204" pitchFamily="34" charset="0"/>
                <a:cs typeface="Calibri" panose="020F0502020204030204" pitchFamily="34" charset="0"/>
              </a:rPr>
              <a:t>TechSolutions</a:t>
            </a:r>
            <a:r>
              <a:rPr lang="en-US" sz="3000" b="0" dirty="0">
                <a:solidFill>
                  <a:srgbClr val="000000"/>
                </a:solidFill>
                <a:latin typeface="Calibri" panose="020F0502020204030204" pitchFamily="34" charset="0"/>
                <a:cs typeface="Calibri" panose="020F0502020204030204" pitchFamily="34" charset="0"/>
              </a:rPr>
              <a:t> began work based on this project scope statement: “Develop and implement a user-friendly Smart Transit System for the City of Oakwood." </a:t>
            </a:r>
          </a:p>
          <a:p>
            <a:pPr lvl="0">
              <a:defRPr/>
            </a:pPr>
            <a:endParaRPr kumimoji="0" 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lvl="0">
              <a:defRPr/>
            </a:pPr>
            <a:r>
              <a:rPr kumimoji="0" 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You, the now-experienced PM, decide to </a:t>
            </a:r>
            <a:r>
              <a:rPr kumimoji="0" lang="en-US" sz="300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cs typeface="Calibri" panose="020F0502020204030204" pitchFamily="34" charset="0"/>
              </a:rPr>
              <a:t>look down the tracks</a:t>
            </a:r>
            <a:r>
              <a:rPr kumimoji="0" 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toward</a:t>
            </a:r>
            <a:r>
              <a:rPr kumimoji="0" lang="en-US" sz="3000" b="0" i="0" u="none" strike="noStrike" kern="1200" cap="none" spc="0" normalizeH="0" noProof="0" dirty="0">
                <a:ln>
                  <a:noFill/>
                </a:ln>
                <a:solidFill>
                  <a:srgbClr val="000000"/>
                </a:solidFill>
                <a:effectLst/>
                <a:uLnTx/>
                <a:uFillTx/>
                <a:latin typeface="Calibri" panose="020F0502020204030204" pitchFamily="34" charset="0"/>
                <a:cs typeface="Calibri" panose="020F0502020204030204" pitchFamily="34" charset="0"/>
              </a:rPr>
              <a:t> the end of the project, and look for snags, miscommunications and other endangerments to your beloved Iron Triangle.</a:t>
            </a:r>
            <a:r>
              <a:rPr kumimoji="0" 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57582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5A6FFB-8214-883C-A4FF-916C3D16DE30}"/>
              </a:ext>
            </a:extLst>
          </p:cNvPr>
          <p:cNvPicPr>
            <a:picLocks noChangeAspect="1"/>
          </p:cNvPicPr>
          <p:nvPr/>
        </p:nvPicPr>
        <p:blipFill>
          <a:blip r:embed="rId2"/>
          <a:stretch>
            <a:fillRect/>
          </a:stretch>
        </p:blipFill>
        <p:spPr>
          <a:xfrm>
            <a:off x="1" y="-74065"/>
            <a:ext cx="12192000" cy="6925891"/>
          </a:xfrm>
          <a:prstGeom prst="rect">
            <a:avLst/>
          </a:prstGeom>
        </p:spPr>
      </p:pic>
      <p:sp>
        <p:nvSpPr>
          <p:cNvPr id="5" name="Title 3">
            <a:extLst>
              <a:ext uri="{FF2B5EF4-FFF2-40B4-BE49-F238E27FC236}">
                <a16:creationId xmlns:a16="http://schemas.microsoft.com/office/drawing/2014/main" id="{4D17CA6E-28C8-B930-52C3-F72C1DB86013}"/>
              </a:ext>
            </a:extLst>
          </p:cNvPr>
          <p:cNvSpPr txBox="1">
            <a:spLocks/>
          </p:cNvSpPr>
          <p:nvPr/>
        </p:nvSpPr>
        <p:spPr>
          <a:xfrm>
            <a:off x="316194" y="136525"/>
            <a:ext cx="4965107" cy="3292475"/>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500" b="1" i="0" u="none" strike="noStrike" kern="1200" cap="none" spc="0" normalizeH="0" baseline="0" noProof="0" dirty="0">
                <a:ln>
                  <a:noFill/>
                </a:ln>
                <a:solidFill>
                  <a:srgbClr val="000000"/>
                </a:solidFill>
                <a:effectLst/>
                <a:uLnTx/>
                <a:uFillTx/>
                <a:latin typeface="Bierstadt"/>
                <a:ea typeface="+mj-ea"/>
                <a:cs typeface="+mj-cs"/>
              </a:rPr>
              <a:t>Write down 3 possible snags, and how you’d fix them.</a:t>
            </a:r>
          </a:p>
        </p:txBody>
      </p:sp>
    </p:spTree>
    <p:extLst>
      <p:ext uri="{BB962C8B-B14F-4D97-AF65-F5344CB8AC3E}">
        <p14:creationId xmlns:p14="http://schemas.microsoft.com/office/powerpoint/2010/main" val="396092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a:extLst>
            <a:ext uri="{FF2B5EF4-FFF2-40B4-BE49-F238E27FC236}">
              <a16:creationId xmlns:a16="http://schemas.microsoft.com/office/drawing/2014/main" id="{9C6EF8D5-CF4A-617B-36AF-B5F1604B4960}"/>
            </a:ext>
          </a:extLst>
        </p:cNvPr>
        <p:cNvGrpSpPr/>
        <p:nvPr/>
      </p:nvGrpSpPr>
      <p:grpSpPr>
        <a:xfrm>
          <a:off x="0" y="0"/>
          <a:ext cx="0" cy="0"/>
          <a:chOff x="0" y="0"/>
          <a:chExt cx="0" cy="0"/>
        </a:xfrm>
      </p:grpSpPr>
      <p:pic>
        <p:nvPicPr>
          <p:cNvPr id="2060" name="Picture 12" descr="Learning Labs • Training and Development • scitrain">
            <a:extLst>
              <a:ext uri="{FF2B5EF4-FFF2-40B4-BE49-F238E27FC236}">
                <a16:creationId xmlns:a16="http://schemas.microsoft.com/office/drawing/2014/main" id="{351FD63D-C5A4-983F-8A1A-9F68B234B0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394722">
            <a:off x="10974471" y="-13531"/>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BECE9FE5-131E-F840-6192-0575A2DBE4A7}"/>
              </a:ext>
            </a:extLst>
          </p:cNvPr>
          <p:cNvSpPr txBox="1">
            <a:spLocks/>
          </p:cNvSpPr>
          <p:nvPr/>
        </p:nvSpPr>
        <p:spPr>
          <a:xfrm>
            <a:off x="797169" y="568295"/>
            <a:ext cx="10893724" cy="5665862"/>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4500" b="0" i="0" u="none" strike="noStrike" kern="1200" cap="none" spc="0" normalizeH="0" baseline="0" noProof="0" dirty="0">
              <a:ln>
                <a:noFill/>
              </a:ln>
              <a:solidFill>
                <a:srgbClr val="000000"/>
              </a:solidFill>
              <a:effectLst/>
              <a:uLnTx/>
              <a:uFillTx/>
              <a:latin typeface="Calibri" panose="020F0502020204030204" pitchFamily="34" charset="0"/>
              <a:ea typeface="+mj-ea"/>
              <a:cs typeface="Calibri" panose="020F0502020204030204" pitchFamily="34" charset="0"/>
            </a:endParaRPr>
          </a:p>
        </p:txBody>
      </p:sp>
      <p:sp>
        <p:nvSpPr>
          <p:cNvPr id="4" name="TextBox 3">
            <a:extLst>
              <a:ext uri="{FF2B5EF4-FFF2-40B4-BE49-F238E27FC236}">
                <a16:creationId xmlns:a16="http://schemas.microsoft.com/office/drawing/2014/main" id="{78DAD4B8-EAD0-CC59-8BB3-25378469C0D9}"/>
              </a:ext>
            </a:extLst>
          </p:cNvPr>
          <p:cNvSpPr txBox="1"/>
          <p:nvPr/>
        </p:nvSpPr>
        <p:spPr>
          <a:xfrm>
            <a:off x="583524" y="623843"/>
            <a:ext cx="10893724" cy="5355312"/>
          </a:xfrm>
          <a:prstGeom prst="rect">
            <a:avLst/>
          </a:prstGeom>
          <a:noFill/>
        </p:spPr>
        <p:txBody>
          <a:bodyPr wrap="square">
            <a:spAutoFit/>
          </a:bodyPr>
          <a:lstStyle/>
          <a:p>
            <a:pPr lvl="0">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The lack of detail led </a:t>
            </a:r>
            <a:r>
              <a:rPr lang="en-US" sz="3600" dirty="0"/>
              <a:t>to a series of miscommunications and assumptions, which led</a:t>
            </a: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 to scope creep. </a:t>
            </a:r>
          </a:p>
          <a:p>
            <a:pPr marL="457200" lvl="0" indent="-457200">
              <a:buFont typeface="Wingdings" panose="05000000000000000000" pitchFamily="2" charset="2"/>
              <a:buChar char="§"/>
              <a:defRPr/>
            </a:pPr>
            <a:r>
              <a:rPr kumimoji="0" lang="en-US" sz="3000" b="1" i="0" u="none" strike="noStrike" kern="1200" cap="none" spc="0" normalizeH="0" baseline="0" noProof="0" dirty="0">
                <a:ln>
                  <a:noFill/>
                </a:ln>
                <a:solidFill>
                  <a:prstClr val="black"/>
                </a:solidFill>
                <a:effectLst/>
                <a:uLnTx/>
                <a:uFillTx/>
                <a:latin typeface="Calibri" panose="020F0502020204030204"/>
                <a:ea typeface="+mn-ea"/>
                <a:cs typeface="+mn-cs"/>
              </a:rPr>
              <a:t>User Types</a:t>
            </a: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rPr>
              <a:t>: Was the system for city residents only, or would it also serve tourists and commuters from neighboring towns?</a:t>
            </a:r>
          </a:p>
          <a:p>
            <a:pPr marL="457200" lvl="0" indent="-457200">
              <a:buFont typeface="Wingdings" panose="05000000000000000000" pitchFamily="2" charset="2"/>
              <a:buChar char="§"/>
              <a:defRPr/>
            </a:pPr>
            <a:r>
              <a:rPr kumimoji="0" lang="en-US" sz="3000" b="1" i="0" u="none" strike="noStrike" kern="1200" cap="none" spc="0" normalizeH="0" baseline="0" noProof="0" dirty="0">
                <a:ln>
                  <a:noFill/>
                </a:ln>
                <a:solidFill>
                  <a:prstClr val="black"/>
                </a:solidFill>
                <a:effectLst/>
                <a:uLnTx/>
                <a:uFillTx/>
                <a:latin typeface="Calibri" panose="020F0502020204030204"/>
                <a:ea typeface="+mn-ea"/>
                <a:cs typeface="+mn-cs"/>
              </a:rPr>
              <a:t>Payment Methods</a:t>
            </a: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rPr>
              <a:t>: What specific payment types would be accepted? (e.g., credit cards, mobile wallets, a new proprietary transit card).</a:t>
            </a:r>
          </a:p>
          <a:p>
            <a:pPr marL="457200" lvl="0" indent="-457200">
              <a:buFont typeface="Wingdings" panose="05000000000000000000" pitchFamily="2" charset="2"/>
              <a:buChar char="§"/>
              <a:defRPr/>
            </a:pPr>
            <a:r>
              <a:rPr kumimoji="0" lang="en-US" sz="3000" b="1" i="0" u="none" strike="noStrike" kern="1200" cap="none" spc="0" normalizeH="0" baseline="0" noProof="0" dirty="0">
                <a:ln>
                  <a:noFill/>
                </a:ln>
                <a:solidFill>
                  <a:prstClr val="black"/>
                </a:solidFill>
                <a:effectLst/>
                <a:uLnTx/>
                <a:uFillTx/>
                <a:latin typeface="Calibri" panose="020F0502020204030204"/>
                <a:ea typeface="+mn-ea"/>
                <a:cs typeface="+mn-cs"/>
              </a:rPr>
              <a:t>System Integration</a:t>
            </a: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rPr>
              <a:t>: Would the system need to integrate with existing infrastructure, like bus cameras or old ticketing machines</a:t>
            </a:r>
          </a:p>
          <a:p>
            <a:pPr marL="457200" lvl="0" indent="-457200">
              <a:buFont typeface="Wingdings" panose="05000000000000000000" pitchFamily="2" charset="2"/>
              <a:buChar char="§"/>
              <a:defRPr/>
            </a:pPr>
            <a:r>
              <a:rPr kumimoji="0" lang="en-US" sz="3000" b="1" i="0" u="none" strike="noStrike" kern="1200" cap="none" spc="0" normalizeH="0" baseline="0" noProof="0" dirty="0">
                <a:ln>
                  <a:noFill/>
                </a:ln>
                <a:solidFill>
                  <a:prstClr val="black"/>
                </a:solidFill>
                <a:effectLst/>
                <a:uLnTx/>
                <a:uFillTx/>
                <a:latin typeface="Calibri" panose="020F0502020204030204"/>
                <a:ea typeface="+mn-ea"/>
                <a:cs typeface="+mn-cs"/>
              </a:rPr>
              <a:t>Maintenance and Support</a:t>
            </a: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rPr>
              <a:t>: Who was responsible for ongoing system maintenance after launch?</a:t>
            </a:r>
          </a:p>
        </p:txBody>
      </p:sp>
    </p:spTree>
    <p:extLst>
      <p:ext uri="{BB962C8B-B14F-4D97-AF65-F5344CB8AC3E}">
        <p14:creationId xmlns:p14="http://schemas.microsoft.com/office/powerpoint/2010/main" val="1366457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8686C91-8630-0BF4-2CEE-0226EDFEE39C}"/>
              </a:ext>
            </a:extLst>
          </p:cNvPr>
          <p:cNvPicPr>
            <a:picLocks noChangeAspect="1"/>
          </p:cNvPicPr>
          <p:nvPr/>
        </p:nvPicPr>
        <p:blipFill>
          <a:blip r:embed="rId2"/>
          <a:stretch>
            <a:fillRect/>
          </a:stretch>
        </p:blipFill>
        <p:spPr>
          <a:xfrm rot="2809775">
            <a:off x="10232255" y="121587"/>
            <a:ext cx="2139095" cy="1511627"/>
          </a:xfrm>
          <a:prstGeom prst="rect">
            <a:avLst/>
          </a:prstGeom>
        </p:spPr>
      </p:pic>
      <p:sp>
        <p:nvSpPr>
          <p:cNvPr id="3" name="Content Placeholder 2">
            <a:extLst>
              <a:ext uri="{FF2B5EF4-FFF2-40B4-BE49-F238E27FC236}">
                <a16:creationId xmlns:a16="http://schemas.microsoft.com/office/drawing/2014/main" id="{8CF1BEB2-12BF-2B0D-57CF-69283B1F5C16}"/>
              </a:ext>
            </a:extLst>
          </p:cNvPr>
          <p:cNvSpPr>
            <a:spLocks noGrp="1"/>
          </p:cNvSpPr>
          <p:nvPr>
            <p:ph idx="1"/>
          </p:nvPr>
        </p:nvSpPr>
        <p:spPr>
          <a:xfrm>
            <a:off x="609600" y="802950"/>
            <a:ext cx="10353675" cy="5630868"/>
          </a:xfrm>
        </p:spPr>
        <p:txBody>
          <a:bodyPr/>
          <a:lstStyle/>
          <a:p>
            <a:pPr>
              <a:buFont typeface="Wingdings" panose="05000000000000000000" pitchFamily="2" charset="2"/>
              <a:buChar char="q"/>
            </a:pPr>
            <a:r>
              <a:rPr lang="en-US" sz="4000" dirty="0"/>
              <a:t> </a:t>
            </a:r>
            <a:r>
              <a:rPr lang="en-US" sz="4000" b="1" dirty="0"/>
              <a:t>What are the two main reasons PMs say projects fail?</a:t>
            </a:r>
          </a:p>
          <a:p>
            <a:pPr marL="0" indent="0">
              <a:buNone/>
            </a:pPr>
            <a:r>
              <a:rPr lang="en-US" sz="4000" dirty="0"/>
              <a:t>	</a:t>
            </a:r>
            <a:r>
              <a:rPr lang="en-US" sz="4000" b="1" dirty="0">
                <a:highlight>
                  <a:srgbClr val="FFFF00"/>
                </a:highlight>
              </a:rPr>
              <a:t>Scope creep</a:t>
            </a:r>
            <a:r>
              <a:rPr lang="en-US" sz="4000" b="1" dirty="0"/>
              <a:t> </a:t>
            </a:r>
            <a:r>
              <a:rPr lang="en-US" sz="4000" dirty="0"/>
              <a:t>and </a:t>
            </a:r>
            <a:r>
              <a:rPr lang="en-US" sz="4000" b="1" dirty="0">
                <a:highlight>
                  <a:srgbClr val="FFFF00"/>
                </a:highlight>
              </a:rPr>
              <a:t>lack of understanding of   </a:t>
            </a:r>
            <a:r>
              <a:rPr lang="en-US" sz="4000" b="1" dirty="0"/>
              <a:t>	</a:t>
            </a:r>
            <a:r>
              <a:rPr lang="en-US" sz="4000" b="1" dirty="0">
                <a:highlight>
                  <a:srgbClr val="FFFF00"/>
                </a:highlight>
              </a:rPr>
              <a:t>the clients' vision</a:t>
            </a:r>
            <a:r>
              <a:rPr lang="en-US" sz="4000" dirty="0"/>
              <a:t>.</a:t>
            </a:r>
            <a:br>
              <a:rPr lang="en-US" sz="4000" dirty="0"/>
            </a:br>
            <a:endParaRPr lang="en-US" sz="4000" dirty="0"/>
          </a:p>
          <a:p>
            <a:pPr>
              <a:buFont typeface="Wingdings" panose="05000000000000000000" pitchFamily="2" charset="2"/>
              <a:buChar char="q"/>
            </a:pPr>
            <a:r>
              <a:rPr lang="en-US" sz="4000" dirty="0"/>
              <a:t> </a:t>
            </a:r>
            <a:r>
              <a:rPr lang="en-US" sz="4000" b="1" dirty="0"/>
              <a:t>___ are a critical measure of a project’s success.</a:t>
            </a:r>
          </a:p>
          <a:p>
            <a:pPr marL="0" indent="0">
              <a:buNone/>
            </a:pPr>
            <a:r>
              <a:rPr lang="en-US" sz="4000" dirty="0"/>
              <a:t>	</a:t>
            </a:r>
            <a:r>
              <a:rPr lang="en-US" sz="4000" b="1" dirty="0">
                <a:highlight>
                  <a:srgbClr val="FFFF00"/>
                </a:highlight>
              </a:rPr>
              <a:t>Expectations</a:t>
            </a:r>
          </a:p>
          <a:p>
            <a:pPr>
              <a:buFont typeface="Wingdings" panose="05000000000000000000" pitchFamily="2" charset="2"/>
              <a:buChar char="q"/>
            </a:pPr>
            <a:endParaRPr lang="en-US" sz="4000" dirty="0"/>
          </a:p>
        </p:txBody>
      </p:sp>
      <p:sp>
        <p:nvSpPr>
          <p:cNvPr id="4" name="Slide Number Placeholder 3">
            <a:extLst>
              <a:ext uri="{FF2B5EF4-FFF2-40B4-BE49-F238E27FC236}">
                <a16:creationId xmlns:a16="http://schemas.microsoft.com/office/drawing/2014/main" id="{9CE1182C-F6D8-7C63-CFF1-D7DBBDDF90A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DAA86-D487-4582-8852-AA829BCF81E2}" type="slidenum">
              <a:rPr kumimoji="0" lang="en-US" altLang="en-US" sz="675"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altLang="en-US" sz="675" b="0" i="0" u="none" strike="noStrike" kern="1200" cap="none" spc="0" normalizeH="0" baseline="0" noProof="0" dirty="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873037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2AB0E-B64A-4CCD-1A66-D81B9454E29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425EC55-9404-68A9-F2A6-6F4588A09109}"/>
              </a:ext>
            </a:extLst>
          </p:cNvPr>
          <p:cNvSpPr>
            <a:spLocks noGrp="1"/>
          </p:cNvSpPr>
          <p:nvPr>
            <p:ph idx="1"/>
          </p:nvPr>
        </p:nvSpPr>
        <p:spPr>
          <a:xfrm>
            <a:off x="266700" y="416405"/>
            <a:ext cx="11658599" cy="916739"/>
          </a:xfrm>
        </p:spPr>
        <p:txBody>
          <a:bodyPr vert="horz" lIns="91440" tIns="45720" rIns="91440" bIns="45720" rtlCol="0" anchor="t">
            <a:normAutofit/>
          </a:bodyPr>
          <a:lstStyle/>
          <a:p>
            <a:pPr marL="0" indent="0" algn="ctr">
              <a:lnSpc>
                <a:spcPct val="100000"/>
              </a:lnSpc>
              <a:spcBef>
                <a:spcPts val="0"/>
              </a:spcBef>
              <a:buNone/>
            </a:pPr>
            <a:r>
              <a:rPr lang="en-US" sz="4500" b="1" noProof="1">
                <a:latin typeface="Gill Sans Ultra Bold" panose="020B0A02020104020203" pitchFamily="34" charset="0"/>
              </a:rPr>
              <a:t>Today’s Objectives</a:t>
            </a:r>
          </a:p>
          <a:p>
            <a:pPr marL="0" indent="0">
              <a:lnSpc>
                <a:spcPct val="100000"/>
              </a:lnSpc>
              <a:spcBef>
                <a:spcPts val="0"/>
              </a:spcBef>
              <a:buNone/>
            </a:pPr>
            <a:endParaRPr lang="en-US" sz="3800" noProof="1"/>
          </a:p>
          <a:p>
            <a:pPr marL="0" indent="0">
              <a:lnSpc>
                <a:spcPct val="100000"/>
              </a:lnSpc>
              <a:spcBef>
                <a:spcPts val="0"/>
              </a:spcBef>
              <a:buNone/>
            </a:pPr>
            <a:endParaRPr lang="en-US" sz="3800" noProof="1"/>
          </a:p>
          <a:p>
            <a:pPr marL="0" indent="0">
              <a:lnSpc>
                <a:spcPct val="100000"/>
              </a:lnSpc>
              <a:spcBef>
                <a:spcPts val="0"/>
              </a:spcBef>
              <a:buNone/>
            </a:pPr>
            <a:endParaRPr lang="en-US" sz="3800" noProof="1"/>
          </a:p>
          <a:p>
            <a:pPr marL="0" indent="0">
              <a:lnSpc>
                <a:spcPct val="100000"/>
              </a:lnSpc>
              <a:spcBef>
                <a:spcPts val="0"/>
              </a:spcBef>
              <a:buNone/>
            </a:pPr>
            <a:endParaRPr lang="en-US" sz="3800" noProof="1"/>
          </a:p>
        </p:txBody>
      </p:sp>
      <p:sp>
        <p:nvSpPr>
          <p:cNvPr id="38" name="Slide Number Placeholder 37">
            <a:extLst>
              <a:ext uri="{FF2B5EF4-FFF2-40B4-BE49-F238E27FC236}">
                <a16:creationId xmlns:a16="http://schemas.microsoft.com/office/drawing/2014/main" id="{30DFC3CF-EE19-9EE3-DBA8-DAF744FFC8D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000" b="0" i="0" u="none" strike="noStrike" kern="1200" cap="none" spc="0" normalizeH="0" baseline="0" noProof="0" smtClean="0">
                <a:ln>
                  <a:noFill/>
                </a:ln>
                <a:solidFill>
                  <a:prstClr val="black"/>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dirty="0">
              <a:ln>
                <a:noFill/>
              </a:ln>
              <a:solidFill>
                <a:prstClr val="black"/>
              </a:solidFill>
              <a:effectLst/>
              <a:uLnTx/>
              <a:uFillTx/>
              <a:latin typeface="Avenir Next LT Pro Light"/>
              <a:ea typeface="+mn-ea"/>
              <a:cs typeface="+mn-cs"/>
            </a:endParaRPr>
          </a:p>
        </p:txBody>
      </p:sp>
      <p:sp>
        <p:nvSpPr>
          <p:cNvPr id="2" name="Rectangle 1">
            <a:extLst>
              <a:ext uri="{FF2B5EF4-FFF2-40B4-BE49-F238E27FC236}">
                <a16:creationId xmlns:a16="http://schemas.microsoft.com/office/drawing/2014/main" id="{FE0D8EE5-8B00-4F94-9DBF-EF0AC2417F74}"/>
              </a:ext>
              <a:ext uri="{C183D7F6-B498-43B3-948B-1728B52AA6E4}">
                <adec:decorative xmlns:adec="http://schemas.microsoft.com/office/drawing/2017/decorative" val="1"/>
              </a:ext>
            </a:extLst>
          </p:cNvPr>
          <p:cNvSpPr/>
          <p:nvPr/>
        </p:nvSpPr>
        <p:spPr>
          <a:xfrm>
            <a:off x="853868" y="1574561"/>
            <a:ext cx="2538813" cy="3572143"/>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3" name="Rectangle 2">
            <a:extLst>
              <a:ext uri="{FF2B5EF4-FFF2-40B4-BE49-F238E27FC236}">
                <a16:creationId xmlns:a16="http://schemas.microsoft.com/office/drawing/2014/main" id="{5BFAFCFC-FA4A-7345-9E6A-1D31CD6329C3}"/>
              </a:ext>
              <a:ext uri="{C183D7F6-B498-43B3-948B-1728B52AA6E4}">
                <adec:decorative xmlns:adec="http://schemas.microsoft.com/office/drawing/2017/decorative" val="1"/>
              </a:ext>
            </a:extLst>
          </p:cNvPr>
          <p:cNvSpPr/>
          <p:nvPr/>
        </p:nvSpPr>
        <p:spPr>
          <a:xfrm>
            <a:off x="4904573" y="1576697"/>
            <a:ext cx="2649909" cy="3572142"/>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4" name="Rectangle 3">
            <a:extLst>
              <a:ext uri="{FF2B5EF4-FFF2-40B4-BE49-F238E27FC236}">
                <a16:creationId xmlns:a16="http://schemas.microsoft.com/office/drawing/2014/main" id="{A9F040BB-2824-4DE9-070F-099CC55D627D}"/>
              </a:ext>
              <a:ext uri="{C183D7F6-B498-43B3-948B-1728B52AA6E4}">
                <adec:decorative xmlns:adec="http://schemas.microsoft.com/office/drawing/2017/decorative" val="1"/>
              </a:ext>
            </a:extLst>
          </p:cNvPr>
          <p:cNvSpPr/>
          <p:nvPr/>
        </p:nvSpPr>
        <p:spPr>
          <a:xfrm>
            <a:off x="8610600" y="1624390"/>
            <a:ext cx="2598098" cy="3458911"/>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5" name="Text Placeholder 19">
            <a:extLst>
              <a:ext uri="{FF2B5EF4-FFF2-40B4-BE49-F238E27FC236}">
                <a16:creationId xmlns:a16="http://schemas.microsoft.com/office/drawing/2014/main" id="{153A561B-90F9-A655-1B27-E53D9445535E}"/>
              </a:ext>
            </a:extLst>
          </p:cNvPr>
          <p:cNvSpPr txBox="1">
            <a:spLocks/>
          </p:cNvSpPr>
          <p:nvPr/>
        </p:nvSpPr>
        <p:spPr>
          <a:xfrm>
            <a:off x="983302" y="1893510"/>
            <a:ext cx="2221155" cy="309723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2400" b="1" noProof="1">
                <a:latin typeface="Calibri" panose="020F0502020204030204" pitchFamily="34" charset="0"/>
                <a:cs typeface="Calibri" panose="020F0502020204030204" pitchFamily="34" charset="0"/>
              </a:rPr>
              <a:t>Understand that a project scope action plan is the natural extension of the project scope statement.</a:t>
            </a:r>
          </a:p>
        </p:txBody>
      </p:sp>
      <p:sp>
        <p:nvSpPr>
          <p:cNvPr id="7" name="Text Placeholder 19">
            <a:extLst>
              <a:ext uri="{FF2B5EF4-FFF2-40B4-BE49-F238E27FC236}">
                <a16:creationId xmlns:a16="http://schemas.microsoft.com/office/drawing/2014/main" id="{ABA12262-BE31-F79F-268A-11387F101653}"/>
              </a:ext>
            </a:extLst>
          </p:cNvPr>
          <p:cNvSpPr txBox="1">
            <a:spLocks/>
          </p:cNvSpPr>
          <p:nvPr/>
        </p:nvSpPr>
        <p:spPr>
          <a:xfrm>
            <a:off x="5118949" y="1893510"/>
            <a:ext cx="2221155" cy="261012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2400" b="1" noProof="1">
                <a:latin typeface="Calibri" panose="020F0502020204030204" pitchFamily="34" charset="0"/>
                <a:cs typeface="Calibri" panose="020F0502020204030204" pitchFamily="34" charset="0"/>
              </a:rPr>
              <a:t>Practice pulling in all team members when creating an action plan, DO NOT go Lone Wolf. </a:t>
            </a:r>
          </a:p>
        </p:txBody>
      </p:sp>
      <p:sp>
        <p:nvSpPr>
          <p:cNvPr id="12" name="Text Placeholder 19">
            <a:extLst>
              <a:ext uri="{FF2B5EF4-FFF2-40B4-BE49-F238E27FC236}">
                <a16:creationId xmlns:a16="http://schemas.microsoft.com/office/drawing/2014/main" id="{936FC880-3536-5354-0515-233D260954A4}"/>
              </a:ext>
            </a:extLst>
          </p:cNvPr>
          <p:cNvSpPr txBox="1">
            <a:spLocks/>
          </p:cNvSpPr>
          <p:nvPr/>
        </p:nvSpPr>
        <p:spPr>
          <a:xfrm>
            <a:off x="8799071" y="1893509"/>
            <a:ext cx="2221155" cy="298613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2400" b="1" noProof="1">
                <a:latin typeface="Calibri" panose="020F0502020204030204" pitchFamily="34" charset="0"/>
                <a:cs typeface="Calibri" panose="020F0502020204030204" pitchFamily="34" charset="0"/>
              </a:rPr>
              <a:t>Remember the action plan is vital because it keeps the whole team focused on their common goals and objectives. </a:t>
            </a:r>
          </a:p>
        </p:txBody>
      </p:sp>
    </p:spTree>
    <p:extLst>
      <p:ext uri="{BB962C8B-B14F-4D97-AF65-F5344CB8AC3E}">
        <p14:creationId xmlns:p14="http://schemas.microsoft.com/office/powerpoint/2010/main" val="391438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fade">
                                      <p:cBhvr>
                                        <p:cTn id="1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3F97BE-F647-4676-9B37-BC17E7E95735}"/>
              </a:ext>
            </a:extLst>
          </p:cNvPr>
          <p:cNvSpPr>
            <a:spLocks noGrp="1"/>
          </p:cNvSpPr>
          <p:nvPr>
            <p:ph idx="1"/>
          </p:nvPr>
        </p:nvSpPr>
        <p:spPr>
          <a:xfrm>
            <a:off x="492035" y="237064"/>
            <a:ext cx="11207930" cy="6514114"/>
          </a:xfrm>
        </p:spPr>
        <p:txBody>
          <a:bodyPr>
            <a:noAutofit/>
          </a:bodyPr>
          <a:lstStyle/>
          <a:p>
            <a:pPr marL="0" indent="0" algn="ctr">
              <a:lnSpc>
                <a:spcPct val="100000"/>
              </a:lnSpc>
              <a:spcBef>
                <a:spcPts val="0"/>
              </a:spcBef>
              <a:buNone/>
            </a:pPr>
            <a:r>
              <a:rPr lang="en-US" sz="3000" dirty="0">
                <a:latin typeface="Calibri" panose="020F0502020204030204" pitchFamily="34" charset="0"/>
                <a:cs typeface="Calibri" panose="020F0502020204030204" pitchFamily="34" charset="0"/>
              </a:rPr>
              <a:t>Big 5 Pre-Questions/Pre-Planning</a:t>
            </a:r>
          </a:p>
          <a:p>
            <a:pPr marL="0" indent="0" algn="ctr">
              <a:lnSpc>
                <a:spcPct val="100000"/>
              </a:lnSpc>
              <a:spcBef>
                <a:spcPts val="0"/>
              </a:spcBef>
              <a:buNone/>
            </a:pPr>
            <a:r>
              <a:rPr lang="en-US" sz="3000" dirty="0">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Requirements </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Expectations</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Goals &amp; Objectives</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Deliverables</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highlight>
                  <a:srgbClr val="FFFF00"/>
                </a:highlight>
                <a:latin typeface="Calibri" panose="020F0502020204030204" pitchFamily="34" charset="0"/>
                <a:cs typeface="Calibri" panose="020F0502020204030204" pitchFamily="34" charset="0"/>
              </a:rPr>
              <a:t>Scope of Work Statement &amp; Action Plan </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Work Breakdown Structure </a:t>
            </a:r>
            <a:endParaRPr lang="en-US" sz="3000" dirty="0">
              <a:latin typeface="Calibri" panose="020F0502020204030204" pitchFamily="34" charset="0"/>
              <a:cs typeface="Calibri" panose="020F0502020204030204" pitchFamily="34" charset="0"/>
            </a:endParaRPr>
          </a:p>
        </p:txBody>
      </p:sp>
      <p:graphicFrame>
        <p:nvGraphicFramePr>
          <p:cNvPr id="4" name="Diagram 3">
            <a:extLst>
              <a:ext uri="{FF2B5EF4-FFF2-40B4-BE49-F238E27FC236}">
                <a16:creationId xmlns:a16="http://schemas.microsoft.com/office/drawing/2014/main" id="{CCB7FCF9-46B4-0787-729E-847EB6F2014B}"/>
              </a:ext>
            </a:extLst>
          </p:cNvPr>
          <p:cNvGraphicFramePr/>
          <p:nvPr/>
        </p:nvGraphicFramePr>
        <p:xfrm>
          <a:off x="492035" y="1563881"/>
          <a:ext cx="3413393" cy="25808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E4EFDF6F-79FF-891B-DDED-BD94D82DBDA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2409441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9F6C677E-B34E-1CE5-8C47-82B72318D8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DE64EF-9BB6-3E7E-A220-95CEB8569F11}"/>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59E61C4A-EED6-A471-87FD-9C9D6442092D}"/>
              </a:ext>
            </a:extLst>
          </p:cNvPr>
          <p:cNvSpPr txBox="1"/>
          <p:nvPr/>
        </p:nvSpPr>
        <p:spPr>
          <a:xfrm>
            <a:off x="794759" y="627018"/>
            <a:ext cx="10417724" cy="563231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As we look deeper into the scope of work, let’s repeat our warning about </a:t>
            </a:r>
            <a:r>
              <a:rPr kumimoji="0" lang="en-US" sz="40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scope creep</a:t>
            </a:r>
            <a:r>
              <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 -  uncontrolled growth in what work needs to be done.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It almost always results in delays, cost overruns or diminished quality.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It is also one of the biggest reasons projects fail.</a:t>
            </a:r>
          </a:p>
        </p:txBody>
      </p:sp>
      <p:sp>
        <p:nvSpPr>
          <p:cNvPr id="4" name="Slide Number Placeholder 3">
            <a:extLst>
              <a:ext uri="{FF2B5EF4-FFF2-40B4-BE49-F238E27FC236}">
                <a16:creationId xmlns:a16="http://schemas.microsoft.com/office/drawing/2014/main" id="{D712A174-B312-7912-FCA2-76F5FDD7BD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2822686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F8A85-7404-83EA-84CF-BE67F47F9C3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5AAF49-3DB5-68F4-14AE-507C235B6E4F}"/>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6D911C7C-6030-CD5C-A6AD-774FAD2E4C03}"/>
              </a:ext>
            </a:extLst>
          </p:cNvPr>
          <p:cNvSpPr txBox="1"/>
          <p:nvPr/>
        </p:nvSpPr>
        <p:spPr>
          <a:xfrm>
            <a:off x="572529" y="554087"/>
            <a:ext cx="11046941" cy="5016758"/>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Scope is one of the </a:t>
            </a:r>
            <a:r>
              <a:rPr kumimoji="0" lang="en-US" sz="40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primary areas of project distress</a:t>
            </a: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 big cause is scope creep -  uncontrolled growth in what work needs to be done.</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Project sponsors and executives assume the scope broadly includes everything that is reasonable to produce the deliverables, but project managers want to </a:t>
            </a:r>
            <a:r>
              <a:rPr kumimoji="0" lang="en-US" sz="4000" b="1"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account for every resource</a:t>
            </a: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t>
            </a:r>
          </a:p>
        </p:txBody>
      </p:sp>
      <p:sp>
        <p:nvSpPr>
          <p:cNvPr id="4" name="Slide Number Placeholder 3">
            <a:extLst>
              <a:ext uri="{FF2B5EF4-FFF2-40B4-BE49-F238E27FC236}">
                <a16:creationId xmlns:a16="http://schemas.microsoft.com/office/drawing/2014/main" id="{DAAD8B17-1641-C2C4-9712-9ED78CE7FF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813264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D226D-E10B-411E-9429-7607C04BA749}"/>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B4C1E0D5-8078-41F7-92FD-B0778A6FFADD}"/>
              </a:ext>
            </a:extLst>
          </p:cNvPr>
          <p:cNvSpPr txBox="1"/>
          <p:nvPr/>
        </p:nvSpPr>
        <p:spPr>
          <a:xfrm>
            <a:off x="572529" y="554087"/>
            <a:ext cx="11046941" cy="1938992"/>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When the parties </a:t>
            </a:r>
            <a:r>
              <a:rPr kumimoji="0" lang="en-US" sz="4000" b="1"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do not want to confront the issues regarding the project boundaries at the outset</a:t>
            </a: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it is a formula for problems.</a:t>
            </a: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4268000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97C95F-BBDC-4ACE-3075-BD74DF0D6091}"/>
              </a:ext>
            </a:extLst>
          </p:cNvPr>
          <p:cNvSpPr>
            <a:spLocks noGrp="1"/>
          </p:cNvSpPr>
          <p:nvPr>
            <p:ph idx="1"/>
          </p:nvPr>
        </p:nvSpPr>
        <p:spPr>
          <a:xfrm>
            <a:off x="523679" y="427839"/>
            <a:ext cx="11173474" cy="6430161"/>
          </a:xfrm>
        </p:spPr>
        <p:txBody>
          <a:bodyPr>
            <a:normAutofit/>
          </a:bodyPr>
          <a:lstStyle/>
          <a:p>
            <a:pPr marL="0" indent="0">
              <a:lnSpc>
                <a:spcPct val="110000"/>
              </a:lnSpc>
              <a:spcBef>
                <a:spcPts val="0"/>
              </a:spcBef>
              <a:buNone/>
            </a:pPr>
            <a:r>
              <a:rPr lang="en-US" sz="3500" b="1" dirty="0">
                <a:solidFill>
                  <a:schemeClr val="tx1"/>
                </a:solidFill>
                <a:latin typeface="Calibri" panose="020F0502020204030204" pitchFamily="34" charset="0"/>
                <a:ea typeface="Meiryo" panose="020B0604030504040204" pitchFamily="34" charset="-128"/>
                <a:cs typeface="Calibri" panose="020F0502020204030204" pitchFamily="34" charset="0"/>
              </a:rPr>
              <a:t>Why Projects Go Wrong</a:t>
            </a:r>
          </a:p>
          <a:p>
            <a:pPr>
              <a:lnSpc>
                <a:spcPct val="110000"/>
              </a:lnSpc>
              <a:spcBef>
                <a:spcPts val="0"/>
              </a:spcBef>
              <a:buFont typeface="Wingdings" panose="05000000000000000000" pitchFamily="2" charset="2"/>
              <a:buChar char="§"/>
            </a:pP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a:t>
            </a:r>
            <a:r>
              <a:rPr lang="en-US" sz="2600" b="1" dirty="0">
                <a:solidFill>
                  <a:srgbClr val="FF0000"/>
                </a:solidFill>
                <a:latin typeface="Calibri" panose="020F0502020204030204" pitchFamily="34" charset="0"/>
                <a:ea typeface="Meiryo" panose="020B0604030504040204" pitchFamily="34" charset="-128"/>
                <a:cs typeface="Calibri" panose="020F0502020204030204" pitchFamily="34" charset="0"/>
              </a:rPr>
              <a:t>Inadequately trained</a:t>
            </a: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and /or inexperienced project managers. </a:t>
            </a:r>
          </a:p>
          <a:p>
            <a:pPr>
              <a:lnSpc>
                <a:spcPct val="110000"/>
              </a:lnSpc>
              <a:spcBef>
                <a:spcPts val="0"/>
              </a:spcBef>
              <a:buFont typeface="Wingdings" panose="05000000000000000000" pitchFamily="2" charset="2"/>
              <a:buChar char="§"/>
            </a:pP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Failure to set and </a:t>
            </a:r>
            <a:r>
              <a:rPr lang="en-US" sz="2600" b="1" dirty="0">
                <a:solidFill>
                  <a:srgbClr val="FF0000"/>
                </a:solidFill>
                <a:latin typeface="Calibri" panose="020F0502020204030204" pitchFamily="34" charset="0"/>
                <a:ea typeface="Meiryo" panose="020B0604030504040204" pitchFamily="34" charset="-128"/>
                <a:cs typeface="Calibri" panose="020F0502020204030204" pitchFamily="34" charset="0"/>
              </a:rPr>
              <a:t>manage expectations</a:t>
            </a: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a:t>
            </a:r>
          </a:p>
          <a:p>
            <a:pPr>
              <a:lnSpc>
                <a:spcPct val="110000"/>
              </a:lnSpc>
              <a:spcBef>
                <a:spcPts val="0"/>
              </a:spcBef>
              <a:buFont typeface="Wingdings" panose="05000000000000000000" pitchFamily="2" charset="2"/>
              <a:buChar char="§"/>
            </a:pP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Poor </a:t>
            </a:r>
            <a:r>
              <a:rPr lang="en-US" sz="2600" b="1" dirty="0">
                <a:solidFill>
                  <a:srgbClr val="FF0000"/>
                </a:solidFill>
                <a:latin typeface="Calibri" panose="020F0502020204030204" pitchFamily="34" charset="0"/>
                <a:ea typeface="Meiryo" panose="020B0604030504040204" pitchFamily="34" charset="-128"/>
                <a:cs typeface="Calibri" panose="020F0502020204030204" pitchFamily="34" charset="0"/>
              </a:rPr>
              <a:t>leadership</a:t>
            </a: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at any and all levels. </a:t>
            </a:r>
          </a:p>
          <a:p>
            <a:pPr>
              <a:lnSpc>
                <a:spcPct val="110000"/>
              </a:lnSpc>
              <a:spcBef>
                <a:spcPts val="0"/>
              </a:spcBef>
              <a:buFont typeface="Wingdings" panose="05000000000000000000" pitchFamily="2" charset="2"/>
              <a:buChar char="§"/>
            </a:pP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Failure to adequately identify , document and track </a:t>
            </a:r>
            <a:r>
              <a:rPr lang="en-US" sz="2600" b="1" dirty="0">
                <a:solidFill>
                  <a:srgbClr val="FF0000"/>
                </a:solidFill>
                <a:latin typeface="Calibri" panose="020F0502020204030204" pitchFamily="34" charset="0"/>
                <a:ea typeface="Meiryo" panose="020B0604030504040204" pitchFamily="34" charset="-128"/>
                <a:cs typeface="Calibri" panose="020F0502020204030204" pitchFamily="34" charset="0"/>
              </a:rPr>
              <a:t>requirements</a:t>
            </a: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a:t>
            </a:r>
          </a:p>
          <a:p>
            <a:pPr>
              <a:lnSpc>
                <a:spcPct val="110000"/>
              </a:lnSpc>
              <a:spcBef>
                <a:spcPts val="0"/>
              </a:spcBef>
              <a:buFont typeface="Wingdings" panose="05000000000000000000" pitchFamily="2" charset="2"/>
              <a:buChar char="§"/>
            </a:pP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Poor plans and planning processes. </a:t>
            </a:r>
          </a:p>
          <a:p>
            <a:pPr>
              <a:lnSpc>
                <a:spcPct val="110000"/>
              </a:lnSpc>
              <a:spcBef>
                <a:spcPts val="0"/>
              </a:spcBef>
              <a:buFont typeface="Wingdings" panose="05000000000000000000" pitchFamily="2" charset="2"/>
              <a:buChar char="§"/>
            </a:pP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Poor </a:t>
            </a:r>
            <a:r>
              <a:rPr lang="en-US" sz="2600" b="1" dirty="0">
                <a:solidFill>
                  <a:srgbClr val="FF0000"/>
                </a:solidFill>
                <a:latin typeface="Calibri" panose="020F0502020204030204" pitchFamily="34" charset="0"/>
                <a:ea typeface="Meiryo" panose="020B0604030504040204" pitchFamily="34" charset="-128"/>
                <a:cs typeface="Calibri" panose="020F0502020204030204" pitchFamily="34" charset="0"/>
              </a:rPr>
              <a:t>effort estimation</a:t>
            </a: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a:t>
            </a:r>
          </a:p>
          <a:p>
            <a:pPr>
              <a:lnSpc>
                <a:spcPct val="110000"/>
              </a:lnSpc>
              <a:spcBef>
                <a:spcPts val="0"/>
              </a:spcBef>
              <a:buFont typeface="Wingdings" panose="05000000000000000000" pitchFamily="2" charset="2"/>
              <a:buChar char="§"/>
            </a:pP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a:t>
            </a:r>
            <a:r>
              <a:rPr lang="en-US" sz="2600" b="1" dirty="0">
                <a:solidFill>
                  <a:srgbClr val="FF0000"/>
                </a:solidFill>
                <a:latin typeface="Calibri" panose="020F0502020204030204" pitchFamily="34" charset="0"/>
                <a:ea typeface="Meiryo" panose="020B0604030504040204" pitchFamily="34" charset="-128"/>
                <a:cs typeface="Calibri" panose="020F0502020204030204" pitchFamily="34" charset="0"/>
              </a:rPr>
              <a:t>Misalignment</a:t>
            </a: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between the project team and the business or other organizations it serves.</a:t>
            </a:r>
          </a:p>
          <a:p>
            <a:pPr>
              <a:lnSpc>
                <a:spcPct val="110000"/>
              </a:lnSpc>
              <a:spcBef>
                <a:spcPts val="0"/>
              </a:spcBef>
              <a:buFont typeface="Wingdings" panose="05000000000000000000" pitchFamily="2" charset="2"/>
              <a:buChar char="§"/>
            </a:pP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Inadequate or misused methods. </a:t>
            </a:r>
          </a:p>
          <a:p>
            <a:pPr>
              <a:lnSpc>
                <a:spcPct val="110000"/>
              </a:lnSpc>
              <a:spcBef>
                <a:spcPts val="0"/>
              </a:spcBef>
              <a:buFont typeface="Wingdings" panose="05000000000000000000" pitchFamily="2" charset="2"/>
              <a:buChar char="§"/>
            </a:pP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Inadequate </a:t>
            </a:r>
            <a:r>
              <a:rPr lang="en-US" sz="2600" b="1" dirty="0">
                <a:solidFill>
                  <a:srgbClr val="FF0000"/>
                </a:solidFill>
                <a:latin typeface="Calibri" panose="020F0502020204030204" pitchFamily="34" charset="0"/>
                <a:ea typeface="Meiryo" panose="020B0604030504040204" pitchFamily="34" charset="-128"/>
                <a:cs typeface="Calibri" panose="020F0502020204030204" pitchFamily="34" charset="0"/>
              </a:rPr>
              <a:t>communication</a:t>
            </a:r>
            <a:r>
              <a:rPr lang="en-US" sz="2600" dirty="0">
                <a:solidFill>
                  <a:schemeClr val="tx1"/>
                </a:solidFill>
                <a:latin typeface="Calibri" panose="020F0502020204030204" pitchFamily="34" charset="0"/>
                <a:ea typeface="Meiryo" panose="020B0604030504040204" pitchFamily="34" charset="-128"/>
                <a:cs typeface="Calibri" panose="020F0502020204030204" pitchFamily="34" charset="0"/>
              </a:rPr>
              <a:t>, including progress tracking and reporting loop.</a:t>
            </a:r>
          </a:p>
          <a:p>
            <a:pPr marL="0" indent="0">
              <a:lnSpc>
                <a:spcPct val="110000"/>
              </a:lnSpc>
              <a:spcBef>
                <a:spcPts val="0"/>
              </a:spcBef>
              <a:buNone/>
            </a:pPr>
            <a:endParaRPr lang="en-US" sz="26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995974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8C8AF-3C8D-5889-BA68-33EA2DB4F3F6}"/>
            </a:ext>
          </a:extLst>
        </p:cNvPr>
        <p:cNvGrpSpPr/>
        <p:nvPr/>
      </p:nvGrpSpPr>
      <p:grpSpPr>
        <a:xfrm>
          <a:off x="0" y="0"/>
          <a:ext cx="0" cy="0"/>
          <a:chOff x="0" y="0"/>
          <a:chExt cx="0" cy="0"/>
        </a:xfrm>
      </p:grpSpPr>
      <p:pic>
        <p:nvPicPr>
          <p:cNvPr id="1026" name="Picture 2" descr="Row Of College Students Raising Hands">
            <a:extLst>
              <a:ext uri="{FF2B5EF4-FFF2-40B4-BE49-F238E27FC236}">
                <a16:creationId xmlns:a16="http://schemas.microsoft.com/office/drawing/2014/main" id="{86FB7AFC-B537-54AE-9566-B0D18E433F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135" y="0"/>
            <a:ext cx="12439135"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3F11580-A732-64B2-B657-ECF096D6396E}"/>
              </a:ext>
            </a:extLst>
          </p:cNvPr>
          <p:cNvSpPr>
            <a:spLocks noGrp="1"/>
          </p:cNvSpPr>
          <p:nvPr>
            <p:ph idx="1"/>
          </p:nvPr>
        </p:nvSpPr>
        <p:spPr>
          <a:xfrm>
            <a:off x="706081" y="1039813"/>
            <a:ext cx="6010914" cy="2515238"/>
          </a:xfrm>
        </p:spPr>
        <p:txBody>
          <a:bodyPr>
            <a:normAutofit/>
          </a:bodyPr>
          <a:lstStyle/>
          <a:p>
            <a:pPr marL="0" indent="0">
              <a:lnSpc>
                <a:spcPct val="100000"/>
              </a:lnSpc>
              <a:spcBef>
                <a:spcPts val="0"/>
              </a:spcBef>
              <a:buNone/>
            </a:pPr>
            <a:r>
              <a:rPr lang="en-US" sz="3500" b="1" dirty="0">
                <a:solidFill>
                  <a:schemeClr val="tx1"/>
                </a:solidFill>
                <a:latin typeface="Calibri" panose="020F0502020204030204" pitchFamily="34" charset="0"/>
                <a:cs typeface="Calibri" panose="020F0502020204030204" pitchFamily="34" charset="0"/>
              </a:rPr>
              <a:t>What about human nature makes us avoid thinking about risks? </a:t>
            </a:r>
          </a:p>
        </p:txBody>
      </p:sp>
    </p:spTree>
    <p:extLst>
      <p:ext uri="{BB962C8B-B14F-4D97-AF65-F5344CB8AC3E}">
        <p14:creationId xmlns:p14="http://schemas.microsoft.com/office/powerpoint/2010/main" val="69229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a:extLst>
            <a:ext uri="{FF2B5EF4-FFF2-40B4-BE49-F238E27FC236}">
              <a16:creationId xmlns:a16="http://schemas.microsoft.com/office/drawing/2014/main" id="{2E659EB8-D85B-48D0-B9CC-79EC2F4B405B}"/>
            </a:ext>
          </a:extLst>
        </p:cNvPr>
        <p:cNvGrpSpPr/>
        <p:nvPr/>
      </p:nvGrpSpPr>
      <p:grpSpPr>
        <a:xfrm>
          <a:off x="0" y="0"/>
          <a:ext cx="0" cy="0"/>
          <a:chOff x="0" y="0"/>
          <a:chExt cx="0" cy="0"/>
        </a:xfrm>
      </p:grpSpPr>
      <p:pic>
        <p:nvPicPr>
          <p:cNvPr id="2060" name="Picture 12" descr="Learning Labs • Training and Development • scitrain">
            <a:extLst>
              <a:ext uri="{FF2B5EF4-FFF2-40B4-BE49-F238E27FC236}">
                <a16:creationId xmlns:a16="http://schemas.microsoft.com/office/drawing/2014/main" id="{655292B2-DC1C-57A1-3C7A-020E7A1F83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394722">
            <a:off x="10974471" y="-13531"/>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2A91ECB8-B311-FEA8-3951-B121178CA955}"/>
              </a:ext>
            </a:extLst>
          </p:cNvPr>
          <p:cNvSpPr txBox="1">
            <a:spLocks/>
          </p:cNvSpPr>
          <p:nvPr/>
        </p:nvSpPr>
        <p:spPr>
          <a:xfrm>
            <a:off x="797169" y="568295"/>
            <a:ext cx="10893724" cy="5665862"/>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4500" b="0" i="0" u="none" strike="noStrike" kern="1200" cap="none" spc="0" normalizeH="0" baseline="0" noProof="0" dirty="0">
              <a:ln>
                <a:noFill/>
              </a:ln>
              <a:solidFill>
                <a:srgbClr val="000000"/>
              </a:solidFill>
              <a:effectLst/>
              <a:uLnTx/>
              <a:uFillTx/>
              <a:latin typeface="Calibri" panose="020F0502020204030204" pitchFamily="34" charset="0"/>
              <a:ea typeface="+mj-ea"/>
              <a:cs typeface="Calibri" panose="020F0502020204030204" pitchFamily="34" charset="0"/>
            </a:endParaRPr>
          </a:p>
        </p:txBody>
      </p:sp>
      <p:sp>
        <p:nvSpPr>
          <p:cNvPr id="4" name="TextBox 3">
            <a:extLst>
              <a:ext uri="{FF2B5EF4-FFF2-40B4-BE49-F238E27FC236}">
                <a16:creationId xmlns:a16="http://schemas.microsoft.com/office/drawing/2014/main" id="{2F3F8505-FF90-8C61-C09C-730BE01DC6EA}"/>
              </a:ext>
            </a:extLst>
          </p:cNvPr>
          <p:cNvSpPr txBox="1"/>
          <p:nvPr/>
        </p:nvSpPr>
        <p:spPr>
          <a:xfrm>
            <a:off x="583524" y="623843"/>
            <a:ext cx="10893724" cy="54784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Humans often avoid thinking about risks due to a combination of </a:t>
            </a: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cognitive biases</a:t>
            </a: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emotional responses</a:t>
            </a: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 and the tendency to seek information that </a:t>
            </a: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confirms preexisting belief</a:t>
            </a: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500" dirty="0">
              <a:solidFill>
                <a:prstClr val="black"/>
              </a:solidFill>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These factors can distort our perception of risk, leading to a more conservative approach. Understanding these influences can help individuals make more informed decisions and navigate the complexities of risk with greater clarity and effectiveness. </a:t>
            </a:r>
          </a:p>
        </p:txBody>
      </p:sp>
      <p:pic>
        <p:nvPicPr>
          <p:cNvPr id="3" name="Picture 2">
            <a:extLst>
              <a:ext uri="{FF2B5EF4-FFF2-40B4-BE49-F238E27FC236}">
                <a16:creationId xmlns:a16="http://schemas.microsoft.com/office/drawing/2014/main" id="{595D0287-A808-2F78-CE89-582B64AF7B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135640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Intelligent student thinking an answer Photo | Free Download">
            <a:extLst>
              <a:ext uri="{FF2B5EF4-FFF2-40B4-BE49-F238E27FC236}">
                <a16:creationId xmlns:a16="http://schemas.microsoft.com/office/drawing/2014/main" id="{5CB22E98-166D-9C0E-8E89-A2D048768CD6}"/>
              </a:ext>
            </a:extLst>
          </p:cNvPr>
          <p:cNvPicPr>
            <a:picLocks noGrp="1" noChangeAspect="1" noChangeArrowheads="1"/>
          </p:cNvPicPr>
          <p:nvPr>
            <p:ph idx="1"/>
          </p:nvPr>
        </p:nvPicPr>
        <p:blipFill rotWithShape="1">
          <a:blip r:embed="rId2">
            <a:alphaModFix amt="50000"/>
            <a:extLst>
              <a:ext uri="{28A0092B-C50C-407E-A947-70E740481C1C}">
                <a14:useLocalDpi xmlns:a14="http://schemas.microsoft.com/office/drawing/2010/main" val="0"/>
              </a:ext>
            </a:extLst>
          </a:blip>
          <a:srcRect b="15746"/>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1CAC14-B624-F5A6-27D5-3C2985B0EECE}"/>
              </a:ext>
            </a:extLst>
          </p:cNvPr>
          <p:cNvSpPr txBox="1"/>
          <p:nvPr/>
        </p:nvSpPr>
        <p:spPr>
          <a:xfrm>
            <a:off x="6484689" y="382012"/>
            <a:ext cx="5547789" cy="386259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prstClr val="black"/>
                </a:solidFill>
                <a:effectLst/>
                <a:uLnTx/>
                <a:uFillTx/>
                <a:latin typeface="Calibri" panose="020F0502020204030204"/>
                <a:ea typeface="+mn-ea"/>
                <a:cs typeface="+mn-cs"/>
              </a:rPr>
              <a:t>You’ve been assigned to build a birdhouse. </a:t>
            </a:r>
            <a:r>
              <a:rPr lang="en-US" sz="3500" b="1" dirty="0">
                <a:solidFill>
                  <a:prstClr val="black"/>
                </a:solidFill>
                <a:latin typeface="Calibri" panose="020F0502020204030204"/>
              </a:rPr>
              <a:t>How would you get ready?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3500" b="1" dirty="0">
              <a:solidFill>
                <a:prstClr val="black"/>
              </a:solidFill>
              <a:latin typeface="Calibri" panose="020F0502020204030204"/>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prstClr val="black"/>
                </a:solidFill>
                <a:effectLst/>
                <a:uLnTx/>
                <a:uFillTx/>
                <a:latin typeface="Calibri" panose="020F0502020204030204"/>
                <a:ea typeface="+mn-ea"/>
                <a:cs typeface="+mn-cs"/>
              </a:rPr>
              <a:t>Break the project</a:t>
            </a:r>
            <a:r>
              <a:rPr kumimoji="0" lang="en-US" sz="3500" b="1" i="0" u="none" strike="noStrike" kern="1200" cap="none" spc="0" normalizeH="0" noProof="0" dirty="0">
                <a:ln>
                  <a:noFill/>
                </a:ln>
                <a:solidFill>
                  <a:prstClr val="black"/>
                </a:solidFill>
                <a:effectLst/>
                <a:uLnTx/>
                <a:uFillTx/>
                <a:latin typeface="Calibri" panose="020F0502020204030204"/>
                <a:ea typeface="+mn-ea"/>
                <a:cs typeface="+mn-cs"/>
              </a:rPr>
              <a:t> down into stages, and list an item or two under each stage.</a:t>
            </a:r>
            <a:endPar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0733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Intelligent student thinking an answer Photo | Free Download">
            <a:extLst>
              <a:ext uri="{FF2B5EF4-FFF2-40B4-BE49-F238E27FC236}">
                <a16:creationId xmlns:a16="http://schemas.microsoft.com/office/drawing/2014/main" id="{5CB22E98-166D-9C0E-8E89-A2D048768CD6}"/>
              </a:ext>
            </a:extLst>
          </p:cNvPr>
          <p:cNvPicPr>
            <a:picLocks noGrp="1" noChangeAspect="1" noChangeArrowheads="1"/>
          </p:cNvPicPr>
          <p:nvPr>
            <p:ph idx="1"/>
          </p:nvPr>
        </p:nvPicPr>
        <p:blipFill rotWithShape="1">
          <a:blip r:embed="rId2">
            <a:alphaModFix amt="50000"/>
            <a:extLst>
              <a:ext uri="{28A0092B-C50C-407E-A947-70E740481C1C}">
                <a14:useLocalDpi xmlns:a14="http://schemas.microsoft.com/office/drawing/2010/main" val="0"/>
              </a:ext>
            </a:extLst>
          </a:blip>
          <a:srcRect b="15746"/>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1CAC14-B624-F5A6-27D5-3C2985B0EECE}"/>
              </a:ext>
            </a:extLst>
          </p:cNvPr>
          <p:cNvSpPr txBox="1"/>
          <p:nvPr/>
        </p:nvSpPr>
        <p:spPr>
          <a:xfrm>
            <a:off x="6484690" y="382012"/>
            <a:ext cx="5479422" cy="3862596"/>
          </a:xfrm>
          <a:prstGeom prst="rect">
            <a:avLst/>
          </a:prstGeom>
          <a:noFill/>
        </p:spPr>
        <p:txBody>
          <a:bodyPr wrap="square">
            <a:spAutoFit/>
          </a:bodyPr>
          <a:lstStyle/>
          <a:p>
            <a:pPr lvl="0" defTabSz="457200">
              <a:defRPr/>
            </a:pPr>
            <a:r>
              <a:rPr lang="en-US" sz="3500" b="1" dirty="0">
                <a:solidFill>
                  <a:prstClr val="black"/>
                </a:solidFill>
              </a:rPr>
              <a:t>You’ve been assigned to build a birdhouse. How would you get ready? </a:t>
            </a:r>
          </a:p>
          <a:p>
            <a:pPr lvl="0" defTabSz="457200">
              <a:defRPr/>
            </a:pPr>
            <a:endParaRPr lang="en-US" sz="3500" b="1" dirty="0">
              <a:solidFill>
                <a:prstClr val="black"/>
              </a:solidFill>
            </a:endParaRPr>
          </a:p>
          <a:p>
            <a:pPr lvl="0" defTabSz="457200">
              <a:defRPr/>
            </a:pPr>
            <a:r>
              <a:rPr lang="en-US" sz="3500" b="1" dirty="0">
                <a:solidFill>
                  <a:prstClr val="black"/>
                </a:solidFill>
              </a:rPr>
              <a:t>Break the project down into stages, and list an item or two under each stage.</a:t>
            </a:r>
            <a:endParaRPr lang="en-US" sz="3500" dirty="0">
              <a:solidFill>
                <a:prstClr val="black"/>
              </a:solidFill>
            </a:endParaRPr>
          </a:p>
        </p:txBody>
      </p:sp>
      <p:pic>
        <p:nvPicPr>
          <p:cNvPr id="2" name="Picture 1" descr="2 min Countdown on Make a GIF">
            <a:extLst>
              <a:ext uri="{FF2B5EF4-FFF2-40B4-BE49-F238E27FC236}">
                <a16:creationId xmlns:a16="http://schemas.microsoft.com/office/drawing/2014/main" id="{DBE3A283-0351-C2AD-FE65-17762F8306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294373" cy="773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790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EA3866-CA03-97F0-EF84-79C3EBD00F3C}"/>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0750B373-73C6-3919-8D23-A72BB3D3D8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Intelligent student thinking an answer Photo | Free Download">
            <a:extLst>
              <a:ext uri="{FF2B5EF4-FFF2-40B4-BE49-F238E27FC236}">
                <a16:creationId xmlns:a16="http://schemas.microsoft.com/office/drawing/2014/main" id="{9D06DF00-C2EC-3876-30D3-AE845048269D}"/>
              </a:ext>
            </a:extLst>
          </p:cNvPr>
          <p:cNvPicPr>
            <a:picLocks noGrp="1" noChangeAspect="1" noChangeArrowheads="1"/>
          </p:cNvPicPr>
          <p:nvPr>
            <p:ph idx="1"/>
          </p:nvPr>
        </p:nvPicPr>
        <p:blipFill rotWithShape="1">
          <a:blip r:embed="rId2">
            <a:alphaModFix amt="50000"/>
            <a:extLst>
              <a:ext uri="{28A0092B-C50C-407E-A947-70E740481C1C}">
                <a14:useLocalDpi xmlns:a14="http://schemas.microsoft.com/office/drawing/2010/main" val="0"/>
              </a:ext>
            </a:extLst>
          </a:blip>
          <a:srcRect b="15746"/>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105AA77-287F-2B72-34A3-38547F6DE923}"/>
              </a:ext>
            </a:extLst>
          </p:cNvPr>
          <p:cNvSpPr txBox="1"/>
          <p:nvPr/>
        </p:nvSpPr>
        <p:spPr>
          <a:xfrm>
            <a:off x="6484689" y="382012"/>
            <a:ext cx="5547789" cy="386259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prstClr val="black"/>
                </a:solidFill>
                <a:effectLst/>
                <a:uLnTx/>
                <a:uFillTx/>
                <a:latin typeface="Calibri" panose="020F0502020204030204"/>
                <a:ea typeface="+mn-ea"/>
                <a:cs typeface="+mn-cs"/>
              </a:rPr>
              <a:t>You did a great job on the</a:t>
            </a:r>
            <a:r>
              <a:rPr kumimoji="0" lang="en-US" sz="3500" b="1" i="0" u="none" strike="noStrike" kern="1200" cap="none" spc="0" normalizeH="0" noProof="0" dirty="0">
                <a:ln>
                  <a:noFill/>
                </a:ln>
                <a:solidFill>
                  <a:prstClr val="black"/>
                </a:solidFill>
                <a:effectLst/>
                <a:uLnTx/>
                <a:uFillTx/>
                <a:latin typeface="Calibri" panose="020F0502020204030204"/>
                <a:ea typeface="+mn-ea"/>
                <a:cs typeface="+mn-cs"/>
              </a:rPr>
              <a:t> </a:t>
            </a:r>
            <a:r>
              <a:rPr kumimoji="0" lang="en-US" sz="3500" b="1" i="0" u="none" strike="noStrike" kern="1200" cap="none" spc="0" normalizeH="0" baseline="0" noProof="0" dirty="0">
                <a:ln>
                  <a:noFill/>
                </a:ln>
                <a:solidFill>
                  <a:prstClr val="black"/>
                </a:solidFill>
                <a:effectLst/>
                <a:uLnTx/>
                <a:uFillTx/>
                <a:latin typeface="Calibri" panose="020F0502020204030204"/>
                <a:ea typeface="+mn-ea"/>
                <a:cs typeface="+mn-cs"/>
              </a:rPr>
              <a:t>birdhouse</a:t>
            </a:r>
            <a:r>
              <a:rPr lang="en-US" sz="3500" b="1" dirty="0">
                <a:solidFill>
                  <a:prstClr val="black"/>
                </a:solidFill>
                <a:latin typeface="Calibri" panose="020F0502020204030204"/>
              </a:rPr>
              <a:t>, so now you’ve been assigned to merge two divisions at work - </a:t>
            </a:r>
            <a:r>
              <a:rPr kumimoji="0" lang="en-US" sz="3500" b="1" i="0" u="none" strike="noStrike" kern="1200" cap="none" spc="0" normalizeH="0" baseline="0" noProof="0" dirty="0">
                <a:ln>
                  <a:noFill/>
                </a:ln>
                <a:solidFill>
                  <a:prstClr val="black"/>
                </a:solidFill>
                <a:effectLst/>
                <a:uLnTx/>
                <a:uFillTx/>
                <a:latin typeface="Calibri" panose="020F0502020204030204"/>
                <a:ea typeface="+mn-ea"/>
                <a:cs typeface="+mn-cs"/>
              </a:rPr>
              <a:t> IT and HR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5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prstClr val="black"/>
                </a:solidFill>
                <a:effectLst/>
                <a:uLnTx/>
                <a:uFillTx/>
                <a:latin typeface="Calibri" panose="020F0502020204030204"/>
                <a:ea typeface="+mn-ea"/>
                <a:cs typeface="+mn-cs"/>
              </a:rPr>
              <a:t>Break the project down into stages.</a:t>
            </a:r>
            <a:endPar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698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9A99C-3CD8-493A-B321-84DE919221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5DCCB7-A006-4357-A030-E146BEE063B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6F35CD4-9243-483D-B98F-FA02B01A760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7172" name="Picture 4">
            <a:extLst>
              <a:ext uri="{FF2B5EF4-FFF2-40B4-BE49-F238E27FC236}">
                <a16:creationId xmlns:a16="http://schemas.microsoft.com/office/drawing/2014/main" id="{F0E390AC-0CB6-4E12-BBE7-5D3AA9BAEA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98" y="0"/>
            <a:ext cx="12278498"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B65A91CC-C12C-4E0A-84FA-C20D1522E688}"/>
              </a:ext>
            </a:extLst>
          </p:cNvPr>
          <p:cNvSpPr txBox="1">
            <a:spLocks/>
          </p:cNvSpPr>
          <p:nvPr/>
        </p:nvSpPr>
        <p:spPr>
          <a:xfrm>
            <a:off x="3908442" y="2162433"/>
            <a:ext cx="4436075" cy="720199"/>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ctr" defTabSz="914400" rtl="0" eaLnBrk="1" fontAlgn="auto" latinLnBrk="0" hangingPunct="1">
              <a:lnSpc>
                <a:spcPct val="85000"/>
              </a:lnSpc>
              <a:spcBef>
                <a:spcPct val="0"/>
              </a:spcBef>
              <a:spcAft>
                <a:spcPts val="0"/>
              </a:spcAft>
              <a:buClrTx/>
              <a:buSzTx/>
              <a:buFontTx/>
              <a:buNone/>
              <a:tabLst/>
              <a:defRPr/>
            </a:pPr>
            <a:r>
              <a:rPr kumimoji="0" lang="en-US" sz="5200" b="1" i="0" u="none" strike="noStrike" kern="1200" cap="none" spc="-50" normalizeH="0" baseline="0" noProof="0" dirty="0">
                <a:ln>
                  <a:noFill/>
                </a:ln>
                <a:solidFill>
                  <a:prstClr val="black"/>
                </a:solidFill>
                <a:effectLst/>
                <a:uLnTx/>
                <a:uFillTx/>
                <a:latin typeface="Calibri" panose="020F0502020204030204"/>
                <a:ea typeface="+mj-ea"/>
                <a:cs typeface="+mj-cs"/>
              </a:rPr>
              <a:t>Scope of Work</a:t>
            </a:r>
          </a:p>
        </p:txBody>
      </p:sp>
    </p:spTree>
    <p:extLst>
      <p:ext uri="{BB962C8B-B14F-4D97-AF65-F5344CB8AC3E}">
        <p14:creationId xmlns:p14="http://schemas.microsoft.com/office/powerpoint/2010/main" val="4175645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D226D-E10B-411E-9429-7607C04BA749}"/>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B4C1E0D5-8078-41F7-92FD-B0778A6FFADD}"/>
              </a:ext>
            </a:extLst>
          </p:cNvPr>
          <p:cNvSpPr txBox="1"/>
          <p:nvPr/>
        </p:nvSpPr>
        <p:spPr>
          <a:xfrm>
            <a:off x="1290847" y="627018"/>
            <a:ext cx="9610306" cy="432426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Expectations must be managed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from </a:t>
            </a:r>
            <a:r>
              <a:rPr kumimoji="0" lang="en-US" sz="55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the start</a:t>
            </a:r>
            <a:r>
              <a:rPr kumimoji="0" lang="en-US" sz="5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Expectations are managed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in the </a:t>
            </a:r>
            <a:r>
              <a:rPr kumimoji="0" lang="en-US" sz="55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scope of work.</a:t>
            </a:r>
            <a:r>
              <a:rPr kumimoji="0" lang="en-US" sz="5500" b="0" i="0" u="none" strike="noStrike" kern="1200" cap="none" spc="0" normalizeH="0" baseline="0" noProof="0" dirty="0">
                <a:ln>
                  <a:noFill/>
                </a:ln>
                <a:solidFill>
                  <a:prstClr val="white"/>
                </a:solidFill>
                <a:effectLst/>
                <a:uLnTx/>
                <a:uFillTx/>
                <a:latin typeface="Calibri" panose="020F0502020204030204" pitchFamily="34" charset="0"/>
                <a:ea typeface="Meiryo" panose="020B0604030504040204" pitchFamily="34" charset="-128"/>
                <a:cs typeface="Calibri" panose="020F0502020204030204" pitchFamily="34" charset="0"/>
              </a:rPr>
              <a:t>.</a:t>
            </a: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264564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7DD61A-2D3A-F25C-13A3-E2B4264BF93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8E415532-E528-DFE1-D262-6243E45FF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16" name="Picture 15">
            <a:extLst>
              <a:ext uri="{FF2B5EF4-FFF2-40B4-BE49-F238E27FC236}">
                <a16:creationId xmlns:a16="http://schemas.microsoft.com/office/drawing/2014/main" id="{149C06C3-6BEB-EB6F-2391-FC27D25079EB}"/>
              </a:ext>
            </a:extLst>
          </p:cNvPr>
          <p:cNvPicPr>
            <a:picLocks noChangeAspect="1"/>
          </p:cNvPicPr>
          <p:nvPr/>
        </p:nvPicPr>
        <p:blipFill>
          <a:blip r:embed="rId2"/>
          <a:srcRect l="4378" t="19727" r="-1" b="8556"/>
          <a:stretch>
            <a:fillRect/>
          </a:stretch>
        </p:blipFill>
        <p:spPr>
          <a:xfrm>
            <a:off x="-1" y="10"/>
            <a:ext cx="12191979" cy="6857990"/>
          </a:xfrm>
          <a:prstGeom prst="rect">
            <a:avLst/>
          </a:prstGeom>
        </p:spPr>
      </p:pic>
      <p:sp>
        <p:nvSpPr>
          <p:cNvPr id="17" name="Rectangle 16">
            <a:extLst>
              <a:ext uri="{FF2B5EF4-FFF2-40B4-BE49-F238E27FC236}">
                <a16:creationId xmlns:a16="http://schemas.microsoft.com/office/drawing/2014/main" id="{A9D4E10D-6D06-6BF6-BEDA-D232195AB4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280160"/>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B55B1E18-D650-F4C2-188A-A4E29B00F900}"/>
              </a:ext>
            </a:extLst>
          </p:cNvPr>
          <p:cNvSpPr>
            <a:spLocks noGrp="1"/>
          </p:cNvSpPr>
          <p:nvPr>
            <p:ph type="ctrTitle"/>
          </p:nvPr>
        </p:nvSpPr>
        <p:spPr>
          <a:xfrm>
            <a:off x="4042161" y="3290131"/>
            <a:ext cx="8149839" cy="2683380"/>
          </a:xfrm>
        </p:spPr>
        <p:txBody>
          <a:bodyPr anchor="ctr">
            <a:noAutofit/>
          </a:bodyPr>
          <a:lstStyle/>
          <a:p>
            <a:pPr lvl="0" fontAlgn="base">
              <a:lnSpc>
                <a:spcPct val="90000"/>
              </a:lnSpc>
              <a:defRPr/>
            </a:pPr>
            <a:r>
              <a:rPr lang="en-US" sz="9600" dirty="0">
                <a:solidFill>
                  <a:prstClr val="black"/>
                </a:solidFill>
                <a:latin typeface="Calibri" panose="020F0502020204030204" pitchFamily="34" charset="0"/>
                <a:cs typeface="Calibri" panose="020F0502020204030204" pitchFamily="34" charset="0"/>
              </a:rPr>
              <a:t>Project Scope Statements </a:t>
            </a:r>
          </a:p>
        </p:txBody>
      </p:sp>
    </p:spTree>
    <p:extLst>
      <p:ext uri="{BB962C8B-B14F-4D97-AF65-F5344CB8AC3E}">
        <p14:creationId xmlns:p14="http://schemas.microsoft.com/office/powerpoint/2010/main" val="3769864685"/>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9E1E1-438D-EB8D-A458-4FC9C2D8FA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0ABD82-00F5-72E5-0D91-4ED4A35D1281}"/>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13437341-5A9F-15C6-ED02-A7972BE5804D}"/>
              </a:ext>
            </a:extLst>
          </p:cNvPr>
          <p:cNvSpPr txBox="1"/>
          <p:nvPr/>
        </p:nvSpPr>
        <p:spPr>
          <a:xfrm>
            <a:off x="572529" y="554087"/>
            <a:ext cx="11046941" cy="4093428"/>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Within PMBOK), the </a:t>
            </a:r>
            <a:r>
              <a:rPr kumimoji="0" lang="en-US" sz="45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project scope statement</a:t>
            </a:r>
            <a:r>
              <a:rPr kumimoji="0" lang="en-US" sz="4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defines </a:t>
            </a:r>
            <a:r>
              <a:rPr kumimoji="0" lang="en-US" sz="4500" b="1" i="0" u="sng"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what</a:t>
            </a:r>
            <a:r>
              <a:rPr kumimoji="0" lang="en-US" sz="4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 project will deliver.</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4500" dirty="0">
              <a:solidFill>
                <a:prstClr val="black"/>
              </a:solidFill>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The </a:t>
            </a:r>
            <a:r>
              <a:rPr kumimoji="0" lang="en-US" sz="45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project scope action plan</a:t>
            </a:r>
            <a:r>
              <a:rPr kumimoji="0" lang="en-US" sz="4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defines </a:t>
            </a:r>
            <a:r>
              <a:rPr kumimoji="0" lang="en-US" sz="4500" b="1" i="0" u="sng"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how</a:t>
            </a:r>
            <a:r>
              <a:rPr kumimoji="0" lang="en-US" sz="4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the project's scope will be managed.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p:txBody>
      </p:sp>
      <p:sp>
        <p:nvSpPr>
          <p:cNvPr id="4" name="Slide Number Placeholder 3">
            <a:extLst>
              <a:ext uri="{FF2B5EF4-FFF2-40B4-BE49-F238E27FC236}">
                <a16:creationId xmlns:a16="http://schemas.microsoft.com/office/drawing/2014/main" id="{5D8A84E8-634D-AFD2-BA61-D412CA36BF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pic>
        <p:nvPicPr>
          <p:cNvPr id="2" name="Picture 1">
            <a:extLst>
              <a:ext uri="{FF2B5EF4-FFF2-40B4-BE49-F238E27FC236}">
                <a16:creationId xmlns:a16="http://schemas.microsoft.com/office/drawing/2014/main" id="{6D9A3A0E-37F1-9ADD-7A76-E87932874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611356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063D2-30AF-F4F2-0E68-52B705A0C4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E5110B-2246-CA5E-A324-422E250D597B}"/>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D15E2269-7D69-61AB-1A8B-714633F06DFE}"/>
              </a:ext>
            </a:extLst>
          </p:cNvPr>
          <p:cNvSpPr txBox="1"/>
          <p:nvPr/>
        </p:nvSpPr>
        <p:spPr>
          <a:xfrm>
            <a:off x="572529" y="554087"/>
            <a:ext cx="11046941" cy="5632311"/>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The project scope statement is a description of the project's </a:t>
            </a:r>
            <a:r>
              <a:rPr kumimoji="0" lang="en-US" sz="45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deliverables and the work required to create them</a:t>
            </a:r>
            <a:r>
              <a:rPr kumimoji="0" lang="en-US" sz="4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4500" dirty="0">
              <a:solidFill>
                <a:prstClr val="black"/>
              </a:solidFill>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Think of it as a blueprint for the project's final product or service. Its main purpose is to </a:t>
            </a:r>
            <a:r>
              <a:rPr kumimoji="0" lang="en-US" sz="4500" b="1"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provide a clear and common understanding</a:t>
            </a:r>
            <a:r>
              <a:rPr kumimoji="0" lang="en-US" sz="4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of the scope among all stakeholders.</a:t>
            </a:r>
          </a:p>
        </p:txBody>
      </p:sp>
      <p:sp>
        <p:nvSpPr>
          <p:cNvPr id="4" name="Slide Number Placeholder 3">
            <a:extLst>
              <a:ext uri="{FF2B5EF4-FFF2-40B4-BE49-F238E27FC236}">
                <a16:creationId xmlns:a16="http://schemas.microsoft.com/office/drawing/2014/main" id="{158D2FC7-00B7-1822-2390-1C1DD80BF1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26924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C1E0D5-8078-41F7-92FD-B0778A6FFADD}"/>
              </a:ext>
            </a:extLst>
          </p:cNvPr>
          <p:cNvSpPr txBox="1"/>
          <p:nvPr/>
        </p:nvSpPr>
        <p:spPr>
          <a:xfrm>
            <a:off x="631213" y="689788"/>
            <a:ext cx="11099353" cy="5632311"/>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A project scope statement is the sum of all work that needs to be done. It helps project managers </a:t>
            </a:r>
            <a:r>
              <a:rPr kumimoji="0" lang="en-US" sz="4000" b="1"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define the boundaries</a:t>
            </a: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of what </a:t>
            </a:r>
            <a:r>
              <a:rPr kumimoji="0" lang="en-US" sz="4000" b="1"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will and what </a:t>
            </a:r>
            <a:r>
              <a:rPr kumimoji="0" lang="en-US" sz="4000" b="1" i="1" u="sng"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won’t</a:t>
            </a:r>
            <a:r>
              <a:rPr kumimoji="0" lang="en-US" sz="4000" b="1"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 be done</a:t>
            </a: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Your project scope statement will act as the </a:t>
            </a:r>
            <a:r>
              <a:rPr kumimoji="0" lang="en-US" sz="40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primary tool for stakeholders and teammates to reference</a:t>
            </a: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and use as a guideline to accurately measure project success.</a:t>
            </a:r>
          </a:p>
        </p:txBody>
      </p:sp>
    </p:spTree>
    <p:extLst>
      <p:ext uri="{BB962C8B-B14F-4D97-AF65-F5344CB8AC3E}">
        <p14:creationId xmlns:p14="http://schemas.microsoft.com/office/powerpoint/2010/main" val="3865857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C1E0D5-8078-41F7-92FD-B0778A6FFADD}"/>
              </a:ext>
            </a:extLst>
          </p:cNvPr>
          <p:cNvSpPr txBox="1"/>
          <p:nvPr/>
        </p:nvSpPr>
        <p:spPr>
          <a:xfrm>
            <a:off x="631213" y="689788"/>
            <a:ext cx="11099353" cy="3016210"/>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To write a project scope statement, you’ll need to understand the </a:t>
            </a:r>
            <a:r>
              <a:rPr kumimoji="0" lang="en-US" sz="4000" b="1"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project goals</a:t>
            </a: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t>
            </a:r>
            <a:r>
              <a:rPr kumimoji="0" lang="en-US" sz="4000" b="1"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requirements</a:t>
            </a: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and </a:t>
            </a:r>
            <a:r>
              <a:rPr kumimoji="0" lang="en-US" sz="4000" b="1"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expectations</a:t>
            </a: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among other things.</a:t>
            </a:r>
          </a:p>
          <a:p>
            <a:pPr marL="0" marR="0" lvl="0" indent="0" algn="l" defTabSz="914400" rtl="0" eaLnBrk="1" fontAlgn="base" latinLnBrk="0" hangingPunct="1">
              <a:lnSpc>
                <a:spcPct val="100000"/>
              </a:lnSpc>
              <a:spcBef>
                <a:spcPts val="0"/>
              </a:spcBef>
              <a:spcAft>
                <a:spcPts val="0"/>
              </a:spcAft>
              <a:buClrTx/>
              <a:buSzTx/>
              <a:buFontTx/>
              <a:buNone/>
              <a:tabLst/>
              <a:defRPr/>
            </a:pPr>
            <a:b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br>
            <a:endPar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p:txBody>
      </p:sp>
      <p:pic>
        <p:nvPicPr>
          <p:cNvPr id="2" name="Picture 1">
            <a:extLst>
              <a:ext uri="{FF2B5EF4-FFF2-40B4-BE49-F238E27FC236}">
                <a16:creationId xmlns:a16="http://schemas.microsoft.com/office/drawing/2014/main" id="{01D116DA-2512-A37B-C55D-04A326A37C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323955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DB4FB-C565-4403-9C27-E0BEAEE2CDF9}"/>
              </a:ext>
            </a:extLst>
          </p:cNvPr>
          <p:cNvSpPr>
            <a:spLocks noGrp="1"/>
          </p:cNvSpPr>
          <p:nvPr>
            <p:ph idx="1"/>
          </p:nvPr>
        </p:nvSpPr>
        <p:spPr>
          <a:xfrm>
            <a:off x="838200" y="504202"/>
            <a:ext cx="10515600" cy="6195701"/>
          </a:xfrm>
        </p:spPr>
        <p:txBody>
          <a:bodyPr>
            <a:normAutofit fontScale="70000" lnSpcReduction="20000"/>
          </a:bodyPr>
          <a:lstStyle/>
          <a:p>
            <a:pPr marL="0" indent="0">
              <a:lnSpc>
                <a:spcPct val="120000"/>
              </a:lnSpc>
              <a:spcBef>
                <a:spcPts val="0"/>
              </a:spcBef>
              <a:spcAft>
                <a:spcPts val="0"/>
              </a:spcAft>
              <a:buNone/>
            </a:pPr>
            <a:r>
              <a:rPr lang="en-US" sz="3200" b="1" dirty="0">
                <a:latin typeface="Calibri" panose="020F0502020204030204" pitchFamily="34" charset="0"/>
                <a:cs typeface="Calibri" panose="020F0502020204030204" pitchFamily="34" charset="0"/>
              </a:rPr>
              <a:t> PMBOK identifies </a:t>
            </a:r>
            <a:r>
              <a:rPr lang="en-US" sz="3200" b="1" dirty="0">
                <a:solidFill>
                  <a:srgbClr val="FF0000"/>
                </a:solidFill>
                <a:latin typeface="Calibri" panose="020F0502020204030204" pitchFamily="34" charset="0"/>
                <a:cs typeface="Calibri" panose="020F0502020204030204" pitchFamily="34" charset="0"/>
              </a:rPr>
              <a:t>four tools </a:t>
            </a:r>
            <a:r>
              <a:rPr lang="en-US" sz="3200" b="1" dirty="0">
                <a:latin typeface="Calibri" panose="020F0502020204030204" pitchFamily="34" charset="0"/>
                <a:cs typeface="Calibri" panose="020F0502020204030204" pitchFamily="34" charset="0"/>
              </a:rPr>
              <a:t>and techniques to writing a scope statement:</a:t>
            </a:r>
          </a:p>
          <a:p>
            <a:pPr marL="0" indent="0">
              <a:lnSpc>
                <a:spcPct val="120000"/>
              </a:lnSpc>
              <a:spcBef>
                <a:spcPts val="0"/>
              </a:spcBef>
              <a:spcAft>
                <a:spcPts val="0"/>
              </a:spcAft>
              <a:buNone/>
            </a:pPr>
            <a:endParaRPr lang="en-US" sz="3200" dirty="0">
              <a:latin typeface="Calibri" panose="020F0502020204030204" pitchFamily="34" charset="0"/>
              <a:cs typeface="Calibri" panose="020F0502020204030204" pitchFamily="34" charset="0"/>
            </a:endParaRPr>
          </a:p>
          <a:p>
            <a:pPr marL="0" indent="0">
              <a:lnSpc>
                <a:spcPct val="120000"/>
              </a:lnSpc>
              <a:spcBef>
                <a:spcPts val="0"/>
              </a:spcBef>
              <a:spcAft>
                <a:spcPts val="0"/>
              </a:spcAft>
              <a:buNone/>
            </a:pPr>
            <a:r>
              <a:rPr lang="en-US" sz="3200" b="1" dirty="0">
                <a:highlight>
                  <a:srgbClr val="FFFF00"/>
                </a:highlight>
                <a:latin typeface="Calibri" panose="020F0502020204030204" pitchFamily="34" charset="0"/>
                <a:cs typeface="Calibri" panose="020F0502020204030204" pitchFamily="34" charset="0"/>
              </a:rPr>
              <a:t>Expert Judgment</a:t>
            </a:r>
            <a:r>
              <a:rPr lang="en-US" sz="3200" dirty="0">
                <a:latin typeface="Calibri" panose="020F0502020204030204" pitchFamily="34" charset="0"/>
                <a:cs typeface="Calibri" panose="020F0502020204030204" pitchFamily="34" charset="0"/>
              </a:rPr>
              <a:t>.  It is indeed a huge advantage to have resident experts to consult when defining a project scope.  Subject matter experts can identify the expected pitfalls and potential issues that can be defined at the project planning stage, and their input is invaluable.</a:t>
            </a:r>
          </a:p>
          <a:p>
            <a:pPr marL="0" indent="0">
              <a:lnSpc>
                <a:spcPct val="120000"/>
              </a:lnSpc>
              <a:spcBef>
                <a:spcPts val="0"/>
              </a:spcBef>
              <a:spcAft>
                <a:spcPts val="0"/>
              </a:spcAft>
              <a:buNone/>
            </a:pPr>
            <a:endParaRPr lang="en-US" sz="3200" dirty="0">
              <a:latin typeface="Calibri" panose="020F0502020204030204" pitchFamily="34" charset="0"/>
              <a:cs typeface="Calibri" panose="020F0502020204030204" pitchFamily="34" charset="0"/>
            </a:endParaRPr>
          </a:p>
          <a:p>
            <a:pPr marL="0" indent="0">
              <a:lnSpc>
                <a:spcPct val="120000"/>
              </a:lnSpc>
              <a:spcBef>
                <a:spcPts val="0"/>
              </a:spcBef>
              <a:spcAft>
                <a:spcPts val="0"/>
              </a:spcAft>
              <a:buNone/>
            </a:pPr>
            <a:r>
              <a:rPr lang="en-US" sz="3200" b="1" dirty="0">
                <a:highlight>
                  <a:srgbClr val="FFFF00"/>
                </a:highlight>
                <a:latin typeface="Calibri" panose="020F0502020204030204" pitchFamily="34" charset="0"/>
                <a:cs typeface="Calibri" panose="020F0502020204030204" pitchFamily="34" charset="0"/>
              </a:rPr>
              <a:t>Product Analysis</a:t>
            </a:r>
            <a:r>
              <a:rPr lang="en-US" sz="3200" dirty="0">
                <a:latin typeface="Calibri" panose="020F0502020204030204" pitchFamily="34" charset="0"/>
                <a:cs typeface="Calibri" panose="020F0502020204030204" pitchFamily="34" charset="0"/>
              </a:rPr>
              <a:t>.  Focus on the deliverables.  What do they look like?  How long/high/wide/strong/capable must they be?  What functions will they have, and how must they perform under various conditions?</a:t>
            </a:r>
          </a:p>
          <a:p>
            <a:pPr marL="0" indent="0">
              <a:lnSpc>
                <a:spcPct val="120000"/>
              </a:lnSpc>
              <a:spcBef>
                <a:spcPts val="0"/>
              </a:spcBef>
              <a:spcAft>
                <a:spcPts val="0"/>
              </a:spcAft>
              <a:buNone/>
            </a:pPr>
            <a:endParaRPr lang="en-US" sz="3200" dirty="0">
              <a:latin typeface="Calibri" panose="020F0502020204030204" pitchFamily="34" charset="0"/>
              <a:cs typeface="Calibri" panose="020F0502020204030204" pitchFamily="34" charset="0"/>
            </a:endParaRPr>
          </a:p>
          <a:p>
            <a:pPr marL="0" indent="0">
              <a:lnSpc>
                <a:spcPct val="120000"/>
              </a:lnSpc>
              <a:spcBef>
                <a:spcPts val="0"/>
              </a:spcBef>
              <a:spcAft>
                <a:spcPts val="0"/>
              </a:spcAft>
              <a:buNone/>
            </a:pPr>
            <a:r>
              <a:rPr lang="en-US" sz="3200" b="1" dirty="0">
                <a:highlight>
                  <a:srgbClr val="FFFF00"/>
                </a:highlight>
                <a:latin typeface="Calibri" panose="020F0502020204030204" pitchFamily="34" charset="0"/>
                <a:cs typeface="Calibri" panose="020F0502020204030204" pitchFamily="34" charset="0"/>
              </a:rPr>
              <a:t>Alternatives Generation</a:t>
            </a:r>
            <a:r>
              <a:rPr lang="en-US" sz="3200" dirty="0">
                <a:latin typeface="Calibri" panose="020F0502020204030204" pitchFamily="34" charset="0"/>
                <a:cs typeface="Calibri" panose="020F0502020204030204" pitchFamily="34" charset="0"/>
              </a:rPr>
              <a:t>.  Determining alternative products and services can be extremely eye opening.  This can identify different approaches to performing the work, which can be instrumental in defining the scope.</a:t>
            </a:r>
          </a:p>
          <a:p>
            <a:pPr marL="0" indent="0">
              <a:lnSpc>
                <a:spcPct val="120000"/>
              </a:lnSpc>
              <a:spcBef>
                <a:spcPts val="0"/>
              </a:spcBef>
              <a:spcAft>
                <a:spcPts val="0"/>
              </a:spcAft>
              <a:buNone/>
            </a:pPr>
            <a:endParaRPr lang="en-US" sz="3200" dirty="0">
              <a:latin typeface="Calibri" panose="020F0502020204030204" pitchFamily="34" charset="0"/>
              <a:cs typeface="Calibri" panose="020F0502020204030204" pitchFamily="34" charset="0"/>
            </a:endParaRPr>
          </a:p>
          <a:p>
            <a:pPr marL="0" indent="0">
              <a:lnSpc>
                <a:spcPct val="120000"/>
              </a:lnSpc>
              <a:spcBef>
                <a:spcPts val="0"/>
              </a:spcBef>
              <a:spcAft>
                <a:spcPts val="0"/>
              </a:spcAft>
              <a:buNone/>
            </a:pPr>
            <a:r>
              <a:rPr lang="en-US" sz="3200" b="1" dirty="0">
                <a:highlight>
                  <a:srgbClr val="FFFF00"/>
                </a:highlight>
                <a:latin typeface="Calibri" panose="020F0502020204030204" pitchFamily="34" charset="0"/>
                <a:cs typeface="Calibri" panose="020F0502020204030204" pitchFamily="34" charset="0"/>
              </a:rPr>
              <a:t>Facilitated Workshops</a:t>
            </a:r>
            <a:r>
              <a:rPr lang="en-US" sz="3200" dirty="0">
                <a:latin typeface="Calibri" panose="020F0502020204030204" pitchFamily="34" charset="0"/>
                <a:cs typeface="Calibri" panose="020F0502020204030204" pitchFamily="34" charset="0"/>
              </a:rPr>
              <a:t>.  When you have many grey project boundaries (or worse, conflicting ones), consulting the project stakeholders and putting them together in one room or conference call can be essential to defining the project scope.</a:t>
            </a:r>
            <a:endParaRPr lang="en-US" sz="3200" dirty="0">
              <a:solidFill>
                <a:schemeClr val="tx1"/>
              </a:solidFill>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6AC2E6B7-7B0D-BB03-668D-4CE000C3D6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3075618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17B49-82F0-6A14-CB63-06F97C34AED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40F7132-E912-4B2A-EFB7-82D81856C1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783152" cy="572567"/>
          </a:xfrm>
          <a:prstGeom prst="rect">
            <a:avLst/>
          </a:prstGeom>
        </p:spPr>
      </p:pic>
      <p:sp>
        <p:nvSpPr>
          <p:cNvPr id="3" name="Content Placeholder 2">
            <a:extLst>
              <a:ext uri="{FF2B5EF4-FFF2-40B4-BE49-F238E27FC236}">
                <a16:creationId xmlns:a16="http://schemas.microsoft.com/office/drawing/2014/main" id="{4652BFFF-814A-FEA4-E5EC-7C68E4AC1CFA}"/>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B16A91D6-C4D9-3E7C-630E-30035130DB26}"/>
              </a:ext>
            </a:extLst>
          </p:cNvPr>
          <p:cNvSpPr txBox="1"/>
          <p:nvPr/>
        </p:nvSpPr>
        <p:spPr>
          <a:xfrm>
            <a:off x="572529" y="286283"/>
            <a:ext cx="11046941" cy="7017306"/>
          </a:xfrm>
          <a:prstGeom prst="rect">
            <a:avLst/>
          </a:prstGeom>
          <a:noFill/>
        </p:spPr>
        <p:txBody>
          <a:bodyPr wrap="square">
            <a:spAutoFit/>
          </a:bodyPr>
          <a:lstStyle/>
          <a:p>
            <a:pPr lvl="0" fontAlgn="base">
              <a:defRPr/>
            </a:pPr>
            <a:r>
              <a:rPr lang="en-US" sz="3000" dirty="0">
                <a:solidFill>
                  <a:prstClr val="black"/>
                </a:solidFill>
                <a:ea typeface="Meiryo" panose="020B0604030504040204" pitchFamily="34" charset="-128"/>
                <a:cs typeface="Calibri" panose="020F0502020204030204" pitchFamily="34" charset="0"/>
              </a:rPr>
              <a:t>Key project scope statement </a:t>
            </a:r>
            <a:r>
              <a:rPr lang="en-US" sz="3000" b="1" dirty="0">
                <a:solidFill>
                  <a:srgbClr val="FF0000"/>
                </a:solidFill>
                <a:ea typeface="Meiryo" panose="020B0604030504040204" pitchFamily="34" charset="-128"/>
                <a:cs typeface="Calibri" panose="020F0502020204030204" pitchFamily="34" charset="0"/>
              </a:rPr>
              <a:t>components</a:t>
            </a:r>
            <a:r>
              <a:rPr lang="en-US" sz="3000" dirty="0">
                <a:solidFill>
                  <a:prstClr val="black"/>
                </a:solidFill>
                <a:ea typeface="Meiryo" panose="020B0604030504040204" pitchFamily="34" charset="-128"/>
                <a:cs typeface="Calibri" panose="020F0502020204030204" pitchFamily="34" charset="0"/>
              </a:rPr>
              <a:t> include:</a:t>
            </a:r>
          </a:p>
          <a:p>
            <a:pPr lvl="0" fontAlgn="base">
              <a:defRPr/>
            </a:pPr>
            <a:r>
              <a:rPr lang="en-US" sz="3000" b="1" dirty="0">
                <a:solidFill>
                  <a:prstClr val="black"/>
                </a:solidFill>
                <a:highlight>
                  <a:srgbClr val="FFFF00"/>
                </a:highlight>
                <a:ea typeface="Meiryo" panose="020B0604030504040204" pitchFamily="34" charset="-128"/>
                <a:cs typeface="Calibri" panose="020F0502020204030204" pitchFamily="34" charset="0"/>
              </a:rPr>
              <a:t>Product Scope Description</a:t>
            </a:r>
            <a:r>
              <a:rPr lang="en-US" sz="3000" dirty="0">
                <a:solidFill>
                  <a:prstClr val="black"/>
                </a:solidFill>
                <a:ea typeface="Meiryo" panose="020B0604030504040204" pitchFamily="34" charset="-128"/>
                <a:cs typeface="Calibri" panose="020F0502020204030204" pitchFamily="34" charset="0"/>
              </a:rPr>
              <a:t>: The features and functions of the final product, service or result.</a:t>
            </a:r>
          </a:p>
          <a:p>
            <a:pPr lvl="0" fontAlgn="base">
              <a:defRPr/>
            </a:pPr>
            <a:endParaRPr lang="en-US" sz="3000" dirty="0">
              <a:solidFill>
                <a:prstClr val="black"/>
              </a:solidFill>
              <a:ea typeface="Meiryo" panose="020B0604030504040204" pitchFamily="34" charset="-128"/>
              <a:cs typeface="Calibri" panose="020F0502020204030204" pitchFamily="34" charset="0"/>
            </a:endParaRPr>
          </a:p>
          <a:p>
            <a:pPr lvl="0" fontAlgn="base">
              <a:defRPr/>
            </a:pPr>
            <a:r>
              <a:rPr lang="en-US" sz="3000" b="1" dirty="0">
                <a:solidFill>
                  <a:prstClr val="black"/>
                </a:solidFill>
                <a:highlight>
                  <a:srgbClr val="FFFF00"/>
                </a:highlight>
                <a:ea typeface="Meiryo" panose="020B0604030504040204" pitchFamily="34" charset="-128"/>
                <a:cs typeface="Calibri" panose="020F0502020204030204" pitchFamily="34" charset="0"/>
              </a:rPr>
              <a:t>Scope of Work:</a:t>
            </a:r>
            <a:r>
              <a:rPr lang="en-US" sz="3000" dirty="0">
                <a:solidFill>
                  <a:prstClr val="black"/>
                </a:solidFill>
                <a:ea typeface="Meiryo" panose="020B0604030504040204" pitchFamily="34" charset="-128"/>
                <a:cs typeface="Calibri" panose="020F0502020204030204" pitchFamily="34" charset="0"/>
              </a:rPr>
              <a:t> A high-level description of what is in and what is out of the boundaries of the work.</a:t>
            </a:r>
            <a:endParaRPr lang="en-US" sz="3000" dirty="0">
              <a:solidFill>
                <a:prstClr val="black"/>
              </a:solidFill>
              <a:highlight>
                <a:srgbClr val="FFFF00"/>
              </a:highlight>
              <a:ea typeface="Meiryo" panose="020B0604030504040204" pitchFamily="34" charset="-128"/>
              <a:cs typeface="Calibri" panose="020F0502020204030204" pitchFamily="34" charset="0"/>
            </a:endParaRPr>
          </a:p>
          <a:p>
            <a:pPr lvl="0" fontAlgn="base">
              <a:defRPr/>
            </a:pPr>
            <a:endParaRPr lang="en-US" sz="3000" b="1" dirty="0">
              <a:solidFill>
                <a:prstClr val="black"/>
              </a:solidFill>
              <a:highlight>
                <a:srgbClr val="FFFF00"/>
              </a:highlight>
              <a:ea typeface="Meiryo" panose="020B0604030504040204" pitchFamily="34" charset="-128"/>
              <a:cs typeface="Calibri" panose="020F0502020204030204" pitchFamily="34" charset="0"/>
            </a:endParaRPr>
          </a:p>
          <a:p>
            <a:pPr lvl="0" fontAlgn="base">
              <a:defRPr/>
            </a:pPr>
            <a:r>
              <a:rPr lang="en-US" sz="3000" b="1" dirty="0">
                <a:solidFill>
                  <a:prstClr val="black"/>
                </a:solidFill>
                <a:highlight>
                  <a:srgbClr val="FFFF00"/>
                </a:highlight>
                <a:ea typeface="Meiryo" panose="020B0604030504040204" pitchFamily="34" charset="-128"/>
                <a:cs typeface="Calibri" panose="020F0502020204030204" pitchFamily="34" charset="0"/>
              </a:rPr>
              <a:t>Deliverables</a:t>
            </a:r>
            <a:r>
              <a:rPr lang="en-US" sz="3000" dirty="0">
                <a:solidFill>
                  <a:prstClr val="black"/>
                </a:solidFill>
                <a:ea typeface="Meiryo" panose="020B0604030504040204" pitchFamily="34" charset="-128"/>
                <a:cs typeface="Calibri" panose="020F0502020204030204" pitchFamily="34" charset="0"/>
              </a:rPr>
              <a:t>: A list of all results the project will produce.</a:t>
            </a:r>
          </a:p>
          <a:p>
            <a:pPr lvl="0" fontAlgn="base">
              <a:defRPr/>
            </a:pPr>
            <a:endParaRPr lang="en-US" sz="3000" dirty="0">
              <a:solidFill>
                <a:prstClr val="black"/>
              </a:solidFill>
              <a:ea typeface="Meiryo" panose="020B0604030504040204" pitchFamily="34" charset="-128"/>
              <a:cs typeface="Calibri" panose="020F0502020204030204" pitchFamily="34" charset="0"/>
            </a:endParaRPr>
          </a:p>
          <a:p>
            <a:pPr lvl="0" fontAlgn="base">
              <a:defRPr/>
            </a:pPr>
            <a:r>
              <a:rPr lang="en-US" sz="3000" b="1" dirty="0">
                <a:solidFill>
                  <a:prstClr val="black"/>
                </a:solidFill>
                <a:highlight>
                  <a:srgbClr val="FFFF00"/>
                </a:highlight>
                <a:ea typeface="Meiryo" panose="020B0604030504040204" pitchFamily="34" charset="-128"/>
                <a:cs typeface="Calibri" panose="020F0502020204030204" pitchFamily="34" charset="0"/>
              </a:rPr>
              <a:t>Project Exclusions</a:t>
            </a:r>
            <a:r>
              <a:rPr lang="en-US" sz="3000" dirty="0">
                <a:solidFill>
                  <a:prstClr val="black"/>
                </a:solidFill>
                <a:ea typeface="Meiryo" panose="020B0604030504040204" pitchFamily="34" charset="-128"/>
                <a:cs typeface="Calibri" panose="020F0502020204030204" pitchFamily="34" charset="0"/>
              </a:rPr>
              <a:t>: Explicitly stating what </a:t>
            </a:r>
            <a:r>
              <a:rPr lang="en-US" sz="3000" b="1" dirty="0">
                <a:solidFill>
                  <a:srgbClr val="FF0000"/>
                </a:solidFill>
                <a:ea typeface="Meiryo" panose="020B0604030504040204" pitchFamily="34" charset="-128"/>
                <a:cs typeface="Calibri" panose="020F0502020204030204" pitchFamily="34" charset="0"/>
              </a:rPr>
              <a:t>is not included </a:t>
            </a:r>
            <a:r>
              <a:rPr lang="en-US" sz="3000" dirty="0">
                <a:solidFill>
                  <a:prstClr val="black"/>
                </a:solidFill>
                <a:ea typeface="Meiryo" panose="020B0604030504040204" pitchFamily="34" charset="-128"/>
                <a:cs typeface="Calibri" panose="020F0502020204030204" pitchFamily="34" charset="0"/>
              </a:rPr>
              <a:t>in the project to prevent scope creep.</a:t>
            </a:r>
          </a:p>
          <a:p>
            <a:pPr lvl="0" fontAlgn="base">
              <a:defRPr/>
            </a:pPr>
            <a:endParaRPr lang="en-US" sz="3000" dirty="0">
              <a:solidFill>
                <a:prstClr val="black"/>
              </a:solidFill>
              <a:ea typeface="Meiryo" panose="020B0604030504040204" pitchFamily="34" charset="-128"/>
              <a:cs typeface="Calibri" panose="020F0502020204030204" pitchFamily="34" charset="0"/>
            </a:endParaRPr>
          </a:p>
          <a:p>
            <a:pPr lvl="0" fontAlgn="base">
              <a:defRPr/>
            </a:pPr>
            <a:r>
              <a:rPr lang="en-US" sz="3000" b="1" dirty="0">
                <a:solidFill>
                  <a:prstClr val="black"/>
                </a:solidFill>
                <a:highlight>
                  <a:srgbClr val="FFFF00"/>
                </a:highlight>
                <a:ea typeface="Meiryo" panose="020B0604030504040204" pitchFamily="34" charset="-128"/>
                <a:cs typeface="Calibri" panose="020F0502020204030204" pitchFamily="34" charset="0"/>
              </a:rPr>
              <a:t>Constraints and Assumptions</a:t>
            </a:r>
            <a:r>
              <a:rPr lang="en-US" sz="3000" dirty="0">
                <a:solidFill>
                  <a:prstClr val="black"/>
                </a:solidFill>
                <a:ea typeface="Meiryo" panose="020B0604030504040204" pitchFamily="34" charset="-128"/>
                <a:cs typeface="Calibri" panose="020F0502020204030204" pitchFamily="34" charset="0"/>
              </a:rPr>
              <a:t>: Any limitations (like budget or time) or factors believed to be true that could affect the project.</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p:txBody>
      </p:sp>
      <p:sp>
        <p:nvSpPr>
          <p:cNvPr id="4" name="Slide Number Placeholder 3">
            <a:extLst>
              <a:ext uri="{FF2B5EF4-FFF2-40B4-BE49-F238E27FC236}">
                <a16:creationId xmlns:a16="http://schemas.microsoft.com/office/drawing/2014/main" id="{03D3B22D-BA1B-055E-5F23-8EE778BE812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2610228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animEffect transition="in" filter="fade">
                                      <p:cBhvr>
                                        <p:cTn id="37"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DB4FB-C565-4403-9C27-E0BEAEE2CDF9}"/>
              </a:ext>
            </a:extLst>
          </p:cNvPr>
          <p:cNvSpPr>
            <a:spLocks noGrp="1"/>
          </p:cNvSpPr>
          <p:nvPr>
            <p:ph idx="1"/>
          </p:nvPr>
        </p:nvSpPr>
        <p:spPr>
          <a:xfrm>
            <a:off x="747131" y="495656"/>
            <a:ext cx="10760927" cy="6117017"/>
          </a:xfrm>
        </p:spPr>
        <p:txBody>
          <a:bodyPr>
            <a:normAutofit/>
          </a:bodyPr>
          <a:lstStyle/>
          <a:p>
            <a:pPr marL="0" indent="0">
              <a:lnSpc>
                <a:spcPct val="100000"/>
              </a:lnSpc>
              <a:spcBef>
                <a:spcPts val="0"/>
              </a:spcBef>
              <a:spcAft>
                <a:spcPts val="0"/>
              </a:spcAft>
              <a:buNone/>
            </a:pPr>
            <a:r>
              <a:rPr lang="en-US" sz="2800" b="1" dirty="0">
                <a:highlight>
                  <a:srgbClr val="FFFF00"/>
                </a:highlight>
                <a:latin typeface="Calibri" panose="020F0502020204030204" pitchFamily="34" charset="0"/>
                <a:cs typeface="Calibri" panose="020F0502020204030204" pitchFamily="34" charset="0"/>
              </a:rPr>
              <a:t>Constraints</a:t>
            </a:r>
            <a:r>
              <a:rPr lang="en-US" sz="2800" dirty="0">
                <a:latin typeface="Calibri" panose="020F0502020204030204" pitchFamily="34" charset="0"/>
                <a:cs typeface="Calibri" panose="020F0502020204030204" pitchFamily="34" charset="0"/>
              </a:rPr>
              <a:t>: All projects work within constraints, and stakeholders might not be aware of them.  </a:t>
            </a:r>
          </a:p>
          <a:p>
            <a:pPr marL="0" indent="0">
              <a:lnSpc>
                <a:spcPct val="100000"/>
              </a:lnSpc>
              <a:spcBef>
                <a:spcPts val="0"/>
              </a:spcBef>
              <a:spcAft>
                <a:spcPts val="0"/>
              </a:spcAft>
              <a:buNone/>
            </a:pPr>
            <a:endParaRPr lang="en-US" sz="2800" dirty="0">
              <a:latin typeface="Calibri" panose="020F0502020204030204" pitchFamily="34" charset="0"/>
              <a:cs typeface="Calibri" panose="020F0502020204030204" pitchFamily="34" charset="0"/>
            </a:endParaRPr>
          </a:p>
          <a:p>
            <a:pPr marL="0" indent="0">
              <a:lnSpc>
                <a:spcPct val="100000"/>
              </a:lnSpc>
              <a:spcBef>
                <a:spcPts val="0"/>
              </a:spcBef>
              <a:spcAft>
                <a:spcPts val="0"/>
              </a:spcAft>
              <a:buNone/>
            </a:pPr>
            <a:r>
              <a:rPr lang="en-US" sz="2800" dirty="0">
                <a:latin typeface="Calibri" panose="020F0502020204030204" pitchFamily="34" charset="0"/>
                <a:cs typeface="Calibri" panose="020F0502020204030204" pitchFamily="34" charset="0"/>
              </a:rPr>
              <a:t>For example, a renovation project that will release fumes which might concern the neighbors might plan for a fan and piping system to send the fumes a sufficient distance away.  </a:t>
            </a:r>
          </a:p>
          <a:p>
            <a:pPr marL="0" indent="0">
              <a:lnSpc>
                <a:spcPct val="100000"/>
              </a:lnSpc>
              <a:spcBef>
                <a:spcPts val="0"/>
              </a:spcBef>
              <a:spcAft>
                <a:spcPts val="0"/>
              </a:spcAft>
              <a:buNone/>
            </a:pPr>
            <a:endParaRPr lang="en-US" sz="2800" dirty="0">
              <a:latin typeface="Calibri" panose="020F0502020204030204" pitchFamily="34" charset="0"/>
              <a:cs typeface="Calibri" panose="020F0502020204030204" pitchFamily="34" charset="0"/>
            </a:endParaRPr>
          </a:p>
          <a:p>
            <a:pPr marL="0" indent="0">
              <a:lnSpc>
                <a:spcPct val="100000"/>
              </a:lnSpc>
              <a:spcBef>
                <a:spcPts val="0"/>
              </a:spcBef>
              <a:spcAft>
                <a:spcPts val="0"/>
              </a:spcAft>
              <a:buNone/>
            </a:pPr>
            <a:r>
              <a:rPr lang="en-US" sz="2800" dirty="0">
                <a:latin typeface="Calibri" panose="020F0502020204030204" pitchFamily="34" charset="0"/>
                <a:cs typeface="Calibri" panose="020F0502020204030204" pitchFamily="34" charset="0"/>
              </a:rPr>
              <a:t>It might be easy to say in the scope statement that the fan will send the fumes away, but if it goes a bit further and </a:t>
            </a:r>
            <a:r>
              <a:rPr lang="en-US" sz="2800" b="1" dirty="0">
                <a:solidFill>
                  <a:srgbClr val="FF0000"/>
                </a:solidFill>
                <a:latin typeface="Calibri" panose="020F0502020204030204" pitchFamily="34" charset="0"/>
                <a:cs typeface="Calibri" panose="020F0502020204030204" pitchFamily="34" charset="0"/>
              </a:rPr>
              <a:t>describes the constraints</a:t>
            </a:r>
            <a:r>
              <a:rPr lang="en-US" sz="2800" dirty="0">
                <a:latin typeface="Calibri" panose="020F0502020204030204" pitchFamily="34" charset="0"/>
                <a:cs typeface="Calibri" panose="020F0502020204030204" pitchFamily="34" charset="0"/>
              </a:rPr>
              <a:t>, i.e. how far the residences are away, how many windows there are, and how easily the fumes might travel, the stakeholders who read the scope statement might understand if it ever becomes difficult to contain the fumes.</a:t>
            </a:r>
          </a:p>
          <a:p>
            <a:pPr marL="0" indent="0">
              <a:lnSpc>
                <a:spcPct val="110000"/>
              </a:lnSpc>
              <a:spcBef>
                <a:spcPts val="0"/>
              </a:spcBef>
              <a:spcAft>
                <a:spcPts val="0"/>
              </a:spcAft>
              <a:buNone/>
            </a:pPr>
            <a:endParaRPr lang="en-US" sz="28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3180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DB4FB-C565-4403-9C27-E0BEAEE2CDF9}"/>
              </a:ext>
            </a:extLst>
          </p:cNvPr>
          <p:cNvSpPr>
            <a:spLocks noGrp="1"/>
          </p:cNvSpPr>
          <p:nvPr>
            <p:ph idx="1"/>
          </p:nvPr>
        </p:nvSpPr>
        <p:spPr>
          <a:xfrm>
            <a:off x="838200" y="495656"/>
            <a:ext cx="10515600" cy="5997219"/>
          </a:xfrm>
        </p:spPr>
        <p:txBody>
          <a:bodyPr>
            <a:normAutofit/>
          </a:bodyPr>
          <a:lstStyle/>
          <a:p>
            <a:pPr marL="0" indent="0">
              <a:lnSpc>
                <a:spcPct val="100000"/>
              </a:lnSpc>
              <a:spcBef>
                <a:spcPts val="0"/>
              </a:spcBef>
              <a:spcAft>
                <a:spcPts val="0"/>
              </a:spcAft>
              <a:buNone/>
            </a:pPr>
            <a:r>
              <a:rPr lang="en-US" sz="3200" b="1" dirty="0">
                <a:highlight>
                  <a:srgbClr val="FFFF00"/>
                </a:highlight>
                <a:latin typeface="Calibri" panose="020F0502020204030204" pitchFamily="34" charset="0"/>
                <a:cs typeface="Calibri" panose="020F0502020204030204" pitchFamily="34" charset="0"/>
              </a:rPr>
              <a:t>Assumptions</a:t>
            </a:r>
            <a:r>
              <a:rPr lang="en-US" sz="3200" dirty="0">
                <a:latin typeface="Calibri" panose="020F0502020204030204" pitchFamily="34" charset="0"/>
                <a:cs typeface="Calibri" panose="020F0502020204030204" pitchFamily="34" charset="0"/>
              </a:rPr>
              <a:t>: Similar to constraints, the assumptions provide background information that will allow for stakeholders to understand when problems arise.  </a:t>
            </a:r>
          </a:p>
          <a:p>
            <a:pPr marL="0" indent="0">
              <a:lnSpc>
                <a:spcPct val="100000"/>
              </a:lnSpc>
              <a:spcBef>
                <a:spcPts val="0"/>
              </a:spcBef>
              <a:spcAft>
                <a:spcPts val="0"/>
              </a:spcAft>
              <a:buNone/>
            </a:pPr>
            <a:endParaRPr lang="en-US" sz="3200" b="1" dirty="0">
              <a:highlight>
                <a:srgbClr val="FFFF00"/>
              </a:highlight>
              <a:latin typeface="Calibri" panose="020F0502020204030204" pitchFamily="34" charset="0"/>
              <a:cs typeface="Calibri" panose="020F0502020204030204" pitchFamily="34" charset="0"/>
            </a:endParaRPr>
          </a:p>
          <a:p>
            <a:pPr marL="0" indent="0">
              <a:lnSpc>
                <a:spcPct val="100000"/>
              </a:lnSpc>
              <a:spcBef>
                <a:spcPts val="0"/>
              </a:spcBef>
              <a:spcAft>
                <a:spcPts val="0"/>
              </a:spcAft>
              <a:buNone/>
            </a:pPr>
            <a:r>
              <a:rPr lang="en-US" sz="3200" b="1" dirty="0">
                <a:highlight>
                  <a:srgbClr val="FFFF00"/>
                </a:highlight>
                <a:latin typeface="Calibri" panose="020F0502020204030204" pitchFamily="34" charset="0"/>
                <a:cs typeface="Calibri" panose="020F0502020204030204" pitchFamily="34" charset="0"/>
              </a:rPr>
              <a:t>Assumptions often fly</a:t>
            </a:r>
            <a:r>
              <a:rPr lang="en-US" sz="3200" b="1" dirty="0">
                <a:latin typeface="Calibri" panose="020F0502020204030204" pitchFamily="34" charset="0"/>
                <a:cs typeface="Calibri" panose="020F0502020204030204" pitchFamily="34" charset="0"/>
              </a:rPr>
              <a:t> </a:t>
            </a:r>
            <a:r>
              <a:rPr lang="en-US" sz="3200" b="1" dirty="0">
                <a:highlight>
                  <a:srgbClr val="FFFF00"/>
                </a:highlight>
                <a:latin typeface="Calibri" panose="020F0502020204030204" pitchFamily="34" charset="0"/>
                <a:cs typeface="Calibri" panose="020F0502020204030204" pitchFamily="34" charset="0"/>
              </a:rPr>
              <a:t>under the radar</a:t>
            </a:r>
            <a:r>
              <a:rPr lang="en-US" sz="3200" dirty="0">
                <a:latin typeface="Calibri" panose="020F0502020204030204" pitchFamily="34" charset="0"/>
                <a:cs typeface="Calibri" panose="020F0502020204030204" pitchFamily="34" charset="0"/>
              </a:rPr>
              <a:t>, particularly for inexperienced professionals.</a:t>
            </a:r>
          </a:p>
          <a:p>
            <a:pPr marL="0" indent="0">
              <a:lnSpc>
                <a:spcPct val="100000"/>
              </a:lnSpc>
              <a:spcBef>
                <a:spcPts val="0"/>
              </a:spcBef>
              <a:spcAft>
                <a:spcPts val="0"/>
              </a:spcAft>
              <a:buNone/>
            </a:pPr>
            <a:endParaRPr lang="en-US" sz="3200" dirty="0">
              <a:latin typeface="Calibri" panose="020F0502020204030204" pitchFamily="34" charset="0"/>
              <a:cs typeface="Calibri" panose="020F0502020204030204" pitchFamily="34" charset="0"/>
            </a:endParaRPr>
          </a:p>
          <a:p>
            <a:pPr marL="0" indent="0">
              <a:lnSpc>
                <a:spcPct val="100000"/>
              </a:lnSpc>
              <a:spcBef>
                <a:spcPts val="0"/>
              </a:spcBef>
              <a:spcAft>
                <a:spcPts val="0"/>
              </a:spcAft>
              <a:buNone/>
            </a:pPr>
            <a:r>
              <a:rPr lang="en-US" sz="3200" dirty="0">
                <a:latin typeface="Calibri" panose="020F0502020204030204" pitchFamily="34" charset="0"/>
                <a:cs typeface="Calibri" panose="020F0502020204030204" pitchFamily="34" charset="0"/>
              </a:rPr>
              <a:t>In our renovation project example, the project manager will have to assume a certain size fan.  If the fumes begin to leak out of the building and get to the neighboring properties, problems could result.  Stating the assumption that a certain fan size will be sufficient would reduce project risk. </a:t>
            </a:r>
            <a:endParaRPr lang="en-US" sz="28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1340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roject Charter Template Pmp">
            <a:extLst>
              <a:ext uri="{FF2B5EF4-FFF2-40B4-BE49-F238E27FC236}">
                <a16:creationId xmlns:a16="http://schemas.microsoft.com/office/drawing/2014/main" id="{4D37B987-86F7-87EC-F24A-451A71F125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763" y="0"/>
            <a:ext cx="761047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0D687F90-6058-367C-920E-92EA66BDCAC2}"/>
              </a:ext>
            </a:extLst>
          </p:cNvPr>
          <p:cNvSpPr/>
          <p:nvPr/>
        </p:nvSpPr>
        <p:spPr>
          <a:xfrm rot="16200000">
            <a:off x="3979252" y="2748658"/>
            <a:ext cx="410198" cy="1082945"/>
          </a:xfrm>
          <a:prstGeom prst="ellipse">
            <a:avLst/>
          </a:prstGeom>
          <a:noFill/>
          <a:ln w="412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 name="Oval 2">
            <a:extLst>
              <a:ext uri="{FF2B5EF4-FFF2-40B4-BE49-F238E27FC236}">
                <a16:creationId xmlns:a16="http://schemas.microsoft.com/office/drawing/2014/main" id="{3394C3F7-BB6E-5534-8F1F-58A3958F4267}"/>
              </a:ext>
            </a:extLst>
          </p:cNvPr>
          <p:cNvSpPr/>
          <p:nvPr/>
        </p:nvSpPr>
        <p:spPr>
          <a:xfrm rot="16200000">
            <a:off x="2995060" y="3610360"/>
            <a:ext cx="410198" cy="1082945"/>
          </a:xfrm>
          <a:prstGeom prst="ellipse">
            <a:avLst/>
          </a:prstGeom>
          <a:noFill/>
          <a:ln w="412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6390F97F-6771-7C7E-1DE2-2E6187088E28}"/>
              </a:ext>
            </a:extLst>
          </p:cNvPr>
          <p:cNvSpPr/>
          <p:nvPr/>
        </p:nvSpPr>
        <p:spPr>
          <a:xfrm rot="16200000">
            <a:off x="3979253" y="4430043"/>
            <a:ext cx="410198" cy="1082945"/>
          </a:xfrm>
          <a:prstGeom prst="ellipse">
            <a:avLst/>
          </a:prstGeom>
          <a:noFill/>
          <a:ln w="412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82485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roject Charter Template Pmp">
            <a:extLst>
              <a:ext uri="{FF2B5EF4-FFF2-40B4-BE49-F238E27FC236}">
                <a16:creationId xmlns:a16="http://schemas.microsoft.com/office/drawing/2014/main" id="{4D37B987-86F7-87EC-F24A-451A71F125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763" y="0"/>
            <a:ext cx="761047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0D687F90-6058-367C-920E-92EA66BDCAC2}"/>
              </a:ext>
            </a:extLst>
          </p:cNvPr>
          <p:cNvSpPr/>
          <p:nvPr/>
        </p:nvSpPr>
        <p:spPr>
          <a:xfrm rot="16200000">
            <a:off x="6927553" y="3610361"/>
            <a:ext cx="410198" cy="1082945"/>
          </a:xfrm>
          <a:prstGeom prst="ellipse">
            <a:avLst/>
          </a:prstGeom>
          <a:noFill/>
          <a:ln w="412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 name="Oval 2">
            <a:extLst>
              <a:ext uri="{FF2B5EF4-FFF2-40B4-BE49-F238E27FC236}">
                <a16:creationId xmlns:a16="http://schemas.microsoft.com/office/drawing/2014/main" id="{3394C3F7-BB6E-5534-8F1F-58A3958F4267}"/>
              </a:ext>
            </a:extLst>
          </p:cNvPr>
          <p:cNvSpPr/>
          <p:nvPr/>
        </p:nvSpPr>
        <p:spPr>
          <a:xfrm rot="16200000">
            <a:off x="7802553" y="4488437"/>
            <a:ext cx="410198" cy="1082947"/>
          </a:xfrm>
          <a:prstGeom prst="ellipse">
            <a:avLst/>
          </a:prstGeom>
          <a:noFill/>
          <a:ln w="412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6390F97F-6771-7C7E-1DE2-2E6187088E28}"/>
              </a:ext>
            </a:extLst>
          </p:cNvPr>
          <p:cNvSpPr/>
          <p:nvPr/>
        </p:nvSpPr>
        <p:spPr>
          <a:xfrm rot="16200000">
            <a:off x="5844608" y="5065994"/>
            <a:ext cx="410198" cy="1082945"/>
          </a:xfrm>
          <a:prstGeom prst="ellipse">
            <a:avLst/>
          </a:prstGeom>
          <a:noFill/>
          <a:ln w="412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23794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jectManager's free project scope template">
            <a:extLst>
              <a:ext uri="{FF2B5EF4-FFF2-40B4-BE49-F238E27FC236}">
                <a16:creationId xmlns:a16="http://schemas.microsoft.com/office/drawing/2014/main" id="{78EC4798-AFA6-6BD5-5A52-C5E9D83397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1464" y="296678"/>
            <a:ext cx="8043786" cy="5938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8501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07084-6D13-E3FA-B0BA-84C49278184F}"/>
            </a:ext>
          </a:extLst>
        </p:cNvPr>
        <p:cNvGrpSpPr/>
        <p:nvPr/>
      </p:nvGrpSpPr>
      <p:grpSpPr>
        <a:xfrm>
          <a:off x="0" y="0"/>
          <a:ext cx="0" cy="0"/>
          <a:chOff x="0" y="0"/>
          <a:chExt cx="0" cy="0"/>
        </a:xfrm>
      </p:grpSpPr>
      <p:pic>
        <p:nvPicPr>
          <p:cNvPr id="1026" name="Picture 2" descr="ProjectManager's free project scope template">
            <a:extLst>
              <a:ext uri="{FF2B5EF4-FFF2-40B4-BE49-F238E27FC236}">
                <a16:creationId xmlns:a16="http://schemas.microsoft.com/office/drawing/2014/main" id="{DE1B5085-112A-C715-1946-C0B9387C8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1464" y="296678"/>
            <a:ext cx="8043786" cy="5938996"/>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83BE8B20-05E0-FB3C-71EF-93FF9D628839}"/>
              </a:ext>
            </a:extLst>
          </p:cNvPr>
          <p:cNvSpPr/>
          <p:nvPr/>
        </p:nvSpPr>
        <p:spPr>
          <a:xfrm>
            <a:off x="2676463" y="2543009"/>
            <a:ext cx="3605222" cy="2965693"/>
          </a:xfrm>
          <a:prstGeom prst="ellipse">
            <a:avLst/>
          </a:prstGeom>
          <a:noFill/>
          <a:ln w="635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2818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C3E1A-0AA0-4543-96FA-40A17F68B95C}"/>
              </a:ext>
            </a:extLst>
          </p:cNvPr>
          <p:cNvSpPr>
            <a:spLocks noGrp="1"/>
          </p:cNvSpPr>
          <p:nvPr>
            <p:ph type="title"/>
          </p:nvPr>
        </p:nvSpPr>
        <p:spPr>
          <a:xfrm>
            <a:off x="838200" y="117297"/>
            <a:ext cx="10515600" cy="1325563"/>
          </a:xfrm>
        </p:spPr>
        <p:txBody>
          <a:bodyPr>
            <a:normAutofit/>
          </a:bodyPr>
          <a:lstStyle/>
          <a:p>
            <a:pPr algn="ctr"/>
            <a:r>
              <a:rPr lang="en-US" sz="4500" b="1" dirty="0">
                <a:latin typeface="Calibri" panose="020F0502020204030204" pitchFamily="34" charset="0"/>
                <a:cs typeface="Calibri" panose="020F0502020204030204" pitchFamily="34" charset="0"/>
              </a:rPr>
              <a:t>Start with a General </a:t>
            </a:r>
            <a:r>
              <a:rPr lang="en-US" sz="4500" b="1" dirty="0">
                <a:solidFill>
                  <a:schemeClr val="tx1">
                    <a:lumMod val="95000"/>
                    <a:lumOff val="5000"/>
                  </a:schemeClr>
                </a:solidFill>
                <a:latin typeface="Calibri" panose="020F0502020204030204" pitchFamily="34" charset="0"/>
                <a:cs typeface="Calibri" panose="020F0502020204030204" pitchFamily="34" charset="0"/>
              </a:rPr>
              <a:t>Project Statement</a:t>
            </a:r>
          </a:p>
        </p:txBody>
      </p:sp>
      <p:sp>
        <p:nvSpPr>
          <p:cNvPr id="3" name="Content Placeholder 2">
            <a:extLst>
              <a:ext uri="{FF2B5EF4-FFF2-40B4-BE49-F238E27FC236}">
                <a16:creationId xmlns:a16="http://schemas.microsoft.com/office/drawing/2014/main" id="{068DB4FB-C565-4403-9C27-E0BEAEE2CDF9}"/>
              </a:ext>
            </a:extLst>
          </p:cNvPr>
          <p:cNvSpPr>
            <a:spLocks noGrp="1"/>
          </p:cNvSpPr>
          <p:nvPr>
            <p:ph idx="1"/>
          </p:nvPr>
        </p:nvSpPr>
        <p:spPr>
          <a:xfrm>
            <a:off x="838200" y="1442860"/>
            <a:ext cx="10515600" cy="5050015"/>
          </a:xfrm>
        </p:spPr>
        <p:txBody>
          <a:bodyPr>
            <a:normAutofit/>
          </a:bodyPr>
          <a:lstStyle/>
          <a:p>
            <a:pPr marL="0" indent="0">
              <a:lnSpc>
                <a:spcPct val="100000"/>
              </a:lnSpc>
              <a:spcBef>
                <a:spcPts val="0"/>
              </a:spcBef>
              <a:spcAft>
                <a:spcPts val="0"/>
              </a:spcAft>
              <a:buNone/>
            </a:pPr>
            <a:r>
              <a:rPr lang="en-US" sz="3200" dirty="0">
                <a:solidFill>
                  <a:schemeClr val="tx1"/>
                </a:solidFill>
                <a:latin typeface="Calibri" panose="020F0502020204030204" pitchFamily="34" charset="0"/>
                <a:cs typeface="Calibri" panose="020F0502020204030204" pitchFamily="34" charset="0"/>
              </a:rPr>
              <a:t>A project statement provides a </a:t>
            </a:r>
            <a:r>
              <a:rPr lang="en-US" sz="3200" b="1" dirty="0">
                <a:solidFill>
                  <a:schemeClr val="tx1"/>
                </a:solidFill>
                <a:latin typeface="Calibri" panose="020F0502020204030204" pitchFamily="34" charset="0"/>
                <a:cs typeface="Calibri" panose="020F0502020204030204" pitchFamily="34" charset="0"/>
              </a:rPr>
              <a:t>short narrative</a:t>
            </a:r>
            <a:r>
              <a:rPr lang="en-US" sz="3200" dirty="0">
                <a:solidFill>
                  <a:schemeClr val="tx1"/>
                </a:solidFill>
                <a:latin typeface="Calibri" panose="020F0502020204030204" pitchFamily="34" charset="0"/>
                <a:cs typeface="Calibri" panose="020F0502020204030204" pitchFamily="34" charset="0"/>
              </a:rPr>
              <a:t> on the nature of the project, why it is necessary and how the team intents to go about it.</a:t>
            </a:r>
          </a:p>
          <a:p>
            <a:pPr marL="0" indent="0">
              <a:lnSpc>
                <a:spcPct val="100000"/>
              </a:lnSpc>
              <a:spcBef>
                <a:spcPts val="0"/>
              </a:spcBef>
              <a:spcAft>
                <a:spcPts val="0"/>
              </a:spcAft>
              <a:buNone/>
            </a:pPr>
            <a:endParaRPr lang="en-US" sz="3200" dirty="0">
              <a:solidFill>
                <a:schemeClr val="tx1"/>
              </a:solidFill>
              <a:latin typeface="Calibri" panose="020F0502020204030204" pitchFamily="34" charset="0"/>
              <a:cs typeface="Calibri" panose="020F0502020204030204" pitchFamily="34" charset="0"/>
            </a:endParaRPr>
          </a:p>
          <a:p>
            <a:pPr marL="0" indent="0">
              <a:lnSpc>
                <a:spcPct val="100000"/>
              </a:lnSpc>
              <a:spcBef>
                <a:spcPts val="0"/>
              </a:spcBef>
              <a:spcAft>
                <a:spcPts val="0"/>
              </a:spcAft>
              <a:buNone/>
            </a:pPr>
            <a:r>
              <a:rPr lang="en-US" sz="3200" dirty="0">
                <a:solidFill>
                  <a:schemeClr val="tx1"/>
                </a:solidFill>
                <a:latin typeface="Calibri" panose="020F0502020204030204" pitchFamily="34" charset="0"/>
                <a:cs typeface="Calibri" panose="020F0502020204030204" pitchFamily="34" charset="0"/>
              </a:rPr>
              <a:t>The statement informs the creation of the scope of work, which in turn governs all other actions. It also </a:t>
            </a:r>
            <a:r>
              <a:rPr lang="en-US" sz="3200" b="1" dirty="0">
                <a:solidFill>
                  <a:schemeClr val="tx1"/>
                </a:solidFill>
                <a:highlight>
                  <a:srgbClr val="FFFF00"/>
                </a:highlight>
                <a:latin typeface="Calibri" panose="020F0502020204030204" pitchFamily="34" charset="0"/>
                <a:cs typeface="Calibri" panose="020F0502020204030204" pitchFamily="34" charset="0"/>
              </a:rPr>
              <a:t>clarifies for the clients</a:t>
            </a:r>
            <a:r>
              <a:rPr lang="en-US" sz="3200" dirty="0">
                <a:solidFill>
                  <a:schemeClr val="tx1"/>
                </a:solidFill>
                <a:latin typeface="Calibri" panose="020F0502020204030204" pitchFamily="34" charset="0"/>
                <a:cs typeface="Calibri" panose="020F0502020204030204" pitchFamily="34" charset="0"/>
              </a:rPr>
              <a:t> and participants why the plan is being conducted, and avoids wrong assumptions.</a:t>
            </a:r>
          </a:p>
        </p:txBody>
      </p:sp>
    </p:spTree>
    <p:extLst>
      <p:ext uri="{BB962C8B-B14F-4D97-AF65-F5344CB8AC3E}">
        <p14:creationId xmlns:p14="http://schemas.microsoft.com/office/powerpoint/2010/main" val="376890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C1E0D5-8078-41F7-92FD-B0778A6FFADD}"/>
              </a:ext>
            </a:extLst>
          </p:cNvPr>
          <p:cNvSpPr txBox="1"/>
          <p:nvPr/>
        </p:nvSpPr>
        <p:spPr>
          <a:xfrm>
            <a:off x="546323" y="390685"/>
            <a:ext cx="11099353" cy="3862596"/>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ea typeface="Meiryo" panose="020B0604030504040204" pitchFamily="34" charset="-128"/>
                <a:cs typeface="Calibri" panose="020F0502020204030204" pitchFamily="34" charset="0"/>
              </a:rPr>
              <a:t>The length of the scope statement has no strict guideline. It should be </a:t>
            </a:r>
            <a:r>
              <a:rPr kumimoji="0" lang="en-US" sz="3500" b="1" i="0" u="none" strike="noStrike" kern="1200" cap="none" spc="0" normalizeH="0" baseline="0" noProof="0" dirty="0">
                <a:ln>
                  <a:noFill/>
                </a:ln>
                <a:solidFill>
                  <a:prstClr val="black"/>
                </a:solidFill>
                <a:effectLst/>
                <a:uLnTx/>
                <a:uFillTx/>
                <a:ea typeface="Meiryo" panose="020B0604030504040204" pitchFamily="34" charset="-128"/>
                <a:cs typeface="Calibri" panose="020F0502020204030204" pitchFamily="34" charset="0"/>
              </a:rPr>
              <a:t>long enough to limit the risk of scope change</a:t>
            </a:r>
            <a:r>
              <a:rPr kumimoji="0" lang="en-US" sz="3500" b="0" i="0" u="none" strike="noStrike" kern="1200" cap="none" spc="0" normalizeH="0" baseline="0" noProof="0" dirty="0">
                <a:ln>
                  <a:noFill/>
                </a:ln>
                <a:solidFill>
                  <a:prstClr val="black"/>
                </a:solidFill>
                <a:effectLst/>
                <a:uLnTx/>
                <a:uFillTx/>
                <a:ea typeface="Meiryo" panose="020B0604030504040204" pitchFamily="34" charset="-128"/>
                <a:cs typeface="Calibri" panose="020F0502020204030204" pitchFamily="34" charset="0"/>
              </a:rPr>
              <a:t> as much as possible, to a reasonable limit.</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ea typeface="Meiryo" panose="020B0604030504040204" pitchFamily="34" charset="-128"/>
              <a:cs typeface="Calibri" panose="020F050202020403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ea typeface="Meiryo" panose="020B0604030504040204" pitchFamily="34" charset="-128"/>
                <a:cs typeface="Calibri" panose="020F0502020204030204" pitchFamily="34" charset="0"/>
              </a:rPr>
              <a:t>Although you can’t define the scope perfectly, when </a:t>
            </a:r>
            <a:r>
              <a:rPr kumimoji="0" lang="en-US" sz="3500" b="1" i="0" u="none" strike="noStrike" kern="1200" cap="none" spc="0" normalizeH="0" baseline="0" noProof="0" dirty="0">
                <a:ln>
                  <a:noFill/>
                </a:ln>
                <a:solidFill>
                  <a:prstClr val="black"/>
                </a:solidFill>
                <a:effectLst/>
                <a:highlight>
                  <a:srgbClr val="FFFF00"/>
                </a:highlight>
                <a:uLnTx/>
                <a:uFillTx/>
                <a:ea typeface="Meiryo" panose="020B0604030504040204" pitchFamily="34" charset="-128"/>
                <a:cs typeface="Calibri" panose="020F0502020204030204" pitchFamily="34" charset="0"/>
              </a:rPr>
              <a:t>all stakeholders should have a good idea of the project’s </a:t>
            </a:r>
            <a:r>
              <a:rPr kumimoji="0" lang="en-US" sz="3500" b="1" i="0" u="none" strike="noStrike" kern="1200" cap="none" spc="0" normalizeH="0" baseline="0" noProof="0" dirty="0">
                <a:ln>
                  <a:noFill/>
                </a:ln>
                <a:solidFill>
                  <a:srgbClr val="FF0000"/>
                </a:solidFill>
                <a:effectLst/>
                <a:highlight>
                  <a:srgbClr val="FFFF00"/>
                </a:highlight>
                <a:uLnTx/>
                <a:uFillTx/>
                <a:ea typeface="Meiryo" panose="020B0604030504040204" pitchFamily="34" charset="-128"/>
                <a:cs typeface="Calibri" panose="020F0502020204030204" pitchFamily="34" charset="0"/>
              </a:rPr>
              <a:t>boundaries</a:t>
            </a:r>
            <a:r>
              <a:rPr kumimoji="0" lang="en-US" sz="3500" b="0" i="0" u="none" strike="noStrike" kern="1200" cap="none" spc="0" normalizeH="0" baseline="0" noProof="0" dirty="0">
                <a:ln>
                  <a:noFill/>
                </a:ln>
                <a:solidFill>
                  <a:prstClr val="black"/>
                </a:solidFill>
                <a:effectLst/>
                <a:uLnTx/>
                <a:uFillTx/>
                <a:ea typeface="Meiryo" panose="020B0604030504040204" pitchFamily="34" charset="-128"/>
                <a:cs typeface="Calibri" panose="020F0502020204030204" pitchFamily="34" charset="0"/>
              </a:rPr>
              <a:t> the scope statement is detailed enough.</a:t>
            </a:r>
          </a:p>
        </p:txBody>
      </p:sp>
    </p:spTree>
    <p:extLst>
      <p:ext uri="{BB962C8B-B14F-4D97-AF65-F5344CB8AC3E}">
        <p14:creationId xmlns:p14="http://schemas.microsoft.com/office/powerpoint/2010/main" val="331259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DB4FB-C565-4403-9C27-E0BEAEE2CDF9}"/>
              </a:ext>
            </a:extLst>
          </p:cNvPr>
          <p:cNvSpPr>
            <a:spLocks noGrp="1"/>
          </p:cNvSpPr>
          <p:nvPr>
            <p:ph idx="1"/>
          </p:nvPr>
        </p:nvSpPr>
        <p:spPr>
          <a:xfrm>
            <a:off x="838200" y="752030"/>
            <a:ext cx="10515600" cy="5740845"/>
          </a:xfrm>
        </p:spPr>
        <p:txBody>
          <a:bodyPr>
            <a:noAutofit/>
          </a:bodyPr>
          <a:lstStyle/>
          <a:p>
            <a:pPr marL="0" indent="0">
              <a:lnSpc>
                <a:spcPct val="100000"/>
              </a:lnSpc>
              <a:spcBef>
                <a:spcPts val="0"/>
              </a:spcBef>
              <a:spcAft>
                <a:spcPts val="0"/>
              </a:spcAft>
              <a:buNone/>
            </a:pPr>
            <a:r>
              <a:rPr lang="en-US" sz="4000" b="1" dirty="0">
                <a:latin typeface="Calibri" panose="020F0502020204030204" pitchFamily="34" charset="0"/>
                <a:cs typeface="Calibri" panose="020F0502020204030204" pitchFamily="34" charset="0"/>
              </a:rPr>
              <a:t>Example of a scope statement</a:t>
            </a:r>
          </a:p>
          <a:p>
            <a:pPr marL="0" indent="0">
              <a:lnSpc>
                <a:spcPct val="100000"/>
              </a:lnSpc>
              <a:spcBef>
                <a:spcPts val="0"/>
              </a:spcBef>
              <a:spcAft>
                <a:spcPts val="0"/>
              </a:spcAft>
              <a:buNone/>
            </a:pPr>
            <a:r>
              <a:rPr lang="en-US" sz="4000" dirty="0">
                <a:latin typeface="Calibri" panose="020F0502020204030204" pitchFamily="34" charset="0"/>
                <a:cs typeface="Calibri" panose="020F0502020204030204" pitchFamily="34" charset="0"/>
              </a:rPr>
              <a:t>Design a bridge that meets all state road design standards while providing adequate stream flow for a 1:100-year flood event. </a:t>
            </a:r>
            <a:br>
              <a:rPr lang="en-US" sz="4000" dirty="0">
                <a:latin typeface="Calibri" panose="020F0502020204030204" pitchFamily="34" charset="0"/>
                <a:cs typeface="Calibri" panose="020F0502020204030204" pitchFamily="34" charset="0"/>
              </a:rPr>
            </a:br>
            <a:endParaRPr lang="en-US" sz="4000" dirty="0">
              <a:latin typeface="Calibri" panose="020F0502020204030204" pitchFamily="34" charset="0"/>
              <a:cs typeface="Calibri" panose="020F0502020204030204" pitchFamily="34" charset="0"/>
            </a:endParaRPr>
          </a:p>
          <a:p>
            <a:pPr marL="0" indent="0">
              <a:lnSpc>
                <a:spcPct val="100000"/>
              </a:lnSpc>
              <a:spcBef>
                <a:spcPts val="0"/>
              </a:spcBef>
              <a:spcAft>
                <a:spcPts val="0"/>
              </a:spcAft>
              <a:buNone/>
            </a:pPr>
            <a:r>
              <a:rPr lang="en-US" sz="4000" dirty="0">
                <a:latin typeface="Calibri" panose="020F0502020204030204" pitchFamily="34" charset="0"/>
                <a:cs typeface="Calibri" panose="020F0502020204030204" pitchFamily="34" charset="0"/>
              </a:rPr>
              <a:t>Erosion of the bridge abutments must be reasonably controlled, and environmental permits must be obtained and strictly adhered to.</a:t>
            </a:r>
            <a:endParaRPr lang="en-US" sz="40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3144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C3E1A-0AA0-4543-96FA-40A17F68B95C}"/>
              </a:ext>
            </a:extLst>
          </p:cNvPr>
          <p:cNvSpPr>
            <a:spLocks noGrp="1"/>
          </p:cNvSpPr>
          <p:nvPr>
            <p:ph type="title"/>
          </p:nvPr>
        </p:nvSpPr>
        <p:spPr>
          <a:xfrm>
            <a:off x="838200" y="202755"/>
            <a:ext cx="10515600" cy="1325563"/>
          </a:xfrm>
        </p:spPr>
        <p:txBody>
          <a:bodyPr>
            <a:normAutofit/>
          </a:bodyPr>
          <a:lstStyle/>
          <a:p>
            <a:pPr algn="ctr"/>
            <a:r>
              <a:rPr lang="en-US" sz="4500" b="1" dirty="0">
                <a:solidFill>
                  <a:schemeClr val="tx1">
                    <a:lumMod val="95000"/>
                    <a:lumOff val="5000"/>
                  </a:schemeClr>
                </a:solidFill>
                <a:latin typeface="Calibri" panose="020F0502020204030204" pitchFamily="34" charset="0"/>
                <a:cs typeface="Calibri" panose="020F0502020204030204" pitchFamily="34" charset="0"/>
              </a:rPr>
              <a:t>Project Statement</a:t>
            </a:r>
          </a:p>
        </p:txBody>
      </p:sp>
      <p:sp>
        <p:nvSpPr>
          <p:cNvPr id="3" name="Content Placeholder 2">
            <a:extLst>
              <a:ext uri="{FF2B5EF4-FFF2-40B4-BE49-F238E27FC236}">
                <a16:creationId xmlns:a16="http://schemas.microsoft.com/office/drawing/2014/main" id="{068DB4FB-C565-4403-9C27-E0BEAEE2CDF9}"/>
              </a:ext>
            </a:extLst>
          </p:cNvPr>
          <p:cNvSpPr>
            <a:spLocks noGrp="1"/>
          </p:cNvSpPr>
          <p:nvPr>
            <p:ph idx="1"/>
          </p:nvPr>
        </p:nvSpPr>
        <p:spPr>
          <a:xfrm>
            <a:off x="838200" y="1427148"/>
            <a:ext cx="10515600" cy="5228097"/>
          </a:xfrm>
        </p:spPr>
        <p:txBody>
          <a:bodyPr>
            <a:normAutofit/>
          </a:bodyPr>
          <a:lstStyle/>
          <a:p>
            <a:pPr marL="0" indent="0">
              <a:lnSpc>
                <a:spcPct val="110000"/>
              </a:lnSpc>
              <a:spcBef>
                <a:spcPts val="0"/>
              </a:spcBef>
              <a:spcAft>
                <a:spcPts val="0"/>
              </a:spcAft>
              <a:buNone/>
            </a:pPr>
            <a:r>
              <a:rPr lang="en-US" sz="2800" dirty="0">
                <a:solidFill>
                  <a:schemeClr val="tx1"/>
                </a:solidFill>
                <a:latin typeface="Calibri" panose="020F0502020204030204" pitchFamily="34" charset="0"/>
                <a:cs typeface="Calibri" panose="020F0502020204030204" pitchFamily="34" charset="0"/>
              </a:rPr>
              <a:t>Use their process, substituting the word “problem” for “project.”</a:t>
            </a:r>
          </a:p>
          <a:p>
            <a:pPr marL="0" indent="0">
              <a:lnSpc>
                <a:spcPct val="110000"/>
              </a:lnSpc>
              <a:spcBef>
                <a:spcPts val="0"/>
              </a:spcBef>
              <a:spcAft>
                <a:spcPts val="0"/>
              </a:spcAft>
              <a:buNone/>
            </a:pPr>
            <a:r>
              <a:rPr lang="en-US" sz="2800" dirty="0">
                <a:solidFill>
                  <a:schemeClr val="tx1"/>
                </a:solidFill>
                <a:latin typeface="Calibri" panose="020F0502020204030204" pitchFamily="34" charset="0"/>
                <a:cs typeface="Calibri" panose="020F0502020204030204" pitchFamily="34" charset="0"/>
              </a:rPr>
              <a:t>[1] </a:t>
            </a:r>
            <a:r>
              <a:rPr lang="en-US" sz="2800" b="1" dirty="0">
                <a:solidFill>
                  <a:schemeClr val="tx1"/>
                </a:solidFill>
                <a:highlight>
                  <a:srgbClr val="FFFF00"/>
                </a:highlight>
                <a:latin typeface="Calibri" panose="020F0502020204030204" pitchFamily="34" charset="0"/>
                <a:cs typeface="Calibri" panose="020F0502020204030204" pitchFamily="34" charset="0"/>
              </a:rPr>
              <a:t>Trigger</a:t>
            </a:r>
            <a:r>
              <a:rPr lang="en-US" sz="2800" dirty="0">
                <a:solidFill>
                  <a:schemeClr val="tx1"/>
                </a:solidFill>
                <a:highlight>
                  <a:srgbClr val="FFFF00"/>
                </a:highlight>
                <a:latin typeface="Calibri" panose="020F0502020204030204" pitchFamily="34" charset="0"/>
                <a:cs typeface="Calibri" panose="020F0502020204030204" pitchFamily="34" charset="0"/>
              </a:rPr>
              <a:t>:</a:t>
            </a:r>
            <a:r>
              <a:rPr lang="en-US" sz="2800" dirty="0">
                <a:solidFill>
                  <a:schemeClr val="tx1"/>
                </a:solidFill>
                <a:latin typeface="Calibri" panose="020F0502020204030204" pitchFamily="34" charset="0"/>
                <a:cs typeface="Calibri" panose="020F0502020204030204" pitchFamily="34" charset="0"/>
              </a:rPr>
              <a:t> What </a:t>
            </a:r>
            <a:r>
              <a:rPr lang="en-US" dirty="0">
                <a:latin typeface="Calibri" panose="020F0502020204030204" pitchFamily="34" charset="0"/>
                <a:cs typeface="Calibri" panose="020F0502020204030204" pitchFamily="34" charset="0"/>
              </a:rPr>
              <a:t>problem </a:t>
            </a:r>
            <a:r>
              <a:rPr lang="en-US" sz="2800" dirty="0">
                <a:solidFill>
                  <a:schemeClr val="tx1"/>
                </a:solidFill>
                <a:latin typeface="Calibri" panose="020F0502020204030204" pitchFamily="34" charset="0"/>
                <a:cs typeface="Calibri" panose="020F0502020204030204" pitchFamily="34" charset="0"/>
              </a:rPr>
              <a:t>triggered the</a:t>
            </a:r>
            <a:r>
              <a:rPr lang="en-US" dirty="0">
                <a:latin typeface="Calibri" panose="020F0502020204030204" pitchFamily="34" charset="0"/>
                <a:cs typeface="Calibri" panose="020F0502020204030204" pitchFamily="34" charset="0"/>
              </a:rPr>
              <a:t> project</a:t>
            </a:r>
            <a:r>
              <a:rPr lang="en-US" sz="2800" dirty="0">
                <a:solidFill>
                  <a:schemeClr val="tx1"/>
                </a:solidFill>
                <a:latin typeface="Calibri" panose="020F0502020204030204" pitchFamily="34" charset="0"/>
                <a:cs typeface="Calibri" panose="020F0502020204030204" pitchFamily="34" charset="0"/>
              </a:rPr>
              <a:t>? Why </a:t>
            </a:r>
            <a:r>
              <a:rPr lang="en-US" dirty="0">
                <a:latin typeface="Calibri" panose="020F0502020204030204" pitchFamily="34" charset="0"/>
                <a:cs typeface="Calibri" panose="020F0502020204030204" pitchFamily="34" charset="0"/>
              </a:rPr>
              <a:t>is </a:t>
            </a:r>
            <a:r>
              <a:rPr lang="en-US" sz="2800" dirty="0">
                <a:solidFill>
                  <a:schemeClr val="tx1"/>
                </a:solidFill>
                <a:latin typeface="Calibri" panose="020F0502020204030204" pitchFamily="34" charset="0"/>
                <a:cs typeface="Calibri" panose="020F0502020204030204" pitchFamily="34" charset="0"/>
              </a:rPr>
              <a:t>action needed – to prevent something, to create a needed solution?</a:t>
            </a:r>
          </a:p>
          <a:p>
            <a:pPr marL="0" indent="0">
              <a:lnSpc>
                <a:spcPct val="110000"/>
              </a:lnSpc>
              <a:spcBef>
                <a:spcPts val="0"/>
              </a:spcBef>
              <a:spcAft>
                <a:spcPts val="0"/>
              </a:spcAft>
              <a:buNone/>
            </a:pPr>
            <a:r>
              <a:rPr lang="en-US" sz="2800" dirty="0">
                <a:solidFill>
                  <a:schemeClr val="tx1"/>
                </a:solidFill>
                <a:latin typeface="Calibri" panose="020F0502020204030204" pitchFamily="34" charset="0"/>
                <a:cs typeface="Calibri" panose="020F0502020204030204" pitchFamily="34" charset="0"/>
              </a:rPr>
              <a:t>[2] </a:t>
            </a:r>
            <a:r>
              <a:rPr lang="en-US" sz="2800" b="1" dirty="0">
                <a:solidFill>
                  <a:schemeClr val="tx1"/>
                </a:solidFill>
                <a:highlight>
                  <a:srgbClr val="FFFF00"/>
                </a:highlight>
                <a:latin typeface="Calibri" panose="020F0502020204030204" pitchFamily="34" charset="0"/>
                <a:cs typeface="Calibri" panose="020F0502020204030204" pitchFamily="34" charset="0"/>
              </a:rPr>
              <a:t>Action:</a:t>
            </a:r>
            <a:r>
              <a:rPr lang="en-US" sz="2800" dirty="0">
                <a:solidFill>
                  <a:schemeClr val="tx1"/>
                </a:solidFill>
                <a:latin typeface="Calibri" panose="020F0502020204030204" pitchFamily="34" charset="0"/>
                <a:cs typeface="Calibri" panose="020F0502020204030204" pitchFamily="34" charset="0"/>
              </a:rPr>
              <a:t> What action needs to be taken? </a:t>
            </a:r>
          </a:p>
          <a:p>
            <a:pPr marL="0" indent="0">
              <a:lnSpc>
                <a:spcPct val="110000"/>
              </a:lnSpc>
              <a:spcBef>
                <a:spcPts val="0"/>
              </a:spcBef>
              <a:spcAft>
                <a:spcPts val="0"/>
              </a:spcAft>
              <a:buNone/>
            </a:pPr>
            <a:r>
              <a:rPr lang="en-US" sz="2800" dirty="0">
                <a:solidFill>
                  <a:schemeClr val="tx1"/>
                </a:solidFill>
                <a:latin typeface="Calibri" panose="020F0502020204030204" pitchFamily="34" charset="0"/>
                <a:cs typeface="Calibri" panose="020F0502020204030204" pitchFamily="34" charset="0"/>
              </a:rPr>
              <a:t>[3] </a:t>
            </a:r>
            <a:r>
              <a:rPr lang="en-US" sz="2800" b="1" dirty="0">
                <a:solidFill>
                  <a:schemeClr val="tx1"/>
                </a:solidFill>
                <a:highlight>
                  <a:srgbClr val="FFFF00"/>
                </a:highlight>
                <a:latin typeface="Calibri" panose="020F0502020204030204" pitchFamily="34" charset="0"/>
                <a:cs typeface="Calibri" panose="020F0502020204030204" pitchFamily="34" charset="0"/>
              </a:rPr>
              <a:t>Frequency &amp; Timing:</a:t>
            </a:r>
            <a:r>
              <a:rPr lang="en-US" sz="2800" dirty="0">
                <a:solidFill>
                  <a:schemeClr val="tx1"/>
                </a:solidFill>
                <a:latin typeface="Calibri" panose="020F0502020204030204" pitchFamily="34" charset="0"/>
                <a:cs typeface="Calibri" panose="020F0502020204030204" pitchFamily="34" charset="0"/>
              </a:rPr>
              <a:t> When and how often will the decision be made? Are other decisions linked to this one?</a:t>
            </a:r>
          </a:p>
          <a:p>
            <a:pPr marL="0" indent="0">
              <a:lnSpc>
                <a:spcPct val="110000"/>
              </a:lnSpc>
              <a:spcBef>
                <a:spcPts val="0"/>
              </a:spcBef>
              <a:spcAft>
                <a:spcPts val="0"/>
              </a:spcAft>
              <a:buNone/>
            </a:pPr>
            <a:r>
              <a:rPr lang="en-US" sz="2800" dirty="0">
                <a:solidFill>
                  <a:schemeClr val="tx1"/>
                </a:solidFill>
                <a:latin typeface="Calibri" panose="020F0502020204030204" pitchFamily="34" charset="0"/>
                <a:cs typeface="Calibri" panose="020F0502020204030204" pitchFamily="34" charset="0"/>
              </a:rPr>
              <a:t>[4] </a:t>
            </a:r>
            <a:r>
              <a:rPr lang="en-US" sz="2800" b="1" dirty="0">
                <a:solidFill>
                  <a:schemeClr val="tx1"/>
                </a:solidFill>
                <a:highlight>
                  <a:srgbClr val="FFFF00"/>
                </a:highlight>
                <a:latin typeface="Calibri" panose="020F0502020204030204" pitchFamily="34" charset="0"/>
                <a:cs typeface="Calibri" panose="020F0502020204030204" pitchFamily="34" charset="0"/>
              </a:rPr>
              <a:t>Scope:</a:t>
            </a:r>
            <a:r>
              <a:rPr lang="en-US" sz="2800" dirty="0">
                <a:solidFill>
                  <a:schemeClr val="tx1"/>
                </a:solidFill>
                <a:latin typeface="Calibri" panose="020F0502020204030204" pitchFamily="34" charset="0"/>
                <a:cs typeface="Calibri" panose="020F0502020204030204" pitchFamily="34" charset="0"/>
              </a:rPr>
              <a:t> How large, broad, complicated is the project?</a:t>
            </a:r>
          </a:p>
          <a:p>
            <a:pPr marL="0" indent="0">
              <a:lnSpc>
                <a:spcPct val="110000"/>
              </a:lnSpc>
              <a:spcBef>
                <a:spcPts val="0"/>
              </a:spcBef>
              <a:spcAft>
                <a:spcPts val="0"/>
              </a:spcAft>
              <a:buNone/>
            </a:pPr>
            <a:r>
              <a:rPr lang="en-US" sz="2800" dirty="0">
                <a:solidFill>
                  <a:schemeClr val="tx1"/>
                </a:solidFill>
                <a:latin typeface="Calibri" panose="020F0502020204030204" pitchFamily="34" charset="0"/>
                <a:cs typeface="Calibri" panose="020F0502020204030204" pitchFamily="34" charset="0"/>
              </a:rPr>
              <a:t>[5] </a:t>
            </a:r>
            <a:r>
              <a:rPr lang="en-US" sz="2800" b="1" dirty="0">
                <a:solidFill>
                  <a:schemeClr val="tx1"/>
                </a:solidFill>
                <a:highlight>
                  <a:srgbClr val="FFFF00"/>
                </a:highlight>
                <a:latin typeface="Calibri" panose="020F0502020204030204" pitchFamily="34" charset="0"/>
                <a:cs typeface="Calibri" panose="020F0502020204030204" pitchFamily="34" charset="0"/>
              </a:rPr>
              <a:t>Constraints &amp; </a:t>
            </a:r>
            <a:r>
              <a:rPr lang="en-US" b="1" dirty="0">
                <a:highlight>
                  <a:srgbClr val="FFFF00"/>
                </a:highlight>
                <a:latin typeface="Calibri" panose="020F0502020204030204" pitchFamily="34" charset="0"/>
                <a:cs typeface="Calibri" panose="020F0502020204030204" pitchFamily="34" charset="0"/>
              </a:rPr>
              <a:t>Uncertainty</a:t>
            </a:r>
            <a:r>
              <a:rPr lang="en-US" sz="2800" b="1" dirty="0">
                <a:solidFill>
                  <a:schemeClr val="tx1"/>
                </a:solidFill>
                <a:highlight>
                  <a:srgbClr val="FFFF00"/>
                </a:highlight>
                <a:latin typeface="Calibri" panose="020F0502020204030204" pitchFamily="34" charset="0"/>
                <a:cs typeface="Calibri" panose="020F0502020204030204" pitchFamily="34" charset="0"/>
              </a:rPr>
              <a:t>:</a:t>
            </a:r>
            <a:r>
              <a:rPr lang="en-US" sz="2800" dirty="0">
                <a:solidFill>
                  <a:schemeClr val="tx1"/>
                </a:solidFill>
                <a:latin typeface="Calibri" panose="020F0502020204030204" pitchFamily="34" charset="0"/>
                <a:cs typeface="Calibri" panose="020F0502020204030204" pitchFamily="34" charset="0"/>
              </a:rPr>
              <a:t> Legal, financial, political, ‘minimum performance’. Perceived or real constraints? Be creative.</a:t>
            </a:r>
          </a:p>
          <a:p>
            <a:pPr marL="0" indent="0">
              <a:lnSpc>
                <a:spcPct val="110000"/>
              </a:lnSpc>
              <a:spcBef>
                <a:spcPts val="0"/>
              </a:spcBef>
              <a:spcAft>
                <a:spcPts val="0"/>
              </a:spcAft>
              <a:buNone/>
            </a:pPr>
            <a:endParaRPr lang="en-US" sz="2800" dirty="0">
              <a:solidFill>
                <a:schemeClr val="tx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8BAD4C74-3022-F406-5C0B-1AB602CBE0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783152" cy="572567"/>
          </a:xfrm>
          <a:prstGeom prst="rect">
            <a:avLst/>
          </a:prstGeom>
        </p:spPr>
      </p:pic>
    </p:spTree>
    <p:extLst>
      <p:ext uri="{BB962C8B-B14F-4D97-AF65-F5344CB8AC3E}">
        <p14:creationId xmlns:p14="http://schemas.microsoft.com/office/powerpoint/2010/main" val="1688035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F4BC7D-F3A1-44BF-8DA2-68B4C590D58A}"/>
              </a:ext>
            </a:extLst>
          </p:cNvPr>
          <p:cNvSpPr>
            <a:spLocks noGrp="1"/>
          </p:cNvSpPr>
          <p:nvPr>
            <p:ph idx="1"/>
          </p:nvPr>
        </p:nvSpPr>
        <p:spPr>
          <a:xfrm>
            <a:off x="564021" y="170916"/>
            <a:ext cx="11212083" cy="6516168"/>
          </a:xfrm>
        </p:spPr>
        <p:txBody>
          <a:bodyPr>
            <a:normAutofit fontScale="70000" lnSpcReduction="20000"/>
          </a:bodyPr>
          <a:lstStyle/>
          <a:p>
            <a:pPr marL="0" marR="0" indent="0" algn="ctr">
              <a:lnSpc>
                <a:spcPct val="110000"/>
              </a:lnSpc>
              <a:spcBef>
                <a:spcPts val="0"/>
              </a:spcBef>
              <a:spcAft>
                <a:spcPts val="0"/>
              </a:spcAft>
              <a:buNone/>
            </a:pPr>
            <a:r>
              <a:rPr lang="en-US" sz="4900" b="1" dirty="0">
                <a:solidFill>
                  <a:srgbClr val="000000"/>
                </a:solidFill>
                <a:latin typeface="Calibri" panose="020F0502020204030204" pitchFamily="34" charset="0"/>
                <a:ea typeface="Calibri" panose="020F0502020204030204" pitchFamily="34" charset="0"/>
              </a:rPr>
              <a:t>Example: Project Statement  </a:t>
            </a:r>
            <a:endParaRPr lang="en-US" sz="4900" dirty="0">
              <a:latin typeface="Calibri" panose="020F0502020204030204" pitchFamily="34" charset="0"/>
              <a:ea typeface="Calibri" panose="020F0502020204030204" pitchFamily="34" charset="0"/>
            </a:endParaRPr>
          </a:p>
          <a:p>
            <a:pPr marL="0" marR="0" indent="0">
              <a:lnSpc>
                <a:spcPct val="110000"/>
              </a:lnSpc>
              <a:spcBef>
                <a:spcPts val="0"/>
              </a:spcBef>
              <a:spcAft>
                <a:spcPts val="0"/>
              </a:spcAft>
              <a:buNone/>
            </a:pPr>
            <a:endParaRPr lang="en-US" sz="1800" b="1" dirty="0">
              <a:latin typeface="Calibri" panose="020F0502020204030204" pitchFamily="34" charset="0"/>
              <a:ea typeface="Calibri" panose="020F0502020204030204" pitchFamily="34" charset="0"/>
            </a:endParaRPr>
          </a:p>
          <a:p>
            <a:pPr marL="0" marR="0" indent="0">
              <a:lnSpc>
                <a:spcPct val="120000"/>
              </a:lnSpc>
              <a:spcBef>
                <a:spcPts val="0"/>
              </a:spcBef>
              <a:spcAft>
                <a:spcPts val="0"/>
              </a:spcAft>
              <a:buNone/>
            </a:pPr>
            <a:r>
              <a:rPr lang="en-US" sz="2400" b="1" dirty="0">
                <a:latin typeface="Calibri" panose="020F0502020204030204" pitchFamily="34" charset="0"/>
                <a:ea typeface="Calibri" panose="020F0502020204030204" pitchFamily="34" charset="0"/>
              </a:rPr>
              <a:t>Trigger: </a:t>
            </a:r>
            <a:r>
              <a:rPr lang="en-US" sz="2400" dirty="0">
                <a:latin typeface="Calibri" panose="020F0502020204030204" pitchFamily="34" charset="0"/>
                <a:ea typeface="Calibri" panose="020F0502020204030204" pitchFamily="34" charset="0"/>
              </a:rPr>
              <a:t>Due to the lack of business exposure and </a:t>
            </a:r>
            <a:r>
              <a:rPr lang="en-US" sz="2400" dirty="0">
                <a:highlight>
                  <a:srgbClr val="FFFF00"/>
                </a:highlight>
                <a:latin typeface="Calibri" panose="020F0502020204030204" pitchFamily="34" charset="0"/>
                <a:ea typeface="Calibri" panose="020F0502020204030204" pitchFamily="34" charset="0"/>
              </a:rPr>
              <a:t>marketing</a:t>
            </a:r>
            <a:r>
              <a:rPr lang="en-US" sz="2400" dirty="0">
                <a:latin typeface="Calibri" panose="020F0502020204030204" pitchFamily="34" charset="0"/>
                <a:ea typeface="Calibri" panose="020F0502020204030204" pitchFamily="34" charset="0"/>
              </a:rPr>
              <a:t>, there is a scarcity of customers for local businesses in Owen County.</a:t>
            </a:r>
          </a:p>
          <a:p>
            <a:pPr marL="0" marR="0" indent="0">
              <a:lnSpc>
                <a:spcPct val="120000"/>
              </a:lnSpc>
              <a:spcBef>
                <a:spcPts val="0"/>
              </a:spcBef>
              <a:spcAft>
                <a:spcPts val="0"/>
              </a:spcAft>
              <a:buNone/>
            </a:pPr>
            <a:r>
              <a:rPr lang="en-US" sz="2400" b="1" dirty="0">
                <a:latin typeface="Calibri" panose="020F0502020204030204" pitchFamily="34" charset="0"/>
                <a:ea typeface="Calibri" panose="020F0502020204030204" pitchFamily="34" charset="0"/>
              </a:rPr>
              <a:t> </a:t>
            </a:r>
            <a:endParaRPr lang="en-US" sz="2400" dirty="0">
              <a:latin typeface="Calibri" panose="020F0502020204030204" pitchFamily="34" charset="0"/>
              <a:ea typeface="Calibri" panose="020F0502020204030204" pitchFamily="34" charset="0"/>
            </a:endParaRPr>
          </a:p>
          <a:p>
            <a:pPr marL="0" marR="0" indent="0">
              <a:lnSpc>
                <a:spcPct val="120000"/>
              </a:lnSpc>
              <a:spcBef>
                <a:spcPts val="0"/>
              </a:spcBef>
              <a:spcAft>
                <a:spcPts val="0"/>
              </a:spcAft>
              <a:buNone/>
            </a:pPr>
            <a:r>
              <a:rPr lang="en-US" sz="2400" b="1" dirty="0">
                <a:latin typeface="Calibri" panose="020F0502020204030204" pitchFamily="34" charset="0"/>
                <a:ea typeface="Calibri" panose="020F0502020204030204" pitchFamily="34" charset="0"/>
              </a:rPr>
              <a:t>Action:</a:t>
            </a:r>
            <a:r>
              <a:rPr lang="en-US" sz="2400" dirty="0">
                <a:latin typeface="Calibri" panose="020F0502020204030204" pitchFamily="34" charset="0"/>
                <a:ea typeface="Calibri" panose="020F0502020204030204" pitchFamily="34" charset="0"/>
              </a:rPr>
              <a:t> </a:t>
            </a:r>
            <a:r>
              <a:rPr lang="en-US" sz="2400" dirty="0">
                <a:highlight>
                  <a:srgbClr val="FFFF00"/>
                </a:highlight>
                <a:latin typeface="Calibri" panose="020F0502020204030204" pitchFamily="34" charset="0"/>
                <a:ea typeface="Calibri" panose="020F0502020204030204" pitchFamily="34" charset="0"/>
              </a:rPr>
              <a:t>To fix this issue we will create a partnership between the American Marketing Association at IU a marketing organization that we build a partnership with Indiana University Center for Rural Engagement and American Marketing Association with local businesses in Owen County that do not have websites. The Owen County Chamber of Commerce will be the middle-man to and will use this partnership as a resource tool. </a:t>
            </a:r>
            <a:endParaRPr lang="en-US" sz="2400" dirty="0">
              <a:latin typeface="Calibri" panose="020F0502020204030204" pitchFamily="34" charset="0"/>
              <a:ea typeface="Calibri" panose="020F0502020204030204" pitchFamily="34" charset="0"/>
            </a:endParaRPr>
          </a:p>
          <a:p>
            <a:pPr marL="0" marR="0" indent="0">
              <a:lnSpc>
                <a:spcPct val="120000"/>
              </a:lnSpc>
              <a:spcBef>
                <a:spcPts val="0"/>
              </a:spcBef>
              <a:spcAft>
                <a:spcPts val="0"/>
              </a:spcAft>
              <a:buNone/>
            </a:pPr>
            <a:r>
              <a:rPr lang="en-US" sz="2400" b="1" dirty="0">
                <a:latin typeface="Calibri" panose="020F0502020204030204" pitchFamily="34" charset="0"/>
                <a:ea typeface="Calibri" panose="020F0502020204030204" pitchFamily="34" charset="0"/>
              </a:rPr>
              <a:t> </a:t>
            </a:r>
            <a:endParaRPr lang="en-US" sz="2400" dirty="0">
              <a:latin typeface="Calibri" panose="020F0502020204030204" pitchFamily="34" charset="0"/>
              <a:ea typeface="Calibri" panose="020F0502020204030204" pitchFamily="34" charset="0"/>
            </a:endParaRPr>
          </a:p>
          <a:p>
            <a:pPr marL="0" marR="0" indent="0">
              <a:lnSpc>
                <a:spcPct val="120000"/>
              </a:lnSpc>
              <a:spcBef>
                <a:spcPts val="0"/>
              </a:spcBef>
              <a:spcAft>
                <a:spcPts val="0"/>
              </a:spcAft>
              <a:buNone/>
            </a:pPr>
            <a:r>
              <a:rPr lang="en-US" sz="2400" b="1" dirty="0">
                <a:latin typeface="Calibri" panose="020F0502020204030204" pitchFamily="34" charset="0"/>
                <a:ea typeface="Calibri" panose="020F0502020204030204" pitchFamily="34" charset="0"/>
              </a:rPr>
              <a:t>Frequency:</a:t>
            </a:r>
            <a:r>
              <a:rPr lang="en-US" sz="2400" dirty="0">
                <a:latin typeface="Calibri" panose="020F0502020204030204" pitchFamily="34" charset="0"/>
                <a:ea typeface="Calibri" panose="020F0502020204030204" pitchFamily="34" charset="0"/>
              </a:rPr>
              <a:t> </a:t>
            </a:r>
            <a:r>
              <a:rPr lang="en-US" sz="2400" dirty="0">
                <a:highlight>
                  <a:srgbClr val="FFFF00"/>
                </a:highlight>
                <a:latin typeface="Calibri" panose="020F0502020204030204" pitchFamily="34" charset="0"/>
                <a:ea typeface="Calibri" panose="020F0502020204030204" pitchFamily="34" charset="0"/>
              </a:rPr>
              <a:t>As a capacity-building project, this project and its implementation will be on-going in Owen County. It is expected that the partnership will grow throughout the county at different rates, depending on the willingness of each business to accept help and the efficiency of the marketing organization we chose to partner with. </a:t>
            </a:r>
            <a:r>
              <a:rPr lang="en-US" sz="2400" dirty="0">
                <a:latin typeface="Calibri" panose="020F0502020204030204" pitchFamily="34" charset="0"/>
                <a:ea typeface="Calibri" panose="020F0502020204030204" pitchFamily="34" charset="0"/>
              </a:rPr>
              <a:t>The community will have to continue to hold conversations and revise plans over time in order to ensure accountability in the project. </a:t>
            </a:r>
          </a:p>
          <a:p>
            <a:pPr marL="0" marR="0" indent="0">
              <a:lnSpc>
                <a:spcPct val="120000"/>
              </a:lnSpc>
              <a:spcBef>
                <a:spcPts val="0"/>
              </a:spcBef>
              <a:spcAft>
                <a:spcPts val="0"/>
              </a:spcAft>
              <a:buNone/>
            </a:pPr>
            <a:r>
              <a:rPr lang="en-US" sz="2400" b="1" dirty="0">
                <a:latin typeface="Calibri" panose="020F0502020204030204" pitchFamily="34" charset="0"/>
                <a:ea typeface="Calibri" panose="020F0502020204030204" pitchFamily="34" charset="0"/>
              </a:rPr>
              <a:t> </a:t>
            </a:r>
            <a:endParaRPr lang="en-US" sz="2400" dirty="0">
              <a:latin typeface="Calibri" panose="020F0502020204030204" pitchFamily="34" charset="0"/>
              <a:ea typeface="Calibri" panose="020F0502020204030204" pitchFamily="34" charset="0"/>
            </a:endParaRPr>
          </a:p>
          <a:p>
            <a:pPr marL="0" marR="0" indent="0">
              <a:lnSpc>
                <a:spcPct val="120000"/>
              </a:lnSpc>
              <a:spcBef>
                <a:spcPts val="0"/>
              </a:spcBef>
              <a:spcAft>
                <a:spcPts val="0"/>
              </a:spcAft>
              <a:buNone/>
            </a:pPr>
            <a:r>
              <a:rPr lang="en-US" sz="2400" b="1" dirty="0">
                <a:latin typeface="Calibri" panose="020F0502020204030204" pitchFamily="34" charset="0"/>
                <a:ea typeface="Calibri" panose="020F0502020204030204" pitchFamily="34" charset="0"/>
              </a:rPr>
              <a:t>Scope: </a:t>
            </a:r>
            <a:r>
              <a:rPr lang="en-US" sz="2400" dirty="0">
                <a:latin typeface="Calibri" panose="020F0502020204030204" pitchFamily="34" charset="0"/>
                <a:ea typeface="Calibri" panose="020F0502020204030204" pitchFamily="34" charset="0"/>
              </a:rPr>
              <a:t>This project will involve Owen County as a whole with a focus on business owners, </a:t>
            </a:r>
            <a:r>
              <a:rPr lang="en-US" sz="2400" dirty="0">
                <a:highlight>
                  <a:srgbClr val="FFFF00"/>
                </a:highlight>
                <a:latin typeface="Calibri" panose="020F0502020204030204" pitchFamily="34" charset="0"/>
                <a:ea typeface="Calibri" panose="020F0502020204030204" pitchFamily="34" charset="0"/>
              </a:rPr>
              <a:t>the Chamber of Commerce, and a partnership with an outside organization (like the AMA)</a:t>
            </a:r>
            <a:r>
              <a:rPr lang="en-US" sz="2400" dirty="0">
                <a:latin typeface="Calibri" panose="020F0502020204030204" pitchFamily="34" charset="0"/>
                <a:ea typeface="Calibri" panose="020F0502020204030204" pitchFamily="34" charset="0"/>
              </a:rPr>
              <a:t>. </a:t>
            </a:r>
          </a:p>
          <a:p>
            <a:pPr marL="0" marR="0" indent="0">
              <a:lnSpc>
                <a:spcPct val="120000"/>
              </a:lnSpc>
              <a:spcBef>
                <a:spcPts val="0"/>
              </a:spcBef>
              <a:spcAft>
                <a:spcPts val="0"/>
              </a:spcAft>
              <a:buNone/>
            </a:pPr>
            <a:r>
              <a:rPr lang="en-US" sz="2400" b="1" dirty="0">
                <a:latin typeface="Calibri" panose="020F0502020204030204" pitchFamily="34" charset="0"/>
                <a:ea typeface="Calibri" panose="020F0502020204030204" pitchFamily="34" charset="0"/>
              </a:rPr>
              <a:t> </a:t>
            </a:r>
            <a:endParaRPr lang="en-US" sz="2400" dirty="0">
              <a:latin typeface="Calibri" panose="020F0502020204030204" pitchFamily="34" charset="0"/>
              <a:ea typeface="Calibri" panose="020F0502020204030204" pitchFamily="34" charset="0"/>
            </a:endParaRPr>
          </a:p>
          <a:p>
            <a:pPr marL="0" marR="0" indent="0">
              <a:lnSpc>
                <a:spcPct val="120000"/>
              </a:lnSpc>
              <a:spcBef>
                <a:spcPts val="0"/>
              </a:spcBef>
              <a:spcAft>
                <a:spcPts val="0"/>
              </a:spcAft>
              <a:buNone/>
            </a:pPr>
            <a:r>
              <a:rPr lang="en-US" sz="2400" b="1" dirty="0">
                <a:latin typeface="Calibri" panose="020F0502020204030204" pitchFamily="34" charset="0"/>
                <a:ea typeface="Calibri" panose="020F0502020204030204" pitchFamily="34" charset="0"/>
              </a:rPr>
              <a:t>Constraints: </a:t>
            </a:r>
            <a:r>
              <a:rPr lang="en-US" sz="2400" dirty="0">
                <a:latin typeface="Calibri" panose="020F0502020204030204" pitchFamily="34" charset="0"/>
                <a:ea typeface="Calibri" panose="020F0502020204030204" pitchFamily="34" charset="0"/>
              </a:rPr>
              <a:t>The constraints include the lack of budget, </a:t>
            </a:r>
            <a:r>
              <a:rPr lang="en-US" sz="2400" dirty="0">
                <a:highlight>
                  <a:srgbClr val="FFFF00"/>
                </a:highlight>
                <a:latin typeface="Calibri" panose="020F0502020204030204" pitchFamily="34" charset="0"/>
                <a:ea typeface="Calibri" panose="020F0502020204030204" pitchFamily="34" charset="0"/>
              </a:rPr>
              <a:t>the willingness of local businesses to accept help, the efficiency/effectiveness of the marketing organization that we build a partnership with, and limited resources that we as a group have available to us</a:t>
            </a:r>
            <a:r>
              <a:rPr lang="en-US" sz="2400" dirty="0">
                <a:latin typeface="Calibri" panose="020F0502020204030204" pitchFamily="34" charset="0"/>
                <a:ea typeface="Calibri" panose="020F0502020204030204" pitchFamily="34" charset="0"/>
              </a:rPr>
              <a:t>.</a:t>
            </a:r>
          </a:p>
          <a:p>
            <a:pPr marL="0" marR="0" indent="0">
              <a:lnSpc>
                <a:spcPct val="120000"/>
              </a:lnSpc>
              <a:spcBef>
                <a:spcPts val="0"/>
              </a:spcBef>
              <a:spcAft>
                <a:spcPts val="0"/>
              </a:spcAft>
              <a:buNone/>
            </a:pPr>
            <a:r>
              <a:rPr lang="en-US" sz="2400" b="1" dirty="0">
                <a:latin typeface="Calibri" panose="020F0502020204030204" pitchFamily="34" charset="0"/>
                <a:ea typeface="Calibri" panose="020F0502020204030204" pitchFamily="34" charset="0"/>
              </a:rPr>
              <a:t> </a:t>
            </a:r>
            <a:endParaRPr lang="en-US" sz="2400" dirty="0">
              <a:latin typeface="Calibri" panose="020F0502020204030204" pitchFamily="34" charset="0"/>
              <a:ea typeface="Calibri" panose="020F0502020204030204" pitchFamily="34" charset="0"/>
            </a:endParaRPr>
          </a:p>
          <a:p>
            <a:pPr marL="0" marR="0" indent="0">
              <a:lnSpc>
                <a:spcPct val="120000"/>
              </a:lnSpc>
              <a:spcBef>
                <a:spcPts val="0"/>
              </a:spcBef>
              <a:spcAft>
                <a:spcPts val="0"/>
              </a:spcAft>
              <a:buNone/>
            </a:pPr>
            <a:r>
              <a:rPr lang="en-US" sz="2400" b="1" dirty="0">
                <a:latin typeface="Calibri" panose="020F0502020204030204" pitchFamily="34" charset="0"/>
                <a:ea typeface="Calibri" panose="020F0502020204030204" pitchFamily="34" charset="0"/>
              </a:rPr>
              <a:t>Uncertainty: </a:t>
            </a:r>
            <a:r>
              <a:rPr lang="en-US" sz="2400" dirty="0">
                <a:latin typeface="Calibri" panose="020F0502020204030204" pitchFamily="34" charset="0"/>
                <a:ea typeface="Calibri" panose="020F0502020204030204" pitchFamily="34" charset="0"/>
              </a:rPr>
              <a:t>In light of developing and expanding current businesses, we are uncertain if COVID restrictions will hinder our </a:t>
            </a:r>
            <a:r>
              <a:rPr lang="en-US" sz="2400" dirty="0">
                <a:highlight>
                  <a:srgbClr val="FFFF00"/>
                </a:highlight>
                <a:latin typeface="Calibri" panose="020F0502020204030204" pitchFamily="34" charset="0"/>
                <a:ea typeface="Calibri" panose="020F0502020204030204" pitchFamily="34" charset="0"/>
              </a:rPr>
              <a:t>business exposure partnership</a:t>
            </a:r>
            <a:r>
              <a:rPr lang="en-US" sz="2400" dirty="0">
                <a:latin typeface="Calibri" panose="020F0502020204030204" pitchFamily="34" charset="0"/>
                <a:ea typeface="Calibri" panose="020F0502020204030204" pitchFamily="34" charset="0"/>
              </a:rPr>
              <a:t> or if business owners will be open to changes. </a:t>
            </a:r>
          </a:p>
        </p:txBody>
      </p:sp>
    </p:spTree>
    <p:extLst>
      <p:ext uri="{BB962C8B-B14F-4D97-AF65-F5344CB8AC3E}">
        <p14:creationId xmlns:p14="http://schemas.microsoft.com/office/powerpoint/2010/main" val="288216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00FD79-5A03-4CA4-B53E-565BCBECF19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903163"/>
                </a:solidFill>
                <a:effectLst/>
                <a:uLnTx/>
                <a:uFillTx/>
                <a:latin typeface="Gill Sans MT" panose="020B05020201040202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900" b="0" i="0" u="none" strike="noStrike" kern="1200" cap="none" spc="0" normalizeH="0" baseline="0" noProof="0" dirty="0">
              <a:ln>
                <a:noFill/>
              </a:ln>
              <a:solidFill>
                <a:srgbClr val="903163"/>
              </a:solidFill>
              <a:effectLst/>
              <a:uLnTx/>
              <a:uFillTx/>
              <a:latin typeface="Gill Sans MT" panose="020B0502020104020203"/>
              <a:ea typeface="+mn-ea"/>
              <a:cs typeface="+mn-cs"/>
            </a:endParaRPr>
          </a:p>
        </p:txBody>
      </p:sp>
      <p:sp>
        <p:nvSpPr>
          <p:cNvPr id="3" name="Content Placeholder 2">
            <a:extLst>
              <a:ext uri="{FF2B5EF4-FFF2-40B4-BE49-F238E27FC236}">
                <a16:creationId xmlns:a16="http://schemas.microsoft.com/office/drawing/2014/main" id="{FD3F97BE-F647-4676-9B37-BC17E7E95735}"/>
              </a:ext>
            </a:extLst>
          </p:cNvPr>
          <p:cNvSpPr>
            <a:spLocks noGrp="1"/>
          </p:cNvSpPr>
          <p:nvPr>
            <p:ph idx="4294967295"/>
          </p:nvPr>
        </p:nvSpPr>
        <p:spPr>
          <a:xfrm>
            <a:off x="914590" y="546930"/>
            <a:ext cx="10514012" cy="5023359"/>
          </a:xfrm>
        </p:spPr>
        <p:txBody>
          <a:bodyPr>
            <a:noAutofit/>
          </a:bodyPr>
          <a:lstStyle/>
          <a:p>
            <a:pPr marL="0" indent="0" fontAlgn="base">
              <a:lnSpc>
                <a:spcPct val="100000"/>
              </a:lnSpc>
              <a:spcBef>
                <a:spcPts val="0"/>
              </a:spcBef>
              <a:buNone/>
            </a:pPr>
            <a:r>
              <a:rPr lang="en-US" sz="3500" b="1" dirty="0">
                <a:solidFill>
                  <a:schemeClr val="tx1">
                    <a:lumMod val="95000"/>
                    <a:lumOff val="5000"/>
                  </a:schemeClr>
                </a:solidFill>
                <a:highlight>
                  <a:srgbClr val="FFFF00"/>
                </a:highlight>
                <a:latin typeface="Calibri" panose="020F0502020204030204" pitchFamily="34" charset="0"/>
                <a:cs typeface="Calibri" panose="020F0502020204030204" pitchFamily="34" charset="0"/>
              </a:rPr>
              <a:t>Don’t let perfect be the enemy of good</a:t>
            </a:r>
            <a:r>
              <a:rPr lang="en-US" sz="3500" b="0" dirty="0">
                <a:solidFill>
                  <a:schemeClr val="tx1">
                    <a:lumMod val="95000"/>
                    <a:lumOff val="5000"/>
                  </a:schemeClr>
                </a:solidFill>
                <a:latin typeface="Calibri" panose="020F0502020204030204" pitchFamily="34" charset="0"/>
                <a:cs typeface="Calibri" panose="020F0502020204030204" pitchFamily="34" charset="0"/>
              </a:rPr>
              <a:t>. </a:t>
            </a:r>
          </a:p>
          <a:p>
            <a:pPr marL="0" indent="0" fontAlgn="base">
              <a:lnSpc>
                <a:spcPct val="100000"/>
              </a:lnSpc>
              <a:spcBef>
                <a:spcPts val="0"/>
              </a:spcBef>
              <a:buNone/>
            </a:pPr>
            <a:endParaRPr lang="en-US" sz="3500" dirty="0">
              <a:solidFill>
                <a:schemeClr val="tx1">
                  <a:lumMod val="95000"/>
                  <a:lumOff val="5000"/>
                </a:schemeClr>
              </a:solidFill>
              <a:latin typeface="Calibri" panose="020F0502020204030204" pitchFamily="34" charset="0"/>
              <a:cs typeface="Calibri" panose="020F0502020204030204" pitchFamily="34" charset="0"/>
            </a:endParaRPr>
          </a:p>
          <a:p>
            <a:pPr marL="0" indent="0" fontAlgn="base">
              <a:lnSpc>
                <a:spcPct val="100000"/>
              </a:lnSpc>
              <a:spcBef>
                <a:spcPts val="0"/>
              </a:spcBef>
              <a:buNone/>
            </a:pPr>
            <a:r>
              <a:rPr lang="en-US" sz="3500" b="0" dirty="0">
                <a:solidFill>
                  <a:schemeClr val="tx1">
                    <a:lumMod val="95000"/>
                    <a:lumOff val="5000"/>
                  </a:schemeClr>
                </a:solidFill>
                <a:latin typeface="Calibri" panose="020F0502020204030204" pitchFamily="34" charset="0"/>
                <a:cs typeface="Calibri" panose="020F0502020204030204" pitchFamily="34" charset="0"/>
              </a:rPr>
              <a:t>Attempting to define the perfect set of requirements stalls a project. if the requirement doesn’t relate to an objective, bin it. </a:t>
            </a:r>
          </a:p>
          <a:p>
            <a:pPr marL="0" indent="0" fontAlgn="base">
              <a:lnSpc>
                <a:spcPct val="100000"/>
              </a:lnSpc>
              <a:spcBef>
                <a:spcPts val="0"/>
              </a:spcBef>
              <a:buNone/>
            </a:pPr>
            <a:endParaRPr lang="en-US" sz="3500" dirty="0">
              <a:solidFill>
                <a:schemeClr val="tx1">
                  <a:lumMod val="95000"/>
                  <a:lumOff val="5000"/>
                </a:schemeClr>
              </a:solidFill>
              <a:latin typeface="Calibri" panose="020F0502020204030204" pitchFamily="34" charset="0"/>
              <a:cs typeface="Calibri" panose="020F0502020204030204" pitchFamily="34" charset="0"/>
            </a:endParaRPr>
          </a:p>
          <a:p>
            <a:pPr marL="0" indent="0" fontAlgn="base">
              <a:lnSpc>
                <a:spcPct val="100000"/>
              </a:lnSpc>
              <a:spcBef>
                <a:spcPts val="0"/>
              </a:spcBef>
              <a:buNone/>
            </a:pPr>
            <a:r>
              <a:rPr lang="en-US" sz="3500" b="0" dirty="0">
                <a:solidFill>
                  <a:schemeClr val="tx1">
                    <a:lumMod val="95000"/>
                    <a:lumOff val="5000"/>
                  </a:schemeClr>
                </a:solidFill>
                <a:latin typeface="Calibri" panose="020F0502020204030204" pitchFamily="34" charset="0"/>
                <a:cs typeface="Calibri" panose="020F0502020204030204" pitchFamily="34" charset="0"/>
              </a:rPr>
              <a:t>Ask yourself, “Am I trying to create something perfect here, when good will do?” If you are, review the requirements again filtering for good rather than perfect.</a:t>
            </a:r>
          </a:p>
        </p:txBody>
      </p:sp>
    </p:spTree>
    <p:extLst>
      <p:ext uri="{BB962C8B-B14F-4D97-AF65-F5344CB8AC3E}">
        <p14:creationId xmlns:p14="http://schemas.microsoft.com/office/powerpoint/2010/main" val="36303264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BB63B7-552C-8427-B598-6828914B3D20}"/>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09BAC809-EA64-95C0-DABC-48180EAE0A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16" name="Picture 15">
            <a:extLst>
              <a:ext uri="{FF2B5EF4-FFF2-40B4-BE49-F238E27FC236}">
                <a16:creationId xmlns:a16="http://schemas.microsoft.com/office/drawing/2014/main" id="{50466D52-7456-DB36-0E00-EE8FB3767974}"/>
              </a:ext>
            </a:extLst>
          </p:cNvPr>
          <p:cNvPicPr>
            <a:picLocks noChangeAspect="1"/>
          </p:cNvPicPr>
          <p:nvPr/>
        </p:nvPicPr>
        <p:blipFill>
          <a:blip r:embed="rId2"/>
          <a:srcRect l="4378" t="19727" r="-1" b="8556"/>
          <a:stretch>
            <a:fillRect/>
          </a:stretch>
        </p:blipFill>
        <p:spPr>
          <a:xfrm>
            <a:off x="-1" y="10"/>
            <a:ext cx="12191979" cy="6857990"/>
          </a:xfrm>
          <a:prstGeom prst="rect">
            <a:avLst/>
          </a:prstGeom>
        </p:spPr>
      </p:pic>
      <p:sp>
        <p:nvSpPr>
          <p:cNvPr id="17" name="Rectangle 16">
            <a:extLst>
              <a:ext uri="{FF2B5EF4-FFF2-40B4-BE49-F238E27FC236}">
                <a16:creationId xmlns:a16="http://schemas.microsoft.com/office/drawing/2014/main" id="{843B3FE5-5DCF-F2FC-F294-F6C0A1A2EB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280160"/>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6B5E75BD-3344-7BEB-1DF9-D0A4584DA748}"/>
              </a:ext>
            </a:extLst>
          </p:cNvPr>
          <p:cNvSpPr>
            <a:spLocks noGrp="1"/>
          </p:cNvSpPr>
          <p:nvPr>
            <p:ph type="ctrTitle"/>
          </p:nvPr>
        </p:nvSpPr>
        <p:spPr>
          <a:xfrm>
            <a:off x="4042161" y="2546647"/>
            <a:ext cx="8149839" cy="3426864"/>
          </a:xfrm>
        </p:spPr>
        <p:txBody>
          <a:bodyPr anchor="ctr">
            <a:noAutofit/>
          </a:bodyPr>
          <a:lstStyle/>
          <a:p>
            <a:pPr lvl="0" fontAlgn="base">
              <a:lnSpc>
                <a:spcPct val="90000"/>
              </a:lnSpc>
              <a:defRPr/>
            </a:pPr>
            <a:r>
              <a:rPr lang="en-US" sz="9600" dirty="0">
                <a:solidFill>
                  <a:prstClr val="black"/>
                </a:solidFill>
                <a:latin typeface="Calibri" panose="020F0502020204030204" pitchFamily="34" charset="0"/>
                <a:cs typeface="Calibri" panose="020F0502020204030204" pitchFamily="34" charset="0"/>
              </a:rPr>
              <a:t>Scope </a:t>
            </a:r>
            <a:br>
              <a:rPr lang="en-US" sz="9600" dirty="0">
                <a:solidFill>
                  <a:prstClr val="black"/>
                </a:solidFill>
                <a:latin typeface="Calibri" panose="020F0502020204030204" pitchFamily="34" charset="0"/>
                <a:cs typeface="Calibri" panose="020F0502020204030204" pitchFamily="34" charset="0"/>
              </a:rPr>
            </a:br>
            <a:r>
              <a:rPr lang="en-US" sz="9600" dirty="0">
                <a:solidFill>
                  <a:prstClr val="black"/>
                </a:solidFill>
                <a:latin typeface="Calibri" panose="020F0502020204030204" pitchFamily="34" charset="0"/>
                <a:cs typeface="Calibri" panose="020F0502020204030204" pitchFamily="34" charset="0"/>
              </a:rPr>
              <a:t>Action Plan</a:t>
            </a:r>
            <a:endParaRPr lang="en-US" sz="9600" b="0"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48873860"/>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C1E0D5-8078-41F7-92FD-B0778A6FFADD}"/>
              </a:ext>
            </a:extLst>
          </p:cNvPr>
          <p:cNvSpPr txBox="1"/>
          <p:nvPr/>
        </p:nvSpPr>
        <p:spPr>
          <a:xfrm>
            <a:off x="631213" y="689788"/>
            <a:ext cx="11099353" cy="4401205"/>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As discussed, a </a:t>
            </a: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project </a:t>
            </a:r>
            <a:r>
              <a:rPr kumimoji="0" lang="en-US" sz="3500" b="1" i="0" u="none" strike="noStrike" kern="1200" cap="none" spc="0" normalizeH="0" baseline="0" noProof="0" dirty="0">
                <a:ln>
                  <a:noFill/>
                </a:ln>
                <a:solidFill>
                  <a:srgbClr val="FF0000"/>
                </a:solidFill>
                <a:effectLst/>
                <a:highlight>
                  <a:srgbClr val="FFFF00"/>
                </a:highlight>
                <a:uLnTx/>
                <a:uFillTx/>
                <a:latin typeface="Calibri" panose="020F0502020204030204"/>
                <a:ea typeface="Meiryo" panose="020B0604030504040204" pitchFamily="34" charset="-128"/>
                <a:cs typeface="Calibri" panose="020F0502020204030204" pitchFamily="34" charset="0"/>
              </a:rPr>
              <a:t>scope statement</a:t>
            </a:r>
            <a:r>
              <a:rPr kumimoji="0" lang="en-US" sz="3500" b="0"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 </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is a summary of all work that needs to be executed. It helps project managers </a:t>
            </a:r>
            <a:r>
              <a:rPr kumimoji="0" lang="en-US" sz="3500" b="1"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define the boundaries</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of what </a:t>
            </a:r>
            <a:r>
              <a:rPr kumimoji="0" lang="en-US" sz="3500" b="1"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will and what won’t be done</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The next logical step is a </a:t>
            </a: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project </a:t>
            </a:r>
            <a:r>
              <a:rPr kumimoji="0" lang="en-US" sz="3500" b="1" i="0" u="none" strike="noStrike" kern="1200" cap="none" spc="0" normalizeH="0" baseline="0" noProof="0" dirty="0">
                <a:ln>
                  <a:noFill/>
                </a:ln>
                <a:solidFill>
                  <a:srgbClr val="FF0000"/>
                </a:solidFill>
                <a:effectLst/>
                <a:highlight>
                  <a:srgbClr val="FFFF00"/>
                </a:highlight>
                <a:uLnTx/>
                <a:uFillTx/>
                <a:latin typeface="Calibri" panose="020F0502020204030204"/>
                <a:ea typeface="Meiryo" panose="020B0604030504040204" pitchFamily="34" charset="-128"/>
                <a:cs typeface="Calibri" panose="020F0502020204030204" pitchFamily="34" charset="0"/>
              </a:rPr>
              <a:t>scope action plan</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which makes clear to the planning team, all the steps that will be performed to complete the scope.</a:t>
            </a:r>
          </a:p>
        </p:txBody>
      </p:sp>
    </p:spTree>
    <p:extLst>
      <p:ext uri="{BB962C8B-B14F-4D97-AF65-F5344CB8AC3E}">
        <p14:creationId xmlns:p14="http://schemas.microsoft.com/office/powerpoint/2010/main" val="12866870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C1E0D5-8078-41F7-92FD-B0778A6FFADD}"/>
              </a:ext>
            </a:extLst>
          </p:cNvPr>
          <p:cNvSpPr txBox="1"/>
          <p:nvPr/>
        </p:nvSpPr>
        <p:spPr>
          <a:xfrm>
            <a:off x="573274" y="1022689"/>
            <a:ext cx="11108827" cy="3600986"/>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
                <a:ea typeface="Meiryo" panose="020B0604030504040204" pitchFamily="34" charset="-128"/>
                <a:cs typeface="Calibri" panose="020F0502020204030204" pitchFamily="34" charset="0"/>
              </a:rPr>
              <a:t>It is not an overstatement to say that a plan with </a:t>
            </a:r>
            <a:r>
              <a:rPr kumimoji="0" lang="en-US" sz="4000" b="1" i="0" u="none" strike="noStrike" kern="1200" cap="none" spc="0" normalizeH="0" baseline="0" noProof="0" dirty="0">
                <a:ln>
                  <a:noFill/>
                </a:ln>
                <a:solidFill>
                  <a:prstClr val="black"/>
                </a:solidFill>
                <a:effectLst/>
                <a:highlight>
                  <a:srgbClr val="FFFF00"/>
                </a:highlight>
                <a:uLnTx/>
                <a:uFillTx/>
                <a:latin typeface="Calibri  "/>
                <a:ea typeface="Meiryo" panose="020B0604030504040204" pitchFamily="34" charset="-128"/>
                <a:cs typeface="Calibri" panose="020F0502020204030204" pitchFamily="34" charset="0"/>
              </a:rPr>
              <a:t>well-defined and clearly agreed scope action plan is already halfway to success</a:t>
            </a:r>
            <a:r>
              <a:rPr kumimoji="0" lang="en-US" sz="4000" b="1" i="0" u="none" strike="noStrike" kern="1200" cap="none" spc="0" normalizeH="0" baseline="0" noProof="0" dirty="0">
                <a:ln>
                  <a:noFill/>
                </a:ln>
                <a:solidFill>
                  <a:prstClr val="black"/>
                </a:solidFill>
                <a:effectLst/>
                <a:uLnTx/>
                <a:uFillTx/>
                <a:latin typeface="Calibri  "/>
                <a:ea typeface="Meiryo" panose="020B0604030504040204" pitchFamily="34" charset="-128"/>
                <a:cs typeface="Calibri" panose="020F0502020204030204" pitchFamily="34" charset="0"/>
              </a:rPr>
              <a:t>: </a:t>
            </a:r>
            <a:r>
              <a:rPr kumimoji="0" lang="en-US" sz="4000" b="0" i="0" u="none" strike="noStrike" kern="1200" cap="none" spc="0" normalizeH="0" baseline="0" noProof="0" dirty="0">
                <a:ln>
                  <a:noFill/>
                </a:ln>
                <a:solidFill>
                  <a:prstClr val="black"/>
                </a:solidFill>
                <a:effectLst/>
                <a:uLnTx/>
                <a:uFillTx/>
                <a:latin typeface="Calibri  "/>
                <a:ea typeface="Meiryo" panose="020B0604030504040204" pitchFamily="34" charset="-128"/>
                <a:cs typeface="Calibri" panose="020F0502020204030204" pitchFamily="34" charset="0"/>
              </a:rPr>
              <a:t>the clearer you are about what you will be doing, the more likely you are to achieve them. </a:t>
            </a:r>
            <a:br>
              <a:rPr kumimoji="0" lang="en-US" sz="2800" b="1" i="0" u="none" strike="noStrike" kern="1200" cap="none" spc="0" normalizeH="0" baseline="0" noProof="0" dirty="0">
                <a:ln>
                  <a:noFill/>
                </a:ln>
                <a:solidFill>
                  <a:prstClr val="white"/>
                </a:solidFill>
                <a:effectLst/>
                <a:uLnTx/>
                <a:uFillTx/>
                <a:latin typeface="Calibri  "/>
                <a:ea typeface="Meiryo" panose="020B0604030504040204" pitchFamily="34" charset="-128"/>
                <a:cs typeface="Calibri" panose="020F0502020204030204" pitchFamily="34" charset="0"/>
              </a:rPr>
            </a:br>
            <a:endParaRPr kumimoji="0" lang="en-US" sz="2800" b="0" i="0" u="none" strike="noStrike" kern="1200" cap="none" spc="0" normalizeH="0" baseline="0" noProof="0" dirty="0">
              <a:ln>
                <a:noFill/>
              </a:ln>
              <a:solidFill>
                <a:prstClr val="white"/>
              </a:solidFill>
              <a:effectLst/>
              <a:uLnTx/>
              <a:uFillTx/>
              <a:latin typeface="Calibri  "/>
              <a:ea typeface="Meiryo" panose="020B0604030504040204" pitchFamily="34" charset="-128"/>
              <a:cs typeface="Calibri" panose="020F0502020204030204" pitchFamily="34" charset="0"/>
            </a:endParaRP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150206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867A6D-DAC9-4D95-8D17-373EFD10A1C1}"/>
              </a:ext>
            </a:extLst>
          </p:cNvPr>
          <p:cNvSpPr>
            <a:spLocks noGrp="1"/>
          </p:cNvSpPr>
          <p:nvPr>
            <p:ph idx="1"/>
          </p:nvPr>
        </p:nvSpPr>
        <p:spPr>
          <a:xfrm>
            <a:off x="923658" y="783038"/>
            <a:ext cx="10515600" cy="4351338"/>
          </a:xfrm>
        </p:spPr>
        <p:txBody>
          <a:bodyPr>
            <a:noAutofit/>
          </a:bodyPr>
          <a:lstStyle/>
          <a:p>
            <a:pPr marL="0" indent="0" algn="ctr">
              <a:buNone/>
            </a:pPr>
            <a:r>
              <a:rPr lang="en-US" sz="6000" b="1" dirty="0">
                <a:solidFill>
                  <a:schemeClr val="tx1"/>
                </a:solidFill>
              </a:rPr>
              <a:t>Do not kick this can down the road.</a:t>
            </a:r>
            <a:br>
              <a:rPr lang="en-US" sz="6000" b="1" dirty="0">
                <a:solidFill>
                  <a:schemeClr val="tx1"/>
                </a:solidFill>
              </a:rPr>
            </a:br>
            <a:endParaRPr lang="en-US" sz="6000" b="1" dirty="0">
              <a:solidFill>
                <a:schemeClr val="tx1"/>
              </a:solidFill>
            </a:endParaRPr>
          </a:p>
          <a:p>
            <a:pPr marL="0" indent="0" algn="ctr">
              <a:buNone/>
            </a:pPr>
            <a:r>
              <a:rPr lang="en-US" sz="6000" b="1" dirty="0">
                <a:solidFill>
                  <a:schemeClr val="tx1"/>
                </a:solidFill>
              </a:rPr>
              <a:t>Address possible problems </a:t>
            </a:r>
            <a:r>
              <a:rPr lang="en-US" sz="6000" b="1" i="1" dirty="0">
                <a:solidFill>
                  <a:schemeClr val="tx1"/>
                </a:solidFill>
              </a:rPr>
              <a:t>now</a:t>
            </a:r>
            <a:r>
              <a:rPr lang="en-US" sz="6000" b="1" dirty="0">
                <a:solidFill>
                  <a:schemeClr val="tx1"/>
                </a:solidFill>
              </a:rPr>
              <a:t>.</a:t>
            </a:r>
          </a:p>
        </p:txBody>
      </p:sp>
    </p:spTree>
    <p:extLst>
      <p:ext uri="{BB962C8B-B14F-4D97-AF65-F5344CB8AC3E}">
        <p14:creationId xmlns:p14="http://schemas.microsoft.com/office/powerpoint/2010/main" val="121337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00FD79-5A03-4CA4-B53E-565BCBECF19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903163"/>
                </a:solidFill>
                <a:effectLst/>
                <a:uLnTx/>
                <a:uFillTx/>
                <a:latin typeface="Gill Sans MT" panose="020B05020201040202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900" b="0" i="0" u="none" strike="noStrike" kern="1200" cap="none" spc="0" normalizeH="0" baseline="0" noProof="0" dirty="0">
              <a:ln>
                <a:noFill/>
              </a:ln>
              <a:solidFill>
                <a:srgbClr val="903163"/>
              </a:solidFill>
              <a:effectLst/>
              <a:uLnTx/>
              <a:uFillTx/>
              <a:latin typeface="Gill Sans MT" panose="020B0502020104020203"/>
              <a:ea typeface="+mn-ea"/>
              <a:cs typeface="+mn-cs"/>
            </a:endParaRPr>
          </a:p>
        </p:txBody>
      </p:sp>
      <p:sp>
        <p:nvSpPr>
          <p:cNvPr id="3" name="Content Placeholder 2">
            <a:extLst>
              <a:ext uri="{FF2B5EF4-FFF2-40B4-BE49-F238E27FC236}">
                <a16:creationId xmlns:a16="http://schemas.microsoft.com/office/drawing/2014/main" id="{FD3F97BE-F647-4676-9B37-BC17E7E95735}"/>
              </a:ext>
            </a:extLst>
          </p:cNvPr>
          <p:cNvSpPr>
            <a:spLocks noGrp="1"/>
          </p:cNvSpPr>
          <p:nvPr>
            <p:ph idx="4294967295"/>
          </p:nvPr>
        </p:nvSpPr>
        <p:spPr>
          <a:xfrm>
            <a:off x="578840" y="623843"/>
            <a:ext cx="10880521" cy="5483342"/>
          </a:xfrm>
        </p:spPr>
        <p:txBody>
          <a:bodyPr>
            <a:noAutofit/>
          </a:bodyPr>
          <a:lstStyle/>
          <a:p>
            <a:pPr fontAlgn="base">
              <a:lnSpc>
                <a:spcPct val="100000"/>
              </a:lnSpc>
              <a:spcBef>
                <a:spcPts val="0"/>
              </a:spcBef>
              <a:spcAft>
                <a:spcPts val="0"/>
              </a:spcAft>
            </a:pPr>
            <a:r>
              <a:rPr lang="en-US" sz="4000" dirty="0">
                <a:solidFill>
                  <a:schemeClr val="tx1">
                    <a:lumMod val="95000"/>
                    <a:lumOff val="5000"/>
                  </a:schemeClr>
                </a:solidFill>
                <a:latin typeface="Calibri" panose="020F0502020204030204" pitchFamily="34" charset="0"/>
                <a:cs typeface="Calibri" panose="020F0502020204030204" pitchFamily="34" charset="0"/>
              </a:rPr>
              <a:t>The scope action plan</a:t>
            </a:r>
            <a:r>
              <a:rPr lang="en-US" sz="4000" b="0" dirty="0">
                <a:solidFill>
                  <a:schemeClr val="tx1">
                    <a:lumMod val="95000"/>
                    <a:lumOff val="5000"/>
                  </a:schemeClr>
                </a:solidFill>
                <a:latin typeface="Calibri" panose="020F0502020204030204" pitchFamily="34" charset="0"/>
                <a:cs typeface="Calibri" panose="020F0502020204030204" pitchFamily="34" charset="0"/>
              </a:rPr>
              <a:t> is where you think through all the activities promised in the </a:t>
            </a:r>
            <a:r>
              <a:rPr lang="en-US" sz="4000" dirty="0">
                <a:solidFill>
                  <a:schemeClr val="tx1">
                    <a:lumMod val="95000"/>
                    <a:lumOff val="5000"/>
                  </a:schemeClr>
                </a:solidFill>
                <a:latin typeface="Calibri" panose="020F0502020204030204" pitchFamily="34" charset="0"/>
                <a:cs typeface="Calibri" panose="020F0502020204030204" pitchFamily="34" charset="0"/>
              </a:rPr>
              <a:t>scope statement.</a:t>
            </a:r>
          </a:p>
          <a:p>
            <a:pPr fontAlgn="base">
              <a:lnSpc>
                <a:spcPct val="100000"/>
              </a:lnSpc>
              <a:spcBef>
                <a:spcPts val="0"/>
              </a:spcBef>
              <a:spcAft>
                <a:spcPts val="0"/>
              </a:spcAft>
            </a:pPr>
            <a:endParaRPr lang="en-US" sz="4000" b="0" dirty="0">
              <a:solidFill>
                <a:schemeClr val="tx1">
                  <a:lumMod val="95000"/>
                  <a:lumOff val="5000"/>
                </a:schemeClr>
              </a:solidFill>
              <a:latin typeface="Calibri" panose="020F0502020204030204" pitchFamily="34" charset="0"/>
              <a:cs typeface="Calibri" panose="020F0502020204030204" pitchFamily="34" charset="0"/>
            </a:endParaRPr>
          </a:p>
          <a:p>
            <a:pPr fontAlgn="base">
              <a:lnSpc>
                <a:spcPct val="100000"/>
              </a:lnSpc>
              <a:spcBef>
                <a:spcPts val="0"/>
              </a:spcBef>
              <a:spcAft>
                <a:spcPts val="0"/>
              </a:spcAft>
            </a:pPr>
            <a:r>
              <a:rPr lang="en-US" sz="4000" dirty="0">
                <a:solidFill>
                  <a:schemeClr val="tx1">
                    <a:lumMod val="95000"/>
                    <a:lumOff val="5000"/>
                  </a:schemeClr>
                </a:solidFill>
                <a:latin typeface="Calibri" panose="020F0502020204030204" pitchFamily="34" charset="0"/>
                <a:cs typeface="Calibri" panose="020F0502020204030204" pitchFamily="34" charset="0"/>
              </a:rPr>
              <a:t>Begins each statement with an </a:t>
            </a:r>
            <a:r>
              <a:rPr lang="en-US" sz="4000" b="1" u="sng" dirty="0">
                <a:solidFill>
                  <a:srgbClr val="FF0000"/>
                </a:solidFill>
                <a:highlight>
                  <a:srgbClr val="FFFF00"/>
                </a:highlight>
                <a:latin typeface="Calibri" panose="020F0502020204030204" pitchFamily="34" charset="0"/>
                <a:cs typeface="Calibri" panose="020F0502020204030204" pitchFamily="34" charset="0"/>
              </a:rPr>
              <a:t>action</a:t>
            </a:r>
            <a:r>
              <a:rPr lang="en-US" sz="4000" dirty="0">
                <a:solidFill>
                  <a:schemeClr val="tx1">
                    <a:lumMod val="95000"/>
                    <a:lumOff val="5000"/>
                  </a:schemeClr>
                </a:solidFill>
                <a:latin typeface="Calibri" panose="020F0502020204030204" pitchFamily="34" charset="0"/>
                <a:cs typeface="Calibri" panose="020F0502020204030204" pitchFamily="34" charset="0"/>
              </a:rPr>
              <a:t> </a:t>
            </a:r>
            <a:r>
              <a:rPr lang="en-US" sz="4000" b="0" dirty="0">
                <a:solidFill>
                  <a:schemeClr val="tx1">
                    <a:lumMod val="95000"/>
                    <a:lumOff val="5000"/>
                  </a:schemeClr>
                </a:solidFill>
                <a:latin typeface="Calibri" panose="020F0502020204030204" pitchFamily="34" charset="0"/>
                <a:cs typeface="Calibri" panose="020F0502020204030204" pitchFamily="34" charset="0"/>
              </a:rPr>
              <a:t>(undertake, produce, commission, identify</a:t>
            </a:r>
            <a:r>
              <a:rPr lang="en-US" sz="4000" dirty="0">
                <a:solidFill>
                  <a:schemeClr val="tx1">
                    <a:lumMod val="95000"/>
                    <a:lumOff val="5000"/>
                  </a:schemeClr>
                </a:solidFill>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0387277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56D248-60AC-4EEB-92D3-121572EECF5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903163"/>
                </a:solidFill>
                <a:effectLst/>
                <a:uLnTx/>
                <a:uFillTx/>
                <a:latin typeface="Gill Sans MT" panose="020B05020201040202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900" b="0" i="0" u="none" strike="noStrike" kern="1200" cap="none" spc="0" normalizeH="0" baseline="0" noProof="0" dirty="0">
              <a:ln>
                <a:noFill/>
              </a:ln>
              <a:solidFill>
                <a:srgbClr val="903163"/>
              </a:solidFill>
              <a:effectLst/>
              <a:uLnTx/>
              <a:uFillTx/>
              <a:latin typeface="Gill Sans MT" panose="020B0502020104020203"/>
              <a:ea typeface="+mn-ea"/>
              <a:cs typeface="+mn-cs"/>
            </a:endParaRPr>
          </a:p>
        </p:txBody>
      </p:sp>
      <p:sp>
        <p:nvSpPr>
          <p:cNvPr id="3" name="Content Placeholder 2"/>
          <p:cNvSpPr>
            <a:spLocks noGrp="1"/>
          </p:cNvSpPr>
          <p:nvPr>
            <p:ph idx="4294967295"/>
          </p:nvPr>
        </p:nvSpPr>
        <p:spPr>
          <a:xfrm>
            <a:off x="811212" y="587229"/>
            <a:ext cx="10569575" cy="5872556"/>
          </a:xfrm>
        </p:spPr>
        <p:txBody>
          <a:bodyPr>
            <a:noAutofit/>
          </a:bodyPr>
          <a:lstStyle/>
          <a:p>
            <a:pPr>
              <a:lnSpc>
                <a:spcPct val="100000"/>
              </a:lnSpc>
              <a:spcBef>
                <a:spcPts val="0"/>
              </a:spcBef>
              <a:spcAft>
                <a:spcPts val="0"/>
              </a:spcAft>
            </a:pPr>
            <a:r>
              <a:rPr lang="en-US" sz="2800" b="0" dirty="0">
                <a:solidFill>
                  <a:schemeClr val="tx1"/>
                </a:solidFill>
                <a:latin typeface="Calibri" panose="020F0502020204030204" pitchFamily="34" charset="0"/>
                <a:cs typeface="Calibri" panose="020F0502020204030204" pitchFamily="34" charset="0"/>
              </a:rPr>
              <a:t>1. </a:t>
            </a:r>
            <a:r>
              <a:rPr lang="en-US" sz="2800" b="1" dirty="0">
                <a:solidFill>
                  <a:schemeClr val="tx1"/>
                </a:solidFill>
                <a:highlight>
                  <a:srgbClr val="FFFF00"/>
                </a:highlight>
                <a:latin typeface="Calibri" panose="020F0502020204030204" pitchFamily="34" charset="0"/>
                <a:cs typeface="Calibri" panose="020F0502020204030204" pitchFamily="34" charset="0"/>
              </a:rPr>
              <a:t>Undertake</a:t>
            </a:r>
            <a:r>
              <a:rPr lang="en-US" sz="2800" b="0" dirty="0">
                <a:solidFill>
                  <a:schemeClr val="tx1"/>
                </a:solidFill>
                <a:latin typeface="Calibri" panose="020F0502020204030204" pitchFamily="34" charset="0"/>
                <a:cs typeface="Calibri" panose="020F0502020204030204" pitchFamily="34" charset="0"/>
              </a:rPr>
              <a:t> research to understand the number of homes in the area (and therefore the number of recycling bins required).</a:t>
            </a:r>
            <a:br>
              <a:rPr lang="en-US" sz="2800" b="0" dirty="0">
                <a:solidFill>
                  <a:schemeClr val="tx1"/>
                </a:solidFill>
                <a:latin typeface="Calibri" panose="020F0502020204030204" pitchFamily="34" charset="0"/>
                <a:cs typeface="Calibri" panose="020F0502020204030204" pitchFamily="34" charset="0"/>
              </a:rPr>
            </a:br>
            <a:endParaRPr lang="en-US" sz="2800" b="0" dirty="0">
              <a:solidFill>
                <a:schemeClr val="tx1"/>
              </a:solidFill>
              <a:latin typeface="Calibri" panose="020F0502020204030204" pitchFamily="34" charset="0"/>
              <a:cs typeface="Calibri" panose="020F0502020204030204" pitchFamily="34" charset="0"/>
            </a:endParaRPr>
          </a:p>
          <a:p>
            <a:pPr>
              <a:lnSpc>
                <a:spcPct val="100000"/>
              </a:lnSpc>
              <a:spcBef>
                <a:spcPts val="0"/>
              </a:spcBef>
              <a:spcAft>
                <a:spcPts val="0"/>
              </a:spcAft>
            </a:pPr>
            <a:r>
              <a:rPr lang="en-US" sz="2800" b="0" dirty="0">
                <a:solidFill>
                  <a:schemeClr val="tx1"/>
                </a:solidFill>
                <a:latin typeface="Calibri" panose="020F0502020204030204" pitchFamily="34" charset="0"/>
                <a:cs typeface="Calibri" panose="020F0502020204030204" pitchFamily="34" charset="0"/>
              </a:rPr>
              <a:t>2. </a:t>
            </a:r>
            <a:r>
              <a:rPr lang="en-US" sz="2800" b="1" dirty="0">
                <a:solidFill>
                  <a:schemeClr val="tx1"/>
                </a:solidFill>
                <a:highlight>
                  <a:srgbClr val="FFFF00"/>
                </a:highlight>
                <a:latin typeface="Calibri" panose="020F0502020204030204" pitchFamily="34" charset="0"/>
                <a:cs typeface="Calibri" panose="020F0502020204030204" pitchFamily="34" charset="0"/>
              </a:rPr>
              <a:t>Produce</a:t>
            </a:r>
            <a:r>
              <a:rPr lang="en-US" sz="2800" b="0" dirty="0">
                <a:solidFill>
                  <a:schemeClr val="tx1"/>
                </a:solidFill>
                <a:latin typeface="Calibri" panose="020F0502020204030204" pitchFamily="34" charset="0"/>
                <a:cs typeface="Calibri" panose="020F0502020204030204" pitchFamily="34" charset="0"/>
              </a:rPr>
              <a:t> a design for the recycling bins to be provided to the manufacturer.</a:t>
            </a:r>
            <a:br>
              <a:rPr lang="en-US" sz="2800" b="0" dirty="0">
                <a:solidFill>
                  <a:schemeClr val="tx1"/>
                </a:solidFill>
                <a:latin typeface="Calibri" panose="020F0502020204030204" pitchFamily="34" charset="0"/>
                <a:cs typeface="Calibri" panose="020F0502020204030204" pitchFamily="34" charset="0"/>
              </a:rPr>
            </a:br>
            <a:endParaRPr lang="en-US" sz="2800" b="0" dirty="0">
              <a:solidFill>
                <a:schemeClr val="tx1"/>
              </a:solidFill>
              <a:latin typeface="Calibri" panose="020F0502020204030204" pitchFamily="34" charset="0"/>
              <a:cs typeface="Calibri" panose="020F0502020204030204" pitchFamily="34" charset="0"/>
            </a:endParaRPr>
          </a:p>
          <a:p>
            <a:pPr>
              <a:lnSpc>
                <a:spcPct val="100000"/>
              </a:lnSpc>
              <a:spcBef>
                <a:spcPts val="0"/>
              </a:spcBef>
              <a:spcAft>
                <a:spcPts val="0"/>
              </a:spcAft>
            </a:pPr>
            <a:r>
              <a:rPr lang="en-US" sz="2800" b="0" dirty="0">
                <a:solidFill>
                  <a:schemeClr val="tx1"/>
                </a:solidFill>
                <a:latin typeface="Calibri" panose="020F0502020204030204" pitchFamily="34" charset="0"/>
                <a:cs typeface="Calibri" panose="020F0502020204030204" pitchFamily="34" charset="0"/>
              </a:rPr>
              <a:t>3. </a:t>
            </a:r>
            <a:r>
              <a:rPr lang="en-US" sz="2800" b="1" dirty="0">
                <a:solidFill>
                  <a:schemeClr val="tx1"/>
                </a:solidFill>
                <a:highlight>
                  <a:srgbClr val="FFFF00"/>
                </a:highlight>
                <a:latin typeface="Calibri" panose="020F0502020204030204" pitchFamily="34" charset="0"/>
                <a:cs typeface="Calibri" panose="020F0502020204030204" pitchFamily="34" charset="0"/>
              </a:rPr>
              <a:t>Commission</a:t>
            </a:r>
            <a:r>
              <a:rPr lang="en-US" sz="2800" b="0" dirty="0">
                <a:solidFill>
                  <a:schemeClr val="tx1"/>
                </a:solidFill>
                <a:latin typeface="Calibri" panose="020F0502020204030204" pitchFamily="34" charset="0"/>
                <a:cs typeface="Calibri" panose="020F0502020204030204" pitchFamily="34" charset="0"/>
              </a:rPr>
              <a:t> a supplier to manufacture the agreed number of recycling bins in accordance with the design which will be provided as an output of (2.).</a:t>
            </a:r>
            <a:br>
              <a:rPr lang="en-US" sz="2800" b="0" dirty="0">
                <a:solidFill>
                  <a:schemeClr val="tx1"/>
                </a:solidFill>
                <a:latin typeface="Calibri" panose="020F0502020204030204" pitchFamily="34" charset="0"/>
                <a:cs typeface="Calibri" panose="020F0502020204030204" pitchFamily="34" charset="0"/>
              </a:rPr>
            </a:br>
            <a:endParaRPr lang="en-US" sz="2800" b="0" dirty="0">
              <a:solidFill>
                <a:schemeClr val="tx1"/>
              </a:solidFill>
              <a:latin typeface="Calibri" panose="020F0502020204030204" pitchFamily="34" charset="0"/>
              <a:cs typeface="Calibri" panose="020F0502020204030204" pitchFamily="34" charset="0"/>
            </a:endParaRPr>
          </a:p>
          <a:p>
            <a:pPr>
              <a:lnSpc>
                <a:spcPct val="100000"/>
              </a:lnSpc>
              <a:spcBef>
                <a:spcPts val="0"/>
              </a:spcBef>
              <a:spcAft>
                <a:spcPts val="0"/>
              </a:spcAft>
            </a:pPr>
            <a:r>
              <a:rPr lang="en-US" sz="2800" b="0" dirty="0">
                <a:solidFill>
                  <a:schemeClr val="tx1"/>
                </a:solidFill>
                <a:latin typeface="Calibri" panose="020F0502020204030204" pitchFamily="34" charset="0"/>
                <a:cs typeface="Calibri" panose="020F0502020204030204" pitchFamily="34" charset="0"/>
              </a:rPr>
              <a:t>4. </a:t>
            </a:r>
            <a:r>
              <a:rPr lang="en-US" sz="2800" b="1" dirty="0">
                <a:solidFill>
                  <a:schemeClr val="tx1"/>
                </a:solidFill>
                <a:highlight>
                  <a:srgbClr val="FFFF00"/>
                </a:highlight>
                <a:latin typeface="Calibri" panose="020F0502020204030204" pitchFamily="34" charset="0"/>
                <a:cs typeface="Calibri" panose="020F0502020204030204" pitchFamily="34" charset="0"/>
              </a:rPr>
              <a:t>Identify</a:t>
            </a:r>
            <a:r>
              <a:rPr lang="en-US" sz="2800" b="0" dirty="0">
                <a:solidFill>
                  <a:schemeClr val="tx1"/>
                </a:solidFill>
                <a:latin typeface="Calibri" panose="020F0502020204030204" pitchFamily="34" charset="0"/>
                <a:cs typeface="Calibri" panose="020F0502020204030204" pitchFamily="34" charset="0"/>
              </a:rPr>
              <a:t> and implement a means of distribution that will ensure that all homes receive their allocation.</a:t>
            </a:r>
          </a:p>
        </p:txBody>
      </p:sp>
    </p:spTree>
    <p:extLst>
      <p:ext uri="{BB962C8B-B14F-4D97-AF65-F5344CB8AC3E}">
        <p14:creationId xmlns:p14="http://schemas.microsoft.com/office/powerpoint/2010/main" val="29598379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981390-8D60-8347-9597-FC220BF33BBC}"/>
              </a:ext>
            </a:extLst>
          </p:cNvPr>
          <p:cNvSpPr>
            <a:spLocks noGrp="1"/>
          </p:cNvSpPr>
          <p:nvPr>
            <p:ph idx="1"/>
          </p:nvPr>
        </p:nvSpPr>
        <p:spPr/>
        <p:txBody>
          <a:bodyPr/>
          <a:lstStyle/>
          <a:p>
            <a:endParaRPr lang="en-US"/>
          </a:p>
        </p:txBody>
      </p:sp>
      <p:pic>
        <p:nvPicPr>
          <p:cNvPr id="3074" name="Picture 2" descr="Hands Up">
            <a:extLst>
              <a:ext uri="{FF2B5EF4-FFF2-40B4-BE49-F238E27FC236}">
                <a16:creationId xmlns:a16="http://schemas.microsoft.com/office/drawing/2014/main" id="{5354E26B-44ED-C95A-1A52-5D1DF0A0C3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165" y="-1"/>
            <a:ext cx="1268233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91426E42-716D-9B1C-216C-E43B15DF6861}"/>
              </a:ext>
            </a:extLst>
          </p:cNvPr>
          <p:cNvSpPr txBox="1">
            <a:spLocks/>
          </p:cNvSpPr>
          <p:nvPr/>
        </p:nvSpPr>
        <p:spPr>
          <a:xfrm>
            <a:off x="5141843" y="681037"/>
            <a:ext cx="6869181" cy="360459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500" b="1" i="0" u="none" strike="noStrike" kern="1200" cap="none" spc="0" normalizeH="0" baseline="0" noProof="0" dirty="0">
                <a:ln>
                  <a:noFill/>
                </a:ln>
                <a:solidFill>
                  <a:prstClr val="black"/>
                </a:solidFill>
                <a:effectLst/>
                <a:uLnTx/>
                <a:uFillTx/>
                <a:latin typeface="Calibri" panose="020F0502020204030204"/>
                <a:ea typeface="+mj-ea"/>
                <a:cs typeface="+mj-cs"/>
              </a:rPr>
              <a:t>Why is it vital that PMs don’t create the scope action plans alone?</a:t>
            </a:r>
            <a:endParaRPr kumimoji="0" lang="en-US" sz="4500" b="1"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500" b="1"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j-cs"/>
            </a:endParaRPr>
          </a:p>
        </p:txBody>
      </p:sp>
    </p:spTree>
    <p:extLst>
      <p:ext uri="{BB962C8B-B14F-4D97-AF65-F5344CB8AC3E}">
        <p14:creationId xmlns:p14="http://schemas.microsoft.com/office/powerpoint/2010/main" val="39583971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F5B3C5-E444-C1FA-5370-A6D76B156764}"/>
              </a:ext>
            </a:extLst>
          </p:cNvPr>
          <p:cNvSpPr>
            <a:spLocks noGrp="1"/>
          </p:cNvSpPr>
          <p:nvPr>
            <p:ph idx="1"/>
          </p:nvPr>
        </p:nvSpPr>
        <p:spPr>
          <a:xfrm>
            <a:off x="838200" y="640935"/>
            <a:ext cx="10515600" cy="5536028"/>
          </a:xfrm>
        </p:spPr>
        <p:txBody>
          <a:bodyPr>
            <a:normAutofit/>
          </a:bodyPr>
          <a:lstStyle/>
          <a:p>
            <a:pPr marL="0" indent="0">
              <a:lnSpc>
                <a:spcPct val="100000"/>
              </a:lnSpc>
              <a:spcBef>
                <a:spcPts val="0"/>
              </a:spcBef>
              <a:buNone/>
            </a:pPr>
            <a:r>
              <a:rPr lang="en-US" sz="4500" dirty="0"/>
              <a:t>PMs shouldn’t draft their </a:t>
            </a:r>
            <a:r>
              <a:rPr lang="en-US" sz="4500" b="1" dirty="0">
                <a:highlight>
                  <a:srgbClr val="FFFF00"/>
                </a:highlight>
                <a:latin typeface="Algerian" panose="04020705040A02060702" pitchFamily="82" charset="0"/>
              </a:rPr>
              <a:t>Dream Plan</a:t>
            </a:r>
            <a:r>
              <a:rPr lang="en-US" sz="4500" b="1" dirty="0">
                <a:latin typeface="Algerian" panose="04020705040A02060702" pitchFamily="82" charset="0"/>
              </a:rPr>
              <a:t> </a:t>
            </a:r>
            <a:r>
              <a:rPr lang="en-US" sz="4500" dirty="0"/>
              <a:t>in a silo, then try to sell it on teammates. </a:t>
            </a:r>
          </a:p>
          <a:p>
            <a:pPr marL="0" indent="0">
              <a:lnSpc>
                <a:spcPct val="100000"/>
              </a:lnSpc>
              <a:spcBef>
                <a:spcPts val="0"/>
              </a:spcBef>
              <a:buNone/>
            </a:pPr>
            <a:endParaRPr lang="en-US" sz="4500" dirty="0"/>
          </a:p>
          <a:p>
            <a:pPr marL="0" indent="0">
              <a:lnSpc>
                <a:spcPct val="100000"/>
              </a:lnSpc>
              <a:spcBef>
                <a:spcPts val="0"/>
              </a:spcBef>
              <a:buNone/>
            </a:pPr>
            <a:r>
              <a:rPr lang="en-US" sz="4500" dirty="0"/>
              <a:t>Begin with frank discussions about the team’s </a:t>
            </a:r>
            <a:r>
              <a:rPr lang="en-US" sz="4500" b="1" dirty="0">
                <a:highlight>
                  <a:srgbClr val="FFFF00"/>
                </a:highlight>
              </a:rPr>
              <a:t>availability</a:t>
            </a:r>
            <a:r>
              <a:rPr lang="en-US" sz="4500" dirty="0"/>
              <a:t>, </a:t>
            </a:r>
            <a:r>
              <a:rPr lang="en-US" sz="4500" b="1" dirty="0">
                <a:highlight>
                  <a:srgbClr val="FFFF00"/>
                </a:highlight>
              </a:rPr>
              <a:t>commitment</a:t>
            </a:r>
            <a:r>
              <a:rPr lang="en-US" sz="4500" dirty="0"/>
              <a:t>, </a:t>
            </a:r>
            <a:r>
              <a:rPr lang="en-US" sz="4500" b="1" dirty="0">
                <a:highlight>
                  <a:srgbClr val="FFFF00"/>
                </a:highlight>
              </a:rPr>
              <a:t>necessary skills</a:t>
            </a:r>
            <a:r>
              <a:rPr lang="en-US" sz="4500" dirty="0"/>
              <a:t>, etc.</a:t>
            </a:r>
          </a:p>
        </p:txBody>
      </p:sp>
    </p:spTree>
    <p:extLst>
      <p:ext uri="{BB962C8B-B14F-4D97-AF65-F5344CB8AC3E}">
        <p14:creationId xmlns:p14="http://schemas.microsoft.com/office/powerpoint/2010/main" val="22352537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F5B3C5-E444-C1FA-5370-A6D76B156764}"/>
              </a:ext>
            </a:extLst>
          </p:cNvPr>
          <p:cNvSpPr>
            <a:spLocks noGrp="1"/>
          </p:cNvSpPr>
          <p:nvPr>
            <p:ph idx="1"/>
          </p:nvPr>
        </p:nvSpPr>
        <p:spPr>
          <a:xfrm>
            <a:off x="838200" y="640935"/>
            <a:ext cx="10515600" cy="5536028"/>
          </a:xfrm>
        </p:spPr>
        <p:txBody>
          <a:bodyPr>
            <a:normAutofit/>
          </a:bodyPr>
          <a:lstStyle/>
          <a:p>
            <a:pPr marL="0" indent="0">
              <a:lnSpc>
                <a:spcPct val="100000"/>
              </a:lnSpc>
              <a:spcBef>
                <a:spcPts val="0"/>
              </a:spcBef>
              <a:buNone/>
            </a:pPr>
            <a:r>
              <a:rPr lang="en-US" sz="4500" dirty="0"/>
              <a:t>Every teammate working on the plan must have </a:t>
            </a:r>
            <a:r>
              <a:rPr lang="en-US" sz="4500" b="1" dirty="0"/>
              <a:t>100% agreement on what their </a:t>
            </a:r>
            <a:r>
              <a:rPr lang="en-US" sz="4500" b="1" dirty="0">
                <a:highlight>
                  <a:srgbClr val="FFFF00"/>
                </a:highlight>
              </a:rPr>
              <a:t>exact duties and role will be</a:t>
            </a:r>
            <a:r>
              <a:rPr lang="en-US" sz="4500" dirty="0"/>
              <a:t>.</a:t>
            </a:r>
          </a:p>
          <a:p>
            <a:pPr marL="0" indent="0">
              <a:lnSpc>
                <a:spcPct val="100000"/>
              </a:lnSpc>
              <a:spcBef>
                <a:spcPts val="0"/>
              </a:spcBef>
              <a:buNone/>
            </a:pPr>
            <a:endParaRPr lang="en-US" sz="4500" dirty="0"/>
          </a:p>
          <a:p>
            <a:pPr marL="0" indent="0">
              <a:lnSpc>
                <a:spcPct val="100000"/>
              </a:lnSpc>
              <a:spcBef>
                <a:spcPts val="0"/>
              </a:spcBef>
              <a:buNone/>
            </a:pPr>
            <a:r>
              <a:rPr lang="en-US" sz="4500" dirty="0"/>
              <a:t>Leave time to present the draft plan to </a:t>
            </a:r>
            <a:r>
              <a:rPr lang="en-US" sz="4500" b="1" dirty="0"/>
              <a:t>each team member </a:t>
            </a:r>
            <a:r>
              <a:rPr lang="en-US" sz="4500" dirty="0"/>
              <a:t>and get their </a:t>
            </a:r>
            <a:r>
              <a:rPr lang="en-US" sz="4500" b="1" dirty="0">
                <a:highlight>
                  <a:srgbClr val="FFFF00"/>
                </a:highlight>
              </a:rPr>
              <a:t>feedback</a:t>
            </a:r>
            <a:r>
              <a:rPr lang="en-US" sz="4500" dirty="0"/>
              <a:t>, </a:t>
            </a:r>
            <a:r>
              <a:rPr lang="en-US" sz="4500" b="1" dirty="0">
                <a:highlight>
                  <a:srgbClr val="FFFF00"/>
                </a:highlight>
              </a:rPr>
              <a:t>revisions</a:t>
            </a:r>
            <a:r>
              <a:rPr lang="en-US" sz="4500" dirty="0"/>
              <a:t> and finally </a:t>
            </a:r>
            <a:r>
              <a:rPr lang="en-US" sz="4500" b="1" dirty="0">
                <a:highlight>
                  <a:srgbClr val="FFFF00"/>
                </a:highlight>
              </a:rPr>
              <a:t>buy-in</a:t>
            </a:r>
            <a:r>
              <a:rPr lang="en-US" sz="4500" dirty="0"/>
              <a:t>. Don’t rush it.</a:t>
            </a:r>
          </a:p>
        </p:txBody>
      </p:sp>
    </p:spTree>
    <p:extLst>
      <p:ext uri="{BB962C8B-B14F-4D97-AF65-F5344CB8AC3E}">
        <p14:creationId xmlns:p14="http://schemas.microsoft.com/office/powerpoint/2010/main" val="30205696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F5B3C5-E444-C1FA-5370-A6D76B156764}"/>
              </a:ext>
            </a:extLst>
          </p:cNvPr>
          <p:cNvSpPr>
            <a:spLocks noGrp="1"/>
          </p:cNvSpPr>
          <p:nvPr>
            <p:ph idx="1"/>
          </p:nvPr>
        </p:nvSpPr>
        <p:spPr>
          <a:xfrm>
            <a:off x="838200" y="640935"/>
            <a:ext cx="10515600" cy="5536028"/>
          </a:xfrm>
        </p:spPr>
        <p:txBody>
          <a:bodyPr>
            <a:normAutofit/>
          </a:bodyPr>
          <a:lstStyle/>
          <a:p>
            <a:pPr marL="0" indent="0">
              <a:lnSpc>
                <a:spcPct val="100000"/>
              </a:lnSpc>
              <a:buNone/>
            </a:pPr>
            <a:r>
              <a:rPr lang="en-US" sz="4500" dirty="0"/>
              <a:t>Going back to revise who’s-doing-what in the middle project is a sure-fire budget and </a:t>
            </a:r>
            <a:r>
              <a:rPr lang="en-US" sz="4500" b="1" dirty="0">
                <a:solidFill>
                  <a:srgbClr val="FF0000"/>
                </a:solidFill>
              </a:rPr>
              <a:t>timeline destroyer</a:t>
            </a:r>
            <a:r>
              <a:rPr lang="en-US" sz="4500" dirty="0"/>
              <a:t>.</a:t>
            </a:r>
          </a:p>
        </p:txBody>
      </p:sp>
    </p:spTree>
    <p:extLst>
      <p:ext uri="{BB962C8B-B14F-4D97-AF65-F5344CB8AC3E}">
        <p14:creationId xmlns:p14="http://schemas.microsoft.com/office/powerpoint/2010/main" val="779555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EFD9AA-C33E-3C3E-C85F-55365614A72F}"/>
              </a:ext>
            </a:extLst>
          </p:cNvPr>
          <p:cNvPicPr>
            <a:picLocks noChangeAspect="1"/>
          </p:cNvPicPr>
          <p:nvPr/>
        </p:nvPicPr>
        <p:blipFill>
          <a:blip r:embed="rId3"/>
          <a:stretch>
            <a:fillRect/>
          </a:stretch>
        </p:blipFill>
        <p:spPr>
          <a:xfrm>
            <a:off x="5606583" y="0"/>
            <a:ext cx="5354281" cy="6858000"/>
          </a:xfrm>
          <a:prstGeom prst="rect">
            <a:avLst/>
          </a:prstGeom>
        </p:spPr>
      </p:pic>
      <p:sp>
        <p:nvSpPr>
          <p:cNvPr id="4" name="Content Placeholder 2">
            <a:extLst>
              <a:ext uri="{FF2B5EF4-FFF2-40B4-BE49-F238E27FC236}">
                <a16:creationId xmlns:a16="http://schemas.microsoft.com/office/drawing/2014/main" id="{D32AAD4D-20AC-0934-7322-280EF9B4FE9D}"/>
              </a:ext>
            </a:extLst>
          </p:cNvPr>
          <p:cNvSpPr txBox="1">
            <a:spLocks/>
          </p:cNvSpPr>
          <p:nvPr/>
        </p:nvSpPr>
        <p:spPr>
          <a:xfrm>
            <a:off x="923658" y="487110"/>
            <a:ext cx="4169635" cy="46472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200" cap="none" spc="0" normalizeH="0" baseline="0" noProof="0" dirty="0">
                <a:ln>
                  <a:noFill/>
                </a:ln>
                <a:solidFill>
                  <a:srgbClr val="0070C0"/>
                </a:solidFill>
                <a:effectLst/>
                <a:uLnTx/>
                <a:uFillTx/>
                <a:latin typeface="Calibri" panose="020F0502020204030204"/>
                <a:ea typeface="+mn-ea"/>
                <a:cs typeface="+mn-cs"/>
              </a:rPr>
              <a:t>Example</a:t>
            </a:r>
            <a:r>
              <a:rPr kumimoji="0" lang="en-US" sz="4000" b="1" i="0" u="none" strike="noStrike" kern="1200" cap="none" spc="0" normalizeH="0" baseline="0" noProof="0" dirty="0">
                <a:ln>
                  <a:noFill/>
                </a:ln>
                <a:solidFill>
                  <a:prstClr val="black"/>
                </a:solidFill>
                <a:effectLst/>
                <a:uLnTx/>
                <a:uFillTx/>
                <a:latin typeface="Calibri" panose="020F0502020204030204"/>
                <a:ea typeface="+mn-ea"/>
                <a:cs typeface="+mn-cs"/>
              </a:rPr>
              <a:t>: Scope of work requested by a city for a comprehensive land use plan.</a:t>
            </a:r>
          </a:p>
        </p:txBody>
      </p:sp>
      <p:sp>
        <p:nvSpPr>
          <p:cNvPr id="2" name="Oval 1">
            <a:extLst>
              <a:ext uri="{FF2B5EF4-FFF2-40B4-BE49-F238E27FC236}">
                <a16:creationId xmlns:a16="http://schemas.microsoft.com/office/drawing/2014/main" id="{44C8A9F1-1E7E-C014-07F1-B5203D67C0C4}"/>
              </a:ext>
            </a:extLst>
          </p:cNvPr>
          <p:cNvSpPr/>
          <p:nvPr/>
        </p:nvSpPr>
        <p:spPr>
          <a:xfrm rot="16200000">
            <a:off x="7371219" y="-672829"/>
            <a:ext cx="1493134" cy="5686163"/>
          </a:xfrm>
          <a:prstGeom prst="ellipse">
            <a:avLst/>
          </a:prstGeom>
          <a:noFill/>
          <a:ln w="412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41432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32AAD4D-20AC-0934-7322-280EF9B4FE9D}"/>
              </a:ext>
            </a:extLst>
          </p:cNvPr>
          <p:cNvSpPr txBox="1">
            <a:spLocks/>
          </p:cNvSpPr>
          <p:nvPr/>
        </p:nvSpPr>
        <p:spPr>
          <a:xfrm>
            <a:off x="923658" y="487110"/>
            <a:ext cx="4545650" cy="46472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200" cap="none" spc="0" normalizeH="0" baseline="0" noProof="0" dirty="0">
                <a:ln>
                  <a:noFill/>
                </a:ln>
                <a:solidFill>
                  <a:srgbClr val="0070C0"/>
                </a:solidFill>
                <a:effectLst/>
                <a:uLnTx/>
                <a:uFillTx/>
                <a:latin typeface="Calibri" panose="020F0502020204030204"/>
                <a:ea typeface="+mn-ea"/>
                <a:cs typeface="+mn-cs"/>
              </a:rPr>
              <a:t>Example</a:t>
            </a:r>
            <a:r>
              <a:rPr kumimoji="0" lang="en-US" sz="4000" b="1" i="0" u="none" strike="noStrike" kern="1200" cap="none" spc="0" normalizeH="0" baseline="0" noProof="0" dirty="0">
                <a:ln>
                  <a:noFill/>
                </a:ln>
                <a:solidFill>
                  <a:prstClr val="black"/>
                </a:solidFill>
                <a:effectLst/>
                <a:uLnTx/>
                <a:uFillTx/>
                <a:latin typeface="Calibri" panose="020F0502020204030204"/>
                <a:ea typeface="+mn-ea"/>
                <a:cs typeface="+mn-cs"/>
              </a:rPr>
              <a:t>: Scope of work requested by a city for a downtown revitalization plan.</a:t>
            </a:r>
          </a:p>
        </p:txBody>
      </p:sp>
      <p:pic>
        <p:nvPicPr>
          <p:cNvPr id="5" name="Picture 4">
            <a:extLst>
              <a:ext uri="{FF2B5EF4-FFF2-40B4-BE49-F238E27FC236}">
                <a16:creationId xmlns:a16="http://schemas.microsoft.com/office/drawing/2014/main" id="{24508D0B-DFC8-C121-4283-D48E4B5DDADA}"/>
              </a:ext>
            </a:extLst>
          </p:cNvPr>
          <p:cNvPicPr>
            <a:picLocks noChangeAspect="1"/>
          </p:cNvPicPr>
          <p:nvPr/>
        </p:nvPicPr>
        <p:blipFill>
          <a:blip r:embed="rId3"/>
          <a:stretch>
            <a:fillRect/>
          </a:stretch>
        </p:blipFill>
        <p:spPr>
          <a:xfrm>
            <a:off x="5819686" y="68366"/>
            <a:ext cx="5806190" cy="6858000"/>
          </a:xfrm>
          <a:prstGeom prst="rect">
            <a:avLst/>
          </a:prstGeom>
        </p:spPr>
      </p:pic>
      <p:sp>
        <p:nvSpPr>
          <p:cNvPr id="2" name="Oval 1">
            <a:extLst>
              <a:ext uri="{FF2B5EF4-FFF2-40B4-BE49-F238E27FC236}">
                <a16:creationId xmlns:a16="http://schemas.microsoft.com/office/drawing/2014/main" id="{F273E7A5-10BB-80DB-BA51-E2460B6061C5}"/>
              </a:ext>
            </a:extLst>
          </p:cNvPr>
          <p:cNvSpPr/>
          <p:nvPr/>
        </p:nvSpPr>
        <p:spPr>
          <a:xfrm rot="16200000">
            <a:off x="7678693" y="982351"/>
            <a:ext cx="1493134" cy="5686163"/>
          </a:xfrm>
          <a:prstGeom prst="ellipse">
            <a:avLst/>
          </a:prstGeom>
          <a:noFill/>
          <a:ln w="412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57127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32AAD4D-20AC-0934-7322-280EF9B4FE9D}"/>
              </a:ext>
            </a:extLst>
          </p:cNvPr>
          <p:cNvSpPr txBox="1">
            <a:spLocks/>
          </p:cNvSpPr>
          <p:nvPr/>
        </p:nvSpPr>
        <p:spPr>
          <a:xfrm>
            <a:off x="923658" y="487110"/>
            <a:ext cx="4169635" cy="46472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200" cap="none" spc="0" normalizeH="0" baseline="0" noProof="0" dirty="0">
                <a:ln>
                  <a:noFill/>
                </a:ln>
                <a:solidFill>
                  <a:srgbClr val="0070C0"/>
                </a:solidFill>
                <a:effectLst/>
                <a:uLnTx/>
                <a:uFillTx/>
                <a:latin typeface="Calibri" panose="020F0502020204030204"/>
                <a:ea typeface="+mn-ea"/>
                <a:cs typeface="+mn-cs"/>
              </a:rPr>
              <a:t>Example</a:t>
            </a:r>
            <a:r>
              <a:rPr kumimoji="0" lang="en-US" sz="4000" b="1" i="0" u="none" strike="noStrike" kern="1200" cap="none" spc="0" normalizeH="0" baseline="0" noProof="0" dirty="0">
                <a:ln>
                  <a:noFill/>
                </a:ln>
                <a:solidFill>
                  <a:prstClr val="black"/>
                </a:solidFill>
                <a:effectLst/>
                <a:uLnTx/>
                <a:uFillTx/>
                <a:latin typeface="Calibri" panose="020F0502020204030204"/>
                <a:ea typeface="+mn-ea"/>
                <a:cs typeface="+mn-cs"/>
              </a:rPr>
              <a:t>: Consultant team’s action plan response to a city for a downtown revitalization plan.</a:t>
            </a:r>
          </a:p>
        </p:txBody>
      </p:sp>
      <p:pic>
        <p:nvPicPr>
          <p:cNvPr id="3" name="Picture 2">
            <a:extLst>
              <a:ext uri="{FF2B5EF4-FFF2-40B4-BE49-F238E27FC236}">
                <a16:creationId xmlns:a16="http://schemas.microsoft.com/office/drawing/2014/main" id="{4547E43E-B0FE-B47B-E1AA-86BA6C6BDD95}"/>
              </a:ext>
            </a:extLst>
          </p:cNvPr>
          <p:cNvPicPr>
            <a:picLocks noChangeAspect="1"/>
          </p:cNvPicPr>
          <p:nvPr/>
        </p:nvPicPr>
        <p:blipFill>
          <a:blip r:embed="rId3"/>
          <a:stretch>
            <a:fillRect/>
          </a:stretch>
        </p:blipFill>
        <p:spPr>
          <a:xfrm>
            <a:off x="5956419" y="0"/>
            <a:ext cx="6019879" cy="6858000"/>
          </a:xfrm>
          <a:prstGeom prst="rect">
            <a:avLst/>
          </a:prstGeom>
        </p:spPr>
      </p:pic>
    </p:spTree>
    <p:extLst>
      <p:ext uri="{BB962C8B-B14F-4D97-AF65-F5344CB8AC3E}">
        <p14:creationId xmlns:p14="http://schemas.microsoft.com/office/powerpoint/2010/main" val="33386766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7839DF-1B12-6807-B4BF-CEF0ADFB1621}"/>
              </a:ext>
            </a:extLst>
          </p:cNvPr>
          <p:cNvPicPr>
            <a:picLocks noChangeAspect="1"/>
          </p:cNvPicPr>
          <p:nvPr/>
        </p:nvPicPr>
        <p:blipFill>
          <a:blip r:embed="rId3"/>
          <a:stretch>
            <a:fillRect/>
          </a:stretch>
        </p:blipFill>
        <p:spPr>
          <a:xfrm>
            <a:off x="568601" y="0"/>
            <a:ext cx="11054798" cy="6858000"/>
          </a:xfrm>
          <a:prstGeom prst="rect">
            <a:avLst/>
          </a:prstGeom>
        </p:spPr>
      </p:pic>
      <p:sp>
        <p:nvSpPr>
          <p:cNvPr id="4" name="Oval 3">
            <a:extLst>
              <a:ext uri="{FF2B5EF4-FFF2-40B4-BE49-F238E27FC236}">
                <a16:creationId xmlns:a16="http://schemas.microsoft.com/office/drawing/2014/main" id="{FF6CED28-DCA7-616C-5C18-52FCE8A0AD73}"/>
              </a:ext>
            </a:extLst>
          </p:cNvPr>
          <p:cNvSpPr/>
          <p:nvPr/>
        </p:nvSpPr>
        <p:spPr>
          <a:xfrm rot="5400000">
            <a:off x="7276746" y="-1414328"/>
            <a:ext cx="2050990" cy="5973514"/>
          </a:xfrm>
          <a:prstGeom prst="ellipse">
            <a:avLst/>
          </a:prstGeom>
          <a:noFill/>
          <a:ln w="603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35653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FDA978-F682-2DE9-A874-C646FF3707DA}"/>
              </a:ext>
            </a:extLst>
          </p:cNvPr>
          <p:cNvPicPr>
            <a:picLocks noChangeAspect="1"/>
          </p:cNvPicPr>
          <p:nvPr/>
        </p:nvPicPr>
        <p:blipFill>
          <a:blip r:embed="rId3"/>
          <a:stretch>
            <a:fillRect/>
          </a:stretch>
        </p:blipFill>
        <p:spPr>
          <a:xfrm>
            <a:off x="0" y="0"/>
            <a:ext cx="11196119" cy="6858000"/>
          </a:xfrm>
          <a:prstGeom prst="rect">
            <a:avLst/>
          </a:prstGeom>
        </p:spPr>
      </p:pic>
      <p:sp>
        <p:nvSpPr>
          <p:cNvPr id="4" name="Oval 3">
            <a:extLst>
              <a:ext uri="{FF2B5EF4-FFF2-40B4-BE49-F238E27FC236}">
                <a16:creationId xmlns:a16="http://schemas.microsoft.com/office/drawing/2014/main" id="{500BF09C-FBF9-7CEE-527A-58076C877BF2}"/>
              </a:ext>
            </a:extLst>
          </p:cNvPr>
          <p:cNvSpPr/>
          <p:nvPr/>
        </p:nvSpPr>
        <p:spPr>
          <a:xfrm rot="5400000">
            <a:off x="2991029" y="-170917"/>
            <a:ext cx="589662" cy="3871247"/>
          </a:xfrm>
          <a:prstGeom prst="ellipse">
            <a:avLst/>
          </a:prstGeom>
          <a:noFill/>
          <a:ln w="603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Oval 4">
            <a:extLst>
              <a:ext uri="{FF2B5EF4-FFF2-40B4-BE49-F238E27FC236}">
                <a16:creationId xmlns:a16="http://schemas.microsoft.com/office/drawing/2014/main" id="{2034D26D-D741-22EB-D372-41652BBA8C38}"/>
              </a:ext>
            </a:extLst>
          </p:cNvPr>
          <p:cNvSpPr/>
          <p:nvPr/>
        </p:nvSpPr>
        <p:spPr>
          <a:xfrm rot="5400000">
            <a:off x="2046008" y="3763711"/>
            <a:ext cx="487106" cy="2377155"/>
          </a:xfrm>
          <a:prstGeom prst="ellipse">
            <a:avLst/>
          </a:prstGeom>
          <a:noFill/>
          <a:ln w="603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29105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5D32B6-44A5-187D-2B73-41A76CDF2573}"/>
              </a:ext>
            </a:extLst>
          </p:cNvPr>
          <p:cNvPicPr>
            <a:picLocks noChangeAspect="1"/>
          </p:cNvPicPr>
          <p:nvPr/>
        </p:nvPicPr>
        <p:blipFill>
          <a:blip r:embed="rId3"/>
          <a:stretch>
            <a:fillRect/>
          </a:stretch>
        </p:blipFill>
        <p:spPr>
          <a:xfrm>
            <a:off x="657276" y="0"/>
            <a:ext cx="10877448" cy="6858000"/>
          </a:xfrm>
          <a:prstGeom prst="rect">
            <a:avLst/>
          </a:prstGeom>
        </p:spPr>
      </p:pic>
      <p:sp>
        <p:nvSpPr>
          <p:cNvPr id="4" name="Oval 3">
            <a:extLst>
              <a:ext uri="{FF2B5EF4-FFF2-40B4-BE49-F238E27FC236}">
                <a16:creationId xmlns:a16="http://schemas.microsoft.com/office/drawing/2014/main" id="{BBCE1709-90D0-7AAC-9239-BA6A5183E21F}"/>
              </a:ext>
            </a:extLst>
          </p:cNvPr>
          <p:cNvSpPr/>
          <p:nvPr/>
        </p:nvSpPr>
        <p:spPr>
          <a:xfrm rot="5400000">
            <a:off x="7059746" y="919973"/>
            <a:ext cx="5354319" cy="4010034"/>
          </a:xfrm>
          <a:prstGeom prst="ellipse">
            <a:avLst/>
          </a:prstGeom>
          <a:noFill/>
          <a:ln w="603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00193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F04CF-050A-4934-AFAA-F173C7DC0B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5B3BC0-E43C-4C63-BB00-B070E577CEC0}"/>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9DF31E31-7644-4E14-942C-EC2B6E40157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5" name="Content Placeholder 4">
            <a:extLst>
              <a:ext uri="{FF2B5EF4-FFF2-40B4-BE49-F238E27FC236}">
                <a16:creationId xmlns:a16="http://schemas.microsoft.com/office/drawing/2014/main" id="{B521F7FC-0369-4604-8070-DEE15499507A}"/>
              </a:ext>
            </a:extLst>
          </p:cNvPr>
          <p:cNvGraphicFramePr>
            <a:graphicFrameLocks noChangeAspect="1"/>
          </p:cNvGraphicFramePr>
          <p:nvPr/>
        </p:nvGraphicFramePr>
        <p:xfrm>
          <a:off x="580768" y="40376"/>
          <a:ext cx="11380573" cy="6777247"/>
        </p:xfrm>
        <a:graphic>
          <a:graphicData uri="http://schemas.openxmlformats.org/presentationml/2006/ole">
            <mc:AlternateContent xmlns:mc="http://schemas.openxmlformats.org/markup-compatibility/2006">
              <mc:Choice xmlns:v="urn:schemas-microsoft-com:vml" Requires="v">
                <p:oleObj name="Acrobat Document" r:id="rId3" imgW="5029098" imgH="3886200" progId="AcroExch.Document.DC">
                  <p:embed/>
                </p:oleObj>
              </mc:Choice>
              <mc:Fallback>
                <p:oleObj name="Acrobat Document" r:id="rId3" imgW="5029098" imgH="3886200" progId="AcroExch.Document.DC">
                  <p:embed/>
                  <p:pic>
                    <p:nvPicPr>
                      <p:cNvPr id="5" name="Content Placeholder 4">
                        <a:extLst>
                          <a:ext uri="{FF2B5EF4-FFF2-40B4-BE49-F238E27FC236}">
                            <a16:creationId xmlns:a16="http://schemas.microsoft.com/office/drawing/2014/main" id="{B521F7FC-0369-4604-8070-DEE15499507A}"/>
                          </a:ext>
                        </a:extLst>
                      </p:cNvPr>
                      <p:cNvPicPr/>
                      <p:nvPr/>
                    </p:nvPicPr>
                    <p:blipFill>
                      <a:blip r:embed="rId4"/>
                      <a:stretch>
                        <a:fillRect/>
                      </a:stretch>
                    </p:blipFill>
                    <p:spPr>
                      <a:xfrm>
                        <a:off x="580768" y="40376"/>
                        <a:ext cx="11380573" cy="6777247"/>
                      </a:xfrm>
                      <a:prstGeom prst="rect">
                        <a:avLst/>
                      </a:prstGeom>
                    </p:spPr>
                  </p:pic>
                </p:oleObj>
              </mc:Fallback>
            </mc:AlternateContent>
          </a:graphicData>
        </a:graphic>
      </p:graphicFrame>
    </p:spTree>
    <p:extLst>
      <p:ext uri="{BB962C8B-B14F-4D97-AF65-F5344CB8AC3E}">
        <p14:creationId xmlns:p14="http://schemas.microsoft.com/office/powerpoint/2010/main" val="29726280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05488-A0C4-5EA0-C1D2-E1641A86E82A}"/>
              </a:ext>
            </a:extLst>
          </p:cNvPr>
          <p:cNvSpPr>
            <a:spLocks noGrp="1"/>
          </p:cNvSpPr>
          <p:nvPr>
            <p:ph type="title"/>
          </p:nvPr>
        </p:nvSpPr>
        <p:spPr>
          <a:xfrm>
            <a:off x="838200" y="136524"/>
            <a:ext cx="10515600" cy="1073968"/>
          </a:xfrm>
        </p:spPr>
        <p:txBody>
          <a:bodyPr>
            <a:normAutofit/>
          </a:bodyPr>
          <a:lstStyle/>
          <a:p>
            <a:pPr algn="ctr"/>
            <a:r>
              <a:rPr lang="en-US" sz="4400" b="1" dirty="0">
                <a:solidFill>
                  <a:schemeClr val="tx1"/>
                </a:solidFill>
                <a:latin typeface="+mn-lt"/>
              </a:rPr>
              <a:t>Comp Plan Scope of Work </a:t>
            </a:r>
          </a:p>
        </p:txBody>
      </p:sp>
      <p:sp>
        <p:nvSpPr>
          <p:cNvPr id="4" name="Slide Number Placeholder 3">
            <a:extLst>
              <a:ext uri="{FF2B5EF4-FFF2-40B4-BE49-F238E27FC236}">
                <a16:creationId xmlns:a16="http://schemas.microsoft.com/office/drawing/2014/main" id="{83161846-F801-D3F5-5AEF-A364A5D48D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05FCE03-41EF-0039-012A-FF5D5971529C}"/>
              </a:ext>
            </a:extLst>
          </p:cNvPr>
          <p:cNvSpPr>
            <a:spLocks noGrp="1"/>
          </p:cNvSpPr>
          <p:nvPr>
            <p:ph idx="4294967295"/>
          </p:nvPr>
        </p:nvSpPr>
        <p:spPr>
          <a:xfrm>
            <a:off x="959141" y="1319212"/>
            <a:ext cx="10058400" cy="5538788"/>
          </a:xfrm>
        </p:spPr>
        <p:txBody>
          <a:bodyPr>
            <a:normAutofit fontScale="85000" lnSpcReduction="10000"/>
          </a:bodyPr>
          <a:lstStyle/>
          <a:p>
            <a:pPr marL="0" marR="0" indent="0">
              <a:lnSpc>
                <a:spcPct val="120000"/>
              </a:lnSpc>
              <a:spcBef>
                <a:spcPts val="0"/>
              </a:spcBef>
              <a:spcAft>
                <a:spcPts val="0"/>
              </a:spcAft>
              <a:buNone/>
            </a:pPr>
            <a:r>
              <a:rPr lang="en-US" sz="22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Project Scope of Work </a:t>
            </a:r>
          </a:p>
          <a:p>
            <a:pPr marL="0" marR="0" indent="0">
              <a:lnSpc>
                <a:spcPct val="120000"/>
              </a:lnSpc>
              <a:spcBef>
                <a:spcPts val="0"/>
              </a:spcBef>
              <a:spcAft>
                <a:spcPts val="0"/>
              </a:spcAft>
              <a:buNone/>
            </a:pPr>
            <a:r>
              <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This scope of work provides for the full range of planning services to create a comprehensive land use plan and defines tasks necessary for its completion, including these broad steps:</a:t>
            </a:r>
          </a:p>
          <a:p>
            <a:pPr marL="342900" marR="0" lvl="0" indent="-342900">
              <a:lnSpc>
                <a:spcPct val="120000"/>
              </a:lnSpc>
              <a:spcBef>
                <a:spcPts val="0"/>
              </a:spcBef>
              <a:spcAft>
                <a:spcPts val="0"/>
              </a:spcAft>
              <a:buFont typeface="+mj-lt"/>
              <a:buAutoNum type="arabicPeriod"/>
            </a:pPr>
            <a:r>
              <a:rPr lang="en-US" sz="1800"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Project initiation.</a:t>
            </a:r>
          </a:p>
          <a:p>
            <a:pPr marL="342900" marR="0" lvl="0" indent="-342900">
              <a:lnSpc>
                <a:spcPct val="120000"/>
              </a:lnSpc>
              <a:spcBef>
                <a:spcPts val="0"/>
              </a:spcBef>
              <a:spcAft>
                <a:spcPts val="0"/>
              </a:spcAft>
              <a:buFont typeface="+mj-lt"/>
              <a:buAutoNum type="arabicPeriod"/>
            </a:pPr>
            <a:r>
              <a:rPr lang="en-US" sz="1800"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Citizen participation.</a:t>
            </a:r>
          </a:p>
          <a:p>
            <a:pPr marL="342900" marR="0" lvl="0" indent="-342900">
              <a:lnSpc>
                <a:spcPct val="120000"/>
              </a:lnSpc>
              <a:spcBef>
                <a:spcPts val="0"/>
              </a:spcBef>
              <a:spcAft>
                <a:spcPts val="0"/>
              </a:spcAft>
              <a:buFont typeface="+mj-lt"/>
              <a:buAutoNum type="arabicPeriod"/>
            </a:pPr>
            <a:r>
              <a:rPr lang="en-US" sz="1800"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Evaluation of existing conditions. </a:t>
            </a:r>
          </a:p>
          <a:p>
            <a:pPr marL="342900" marR="0" lvl="0" indent="-342900">
              <a:lnSpc>
                <a:spcPct val="120000"/>
              </a:lnSpc>
              <a:spcBef>
                <a:spcPts val="0"/>
              </a:spcBef>
              <a:spcAft>
                <a:spcPts val="0"/>
              </a:spcAft>
              <a:buFont typeface="+mj-lt"/>
              <a:buAutoNum type="arabicPeriod"/>
            </a:pPr>
            <a:r>
              <a:rPr lang="en-US" sz="1800"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Final plan.</a:t>
            </a:r>
          </a:p>
          <a:p>
            <a:pPr marL="0" marR="0" indent="0">
              <a:lnSpc>
                <a:spcPct val="120000"/>
              </a:lnSpc>
              <a:spcBef>
                <a:spcPts val="0"/>
              </a:spcBef>
              <a:spcAft>
                <a:spcPts val="0"/>
              </a:spcAft>
              <a:buNone/>
            </a:pP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spcAft>
                <a:spcPts val="0"/>
              </a:spcAft>
              <a:buNone/>
            </a:pPr>
            <a:r>
              <a:rPr lang="en-US" sz="22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Project initiation</a:t>
            </a:r>
            <a:endParaRPr lang="en-US"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20000"/>
              </a:lnSpc>
              <a:spcBef>
                <a:spcPts val="0"/>
              </a:spcBef>
              <a:spcAft>
                <a:spcPts val="0"/>
              </a:spcAft>
              <a:buNone/>
            </a:pPr>
            <a:r>
              <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Project initiation involves multiple tasks including the scheduling and refinement of project activities. The initiation phase will begin immediately following the issuance of a notice to proceed. Working with the town council, the consults will complete the following tasks:</a:t>
            </a:r>
          </a:p>
          <a:p>
            <a:pPr marL="342900" marR="0" lvl="0" indent="-342900">
              <a:lnSpc>
                <a:spcPct val="120000"/>
              </a:lnSpc>
              <a:spcBef>
                <a:spcPts val="0"/>
              </a:spcBef>
              <a:spcAft>
                <a:spcPts val="0"/>
              </a:spcAft>
              <a:buFont typeface="Wingdings" panose="05000000000000000000" pitchFamily="2" charset="2"/>
              <a:buChar char=""/>
            </a:pPr>
            <a:r>
              <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Final edits on the scope of work, including likely dates for meetings, draft reviews and adoption.</a:t>
            </a:r>
          </a:p>
          <a:p>
            <a:pPr marL="342900" marR="0" lvl="0" indent="-342900">
              <a:lnSpc>
                <a:spcPct val="120000"/>
              </a:lnSpc>
              <a:spcBef>
                <a:spcPts val="0"/>
              </a:spcBef>
              <a:spcAft>
                <a:spcPts val="0"/>
              </a:spcAft>
              <a:buFont typeface="Wingdings" panose="05000000000000000000" pitchFamily="2" charset="2"/>
              <a:buChar char=""/>
            </a:pPr>
            <a:r>
              <a:rPr lang="en-US" sz="1800"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Formation of the steering committee</a:t>
            </a:r>
            <a:r>
              <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which will provide support, guidance and oversight of progress. The consulting team will report to the local steering committee consisting of town council members and residents whom they appoint.</a:t>
            </a:r>
          </a:p>
          <a:p>
            <a:pPr marL="342900" marR="0" lvl="0" indent="-342900">
              <a:lnSpc>
                <a:spcPct val="120000"/>
              </a:lnSpc>
              <a:spcBef>
                <a:spcPts val="0"/>
              </a:spcBef>
              <a:spcAft>
                <a:spcPts val="0"/>
              </a:spcAft>
              <a:buFont typeface="Wingdings" panose="05000000000000000000" pitchFamily="2" charset="2"/>
              <a:buChar char=""/>
            </a:pPr>
            <a:r>
              <a:rPr lang="en-US" sz="1800"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Collection of a list of key stakeholders</a:t>
            </a:r>
            <a:r>
              <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which includes people or organizations that are involved in the project or whose interests may be positively or negatively affected by the plan. These may include members of neighborhoods, the business community, school district and representatives of government agencies such as the Indiana Department of Transportation.</a:t>
            </a:r>
          </a:p>
          <a:p>
            <a:pPr marL="342900" marR="0" lvl="0" indent="-342900">
              <a:lnSpc>
                <a:spcPct val="120000"/>
              </a:lnSpc>
              <a:spcBef>
                <a:spcPts val="0"/>
              </a:spcBef>
              <a:spcAft>
                <a:spcPts val="0"/>
              </a:spcAft>
              <a:buFont typeface="Wingdings" panose="05000000000000000000" pitchFamily="2" charset="2"/>
              <a:buChar char=""/>
            </a:pPr>
            <a:r>
              <a:rPr lang="en-US" sz="1800"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Conduct a site visit</a:t>
            </a:r>
            <a:r>
              <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to refine the project team’s understanding of the existing conditions. This visit will be scheduled concurrent with the first steering committee.</a:t>
            </a:r>
          </a:p>
        </p:txBody>
      </p:sp>
    </p:spTree>
    <p:extLst>
      <p:ext uri="{BB962C8B-B14F-4D97-AF65-F5344CB8AC3E}">
        <p14:creationId xmlns:p14="http://schemas.microsoft.com/office/powerpoint/2010/main" val="8205052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B856C5-0C0E-4977-8E39-620B573315A6}"/>
              </a:ext>
            </a:extLst>
          </p:cNvPr>
          <p:cNvSpPr>
            <a:spLocks noGrp="1"/>
          </p:cNvSpPr>
          <p:nvPr>
            <p:ph idx="1"/>
          </p:nvPr>
        </p:nvSpPr>
        <p:spPr>
          <a:xfrm>
            <a:off x="1066800" y="733539"/>
            <a:ext cx="10058400" cy="5390922"/>
          </a:xfrm>
        </p:spPr>
        <p:txBody>
          <a:bodyPr>
            <a:normAutofit/>
          </a:bodyPr>
          <a:lstStyle/>
          <a:p>
            <a:pPr marL="0" indent="0">
              <a:buNone/>
            </a:pPr>
            <a:r>
              <a:rPr lang="en-US" sz="5000" dirty="0">
                <a:solidFill>
                  <a:schemeClr val="tx1"/>
                </a:solidFill>
              </a:rPr>
              <a:t>If you hand a client a complete scope of work, you are giving them a project they can see.</a:t>
            </a:r>
          </a:p>
          <a:p>
            <a:endParaRPr lang="en-US" sz="5000" dirty="0">
              <a:solidFill>
                <a:schemeClr val="tx1"/>
              </a:solidFill>
            </a:endParaRPr>
          </a:p>
          <a:p>
            <a:pPr marL="0" indent="0">
              <a:buNone/>
            </a:pPr>
            <a:r>
              <a:rPr lang="en-US" sz="5000" dirty="0">
                <a:solidFill>
                  <a:schemeClr val="tx1"/>
                </a:solidFill>
              </a:rPr>
              <a:t>If not, you’re giving them a </a:t>
            </a:r>
            <a:r>
              <a:rPr lang="en-US" sz="5000" b="1" dirty="0">
                <a:solidFill>
                  <a:srgbClr val="FF0000"/>
                </a:solidFill>
              </a:rPr>
              <a:t>wish list</a:t>
            </a:r>
            <a:r>
              <a:rPr lang="en-US" sz="5000" dirty="0">
                <a:solidFill>
                  <a:schemeClr val="tx1"/>
                </a:solidFill>
              </a:rPr>
              <a:t>.</a:t>
            </a:r>
          </a:p>
        </p:txBody>
      </p:sp>
      <p:sp>
        <p:nvSpPr>
          <p:cNvPr id="4" name="Slide Number Placeholder 3">
            <a:extLst>
              <a:ext uri="{FF2B5EF4-FFF2-40B4-BE49-F238E27FC236}">
                <a16:creationId xmlns:a16="http://schemas.microsoft.com/office/drawing/2014/main" id="{B73E99B2-4670-447E-85CE-5CA9DD1ED1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041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9EC06-974F-A636-0A29-0D82860AC2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40B0B0-3E84-3031-BD9E-A1B998EDE732}"/>
              </a:ext>
            </a:extLst>
          </p:cNvPr>
          <p:cNvSpPr>
            <a:spLocks noGrp="1"/>
          </p:cNvSpPr>
          <p:nvPr>
            <p:ph idx="1"/>
          </p:nvPr>
        </p:nvSpPr>
        <p:spPr>
          <a:xfrm>
            <a:off x="431345" y="1354516"/>
            <a:ext cx="11329309" cy="5390922"/>
          </a:xfrm>
        </p:spPr>
        <p:txBody>
          <a:bodyPr>
            <a:normAutofit/>
          </a:bodyPr>
          <a:lstStyle/>
          <a:p>
            <a:pPr>
              <a:lnSpc>
                <a:spcPct val="100000"/>
              </a:lnSpc>
              <a:spcBef>
                <a:spcPts val="0"/>
              </a:spcBef>
              <a:spcAft>
                <a:spcPts val="0"/>
              </a:spcAft>
              <a:buFont typeface="Wingdings" panose="05000000000000000000" pitchFamily="2" charset="2"/>
              <a:buChar char="§"/>
            </a:pPr>
            <a:r>
              <a:rPr lang="en-US" sz="3000" dirty="0">
                <a:solidFill>
                  <a:schemeClr val="tx1"/>
                </a:solidFill>
              </a:rPr>
              <a:t> </a:t>
            </a:r>
            <a:r>
              <a:rPr lang="en-US" sz="3000" b="1" dirty="0">
                <a:solidFill>
                  <a:schemeClr val="tx1"/>
                </a:solidFill>
                <a:highlight>
                  <a:srgbClr val="FFFF00"/>
                </a:highlight>
              </a:rPr>
              <a:t>You get faster</a:t>
            </a:r>
            <a:r>
              <a:rPr lang="en-US" sz="3000" dirty="0">
                <a:solidFill>
                  <a:schemeClr val="tx1"/>
                </a:solidFill>
              </a:rPr>
              <a:t> with time and experience.</a:t>
            </a:r>
          </a:p>
          <a:p>
            <a:pPr>
              <a:lnSpc>
                <a:spcPct val="100000"/>
              </a:lnSpc>
              <a:spcBef>
                <a:spcPts val="0"/>
              </a:spcBef>
              <a:spcAft>
                <a:spcPts val="0"/>
              </a:spcAft>
              <a:buFont typeface="Wingdings" panose="05000000000000000000" pitchFamily="2" charset="2"/>
              <a:buChar char="§"/>
            </a:pPr>
            <a:r>
              <a:rPr lang="en-US" sz="3000" dirty="0">
                <a:solidFill>
                  <a:schemeClr val="tx1"/>
                </a:solidFill>
              </a:rPr>
              <a:t> You </a:t>
            </a:r>
            <a:r>
              <a:rPr lang="en-US" sz="3000" b="1" dirty="0">
                <a:solidFill>
                  <a:schemeClr val="tx1"/>
                </a:solidFill>
                <a:highlight>
                  <a:srgbClr val="FFFF00"/>
                </a:highlight>
              </a:rPr>
              <a:t>create templates</a:t>
            </a:r>
            <a:r>
              <a:rPr lang="en-US" sz="3000" dirty="0">
                <a:solidFill>
                  <a:schemeClr val="tx1"/>
                </a:solidFill>
              </a:rPr>
              <a:t> that can be tailored for later projects.</a:t>
            </a:r>
          </a:p>
          <a:p>
            <a:pPr>
              <a:lnSpc>
                <a:spcPct val="100000"/>
              </a:lnSpc>
              <a:spcBef>
                <a:spcPts val="0"/>
              </a:spcBef>
              <a:spcAft>
                <a:spcPts val="0"/>
              </a:spcAft>
              <a:buFont typeface="Wingdings" panose="05000000000000000000" pitchFamily="2" charset="2"/>
              <a:buChar char="§"/>
            </a:pPr>
            <a:r>
              <a:rPr lang="en-US" sz="3000" dirty="0">
                <a:solidFill>
                  <a:schemeClr val="tx1"/>
                </a:solidFill>
              </a:rPr>
              <a:t> Maybe just pick one or two things that are especially important to you. If you’re not worried about the rest, then, well, don’t worry about them. </a:t>
            </a:r>
          </a:p>
          <a:p>
            <a:pPr>
              <a:lnSpc>
                <a:spcPct val="100000"/>
              </a:lnSpc>
              <a:spcBef>
                <a:spcPts val="0"/>
              </a:spcBef>
              <a:spcAft>
                <a:spcPts val="0"/>
              </a:spcAft>
              <a:buFont typeface="Wingdings" panose="05000000000000000000" pitchFamily="2" charset="2"/>
              <a:buChar char="§"/>
            </a:pPr>
            <a:r>
              <a:rPr lang="en-US" sz="3000" dirty="0">
                <a:solidFill>
                  <a:schemeClr val="tx1"/>
                </a:solidFill>
              </a:rPr>
              <a:t> Become </a:t>
            </a:r>
            <a:r>
              <a:rPr lang="en-US" sz="3000" b="1" dirty="0">
                <a:solidFill>
                  <a:srgbClr val="FF0000"/>
                </a:solidFill>
              </a:rPr>
              <a:t>vitally important when someone else is doing the work</a:t>
            </a:r>
            <a:r>
              <a:rPr lang="en-US" sz="3000" dirty="0">
                <a:solidFill>
                  <a:schemeClr val="tx1"/>
                </a:solidFill>
              </a:rPr>
              <a:t>.</a:t>
            </a:r>
          </a:p>
          <a:p>
            <a:pPr>
              <a:lnSpc>
                <a:spcPct val="100000"/>
              </a:lnSpc>
              <a:spcBef>
                <a:spcPts val="0"/>
              </a:spcBef>
              <a:spcAft>
                <a:spcPts val="0"/>
              </a:spcAft>
              <a:buFont typeface="Wingdings" panose="05000000000000000000" pitchFamily="2" charset="2"/>
              <a:buChar char="§"/>
            </a:pPr>
            <a:r>
              <a:rPr lang="en-US" sz="3000" dirty="0">
                <a:solidFill>
                  <a:schemeClr val="tx1"/>
                </a:solidFill>
              </a:rPr>
              <a:t> Better defined your requirements are more likely to ensure the project as a whole delivers is exactly what is needed. </a:t>
            </a:r>
          </a:p>
          <a:p>
            <a:pPr>
              <a:lnSpc>
                <a:spcPct val="100000"/>
              </a:lnSpc>
              <a:spcBef>
                <a:spcPts val="0"/>
              </a:spcBef>
              <a:spcAft>
                <a:spcPts val="0"/>
              </a:spcAft>
              <a:buFont typeface="Wingdings" panose="05000000000000000000" pitchFamily="2" charset="2"/>
              <a:buChar char="§"/>
            </a:pPr>
            <a:r>
              <a:rPr lang="en-US" sz="3000" dirty="0">
                <a:solidFill>
                  <a:schemeClr val="tx1"/>
                </a:solidFill>
              </a:rPr>
              <a:t> The effort you put into project definition up-front hugely reduces the risk of misunderstandings – or straight-up project failure – later. </a:t>
            </a:r>
            <a:r>
              <a:rPr lang="en-US" sz="3000" dirty="0">
                <a:solidFill>
                  <a:schemeClr val="tx1"/>
                </a:solidFill>
                <a:highlight>
                  <a:srgbClr val="FFFF00"/>
                </a:highlight>
              </a:rPr>
              <a:t>Poor requirements definition is one of the main causes of project failure</a:t>
            </a:r>
            <a:r>
              <a:rPr lang="en-US" sz="3000" dirty="0">
                <a:solidFill>
                  <a:schemeClr val="tx1"/>
                </a:solidFill>
              </a:rPr>
              <a:t>.</a:t>
            </a:r>
          </a:p>
        </p:txBody>
      </p:sp>
      <p:sp>
        <p:nvSpPr>
          <p:cNvPr id="4" name="Slide Number Placeholder 3">
            <a:extLst>
              <a:ext uri="{FF2B5EF4-FFF2-40B4-BE49-F238E27FC236}">
                <a16:creationId xmlns:a16="http://schemas.microsoft.com/office/drawing/2014/main" id="{52C4DC33-97D1-DDC3-23A2-3FA3AB077C3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0C08370-7B85-B32D-18DA-6EA5279C167D}"/>
              </a:ext>
            </a:extLst>
          </p:cNvPr>
          <p:cNvSpPr>
            <a:spLocks noGrp="1"/>
          </p:cNvSpPr>
          <p:nvPr>
            <p:ph type="title"/>
          </p:nvPr>
        </p:nvSpPr>
        <p:spPr>
          <a:xfrm>
            <a:off x="21380" y="112562"/>
            <a:ext cx="12170620" cy="1030360"/>
          </a:xfrm>
        </p:spPr>
        <p:txBody>
          <a:bodyPr>
            <a:noAutofit/>
          </a:bodyPr>
          <a:lstStyle/>
          <a:p>
            <a:pPr algn="ctr">
              <a:lnSpc>
                <a:spcPct val="100000"/>
              </a:lnSpc>
            </a:pPr>
            <a:r>
              <a:rPr lang="en-US" sz="4500" b="1" cap="none" dirty="0">
                <a:latin typeface="Calibri" panose="020F0502020204030204" pitchFamily="34" charset="0"/>
                <a:cs typeface="Calibri" panose="020F0502020204030204" pitchFamily="34" charset="0"/>
              </a:rPr>
              <a:t>What’s That? Too Much Damn Work?</a:t>
            </a:r>
            <a:endParaRPr lang="en-US" sz="4500" cap="non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84529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71DEB-6306-60A4-96AB-D117C48993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3789CE-E086-206E-06AB-D89CED7BE21F}"/>
              </a:ext>
            </a:extLst>
          </p:cNvPr>
          <p:cNvSpPr>
            <a:spLocks noGrp="1"/>
          </p:cNvSpPr>
          <p:nvPr>
            <p:ph idx="1"/>
          </p:nvPr>
        </p:nvSpPr>
        <p:spPr>
          <a:xfrm>
            <a:off x="431345" y="1354516"/>
            <a:ext cx="11329309" cy="5390922"/>
          </a:xfrm>
        </p:spPr>
        <p:txBody>
          <a:bodyPr>
            <a:normAutofit fontScale="77500" lnSpcReduction="20000"/>
          </a:bodyPr>
          <a:lstStyle/>
          <a:p>
            <a:pPr marL="0" indent="0">
              <a:lnSpc>
                <a:spcPct val="120000"/>
              </a:lnSpc>
              <a:spcBef>
                <a:spcPts val="0"/>
              </a:spcBef>
              <a:spcAft>
                <a:spcPts val="0"/>
              </a:spcAft>
              <a:buNone/>
            </a:pPr>
            <a:r>
              <a:rPr lang="en-US" sz="3000" b="1" dirty="0">
                <a:solidFill>
                  <a:schemeClr val="tx1"/>
                </a:solidFill>
              </a:rPr>
              <a:t>Snag</a:t>
            </a:r>
            <a:r>
              <a:rPr lang="en-US" sz="3000" dirty="0">
                <a:solidFill>
                  <a:schemeClr val="tx1"/>
                </a:solidFill>
              </a:rPr>
              <a:t>. A </a:t>
            </a:r>
            <a:r>
              <a:rPr lang="en-US" sz="3000" b="1" dirty="0">
                <a:solidFill>
                  <a:schemeClr val="tx1"/>
                </a:solidFill>
                <a:highlight>
                  <a:srgbClr val="FFFF00"/>
                </a:highlight>
              </a:rPr>
              <a:t>minor mistake or oversight</a:t>
            </a:r>
            <a:r>
              <a:rPr lang="en-US" sz="3000" dirty="0">
                <a:solidFill>
                  <a:schemeClr val="tx1"/>
                </a:solidFill>
              </a:rPr>
              <a:t>, but should be put right before the work is considered complete. It would be wrong to suggest that the project had failed on account of a snag, but you would still expect it to be put right.</a:t>
            </a:r>
            <a:br>
              <a:rPr lang="en-US" sz="3000" dirty="0">
                <a:solidFill>
                  <a:schemeClr val="tx1"/>
                </a:solidFill>
              </a:rPr>
            </a:br>
            <a:endParaRPr lang="en-US" sz="3000" dirty="0">
              <a:solidFill>
                <a:schemeClr val="tx1"/>
              </a:solidFill>
            </a:endParaRPr>
          </a:p>
          <a:p>
            <a:pPr marL="0" indent="0">
              <a:lnSpc>
                <a:spcPct val="120000"/>
              </a:lnSpc>
              <a:spcBef>
                <a:spcPts val="0"/>
              </a:spcBef>
              <a:spcAft>
                <a:spcPts val="0"/>
              </a:spcAft>
              <a:buNone/>
            </a:pPr>
            <a:r>
              <a:rPr lang="en-US" sz="3000" b="1" dirty="0">
                <a:solidFill>
                  <a:schemeClr val="tx1"/>
                </a:solidFill>
              </a:rPr>
              <a:t>Defects</a:t>
            </a:r>
            <a:r>
              <a:rPr lang="en-US" sz="3000" dirty="0">
                <a:solidFill>
                  <a:schemeClr val="tx1"/>
                </a:solidFill>
              </a:rPr>
              <a:t>. At the next level we have issues which affect the underlying functionality or fitness-for-purpose of the finished product. It will be a failure to correctly deliver on one of the explicit or reasonably implied requirements. In other words, it is a </a:t>
            </a:r>
            <a:r>
              <a:rPr lang="en-US" sz="3000" b="1" dirty="0">
                <a:solidFill>
                  <a:schemeClr val="tx1"/>
                </a:solidFill>
                <a:highlight>
                  <a:srgbClr val="FFFF00"/>
                </a:highlight>
              </a:rPr>
              <a:t>mistake that can generally be corrected, but will require a little more effort and potentially some additional cost</a:t>
            </a:r>
            <a:r>
              <a:rPr lang="en-US" sz="3000" dirty="0">
                <a:solidFill>
                  <a:schemeClr val="tx1"/>
                </a:solidFill>
              </a:rPr>
              <a:t>. </a:t>
            </a:r>
            <a:br>
              <a:rPr lang="en-US" sz="3000" dirty="0">
                <a:solidFill>
                  <a:schemeClr val="tx1"/>
                </a:solidFill>
              </a:rPr>
            </a:br>
            <a:endParaRPr lang="en-US" sz="3000" dirty="0">
              <a:solidFill>
                <a:schemeClr val="tx1"/>
              </a:solidFill>
            </a:endParaRPr>
          </a:p>
          <a:p>
            <a:pPr marL="0" indent="0">
              <a:lnSpc>
                <a:spcPct val="120000"/>
              </a:lnSpc>
              <a:spcBef>
                <a:spcPts val="0"/>
              </a:spcBef>
              <a:spcAft>
                <a:spcPts val="0"/>
              </a:spcAft>
              <a:buNone/>
            </a:pPr>
            <a:r>
              <a:rPr lang="en-US" sz="3000" b="1" dirty="0">
                <a:solidFill>
                  <a:schemeClr val="tx1"/>
                </a:solidFill>
              </a:rPr>
              <a:t>Missed requirements</a:t>
            </a:r>
            <a:r>
              <a:rPr lang="en-US" sz="3000" dirty="0">
                <a:solidFill>
                  <a:schemeClr val="tx1"/>
                </a:solidFill>
              </a:rPr>
              <a:t>. These are straightforward – quite simply, a requirement that has been explicitly stated (or that should be reasonably implied) has been omitted from the final delivery - the </a:t>
            </a:r>
            <a:r>
              <a:rPr lang="en-US" sz="3000" b="1" dirty="0">
                <a:solidFill>
                  <a:srgbClr val="FF0000"/>
                </a:solidFill>
                <a:highlight>
                  <a:srgbClr val="FFFF00"/>
                </a:highlight>
              </a:rPr>
              <a:t>sinking, gut-wrenching horror of discovering the overlooked email, buried deep in our inbox, that requested something we have not now done</a:t>
            </a:r>
            <a:r>
              <a:rPr lang="en-US" sz="3000" dirty="0">
                <a:solidFill>
                  <a:schemeClr val="tx1"/>
                </a:solidFill>
              </a:rPr>
              <a:t>.  </a:t>
            </a:r>
          </a:p>
        </p:txBody>
      </p:sp>
      <p:sp>
        <p:nvSpPr>
          <p:cNvPr id="4" name="Slide Number Placeholder 3">
            <a:extLst>
              <a:ext uri="{FF2B5EF4-FFF2-40B4-BE49-F238E27FC236}">
                <a16:creationId xmlns:a16="http://schemas.microsoft.com/office/drawing/2014/main" id="{FDDDF243-1868-A71E-7F8A-0A6CE3C76A4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C2382F-E244-D791-85B7-14409564E1FD}"/>
              </a:ext>
            </a:extLst>
          </p:cNvPr>
          <p:cNvSpPr>
            <a:spLocks noGrp="1"/>
          </p:cNvSpPr>
          <p:nvPr>
            <p:ph type="title"/>
          </p:nvPr>
        </p:nvSpPr>
        <p:spPr>
          <a:xfrm>
            <a:off x="21380" y="112562"/>
            <a:ext cx="12170620" cy="1030360"/>
          </a:xfrm>
        </p:spPr>
        <p:txBody>
          <a:bodyPr>
            <a:noAutofit/>
          </a:bodyPr>
          <a:lstStyle/>
          <a:p>
            <a:pPr algn="ctr">
              <a:lnSpc>
                <a:spcPct val="100000"/>
              </a:lnSpc>
            </a:pPr>
            <a:r>
              <a:rPr lang="en-US" sz="4500" b="1" cap="none" dirty="0">
                <a:latin typeface="Calibri" panose="020F0502020204030204" pitchFamily="34" charset="0"/>
                <a:cs typeface="Calibri" panose="020F0502020204030204" pitchFamily="34" charset="0"/>
              </a:rPr>
              <a:t>Snags, Defects &amp; Missed Requirements</a:t>
            </a:r>
            <a:endParaRPr lang="en-US" sz="4500" cap="non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96957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361C1-27B7-954A-2555-0EBE739AD4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8EB791-18CD-92E9-BBAE-7657BC27B909}"/>
              </a:ext>
            </a:extLst>
          </p:cNvPr>
          <p:cNvSpPr>
            <a:spLocks noGrp="1"/>
          </p:cNvSpPr>
          <p:nvPr>
            <p:ph idx="1"/>
          </p:nvPr>
        </p:nvSpPr>
        <p:spPr>
          <a:xfrm>
            <a:off x="431345" y="1354516"/>
            <a:ext cx="11329309" cy="5390922"/>
          </a:xfrm>
        </p:spPr>
        <p:txBody>
          <a:bodyPr>
            <a:normAutofit lnSpcReduction="10000"/>
          </a:bodyPr>
          <a:lstStyle/>
          <a:p>
            <a:pPr marL="0" indent="0">
              <a:lnSpc>
                <a:spcPct val="110000"/>
              </a:lnSpc>
              <a:spcBef>
                <a:spcPts val="0"/>
              </a:spcBef>
              <a:spcAft>
                <a:spcPts val="0"/>
              </a:spcAft>
              <a:buNone/>
            </a:pPr>
            <a:r>
              <a:rPr lang="en-US" sz="3000" dirty="0">
                <a:solidFill>
                  <a:schemeClr val="tx1"/>
                </a:solidFill>
              </a:rPr>
              <a:t>If it was clearly defined in the agreed requirements, then it should have been delivered. If it has not been delivered, then it is incumbent upon the client to rectify that at their own cost.</a:t>
            </a:r>
          </a:p>
          <a:p>
            <a:pPr marL="0" indent="0">
              <a:lnSpc>
                <a:spcPct val="110000"/>
              </a:lnSpc>
              <a:spcBef>
                <a:spcPts val="0"/>
              </a:spcBef>
              <a:spcAft>
                <a:spcPts val="0"/>
              </a:spcAft>
              <a:buNone/>
            </a:pPr>
            <a:endParaRPr lang="en-US" sz="3000" dirty="0">
              <a:solidFill>
                <a:schemeClr val="tx1"/>
              </a:solidFill>
            </a:endParaRPr>
          </a:p>
          <a:p>
            <a:pPr marL="0" indent="0">
              <a:lnSpc>
                <a:spcPct val="110000"/>
              </a:lnSpc>
              <a:spcBef>
                <a:spcPts val="0"/>
              </a:spcBef>
              <a:spcAft>
                <a:spcPts val="0"/>
              </a:spcAft>
              <a:buNone/>
            </a:pPr>
            <a:r>
              <a:rPr lang="en-US" sz="3000" dirty="0">
                <a:solidFill>
                  <a:schemeClr val="tx1"/>
                </a:solidFill>
              </a:rPr>
              <a:t>If it was </a:t>
            </a:r>
            <a:r>
              <a:rPr lang="en-US" sz="3000" b="1" dirty="0">
                <a:solidFill>
                  <a:srgbClr val="FF0000"/>
                </a:solidFill>
              </a:rPr>
              <a:t>not clearly defined</a:t>
            </a:r>
            <a:r>
              <a:rPr lang="en-US" sz="3000" dirty="0">
                <a:solidFill>
                  <a:schemeClr val="tx1"/>
                </a:solidFill>
              </a:rPr>
              <a:t> in the agreed requirements, </a:t>
            </a:r>
            <a:r>
              <a:rPr lang="en-US" sz="3000" b="1" dirty="0">
                <a:solidFill>
                  <a:schemeClr val="tx1"/>
                </a:solidFill>
              </a:rPr>
              <a:t>there is no obligation on the PM to deliver it</a:t>
            </a:r>
            <a:r>
              <a:rPr lang="en-US" sz="3000" dirty="0">
                <a:solidFill>
                  <a:schemeClr val="tx1"/>
                </a:solidFill>
              </a:rPr>
              <a:t>.</a:t>
            </a:r>
          </a:p>
          <a:p>
            <a:pPr marL="0" indent="0">
              <a:lnSpc>
                <a:spcPct val="110000"/>
              </a:lnSpc>
              <a:spcBef>
                <a:spcPts val="0"/>
              </a:spcBef>
              <a:spcAft>
                <a:spcPts val="0"/>
              </a:spcAft>
              <a:buNone/>
            </a:pPr>
            <a:endParaRPr lang="en-US" sz="3000" dirty="0">
              <a:solidFill>
                <a:schemeClr val="tx1"/>
              </a:solidFill>
            </a:endParaRPr>
          </a:p>
          <a:p>
            <a:pPr marL="0" indent="0">
              <a:lnSpc>
                <a:spcPct val="110000"/>
              </a:lnSpc>
              <a:spcBef>
                <a:spcPts val="0"/>
              </a:spcBef>
              <a:spcAft>
                <a:spcPts val="0"/>
              </a:spcAft>
              <a:buNone/>
            </a:pPr>
            <a:r>
              <a:rPr lang="en-US" sz="3000" dirty="0">
                <a:solidFill>
                  <a:schemeClr val="tx1"/>
                </a:solidFill>
              </a:rPr>
              <a:t>If the definition in the agreed requirements turns out to be unclear, or open to interpretation, then </a:t>
            </a:r>
            <a:r>
              <a:rPr lang="en-US" sz="3000" b="1" dirty="0">
                <a:solidFill>
                  <a:schemeClr val="tx1"/>
                </a:solidFill>
                <a:highlight>
                  <a:srgbClr val="FFFF00"/>
                </a:highlight>
              </a:rPr>
              <a:t>both parties will need to find a way to resolve the matter amicably</a:t>
            </a:r>
            <a:r>
              <a:rPr lang="en-US" sz="3000" dirty="0">
                <a:solidFill>
                  <a:schemeClr val="tx1"/>
                </a:solidFill>
              </a:rPr>
              <a:t> (or possibly not, but this should always be the aim). This may mean reverting to mediation.</a:t>
            </a:r>
          </a:p>
        </p:txBody>
      </p:sp>
      <p:sp>
        <p:nvSpPr>
          <p:cNvPr id="4" name="Slide Number Placeholder 3">
            <a:extLst>
              <a:ext uri="{FF2B5EF4-FFF2-40B4-BE49-F238E27FC236}">
                <a16:creationId xmlns:a16="http://schemas.microsoft.com/office/drawing/2014/main" id="{851E8B66-8B73-F261-9A6A-F57371868D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AAD90D-2D2B-E5EA-C068-0F62E5776783}"/>
              </a:ext>
            </a:extLst>
          </p:cNvPr>
          <p:cNvSpPr>
            <a:spLocks noGrp="1"/>
          </p:cNvSpPr>
          <p:nvPr>
            <p:ph type="title"/>
          </p:nvPr>
        </p:nvSpPr>
        <p:spPr>
          <a:xfrm>
            <a:off x="21380" y="112562"/>
            <a:ext cx="12170620" cy="1030360"/>
          </a:xfrm>
        </p:spPr>
        <p:txBody>
          <a:bodyPr>
            <a:noAutofit/>
          </a:bodyPr>
          <a:lstStyle/>
          <a:p>
            <a:pPr algn="ctr">
              <a:lnSpc>
                <a:spcPct val="100000"/>
              </a:lnSpc>
            </a:pPr>
            <a:r>
              <a:rPr lang="en-US" sz="4500" b="1" cap="none" dirty="0">
                <a:latin typeface="Calibri" panose="020F0502020204030204" pitchFamily="34" charset="0"/>
                <a:cs typeface="Calibri" panose="020F0502020204030204" pitchFamily="34" charset="0"/>
              </a:rPr>
              <a:t>Requirement Changes</a:t>
            </a:r>
            <a:endParaRPr lang="en-US" sz="4500" cap="non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0301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Backgrounds Gold - Wallpaper Cave">
            <a:extLst>
              <a:ext uri="{FF2B5EF4-FFF2-40B4-BE49-F238E27FC236}">
                <a16:creationId xmlns:a16="http://schemas.microsoft.com/office/drawing/2014/main" id="{4BF0455D-E564-0A6B-5755-A1213975BA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6" descr="Tuition PNG Transparent Images Free Download | Vector Files | Pngtree">
            <a:extLst>
              <a:ext uri="{FF2B5EF4-FFF2-40B4-BE49-F238E27FC236}">
                <a16:creationId xmlns:a16="http://schemas.microsoft.com/office/drawing/2014/main" id="{086CC3C1-7BE7-395E-10BB-AE0F9B71D3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599264">
            <a:off x="9446440" y="481259"/>
            <a:ext cx="3059730" cy="119413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007D036-CDBC-4EB9-A94F-BEAB3E20CFD1}"/>
              </a:ext>
            </a:extLst>
          </p:cNvPr>
          <p:cNvSpPr txBox="1">
            <a:spLocks/>
          </p:cNvSpPr>
          <p:nvPr/>
        </p:nvSpPr>
        <p:spPr>
          <a:xfrm>
            <a:off x="926362" y="380209"/>
            <a:ext cx="10646229" cy="9721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500" b="1"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Managing Expectations</a:t>
            </a:r>
            <a:endParaRPr kumimoji="0" lang="en-US" sz="4400" b="1"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p:txBody>
      </p:sp>
      <p:sp>
        <p:nvSpPr>
          <p:cNvPr id="5" name="TextBox 4">
            <a:extLst>
              <a:ext uri="{FF2B5EF4-FFF2-40B4-BE49-F238E27FC236}">
                <a16:creationId xmlns:a16="http://schemas.microsoft.com/office/drawing/2014/main" id="{B4C1E0D5-8078-41F7-92FD-B0778A6FFADD}"/>
              </a:ext>
            </a:extLst>
          </p:cNvPr>
          <p:cNvSpPr txBox="1"/>
          <p:nvPr/>
        </p:nvSpPr>
        <p:spPr>
          <a:xfrm>
            <a:off x="760564" y="1466721"/>
            <a:ext cx="10812027" cy="5078313"/>
          </a:xfrm>
          <a:prstGeom prst="rect">
            <a:avLst/>
          </a:prstGeom>
          <a:noFill/>
        </p:spPr>
        <p:txBody>
          <a:bodyPr wrap="square">
            <a:spAutoFit/>
          </a:bodyPr>
          <a:lstStyle/>
          <a:p>
            <a:pPr marL="571500" lvl="0" indent="-571500">
              <a:buFont typeface="Wingdings" panose="05000000000000000000" pitchFamily="2" charset="2"/>
              <a:buChar char="v"/>
              <a:defRPr/>
            </a:pPr>
            <a:r>
              <a:rPr lang="en-US" sz="3600" b="1" dirty="0"/>
              <a:t>Creating accurate project scope statements and action plans takes time, maybe weeks – and that time has to be allotted for in the schedule. </a:t>
            </a:r>
            <a:br>
              <a:rPr lang="en-US" sz="3600" b="1" dirty="0"/>
            </a:br>
            <a:endParaRPr lang="en-US" sz="3600" b="1" dirty="0"/>
          </a:p>
          <a:p>
            <a:pPr marL="571500" lvl="0" indent="-571500">
              <a:buFont typeface="Wingdings" panose="05000000000000000000" pitchFamily="2" charset="2"/>
              <a:buChar char="v"/>
              <a:defRPr/>
            </a:pPr>
            <a:r>
              <a:rPr lang="en-US" sz="3600" b="1" dirty="0"/>
              <a:t>Bring in teammates and experts to help – which also takes time.</a:t>
            </a:r>
          </a:p>
          <a:p>
            <a:pPr marL="571500" lvl="0" indent="-571500">
              <a:buFont typeface="Wingdings" panose="05000000000000000000" pitchFamily="2" charset="2"/>
              <a:buChar char="v"/>
              <a:defRPr/>
            </a:pPr>
            <a:endParaRPr lang="en-US" sz="3600" b="1" dirty="0"/>
          </a:p>
          <a:p>
            <a:pPr marL="571500" lvl="0" indent="-571500">
              <a:buFont typeface="Wingdings" panose="05000000000000000000" pitchFamily="2" charset="2"/>
              <a:buChar char="v"/>
              <a:defRPr/>
            </a:pPr>
            <a:r>
              <a:rPr lang="en-US" sz="3600" b="1" dirty="0"/>
              <a:t>Watch for </a:t>
            </a:r>
            <a:r>
              <a:rPr lang="en-US" sz="3600" b="1" i="1" dirty="0"/>
              <a:t>creeps and p</a:t>
            </a:r>
            <a:r>
              <a:rPr lang="en-US" sz="3600" b="1" dirty="0"/>
              <a:t>ush through laziness (yours and others) in doing a thorough scope.</a:t>
            </a:r>
            <a:endParaRPr kumimoji="0" lang="en-US" sz="3500" b="0" i="0" u="none" strike="noStrike" kern="1200" cap="none" spc="0" normalizeH="0" baseline="0" noProof="0" dirty="0">
              <a:ln>
                <a:noFill/>
              </a:ln>
              <a:effectLst/>
              <a:uLnTx/>
              <a:uFillTx/>
              <a:latin typeface="Calibri" panose="020F0502020204030204"/>
              <a:ea typeface="Meiryo" panose="020B0604030504040204" pitchFamily="34" charset="-128"/>
              <a:cs typeface="Calibri" panose="020F0502020204030204" pitchFamily="34" charset="0"/>
            </a:endParaRPr>
          </a:p>
        </p:txBody>
      </p:sp>
    </p:spTree>
    <p:extLst>
      <p:ext uri="{BB962C8B-B14F-4D97-AF65-F5344CB8AC3E}">
        <p14:creationId xmlns:p14="http://schemas.microsoft.com/office/powerpoint/2010/main" val="18427106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9A670CF7-C84D-FCE7-383A-4A6BD85594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3746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9A670CF7-C84D-FCE7-383A-4A6BD85594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2">
            <a:extLst>
              <a:ext uri="{FF2B5EF4-FFF2-40B4-BE49-F238E27FC236}">
                <a16:creationId xmlns:a16="http://schemas.microsoft.com/office/drawing/2014/main" id="{CA006236-8143-BBFF-EDC7-28FB1FD89D5C}"/>
              </a:ext>
            </a:extLst>
          </p:cNvPr>
          <p:cNvSpPr txBox="1">
            <a:spLocks/>
          </p:cNvSpPr>
          <p:nvPr/>
        </p:nvSpPr>
        <p:spPr>
          <a:xfrm>
            <a:off x="5947872" y="419073"/>
            <a:ext cx="5418034" cy="104653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base">
              <a:lnSpc>
                <a:spcPct val="120000"/>
              </a:lnSpc>
              <a:spcBef>
                <a:spcPts val="0"/>
              </a:spcBef>
              <a:buFont typeface="Wingdings" panose="05000000000000000000" pitchFamily="2" charset="2"/>
              <a:buChar char="q"/>
            </a:pPr>
            <a:r>
              <a:rPr lang="en-US" sz="4000" b="1" dirty="0"/>
              <a:t> Class 10 Check-In</a:t>
            </a:r>
          </a:p>
        </p:txBody>
      </p:sp>
    </p:spTree>
    <p:extLst>
      <p:ext uri="{BB962C8B-B14F-4D97-AF65-F5344CB8AC3E}">
        <p14:creationId xmlns:p14="http://schemas.microsoft.com/office/powerpoint/2010/main" val="2677716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op 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3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6.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8.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1429</TotalTime>
  <Words>4127</Words>
  <Application>Microsoft Office PowerPoint</Application>
  <PresentationFormat>Widescreen</PresentationFormat>
  <Paragraphs>344</Paragraphs>
  <Slides>64</Slides>
  <Notes>45</Notes>
  <HiddenSlides>0</HiddenSlides>
  <MMClips>0</MMClips>
  <ScaleCrop>false</ScaleCrop>
  <HeadingPairs>
    <vt:vector size="8" baseType="variant">
      <vt:variant>
        <vt:lpstr>Fonts Used</vt:lpstr>
      </vt:variant>
      <vt:variant>
        <vt:i4>15</vt:i4>
      </vt:variant>
      <vt:variant>
        <vt:lpstr>Theme</vt:lpstr>
      </vt:variant>
      <vt:variant>
        <vt:i4>8</vt:i4>
      </vt:variant>
      <vt:variant>
        <vt:lpstr>Embedded OLE Servers</vt:lpstr>
      </vt:variant>
      <vt:variant>
        <vt:i4>1</vt:i4>
      </vt:variant>
      <vt:variant>
        <vt:lpstr>Slide Titles</vt:lpstr>
      </vt:variant>
      <vt:variant>
        <vt:i4>64</vt:i4>
      </vt:variant>
    </vt:vector>
  </HeadingPairs>
  <TitlesOfParts>
    <vt:vector size="88" baseType="lpstr">
      <vt:lpstr>Meiryo</vt:lpstr>
      <vt:lpstr>Algerian</vt:lpstr>
      <vt:lpstr>Amasis MT Pro Black</vt:lpstr>
      <vt:lpstr>Aptos</vt:lpstr>
      <vt:lpstr>Aptos Display</vt:lpstr>
      <vt:lpstr>Arial</vt:lpstr>
      <vt:lpstr>Avenir Next LT Pro Light</vt:lpstr>
      <vt:lpstr>Bierstadt</vt:lpstr>
      <vt:lpstr>Calibri</vt:lpstr>
      <vt:lpstr>Calibri  </vt:lpstr>
      <vt:lpstr>Calibri Light</vt:lpstr>
      <vt:lpstr>Gill Sans MT</vt:lpstr>
      <vt:lpstr>Gill Sans Ultra Bold</vt:lpstr>
      <vt:lpstr>Verdana</vt:lpstr>
      <vt:lpstr>Wingdings</vt:lpstr>
      <vt:lpstr>GestaltVTI</vt:lpstr>
      <vt:lpstr>5_Office Theme</vt:lpstr>
      <vt:lpstr>Parcel</vt:lpstr>
      <vt:lpstr>3_Office Theme</vt:lpstr>
      <vt:lpstr>3_Retrospect</vt:lpstr>
      <vt:lpstr>1_Office Theme</vt:lpstr>
      <vt:lpstr>3_Metropolitan</vt:lpstr>
      <vt:lpstr>6_Office Theme</vt:lpstr>
      <vt:lpstr>Acrobat Document</vt:lpstr>
      <vt:lpstr>V450: Project Management &amp; Implementation </vt:lpstr>
      <vt:lpstr>Warm-Up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Scope Statements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Start with a General Project Statement</vt:lpstr>
      <vt:lpstr>PowerPoint Presentation</vt:lpstr>
      <vt:lpstr>PowerPoint Presentation</vt:lpstr>
      <vt:lpstr>Project Statement</vt:lpstr>
      <vt:lpstr>PowerPoint Presentation</vt:lpstr>
      <vt:lpstr>PowerPoint Presentation</vt:lpstr>
      <vt:lpstr>Scope  Action Plan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 Plan Scope of Work </vt:lpstr>
      <vt:lpstr>PowerPoint Presentation</vt:lpstr>
      <vt:lpstr>What’s That? Too Much Damn Work?</vt:lpstr>
      <vt:lpstr>Snags, Defects &amp; Missed Requirements</vt:lpstr>
      <vt:lpstr>Requirement Changes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Burgins, Robert Scott</dc:creator>
  <cp:lastModifiedBy>Burgins, Robert Scott</cp:lastModifiedBy>
  <cp:revision>36</cp:revision>
  <dcterms:created xsi:type="dcterms:W3CDTF">2025-07-21T16:13:04Z</dcterms:created>
  <dcterms:modified xsi:type="dcterms:W3CDTF">2026-04-02T17:18:38Z</dcterms:modified>
</cp:coreProperties>
</file>