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1.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12.xml" ContentType="application/vnd.openxmlformats-officedocument.theme+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3.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14.xml" ContentType="application/vnd.openxmlformats-officedocument.theme+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15.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16.xml" ContentType="application/vnd.openxmlformats-officedocument.theme+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17.xml" ContentType="application/vnd.openxmlformats-officedocument.theme+xml"/>
  <Override PartName="/ppt/theme/theme1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85" r:id="rId3"/>
    <p:sldMasterId id="2147483847" r:id="rId4"/>
    <p:sldMasterId id="2147483884" r:id="rId5"/>
    <p:sldMasterId id="2147483908" r:id="rId6"/>
    <p:sldMasterId id="2147483920" r:id="rId7"/>
    <p:sldMasterId id="2147483932" r:id="rId8"/>
    <p:sldMasterId id="2147483944" r:id="rId9"/>
    <p:sldMasterId id="2147483956" r:id="rId10"/>
    <p:sldMasterId id="2147483968" r:id="rId11"/>
    <p:sldMasterId id="2147484006" r:id="rId12"/>
    <p:sldMasterId id="2147484018" r:id="rId13"/>
    <p:sldMasterId id="2147484030" r:id="rId14"/>
    <p:sldMasterId id="2147484042" r:id="rId15"/>
    <p:sldMasterId id="2147484054" r:id="rId16"/>
    <p:sldMasterId id="2147484068" r:id="rId17"/>
  </p:sldMasterIdLst>
  <p:notesMasterIdLst>
    <p:notesMasterId r:id="rId97"/>
  </p:notesMasterIdLst>
  <p:sldIdLst>
    <p:sldId id="256" r:id="rId18"/>
    <p:sldId id="299" r:id="rId19"/>
    <p:sldId id="458" r:id="rId20"/>
    <p:sldId id="2142533489" r:id="rId21"/>
    <p:sldId id="2142533495" r:id="rId22"/>
    <p:sldId id="2456" r:id="rId23"/>
    <p:sldId id="2142533431" r:id="rId24"/>
    <p:sldId id="2142533432" r:id="rId25"/>
    <p:sldId id="2142533428" r:id="rId26"/>
    <p:sldId id="2142533434" r:id="rId27"/>
    <p:sldId id="2134804620" r:id="rId28"/>
    <p:sldId id="2134804614" r:id="rId29"/>
    <p:sldId id="2142533446" r:id="rId30"/>
    <p:sldId id="2134804586" r:id="rId31"/>
    <p:sldId id="2142533497" r:id="rId32"/>
    <p:sldId id="2134804612" r:id="rId33"/>
    <p:sldId id="2142533496" r:id="rId34"/>
    <p:sldId id="2142533441" r:id="rId35"/>
    <p:sldId id="2142533498" r:id="rId36"/>
    <p:sldId id="2134804575" r:id="rId37"/>
    <p:sldId id="2134804611" r:id="rId38"/>
    <p:sldId id="2142533416" r:id="rId39"/>
    <p:sldId id="948" r:id="rId40"/>
    <p:sldId id="2134804572" r:id="rId41"/>
    <p:sldId id="805" r:id="rId42"/>
    <p:sldId id="2134804573" r:id="rId43"/>
    <p:sldId id="905" r:id="rId44"/>
    <p:sldId id="2134804574" r:id="rId45"/>
    <p:sldId id="2142533443" r:id="rId46"/>
    <p:sldId id="1052" r:id="rId47"/>
    <p:sldId id="1053" r:id="rId48"/>
    <p:sldId id="924" r:id="rId49"/>
    <p:sldId id="2134804529" r:id="rId50"/>
    <p:sldId id="815" r:id="rId51"/>
    <p:sldId id="871" r:id="rId52"/>
    <p:sldId id="2142533499" r:id="rId53"/>
    <p:sldId id="2134804621" r:id="rId54"/>
    <p:sldId id="2134804623" r:id="rId55"/>
    <p:sldId id="851" r:id="rId56"/>
    <p:sldId id="832" r:id="rId57"/>
    <p:sldId id="810" r:id="rId58"/>
    <p:sldId id="833" r:id="rId59"/>
    <p:sldId id="811" r:id="rId60"/>
    <p:sldId id="922" r:id="rId61"/>
    <p:sldId id="2134804581" r:id="rId62"/>
    <p:sldId id="259" r:id="rId63"/>
    <p:sldId id="2142533444" r:id="rId64"/>
    <p:sldId id="518" r:id="rId65"/>
    <p:sldId id="932" r:id="rId66"/>
    <p:sldId id="933" r:id="rId67"/>
    <p:sldId id="930" r:id="rId68"/>
    <p:sldId id="406" r:id="rId69"/>
    <p:sldId id="409" r:id="rId70"/>
    <p:sldId id="934" r:id="rId71"/>
    <p:sldId id="2142533445" r:id="rId72"/>
    <p:sldId id="920" r:id="rId73"/>
    <p:sldId id="2993" r:id="rId74"/>
    <p:sldId id="921" r:id="rId75"/>
    <p:sldId id="2134804618" r:id="rId76"/>
    <p:sldId id="2142533500" r:id="rId77"/>
    <p:sldId id="357" r:id="rId78"/>
    <p:sldId id="1100" r:id="rId79"/>
    <p:sldId id="303" r:id="rId80"/>
    <p:sldId id="657" r:id="rId81"/>
    <p:sldId id="658" r:id="rId82"/>
    <p:sldId id="757" r:id="rId83"/>
    <p:sldId id="304" r:id="rId84"/>
    <p:sldId id="305" r:id="rId85"/>
    <p:sldId id="318" r:id="rId86"/>
    <p:sldId id="316" r:id="rId87"/>
    <p:sldId id="883" r:id="rId88"/>
    <p:sldId id="884" r:id="rId89"/>
    <p:sldId id="1071" r:id="rId90"/>
    <p:sldId id="888" r:id="rId91"/>
    <p:sldId id="882" r:id="rId92"/>
    <p:sldId id="881" r:id="rId93"/>
    <p:sldId id="893" r:id="rId94"/>
    <p:sldId id="263" r:id="rId95"/>
    <p:sldId id="2142533442"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83" autoAdjust="0"/>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9.xml"/><Relationship Id="rId21" Type="http://schemas.openxmlformats.org/officeDocument/2006/relationships/slide" Target="slides/slide4.xml"/><Relationship Id="rId42" Type="http://schemas.openxmlformats.org/officeDocument/2006/relationships/slide" Target="slides/slide25.xml"/><Relationship Id="rId47" Type="http://schemas.openxmlformats.org/officeDocument/2006/relationships/slide" Target="slides/slide30.xml"/><Relationship Id="rId63" Type="http://schemas.openxmlformats.org/officeDocument/2006/relationships/slide" Target="slides/slide46.xml"/><Relationship Id="rId68" Type="http://schemas.openxmlformats.org/officeDocument/2006/relationships/slide" Target="slides/slide51.xml"/><Relationship Id="rId84" Type="http://schemas.openxmlformats.org/officeDocument/2006/relationships/slide" Target="slides/slide67.xml"/><Relationship Id="rId89" Type="http://schemas.openxmlformats.org/officeDocument/2006/relationships/slide" Target="slides/slide72.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15.xml"/><Relationship Id="rId37" Type="http://schemas.openxmlformats.org/officeDocument/2006/relationships/slide" Target="slides/slide20.xml"/><Relationship Id="rId53" Type="http://schemas.openxmlformats.org/officeDocument/2006/relationships/slide" Target="slides/slide36.xml"/><Relationship Id="rId58" Type="http://schemas.openxmlformats.org/officeDocument/2006/relationships/slide" Target="slides/slide41.xml"/><Relationship Id="rId74" Type="http://schemas.openxmlformats.org/officeDocument/2006/relationships/slide" Target="slides/slide57.xml"/><Relationship Id="rId79" Type="http://schemas.openxmlformats.org/officeDocument/2006/relationships/slide" Target="slides/slide62.xml"/><Relationship Id="rId5" Type="http://schemas.openxmlformats.org/officeDocument/2006/relationships/slideMaster" Target="slideMasters/slideMaster5.xml"/><Relationship Id="rId90" Type="http://schemas.openxmlformats.org/officeDocument/2006/relationships/slide" Target="slides/slide73.xml"/><Relationship Id="rId95" Type="http://schemas.openxmlformats.org/officeDocument/2006/relationships/slide" Target="slides/slide78.xml"/><Relationship Id="rId22" Type="http://schemas.openxmlformats.org/officeDocument/2006/relationships/slide" Target="slides/slide5.xml"/><Relationship Id="rId27" Type="http://schemas.openxmlformats.org/officeDocument/2006/relationships/slide" Target="slides/slide10.xml"/><Relationship Id="rId43" Type="http://schemas.openxmlformats.org/officeDocument/2006/relationships/slide" Target="slides/slide26.xml"/><Relationship Id="rId48" Type="http://schemas.openxmlformats.org/officeDocument/2006/relationships/slide" Target="slides/slide31.xml"/><Relationship Id="rId64" Type="http://schemas.openxmlformats.org/officeDocument/2006/relationships/slide" Target="slides/slide47.xml"/><Relationship Id="rId69" Type="http://schemas.openxmlformats.org/officeDocument/2006/relationships/slide" Target="slides/slide52.xml"/><Relationship Id="rId80" Type="http://schemas.openxmlformats.org/officeDocument/2006/relationships/slide" Target="slides/slide63.xml"/><Relationship Id="rId85" Type="http://schemas.openxmlformats.org/officeDocument/2006/relationships/slide" Target="slides/slide68.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slide" Target="slides/slide42.xml"/><Relationship Id="rId67" Type="http://schemas.openxmlformats.org/officeDocument/2006/relationships/slide" Target="slides/slide50.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slide" Target="slides/slide37.xml"/><Relationship Id="rId62" Type="http://schemas.openxmlformats.org/officeDocument/2006/relationships/slide" Target="slides/slide45.xml"/><Relationship Id="rId70" Type="http://schemas.openxmlformats.org/officeDocument/2006/relationships/slide" Target="slides/slide53.xml"/><Relationship Id="rId75" Type="http://schemas.openxmlformats.org/officeDocument/2006/relationships/slide" Target="slides/slide58.xml"/><Relationship Id="rId83" Type="http://schemas.openxmlformats.org/officeDocument/2006/relationships/slide" Target="slides/slide66.xml"/><Relationship Id="rId88" Type="http://schemas.openxmlformats.org/officeDocument/2006/relationships/slide" Target="slides/slide71.xml"/><Relationship Id="rId91" Type="http://schemas.openxmlformats.org/officeDocument/2006/relationships/slide" Target="slides/slide74.xml"/><Relationship Id="rId96" Type="http://schemas.openxmlformats.org/officeDocument/2006/relationships/slide" Target="slides/slide79.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10" Type="http://schemas.openxmlformats.org/officeDocument/2006/relationships/slideMaster" Target="slideMasters/slideMaster10.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slide" Target="slides/slide43.xml"/><Relationship Id="rId65" Type="http://schemas.openxmlformats.org/officeDocument/2006/relationships/slide" Target="slides/slide48.xml"/><Relationship Id="rId73" Type="http://schemas.openxmlformats.org/officeDocument/2006/relationships/slide" Target="slides/slide56.xml"/><Relationship Id="rId78" Type="http://schemas.openxmlformats.org/officeDocument/2006/relationships/slide" Target="slides/slide61.xml"/><Relationship Id="rId81" Type="http://schemas.openxmlformats.org/officeDocument/2006/relationships/slide" Target="slides/slide64.xml"/><Relationship Id="rId86" Type="http://schemas.openxmlformats.org/officeDocument/2006/relationships/slide" Target="slides/slide69.xml"/><Relationship Id="rId94" Type="http://schemas.openxmlformats.org/officeDocument/2006/relationships/slide" Target="slides/slide77.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1.xml"/><Relationship Id="rId39" Type="http://schemas.openxmlformats.org/officeDocument/2006/relationships/slide" Target="slides/slide22.xml"/><Relationship Id="rId34" Type="http://schemas.openxmlformats.org/officeDocument/2006/relationships/slide" Target="slides/slide17.xml"/><Relationship Id="rId50" Type="http://schemas.openxmlformats.org/officeDocument/2006/relationships/slide" Target="slides/slide33.xml"/><Relationship Id="rId55" Type="http://schemas.openxmlformats.org/officeDocument/2006/relationships/slide" Target="slides/slide38.xml"/><Relationship Id="rId76" Type="http://schemas.openxmlformats.org/officeDocument/2006/relationships/slide" Target="slides/slide59.xml"/><Relationship Id="rId97"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slide" Target="slides/slide54.xml"/><Relationship Id="rId92" Type="http://schemas.openxmlformats.org/officeDocument/2006/relationships/slide" Target="slides/slide75.xml"/><Relationship Id="rId2" Type="http://schemas.openxmlformats.org/officeDocument/2006/relationships/slideMaster" Target="slideMasters/slideMaster2.xml"/><Relationship Id="rId29" Type="http://schemas.openxmlformats.org/officeDocument/2006/relationships/slide" Target="slides/slide12.xml"/><Relationship Id="rId24" Type="http://schemas.openxmlformats.org/officeDocument/2006/relationships/slide" Target="slides/slide7.xml"/><Relationship Id="rId40" Type="http://schemas.openxmlformats.org/officeDocument/2006/relationships/slide" Target="slides/slide23.xml"/><Relationship Id="rId45" Type="http://schemas.openxmlformats.org/officeDocument/2006/relationships/slide" Target="slides/slide28.xml"/><Relationship Id="rId66" Type="http://schemas.openxmlformats.org/officeDocument/2006/relationships/slide" Target="slides/slide49.xml"/><Relationship Id="rId87" Type="http://schemas.openxmlformats.org/officeDocument/2006/relationships/slide" Target="slides/slide70.xml"/><Relationship Id="rId61" Type="http://schemas.openxmlformats.org/officeDocument/2006/relationships/slide" Target="slides/slide44.xml"/><Relationship Id="rId82" Type="http://schemas.openxmlformats.org/officeDocument/2006/relationships/slide" Target="slides/slide65.xml"/><Relationship Id="rId19" Type="http://schemas.openxmlformats.org/officeDocument/2006/relationships/slide" Target="slides/slide2.xml"/><Relationship Id="rId14" Type="http://schemas.openxmlformats.org/officeDocument/2006/relationships/slideMaster" Target="slideMasters/slideMaster14.xml"/><Relationship Id="rId30" Type="http://schemas.openxmlformats.org/officeDocument/2006/relationships/slide" Target="slides/slide13.xml"/><Relationship Id="rId35" Type="http://schemas.openxmlformats.org/officeDocument/2006/relationships/slide" Target="slides/slide18.xml"/><Relationship Id="rId56" Type="http://schemas.openxmlformats.org/officeDocument/2006/relationships/slide" Target="slides/slide39.xml"/><Relationship Id="rId77" Type="http://schemas.openxmlformats.org/officeDocument/2006/relationships/slide" Target="slides/slide60.xml"/><Relationship Id="rId100"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34.xml"/><Relationship Id="rId72" Type="http://schemas.openxmlformats.org/officeDocument/2006/relationships/slide" Target="slides/slide55.xml"/><Relationship Id="rId93" Type="http://schemas.openxmlformats.org/officeDocument/2006/relationships/slide" Target="slides/slide76.xml"/><Relationship Id="rId98" Type="http://schemas.openxmlformats.org/officeDocument/2006/relationships/presProps" Target="presProps.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B1B928-EA0E-4EB1-BAE0-A25300FC460F}"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23810F67-0730-41D1-8476-887FB8D5EE06}">
      <dgm:prSet/>
      <dgm:spPr/>
      <dgm:t>
        <a:bodyPr/>
        <a:lstStyle/>
        <a:p>
          <a:r>
            <a:rPr lang="en-US" b="1" dirty="0"/>
            <a:t>The Big Plan</a:t>
          </a:r>
          <a:endParaRPr lang="en-US" dirty="0"/>
        </a:p>
      </dgm:t>
    </dgm:pt>
    <dgm:pt modelId="{2AE19D67-6F12-4A51-AC86-721447E0F2AC}" type="parTrans" cxnId="{61690175-9996-4232-99DF-9CD9784AE115}">
      <dgm:prSet/>
      <dgm:spPr/>
      <dgm:t>
        <a:bodyPr/>
        <a:lstStyle/>
        <a:p>
          <a:endParaRPr lang="en-US"/>
        </a:p>
      </dgm:t>
    </dgm:pt>
    <dgm:pt modelId="{5522CE5C-EE3A-4997-A0F2-440AD271CD5D}" type="sibTrans" cxnId="{61690175-9996-4232-99DF-9CD9784AE115}">
      <dgm:prSet/>
      <dgm:spPr/>
      <dgm:t>
        <a:bodyPr/>
        <a:lstStyle/>
        <a:p>
          <a:endParaRPr lang="en-US"/>
        </a:p>
      </dgm:t>
    </dgm:pt>
    <dgm:pt modelId="{68C39B26-AAC8-4516-B426-8482D2F6D3FF}" type="pres">
      <dgm:prSet presAssocID="{98B1B928-EA0E-4EB1-BAE0-A25300FC460F}" presName="CompostProcess" presStyleCnt="0">
        <dgm:presLayoutVars>
          <dgm:dir/>
          <dgm:resizeHandles val="exact"/>
        </dgm:presLayoutVars>
      </dgm:prSet>
      <dgm:spPr/>
    </dgm:pt>
    <dgm:pt modelId="{E4D4E6B6-63D8-4E31-BDD8-E558FB845222}" type="pres">
      <dgm:prSet presAssocID="{98B1B928-EA0E-4EB1-BAE0-A25300FC460F}" presName="arrow" presStyleLbl="bgShp" presStyleIdx="0" presStyleCnt="1"/>
      <dgm:spPr/>
    </dgm:pt>
    <dgm:pt modelId="{0F30D785-C20F-4911-A42E-36F385453C96}" type="pres">
      <dgm:prSet presAssocID="{98B1B928-EA0E-4EB1-BAE0-A25300FC460F}" presName="linearProcess" presStyleCnt="0"/>
      <dgm:spPr/>
    </dgm:pt>
    <dgm:pt modelId="{D2DE497D-9441-46B6-B5AC-9161D6FF838E}" type="pres">
      <dgm:prSet presAssocID="{23810F67-0730-41D1-8476-887FB8D5EE06}" presName="textNode" presStyleLbl="node1" presStyleIdx="0" presStyleCnt="1">
        <dgm:presLayoutVars>
          <dgm:bulletEnabled val="1"/>
        </dgm:presLayoutVars>
      </dgm:prSet>
      <dgm:spPr/>
    </dgm:pt>
  </dgm:ptLst>
  <dgm:cxnLst>
    <dgm:cxn modelId="{B81E5120-63A1-4FDD-9DD5-457AD8A2489F}" type="presOf" srcId="{98B1B928-EA0E-4EB1-BAE0-A25300FC460F}" destId="{68C39B26-AAC8-4516-B426-8482D2F6D3FF}" srcOrd="0" destOrd="0" presId="urn:microsoft.com/office/officeart/2005/8/layout/hProcess9"/>
    <dgm:cxn modelId="{A3CCBF67-8F56-46BF-960E-28752F13A883}" type="presOf" srcId="{23810F67-0730-41D1-8476-887FB8D5EE06}" destId="{D2DE497D-9441-46B6-B5AC-9161D6FF838E}" srcOrd="0" destOrd="0" presId="urn:microsoft.com/office/officeart/2005/8/layout/hProcess9"/>
    <dgm:cxn modelId="{61690175-9996-4232-99DF-9CD9784AE115}" srcId="{98B1B928-EA0E-4EB1-BAE0-A25300FC460F}" destId="{23810F67-0730-41D1-8476-887FB8D5EE06}" srcOrd="0" destOrd="0" parTransId="{2AE19D67-6F12-4A51-AC86-721447E0F2AC}" sibTransId="{5522CE5C-EE3A-4997-A0F2-440AD271CD5D}"/>
    <dgm:cxn modelId="{15D189F3-9147-4E95-AE4A-89BD95C3A497}" type="presParOf" srcId="{68C39B26-AAC8-4516-B426-8482D2F6D3FF}" destId="{E4D4E6B6-63D8-4E31-BDD8-E558FB845222}" srcOrd="0" destOrd="0" presId="urn:microsoft.com/office/officeart/2005/8/layout/hProcess9"/>
    <dgm:cxn modelId="{6B1F4A8A-7B6C-43E4-830E-340D47084BB0}" type="presParOf" srcId="{68C39B26-AAC8-4516-B426-8482D2F6D3FF}" destId="{0F30D785-C20F-4911-A42E-36F385453C96}" srcOrd="1" destOrd="0" presId="urn:microsoft.com/office/officeart/2005/8/layout/hProcess9"/>
    <dgm:cxn modelId="{C1F082D8-5BD9-447B-BF6C-9CBD6835557A}" type="presParOf" srcId="{0F30D785-C20F-4911-A42E-36F385453C96}" destId="{D2DE497D-9441-46B6-B5AC-9161D6FF838E}"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4E6B6-63D8-4E31-BDD8-E558FB845222}">
      <dsp:nvSpPr>
        <dsp:cNvPr id="0" name=""/>
        <dsp:cNvSpPr/>
      </dsp:nvSpPr>
      <dsp:spPr>
        <a:xfrm>
          <a:off x="256004" y="0"/>
          <a:ext cx="2901384" cy="258082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DE497D-9441-46B6-B5AC-9161D6FF838E}">
      <dsp:nvSpPr>
        <dsp:cNvPr id="0" name=""/>
        <dsp:cNvSpPr/>
      </dsp:nvSpPr>
      <dsp:spPr>
        <a:xfrm>
          <a:off x="0" y="774248"/>
          <a:ext cx="3413393" cy="103233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b="1" kern="1200" dirty="0"/>
            <a:t>The Big Plan</a:t>
          </a:r>
          <a:endParaRPr lang="en-US" sz="4200" kern="1200" dirty="0"/>
        </a:p>
      </dsp:txBody>
      <dsp:txXfrm>
        <a:off x="50394" y="824642"/>
        <a:ext cx="3312605" cy="93154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2A19A9-FA46-4B86-AB4B-3EECAD4EA5A1}" type="datetimeFigureOut">
              <a:rPr lang="en-US" smtClean="0"/>
              <a:t>9/18/2025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B9FF3-43FA-4DF8-86E5-8E9F07331F79}" type="slidenum">
              <a:rPr lang="en-US" smtClean="0"/>
              <a:t>‹#›</a:t>
            </a:fld>
            <a:endParaRPr lang="en-US"/>
          </a:p>
        </p:txBody>
      </p:sp>
    </p:spTree>
    <p:extLst>
      <p:ext uri="{BB962C8B-B14F-4D97-AF65-F5344CB8AC3E}">
        <p14:creationId xmlns:p14="http://schemas.microsoft.com/office/powerpoint/2010/main" val="108716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7067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5868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16B7-75CE-EA0C-5C67-232EA1577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824DD-E8BC-9B8D-DC14-347BFBF05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F901C-9ECA-AE04-5DCA-9D198620BEB8}"/>
              </a:ext>
            </a:extLst>
          </p:cNvPr>
          <p:cNvSpPr>
            <a:spLocks noGrp="1"/>
          </p:cNvSpPr>
          <p:nvPr>
            <p:ph type="body" idx="1"/>
          </p:nvPr>
        </p:nvSpPr>
        <p:spPr/>
        <p:txBody>
          <a:bodyPr/>
          <a:lstStyle/>
          <a:p>
            <a:r>
              <a:rPr lang="en-US" dirty="0"/>
              <a:t>Read.</a:t>
            </a:r>
          </a:p>
        </p:txBody>
      </p:sp>
      <p:sp>
        <p:nvSpPr>
          <p:cNvPr id="4" name="Slide Number Placeholder 3">
            <a:extLst>
              <a:ext uri="{FF2B5EF4-FFF2-40B4-BE49-F238E27FC236}">
                <a16:creationId xmlns:a16="http://schemas.microsoft.com/office/drawing/2014/main" id="{35F7B3FC-6751-20F4-7627-DA1DDD72F2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0921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8897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09131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of works when preparing the scope for a project.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5418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realizing you are officially planning, and official planning doesn’t  start with the project itself. It starts with the PM’s environment.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5711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8465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Read.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4698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finding out the requirements, which can include everything from federal regulations to rules set by the company you work for.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5840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32938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3921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solidFill>
                <a:highlight>
                  <a:srgbClr val="FFFF00"/>
                </a:highlight>
                <a:latin typeface="Calibri" panose="020F0502020204030204" pitchFamily="34" charset="0"/>
                <a:cs typeface="Calibri" panose="020F0502020204030204" pitchFamily="34" charset="0"/>
              </a:rPr>
              <a:t>Make sure you understand </a:t>
            </a:r>
            <a:r>
              <a:rPr lang="en-US" sz="1200" dirty="0">
                <a:solidFill>
                  <a:schemeClr val="tx1"/>
                </a:solidFill>
                <a:highlight>
                  <a:srgbClr val="FFFF00"/>
                </a:highlight>
                <a:latin typeface="Calibri" panose="020F0502020204030204" pitchFamily="34" charset="0"/>
                <a:cs typeface="Calibri" panose="020F0502020204030204" pitchFamily="34" charset="0"/>
              </a:rPr>
              <a:t>both legal/technical </a:t>
            </a:r>
            <a:r>
              <a:rPr lang="en-US" sz="1200" b="0" dirty="0">
                <a:solidFill>
                  <a:schemeClr val="tx1"/>
                </a:solidFill>
                <a:highlight>
                  <a:srgbClr val="FFFF00"/>
                </a:highlight>
                <a:latin typeface="Calibri" panose="020F0502020204030204" pitchFamily="34" charset="0"/>
                <a:cs typeface="Calibri" panose="020F0502020204030204" pitchFamily="34" charset="0"/>
              </a:rPr>
              <a:t>requirements and client requirements.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0560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for requirements on a research project about starting recycling pick-ups in a community.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6263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0000"/>
                </a:solidFill>
                <a:latin typeface="Calibri" panose="020F0502020204030204" pitchFamily="34" charset="0"/>
                <a:cs typeface="Calibri" panose="020F0502020204030204" pitchFamily="34" charset="0"/>
              </a:rPr>
              <a:t>Expectations</a:t>
            </a:r>
            <a:r>
              <a:rPr lang="en-US" sz="1200" dirty="0">
                <a:latin typeface="Calibri" panose="020F0502020204030204" pitchFamily="34" charset="0"/>
                <a:cs typeface="Calibri" panose="020F0502020204030204" pitchFamily="34" charset="0"/>
              </a:rPr>
              <a:t> </a:t>
            </a:r>
            <a:r>
              <a:rPr lang="en-US" sz="1200" dirty="0">
                <a:solidFill>
                  <a:schemeClr val="tx1"/>
                </a:solidFill>
                <a:latin typeface="Calibri" panose="020F0502020204030204" pitchFamily="34" charset="0"/>
                <a:cs typeface="Calibri" panose="020F0502020204030204" pitchFamily="34" charset="0"/>
              </a:rPr>
              <a:t>are a critical measure of success.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4262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2564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3615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2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Oddly enough, clients do not always make their expectations clear – but they will arise </a:t>
            </a:r>
            <a:r>
              <a:rPr kumimoji="0" lang="en-US" sz="12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later</a:t>
            </a:r>
            <a:r>
              <a:rPr kumimoji="0" lang="en-US" sz="12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058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8280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a MOSCOW list for replacing a company’s computer system.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19668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B939F-6392-185F-05BD-4C173E869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872C2-1D99-3893-5BC4-31ED558ED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76420D-8F87-E88B-A0B1-7CA3F80EEAF7}"/>
              </a:ext>
            </a:extLst>
          </p:cNvPr>
          <p:cNvSpPr>
            <a:spLocks noGrp="1"/>
          </p:cNvSpPr>
          <p:nvPr>
            <p:ph type="body" idx="1"/>
          </p:nvPr>
        </p:nvSpPr>
        <p:spPr/>
        <p:txBody>
          <a:bodyPr/>
          <a:lstStyle/>
          <a:p>
            <a:r>
              <a:rPr kumimoji="0" lang="en-US" sz="12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Read.</a:t>
            </a:r>
            <a:endParaRPr lang="en-US" dirty="0"/>
          </a:p>
        </p:txBody>
      </p:sp>
      <p:sp>
        <p:nvSpPr>
          <p:cNvPr id="4" name="Slide Number Placeholder 3">
            <a:extLst>
              <a:ext uri="{FF2B5EF4-FFF2-40B4-BE49-F238E27FC236}">
                <a16:creationId xmlns:a16="http://schemas.microsoft.com/office/drawing/2014/main" id="{0B9E4FE6-A331-FEE0-450D-B790487AAA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0687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speak.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2948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be shy at this stage. </a:t>
            </a:r>
            <a:r>
              <a:rPr lang="en-US" sz="1200" dirty="0">
                <a:solidFill>
                  <a:schemeClr val="tx1"/>
                </a:solidFill>
              </a:rPr>
              <a:t>Ask – straight out. “What do you need to get out of this project? What are your expectations?”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59800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few tips on drawing out expectations form a client.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00372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57066" indent="-291179">
              <a:spcBef>
                <a:spcPct val="30000"/>
              </a:spcBef>
              <a:defRPr sz="1200">
                <a:solidFill>
                  <a:schemeClr val="tx1"/>
                </a:solidFill>
                <a:latin typeface="Arial" panose="020B0604020202020204" pitchFamily="34" charset="0"/>
              </a:defRPr>
            </a:lvl2pPr>
            <a:lvl3pPr marL="1164717" indent="-232943">
              <a:spcBef>
                <a:spcPct val="30000"/>
              </a:spcBef>
              <a:defRPr sz="1200">
                <a:solidFill>
                  <a:schemeClr val="tx1"/>
                </a:solidFill>
                <a:latin typeface="Arial" panose="020B0604020202020204" pitchFamily="34" charset="0"/>
              </a:defRPr>
            </a:lvl3pPr>
            <a:lvl4pPr marL="1630604" indent="-232943">
              <a:spcBef>
                <a:spcPct val="30000"/>
              </a:spcBef>
              <a:defRPr sz="1200">
                <a:solidFill>
                  <a:schemeClr val="tx1"/>
                </a:solidFill>
                <a:latin typeface="Arial" panose="020B0604020202020204" pitchFamily="34" charset="0"/>
              </a:defRPr>
            </a:lvl4pPr>
            <a:lvl5pPr marL="2096491" indent="-232943">
              <a:spcBef>
                <a:spcPct val="30000"/>
              </a:spcBef>
              <a:defRPr sz="1200">
                <a:solidFill>
                  <a:schemeClr val="tx1"/>
                </a:solidFill>
                <a:latin typeface="Arial" panose="020B0604020202020204" pitchFamily="34" charset="0"/>
              </a:defRPr>
            </a:lvl5pPr>
            <a:lvl6pPr marL="2562377" indent="-232943" eaLnBrk="0" fontAlgn="base" hangingPunct="0">
              <a:spcBef>
                <a:spcPct val="30000"/>
              </a:spcBef>
              <a:spcAft>
                <a:spcPct val="0"/>
              </a:spcAft>
              <a:defRPr sz="1200">
                <a:solidFill>
                  <a:schemeClr val="tx1"/>
                </a:solidFill>
                <a:latin typeface="Arial" panose="020B0604020202020204" pitchFamily="34" charset="0"/>
              </a:defRPr>
            </a:lvl6pPr>
            <a:lvl7pPr marL="3028264" indent="-232943" eaLnBrk="0" fontAlgn="base" hangingPunct="0">
              <a:spcBef>
                <a:spcPct val="30000"/>
              </a:spcBef>
              <a:spcAft>
                <a:spcPct val="0"/>
              </a:spcAft>
              <a:defRPr sz="1200">
                <a:solidFill>
                  <a:schemeClr val="tx1"/>
                </a:solidFill>
                <a:latin typeface="Arial" panose="020B0604020202020204" pitchFamily="34" charset="0"/>
              </a:defRPr>
            </a:lvl7pPr>
            <a:lvl8pPr marL="3494151" indent="-232943" eaLnBrk="0" fontAlgn="base" hangingPunct="0">
              <a:spcBef>
                <a:spcPct val="30000"/>
              </a:spcBef>
              <a:spcAft>
                <a:spcPct val="0"/>
              </a:spcAft>
              <a:defRPr sz="1200">
                <a:solidFill>
                  <a:schemeClr val="tx1"/>
                </a:solidFill>
                <a:latin typeface="Arial" panose="020B0604020202020204" pitchFamily="34" charset="0"/>
              </a:defRPr>
            </a:lvl8pPr>
            <a:lvl9pPr marL="3960038" indent="-232943"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31774"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31774" rtl="0" eaLnBrk="1" fontAlgn="base" latinLnBrk="0" hangingPunct="1">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highlight>
                  <a:srgbClr val="FFFF00"/>
                </a:highlight>
                <a:latin typeface="Calibri" panose="020F0502020204030204" pitchFamily="34" charset="0"/>
                <a:cs typeface="Calibri" panose="020F0502020204030204" pitchFamily="34" charset="0"/>
              </a:rPr>
              <a:t>People use the terms interchangeably, but the main difference comes in their level of </a:t>
            </a:r>
            <a:r>
              <a:rPr lang="en-US" sz="1200" b="1" dirty="0">
                <a:solidFill>
                  <a:srgbClr val="FF0000"/>
                </a:solidFill>
                <a:highlight>
                  <a:srgbClr val="FFFF00"/>
                </a:highlight>
                <a:latin typeface="Calibri" panose="020F0502020204030204" pitchFamily="34" charset="0"/>
                <a:cs typeface="Calibri" panose="020F0502020204030204" pitchFamily="34" charset="0"/>
              </a:rPr>
              <a:t>concreteness</a:t>
            </a:r>
            <a:r>
              <a:rPr lang="en-US" sz="1200" dirty="0">
                <a:latin typeface="Calibri" panose="020F0502020204030204" pitchFamily="34" charset="0"/>
                <a:cs typeface="Calibri" panose="020F0502020204030204" pitchFamily="34" charset="0"/>
              </a:rPr>
              <a:t>. </a:t>
            </a: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799547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57066" indent="-291179">
              <a:spcBef>
                <a:spcPct val="30000"/>
              </a:spcBef>
              <a:defRPr sz="1200">
                <a:solidFill>
                  <a:schemeClr val="tx1"/>
                </a:solidFill>
                <a:latin typeface="Arial" panose="020B0604020202020204" pitchFamily="34" charset="0"/>
              </a:defRPr>
            </a:lvl2pPr>
            <a:lvl3pPr marL="1164717" indent="-232943">
              <a:spcBef>
                <a:spcPct val="30000"/>
              </a:spcBef>
              <a:defRPr sz="1200">
                <a:solidFill>
                  <a:schemeClr val="tx1"/>
                </a:solidFill>
                <a:latin typeface="Arial" panose="020B0604020202020204" pitchFamily="34" charset="0"/>
              </a:defRPr>
            </a:lvl3pPr>
            <a:lvl4pPr marL="1630604" indent="-232943">
              <a:spcBef>
                <a:spcPct val="30000"/>
              </a:spcBef>
              <a:defRPr sz="1200">
                <a:solidFill>
                  <a:schemeClr val="tx1"/>
                </a:solidFill>
                <a:latin typeface="Arial" panose="020B0604020202020204" pitchFamily="34" charset="0"/>
              </a:defRPr>
            </a:lvl4pPr>
            <a:lvl5pPr marL="2096491" indent="-232943">
              <a:spcBef>
                <a:spcPct val="30000"/>
              </a:spcBef>
              <a:defRPr sz="1200">
                <a:solidFill>
                  <a:schemeClr val="tx1"/>
                </a:solidFill>
                <a:latin typeface="Arial" panose="020B0604020202020204" pitchFamily="34" charset="0"/>
              </a:defRPr>
            </a:lvl5pPr>
            <a:lvl6pPr marL="2562377" indent="-232943" eaLnBrk="0" fontAlgn="base" hangingPunct="0">
              <a:spcBef>
                <a:spcPct val="30000"/>
              </a:spcBef>
              <a:spcAft>
                <a:spcPct val="0"/>
              </a:spcAft>
              <a:defRPr sz="1200">
                <a:solidFill>
                  <a:schemeClr val="tx1"/>
                </a:solidFill>
                <a:latin typeface="Arial" panose="020B0604020202020204" pitchFamily="34" charset="0"/>
              </a:defRPr>
            </a:lvl6pPr>
            <a:lvl7pPr marL="3028264" indent="-232943" eaLnBrk="0" fontAlgn="base" hangingPunct="0">
              <a:spcBef>
                <a:spcPct val="30000"/>
              </a:spcBef>
              <a:spcAft>
                <a:spcPct val="0"/>
              </a:spcAft>
              <a:defRPr sz="1200">
                <a:solidFill>
                  <a:schemeClr val="tx1"/>
                </a:solidFill>
                <a:latin typeface="Arial" panose="020B0604020202020204" pitchFamily="34" charset="0"/>
              </a:defRPr>
            </a:lvl7pPr>
            <a:lvl8pPr marL="3494151" indent="-232943" eaLnBrk="0" fontAlgn="base" hangingPunct="0">
              <a:spcBef>
                <a:spcPct val="30000"/>
              </a:spcBef>
              <a:spcAft>
                <a:spcPct val="0"/>
              </a:spcAft>
              <a:defRPr sz="1200">
                <a:solidFill>
                  <a:schemeClr val="tx1"/>
                </a:solidFill>
                <a:latin typeface="Arial" panose="020B0604020202020204" pitchFamily="34" charset="0"/>
              </a:defRPr>
            </a:lvl8pPr>
            <a:lvl9pPr marL="3960038" indent="-232943"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31774"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31774" rtl="0" eaLnBrk="1" fontAlgn="base" latinLnBrk="0" hangingPunct="1">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r>
              <a:rPr lang="en-US" altLang="en-US" dirty="0">
                <a:latin typeface="Arial" panose="020B0604020202020204" pitchFamily="34" charset="0"/>
              </a:rPr>
              <a:t>Read.</a:t>
            </a:r>
          </a:p>
        </p:txBody>
      </p:sp>
    </p:spTree>
    <p:extLst>
      <p:ext uri="{BB962C8B-B14F-4D97-AF65-F5344CB8AC3E}">
        <p14:creationId xmlns:p14="http://schemas.microsoft.com/office/powerpoint/2010/main" val="1618060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57066" indent="-291179">
              <a:spcBef>
                <a:spcPct val="30000"/>
              </a:spcBef>
              <a:defRPr sz="1200">
                <a:solidFill>
                  <a:schemeClr val="tx1"/>
                </a:solidFill>
                <a:latin typeface="Arial" panose="020B0604020202020204" pitchFamily="34" charset="0"/>
              </a:defRPr>
            </a:lvl2pPr>
            <a:lvl3pPr marL="1164717" indent="-232943">
              <a:spcBef>
                <a:spcPct val="30000"/>
              </a:spcBef>
              <a:defRPr sz="1200">
                <a:solidFill>
                  <a:schemeClr val="tx1"/>
                </a:solidFill>
                <a:latin typeface="Arial" panose="020B0604020202020204" pitchFamily="34" charset="0"/>
              </a:defRPr>
            </a:lvl3pPr>
            <a:lvl4pPr marL="1630604" indent="-232943">
              <a:spcBef>
                <a:spcPct val="30000"/>
              </a:spcBef>
              <a:defRPr sz="1200">
                <a:solidFill>
                  <a:schemeClr val="tx1"/>
                </a:solidFill>
                <a:latin typeface="Arial" panose="020B0604020202020204" pitchFamily="34" charset="0"/>
              </a:defRPr>
            </a:lvl4pPr>
            <a:lvl5pPr marL="2096491" indent="-232943">
              <a:spcBef>
                <a:spcPct val="30000"/>
              </a:spcBef>
              <a:defRPr sz="1200">
                <a:solidFill>
                  <a:schemeClr val="tx1"/>
                </a:solidFill>
                <a:latin typeface="Arial" panose="020B0604020202020204" pitchFamily="34" charset="0"/>
              </a:defRPr>
            </a:lvl5pPr>
            <a:lvl6pPr marL="2562377" indent="-232943" eaLnBrk="0" fontAlgn="base" hangingPunct="0">
              <a:spcBef>
                <a:spcPct val="30000"/>
              </a:spcBef>
              <a:spcAft>
                <a:spcPct val="0"/>
              </a:spcAft>
              <a:defRPr sz="1200">
                <a:solidFill>
                  <a:schemeClr val="tx1"/>
                </a:solidFill>
                <a:latin typeface="Arial" panose="020B0604020202020204" pitchFamily="34" charset="0"/>
              </a:defRPr>
            </a:lvl6pPr>
            <a:lvl7pPr marL="3028264" indent="-232943" eaLnBrk="0" fontAlgn="base" hangingPunct="0">
              <a:spcBef>
                <a:spcPct val="30000"/>
              </a:spcBef>
              <a:spcAft>
                <a:spcPct val="0"/>
              </a:spcAft>
              <a:defRPr sz="1200">
                <a:solidFill>
                  <a:schemeClr val="tx1"/>
                </a:solidFill>
                <a:latin typeface="Arial" panose="020B0604020202020204" pitchFamily="34" charset="0"/>
              </a:defRPr>
            </a:lvl7pPr>
            <a:lvl8pPr marL="3494151" indent="-232943" eaLnBrk="0" fontAlgn="base" hangingPunct="0">
              <a:spcBef>
                <a:spcPct val="30000"/>
              </a:spcBef>
              <a:spcAft>
                <a:spcPct val="0"/>
              </a:spcAft>
              <a:defRPr sz="1200">
                <a:solidFill>
                  <a:schemeClr val="tx1"/>
                </a:solidFill>
                <a:latin typeface="Arial" panose="020B0604020202020204" pitchFamily="34" charset="0"/>
              </a:defRPr>
            </a:lvl8pPr>
            <a:lvl9pPr marL="3960038" indent="-232943"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31774"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31774" rtl="0" eaLnBrk="1" fontAlgn="base" latinLnBrk="0" hangingPunct="1">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Read.</a:t>
            </a: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269119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57066" indent="-291179">
              <a:spcBef>
                <a:spcPct val="30000"/>
              </a:spcBef>
              <a:defRPr sz="1200">
                <a:solidFill>
                  <a:schemeClr val="tx1"/>
                </a:solidFill>
                <a:latin typeface="Arial" panose="020B0604020202020204" pitchFamily="34" charset="0"/>
              </a:defRPr>
            </a:lvl2pPr>
            <a:lvl3pPr marL="1164717" indent="-232943">
              <a:spcBef>
                <a:spcPct val="30000"/>
              </a:spcBef>
              <a:defRPr sz="1200">
                <a:solidFill>
                  <a:schemeClr val="tx1"/>
                </a:solidFill>
                <a:latin typeface="Arial" panose="020B0604020202020204" pitchFamily="34" charset="0"/>
              </a:defRPr>
            </a:lvl3pPr>
            <a:lvl4pPr marL="1630604" indent="-232943">
              <a:spcBef>
                <a:spcPct val="30000"/>
              </a:spcBef>
              <a:defRPr sz="1200">
                <a:solidFill>
                  <a:schemeClr val="tx1"/>
                </a:solidFill>
                <a:latin typeface="Arial" panose="020B0604020202020204" pitchFamily="34" charset="0"/>
              </a:defRPr>
            </a:lvl4pPr>
            <a:lvl5pPr marL="2096491" indent="-232943">
              <a:spcBef>
                <a:spcPct val="30000"/>
              </a:spcBef>
              <a:defRPr sz="1200">
                <a:solidFill>
                  <a:schemeClr val="tx1"/>
                </a:solidFill>
                <a:latin typeface="Arial" panose="020B0604020202020204" pitchFamily="34" charset="0"/>
              </a:defRPr>
            </a:lvl5pPr>
            <a:lvl6pPr marL="2562377" indent="-232943" eaLnBrk="0" fontAlgn="base" hangingPunct="0">
              <a:spcBef>
                <a:spcPct val="30000"/>
              </a:spcBef>
              <a:spcAft>
                <a:spcPct val="0"/>
              </a:spcAft>
              <a:defRPr sz="1200">
                <a:solidFill>
                  <a:schemeClr val="tx1"/>
                </a:solidFill>
                <a:latin typeface="Arial" panose="020B0604020202020204" pitchFamily="34" charset="0"/>
              </a:defRPr>
            </a:lvl6pPr>
            <a:lvl7pPr marL="3028264" indent="-232943" eaLnBrk="0" fontAlgn="base" hangingPunct="0">
              <a:spcBef>
                <a:spcPct val="30000"/>
              </a:spcBef>
              <a:spcAft>
                <a:spcPct val="0"/>
              </a:spcAft>
              <a:defRPr sz="1200">
                <a:solidFill>
                  <a:schemeClr val="tx1"/>
                </a:solidFill>
                <a:latin typeface="Arial" panose="020B0604020202020204" pitchFamily="34" charset="0"/>
              </a:defRPr>
            </a:lvl7pPr>
            <a:lvl8pPr marL="3494151" indent="-232943" eaLnBrk="0" fontAlgn="base" hangingPunct="0">
              <a:spcBef>
                <a:spcPct val="30000"/>
              </a:spcBef>
              <a:spcAft>
                <a:spcPct val="0"/>
              </a:spcAft>
              <a:defRPr sz="1200">
                <a:solidFill>
                  <a:schemeClr val="tx1"/>
                </a:solidFill>
                <a:latin typeface="Arial" panose="020B0604020202020204" pitchFamily="34" charset="0"/>
              </a:defRPr>
            </a:lvl8pPr>
            <a:lvl9pPr marL="3960038" indent="-232943"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31774"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31774" rtl="0" eaLnBrk="1" fontAlgn="base" latinLnBrk="0" hangingPunct="1">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Read.</a:t>
            </a: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2770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handy formula for objectives is to make them SMART.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4952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57066" indent="-291179">
              <a:spcBef>
                <a:spcPct val="30000"/>
              </a:spcBef>
              <a:defRPr sz="1200">
                <a:solidFill>
                  <a:schemeClr val="tx1"/>
                </a:solidFill>
                <a:latin typeface="Arial" panose="020B0604020202020204" pitchFamily="34" charset="0"/>
              </a:defRPr>
            </a:lvl2pPr>
            <a:lvl3pPr marL="1164717" indent="-232943">
              <a:spcBef>
                <a:spcPct val="30000"/>
              </a:spcBef>
              <a:defRPr sz="1200">
                <a:solidFill>
                  <a:schemeClr val="tx1"/>
                </a:solidFill>
                <a:latin typeface="Arial" panose="020B0604020202020204" pitchFamily="34" charset="0"/>
              </a:defRPr>
            </a:lvl3pPr>
            <a:lvl4pPr marL="1630604" indent="-232943">
              <a:spcBef>
                <a:spcPct val="30000"/>
              </a:spcBef>
              <a:defRPr sz="1200">
                <a:solidFill>
                  <a:schemeClr val="tx1"/>
                </a:solidFill>
                <a:latin typeface="Arial" panose="020B0604020202020204" pitchFamily="34" charset="0"/>
              </a:defRPr>
            </a:lvl4pPr>
            <a:lvl5pPr marL="2096491" indent="-232943">
              <a:spcBef>
                <a:spcPct val="30000"/>
              </a:spcBef>
              <a:defRPr sz="1200">
                <a:solidFill>
                  <a:schemeClr val="tx1"/>
                </a:solidFill>
                <a:latin typeface="Arial" panose="020B0604020202020204" pitchFamily="34" charset="0"/>
              </a:defRPr>
            </a:lvl5pPr>
            <a:lvl6pPr marL="2562377" indent="-232943" eaLnBrk="0" fontAlgn="base" hangingPunct="0">
              <a:spcBef>
                <a:spcPct val="30000"/>
              </a:spcBef>
              <a:spcAft>
                <a:spcPct val="0"/>
              </a:spcAft>
              <a:defRPr sz="1200">
                <a:solidFill>
                  <a:schemeClr val="tx1"/>
                </a:solidFill>
                <a:latin typeface="Arial" panose="020B0604020202020204" pitchFamily="34" charset="0"/>
              </a:defRPr>
            </a:lvl6pPr>
            <a:lvl7pPr marL="3028264" indent="-232943" eaLnBrk="0" fontAlgn="base" hangingPunct="0">
              <a:spcBef>
                <a:spcPct val="30000"/>
              </a:spcBef>
              <a:spcAft>
                <a:spcPct val="0"/>
              </a:spcAft>
              <a:defRPr sz="1200">
                <a:solidFill>
                  <a:schemeClr val="tx1"/>
                </a:solidFill>
                <a:latin typeface="Arial" panose="020B0604020202020204" pitchFamily="34" charset="0"/>
              </a:defRPr>
            </a:lvl7pPr>
            <a:lvl8pPr marL="3494151" indent="-232943" eaLnBrk="0" fontAlgn="base" hangingPunct="0">
              <a:spcBef>
                <a:spcPct val="30000"/>
              </a:spcBef>
              <a:spcAft>
                <a:spcPct val="0"/>
              </a:spcAft>
              <a:defRPr sz="1200">
                <a:solidFill>
                  <a:schemeClr val="tx1"/>
                </a:solidFill>
                <a:latin typeface="Arial" panose="020B0604020202020204" pitchFamily="34" charset="0"/>
              </a:defRPr>
            </a:lvl8pPr>
            <a:lvl9pPr marL="3960038" indent="-232943"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31774"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31774" rtl="0" eaLnBrk="1" fontAlgn="base" latinLnBrk="0" hangingPunct="1">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r>
              <a:rPr lang="en-US" altLang="en-US" dirty="0">
                <a:latin typeface="Arial" panose="020B0604020202020204" pitchFamily="34" charset="0"/>
              </a:rPr>
              <a:t>Here’s an example.</a:t>
            </a:r>
          </a:p>
        </p:txBody>
      </p:sp>
    </p:spTree>
    <p:extLst>
      <p:ext uri="{BB962C8B-B14F-4D97-AF65-F5344CB8AC3E}">
        <p14:creationId xmlns:p14="http://schemas.microsoft.com/office/powerpoint/2010/main" val="3011307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57066" indent="-291179">
              <a:spcBef>
                <a:spcPct val="30000"/>
              </a:spcBef>
              <a:defRPr sz="1200">
                <a:solidFill>
                  <a:schemeClr val="tx1"/>
                </a:solidFill>
                <a:latin typeface="Arial" panose="020B0604020202020204" pitchFamily="34" charset="0"/>
              </a:defRPr>
            </a:lvl2pPr>
            <a:lvl3pPr marL="1164717" indent="-232943">
              <a:spcBef>
                <a:spcPct val="30000"/>
              </a:spcBef>
              <a:defRPr sz="1200">
                <a:solidFill>
                  <a:schemeClr val="tx1"/>
                </a:solidFill>
                <a:latin typeface="Arial" panose="020B0604020202020204" pitchFamily="34" charset="0"/>
              </a:defRPr>
            </a:lvl3pPr>
            <a:lvl4pPr marL="1630604" indent="-232943">
              <a:spcBef>
                <a:spcPct val="30000"/>
              </a:spcBef>
              <a:defRPr sz="1200">
                <a:solidFill>
                  <a:schemeClr val="tx1"/>
                </a:solidFill>
                <a:latin typeface="Arial" panose="020B0604020202020204" pitchFamily="34" charset="0"/>
              </a:defRPr>
            </a:lvl4pPr>
            <a:lvl5pPr marL="2096491" indent="-232943">
              <a:spcBef>
                <a:spcPct val="30000"/>
              </a:spcBef>
              <a:defRPr sz="1200">
                <a:solidFill>
                  <a:schemeClr val="tx1"/>
                </a:solidFill>
                <a:latin typeface="Arial" panose="020B0604020202020204" pitchFamily="34" charset="0"/>
              </a:defRPr>
            </a:lvl5pPr>
            <a:lvl6pPr marL="2562377" indent="-232943" eaLnBrk="0" fontAlgn="base" hangingPunct="0">
              <a:spcBef>
                <a:spcPct val="30000"/>
              </a:spcBef>
              <a:spcAft>
                <a:spcPct val="0"/>
              </a:spcAft>
              <a:defRPr sz="1200">
                <a:solidFill>
                  <a:schemeClr val="tx1"/>
                </a:solidFill>
                <a:latin typeface="Arial" panose="020B0604020202020204" pitchFamily="34" charset="0"/>
              </a:defRPr>
            </a:lvl6pPr>
            <a:lvl7pPr marL="3028264" indent="-232943" eaLnBrk="0" fontAlgn="base" hangingPunct="0">
              <a:spcBef>
                <a:spcPct val="30000"/>
              </a:spcBef>
              <a:spcAft>
                <a:spcPct val="0"/>
              </a:spcAft>
              <a:defRPr sz="1200">
                <a:solidFill>
                  <a:schemeClr val="tx1"/>
                </a:solidFill>
                <a:latin typeface="Arial" panose="020B0604020202020204" pitchFamily="34" charset="0"/>
              </a:defRPr>
            </a:lvl7pPr>
            <a:lvl8pPr marL="3494151" indent="-232943" eaLnBrk="0" fontAlgn="base" hangingPunct="0">
              <a:spcBef>
                <a:spcPct val="30000"/>
              </a:spcBef>
              <a:spcAft>
                <a:spcPct val="0"/>
              </a:spcAft>
              <a:defRPr sz="1200">
                <a:solidFill>
                  <a:schemeClr val="tx1"/>
                </a:solidFill>
                <a:latin typeface="Arial" panose="020B0604020202020204" pitchFamily="34" charset="0"/>
              </a:defRPr>
            </a:lvl8pPr>
            <a:lvl9pPr marL="3960038" indent="-232943"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31774" rtl="0" eaLnBrk="1" fontAlgn="base" latinLnBrk="0" hangingPunct="1">
              <a:lnSpc>
                <a:spcPct val="100000"/>
              </a:lnSpc>
              <a:spcBef>
                <a:spcPct val="0"/>
              </a:spcBef>
              <a:spcAft>
                <a:spcPct val="0"/>
              </a:spcAft>
              <a:buClrTx/>
              <a:buSzTx/>
              <a:buFontTx/>
              <a:buNone/>
              <a:tabLst/>
              <a:defRPr/>
            </a:pPr>
            <a:fld id="{0D38E71A-7817-4174-8257-CFC0318113FA}"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31774" rtl="0" eaLnBrk="1" fontAlgn="base" latinLnBrk="0" hangingPunct="1">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r>
              <a:rPr lang="en-US" altLang="en-US" dirty="0">
                <a:latin typeface="Arial" panose="020B0604020202020204" pitchFamily="34" charset="0"/>
              </a:rPr>
              <a:t>And here’s some steps to take. </a:t>
            </a:r>
          </a:p>
        </p:txBody>
      </p:sp>
    </p:spTree>
    <p:extLst>
      <p:ext uri="{BB962C8B-B14F-4D97-AF65-F5344CB8AC3E}">
        <p14:creationId xmlns:p14="http://schemas.microsoft.com/office/powerpoint/2010/main" val="21478085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Deliverables are what the client ends up with - products or services created or performed as part of a project.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811622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this problem for a moment.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7262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950241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consultants, the nice thing about having several deliverables is that they get paid upon completing each one.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C5CC73-2D23-43DC-AAC7-28CFABABC5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8942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735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98908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69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3313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1212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88259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6324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0576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4350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0667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9/18/2025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0993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1FA-BE16-4C1E-86D0-DC8A0B329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249172-0525-49D7-A2E8-DD77D0AEF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D11EA3-381A-499E-A133-8CA01CB7CD48}"/>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4F8B604E-7C2E-4FEC-AA3D-97FEAE58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6043C-8401-4887-887B-9E41FEA9DA2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6877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F157-DA10-4A11-A29B-50549C9347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00FB92-069D-4BCF-AFFF-D6669C4FEB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AB370-84AC-4D00-8918-4CEB78AC8279}"/>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70953B6E-2A04-48C5-B33D-F54F6A877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A076F-45FB-4745-91EC-D1F76C7145E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44492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FCD3-A38E-4C0C-99F0-70BA26480E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C9567-8BE3-4660-924E-B8F1C5F80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4A124AE-C6BD-458E-994C-A6D0B0EE8378}"/>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D947A992-4F67-4DE5-8D3F-FD6443F3B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FE13F2-491D-420A-B326-DAD8D275831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649706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F4AA-5195-4782-A216-9BE8D3264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744A1C-BD6D-4446-9214-E36B77CA1BF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989C59-552C-4DD0-B95B-B557F0BE62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69013F-3ED5-4315-B25A-92CA90D95364}"/>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6" name="Footer Placeholder 5">
            <a:extLst>
              <a:ext uri="{FF2B5EF4-FFF2-40B4-BE49-F238E27FC236}">
                <a16:creationId xmlns:a16="http://schemas.microsoft.com/office/drawing/2014/main" id="{F2310BE9-B419-4141-8EAA-CFBABC3F0A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B2B25-636C-49A9-A2AD-03474D97DB6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461175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580F-5DE3-4802-AB94-5C551C56CA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06DEFB-C589-4867-B1A6-2F636336E0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4072145-8E5B-40E1-955E-311B0ECEE08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605866-8DB6-4992-BDD7-07F154682F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596DCED-16F6-45C3-9DCC-3194AA7FF3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869C04-23DD-49C9-A9CA-67FC48A17B34}"/>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8" name="Footer Placeholder 7">
            <a:extLst>
              <a:ext uri="{FF2B5EF4-FFF2-40B4-BE49-F238E27FC236}">
                <a16:creationId xmlns:a16="http://schemas.microsoft.com/office/drawing/2014/main" id="{0B0DED90-6357-473E-9649-9412162B81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60121F-D176-4BD8-A8AE-0EDF3436D73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58655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1BE2-3645-4604-AA51-CCA02B5A2C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F1B2D3-2F30-4757-ACF9-6EAEC869FC3C}"/>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4" name="Footer Placeholder 3">
            <a:extLst>
              <a:ext uri="{FF2B5EF4-FFF2-40B4-BE49-F238E27FC236}">
                <a16:creationId xmlns:a16="http://schemas.microsoft.com/office/drawing/2014/main" id="{448B7B7B-0050-4B5B-842C-B81B75757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F7F962-DE99-4D14-AF88-3918B8F59A82}"/>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6647138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36AD3-A99A-4152-9828-DA9C8AC5088B}"/>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3" name="Footer Placeholder 2">
            <a:extLst>
              <a:ext uri="{FF2B5EF4-FFF2-40B4-BE49-F238E27FC236}">
                <a16:creationId xmlns:a16="http://schemas.microsoft.com/office/drawing/2014/main" id="{71FE5AFF-0B74-49EF-836A-6AB403A7EE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525EFA-1A8E-48BE-BCF0-A4EDCA1916C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863800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5B29-6546-4270-8053-079AF003C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5F534A-7F7F-4C5A-ADD0-DF775C0A4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2DCEAE-DDC0-47C2-806B-2EA0D66FA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A841BC-169D-487B-866B-06193FB50550}"/>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6" name="Footer Placeholder 5">
            <a:extLst>
              <a:ext uri="{FF2B5EF4-FFF2-40B4-BE49-F238E27FC236}">
                <a16:creationId xmlns:a16="http://schemas.microsoft.com/office/drawing/2014/main" id="{F756DD77-C322-4158-B590-40B140DDEB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CD8DE7-664A-45BB-890E-353D2EAC074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518889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D0D41-7458-4A2E-80B7-EDAF79A62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8A3135-255B-493E-A673-E4AD9888C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252E37-FFA0-48E8-A4A3-FF5975E58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292746-D8A5-46E0-8DCF-F14A65F60362}"/>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6" name="Footer Placeholder 5">
            <a:extLst>
              <a:ext uri="{FF2B5EF4-FFF2-40B4-BE49-F238E27FC236}">
                <a16:creationId xmlns:a16="http://schemas.microsoft.com/office/drawing/2014/main" id="{847C0451-133E-4015-B1A7-1171A1BEFB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8C6061-593B-4067-BC28-F60009237A7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628415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C986-062D-4268-AAF8-628F962CE3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3DFF04-5BCB-4BCB-A68C-36DC2BFE35A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146C0-7B1B-451D-98F1-CD73A586BBB1}"/>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EFD2749D-CAB0-4871-907A-8B5FB39E5C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692D2-D623-4F67-88F3-370FB72B018E}"/>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429351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0A2EB-8377-4CAB-BD90-CE047EF81A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A36EDB-7A09-4D57-ABD4-16B4645925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B29B3-93C4-4FB7-9BD2-B7196BD476AA}"/>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4538B756-1600-499F-A625-3E554C34E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B865B-EE72-44AB-9195-7B97EF3E9065}"/>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15531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5" y="4352544"/>
            <a:ext cx="6801612" cy="1239894"/>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BC1D1087-A499-403C-9706-56256D6A62D2}"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91829727"/>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1D1087-A499-403C-9706-56256D6A62D2}"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8640401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5" y="4352465"/>
            <a:ext cx="6801612" cy="126508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BC1D1087-A499-403C-9706-56256D6A62D2}"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696150528"/>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7"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C1D1087-A499-403C-9706-56256D6A62D2}" type="datetimeFigureOut">
              <a:rPr lang="en-US" smtClean="0"/>
              <a:t>9/18/2025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2381474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5"/>
            <a:ext cx="4270248" cy="704087"/>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7"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5"/>
            <a:ext cx="4270248" cy="704087"/>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7" name="Date Placeholder 6"/>
          <p:cNvSpPr>
            <a:spLocks noGrp="1"/>
          </p:cNvSpPr>
          <p:nvPr>
            <p:ph type="dt" sz="half" idx="10"/>
          </p:nvPr>
        </p:nvSpPr>
        <p:spPr/>
        <p:txBody>
          <a:bodyPr/>
          <a:lstStyle/>
          <a:p>
            <a:fld id="{BC1D1087-A499-403C-9706-56256D6A62D2}"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7469594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1D1087-A499-403C-9706-56256D6A62D2}" type="datetimeFigureOut">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1198414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1D1087-A499-403C-9706-56256D6A62D2}" type="datetimeFigureOut">
              <a:rPr lang="en-US" smtClean="0"/>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25373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30"/>
            <a:ext cx="4486656" cy="1141497"/>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9" name="Date Placeholder 8"/>
          <p:cNvSpPr>
            <a:spLocks noGrp="1"/>
          </p:cNvSpPr>
          <p:nvPr>
            <p:ph type="dt" sz="half" idx="10"/>
          </p:nvPr>
        </p:nvSpPr>
        <p:spPr/>
        <p:txBody>
          <a:bodyPr/>
          <a:lstStyle/>
          <a:p>
            <a:fld id="{BC1D1087-A499-403C-9706-56256D6A62D2}" type="datetimeFigureOut">
              <a:rPr lang="en-US" smtClean="0"/>
              <a:t>9/18/2025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0853636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2"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9" cy="1134640"/>
          </a:xfrm>
          <a:solidFill>
            <a:srgbClr val="FFFFFF"/>
          </a:solidFill>
          <a:ln>
            <a:solidFill>
              <a:srgbClr val="404040"/>
            </a:solidFill>
          </a:ln>
        </p:spPr>
        <p:txBody>
          <a:bodyPr anchor="ctr" anchorCtr="1">
            <a:noAutofit/>
          </a:bodyPr>
          <a:lstStyle>
            <a:lvl1pPr>
              <a:defRPr sz="165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6001" y="0"/>
            <a:ext cx="6102097" cy="68580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115568" y="3549920"/>
            <a:ext cx="3794760" cy="219403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C1D1087-A499-403C-9706-56256D6A62D2}" type="datetimeFigureOut">
              <a:rPr lang="en-US" smtClean="0"/>
              <a:t>9/18/2025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617249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69051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7"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310443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9B7F-7CFC-939E-D9C8-5AC210BD6A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22C5D8-6DAF-D0DC-8432-AC9AB121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56625E-7481-E689-219E-D355FD7D094A}"/>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5" name="Footer Placeholder 4">
            <a:extLst>
              <a:ext uri="{FF2B5EF4-FFF2-40B4-BE49-F238E27FC236}">
                <a16:creationId xmlns:a16="http://schemas.microsoft.com/office/drawing/2014/main" id="{CABD3010-B82D-363D-FA3B-909901266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345D17-63C7-0808-9657-96AD3778B6D7}"/>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36716427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11C4-7B35-4509-4346-C0C273ECD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3D39C3-BD5C-64A3-3A89-CBC0E0E6D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6F4B79-3A5C-37D8-2E0F-27F17A593E62}"/>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5" name="Footer Placeholder 4">
            <a:extLst>
              <a:ext uri="{FF2B5EF4-FFF2-40B4-BE49-F238E27FC236}">
                <a16:creationId xmlns:a16="http://schemas.microsoft.com/office/drawing/2014/main" id="{5F28BB08-2C52-786E-1027-9A079F2EA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7493C-5341-FB57-406F-AF12D5B05D71}"/>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1544714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8127-74B9-847C-8F77-70E9FCBAAB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56A9DB-1B7E-86AF-18CF-0027969EAC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8E8454-8942-9F09-0553-56E15B3DC2E4}"/>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5" name="Footer Placeholder 4">
            <a:extLst>
              <a:ext uri="{FF2B5EF4-FFF2-40B4-BE49-F238E27FC236}">
                <a16:creationId xmlns:a16="http://schemas.microsoft.com/office/drawing/2014/main" id="{90E5F4F9-3102-709F-FEDA-3E340663E2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8972B-A295-1A12-925C-502D88038D60}"/>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40921952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1E99-A174-4D4B-027B-C839C4695A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AFD693-1A06-6148-4CB2-0CA5504732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0A3DCB-5CE8-C697-DECB-241DBBD4E6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78820C-2E4D-B7E6-4D4B-8A77FE7668F9}"/>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6" name="Footer Placeholder 5">
            <a:extLst>
              <a:ext uri="{FF2B5EF4-FFF2-40B4-BE49-F238E27FC236}">
                <a16:creationId xmlns:a16="http://schemas.microsoft.com/office/drawing/2014/main" id="{F6AC2F49-B564-D7DA-70EE-0842D18FFA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C1344-3903-3C70-1A80-9795E40648DD}"/>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904074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2482-37D4-8DF5-A574-B34D3E6B31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CF5B66-D36C-343D-9F25-215CACA2AC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083C05-E030-FB87-2163-3D7DC22F61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99DEED-2143-A7FF-8440-5FD2EDF9D0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F33D45-EA73-92E1-F159-4D36BDB312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FCA8E8-8E67-2610-EA33-90A90D74E034}"/>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8" name="Footer Placeholder 7">
            <a:extLst>
              <a:ext uri="{FF2B5EF4-FFF2-40B4-BE49-F238E27FC236}">
                <a16:creationId xmlns:a16="http://schemas.microsoft.com/office/drawing/2014/main" id="{8F97B122-78E8-1600-7B5C-15665BBCAB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5C1CCF-6B0B-3BCE-206A-418F2DB0B42A}"/>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6043538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E00A-BE56-2768-CCBA-4ACE9893BF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40E630-792D-F528-DE7E-4205159BEE1A}"/>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4" name="Footer Placeholder 3">
            <a:extLst>
              <a:ext uri="{FF2B5EF4-FFF2-40B4-BE49-F238E27FC236}">
                <a16:creationId xmlns:a16="http://schemas.microsoft.com/office/drawing/2014/main" id="{EAD8A62C-AFC3-A71F-7FA1-7C6C79D577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DB9FA3-DF40-884E-2945-45E3BC34C0EE}"/>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0250576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D5B98-7E0A-4E53-9F0F-433F42E6F94F}"/>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3" name="Footer Placeholder 2">
            <a:extLst>
              <a:ext uri="{FF2B5EF4-FFF2-40B4-BE49-F238E27FC236}">
                <a16:creationId xmlns:a16="http://schemas.microsoft.com/office/drawing/2014/main" id="{76ADD496-A8F2-4963-76AA-BBDA272468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0FCA0D-1D0E-6195-D111-848C09C771B1}"/>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9889700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C464-31CF-491C-DED3-114E832B4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5148B6-ADC5-A8D3-E4A2-AA4534F8E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E5AB75-3867-6E7C-CD8F-ECDFA3DA3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EDD6D-F216-168B-F199-0B35E881D553}"/>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6" name="Footer Placeholder 5">
            <a:extLst>
              <a:ext uri="{FF2B5EF4-FFF2-40B4-BE49-F238E27FC236}">
                <a16:creationId xmlns:a16="http://schemas.microsoft.com/office/drawing/2014/main" id="{C1FA60C4-31F0-1A1B-E82E-3861260554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579437-F898-58E9-36E7-BAC9E6E68047}"/>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8582592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5386-0EA6-7B3E-0CF4-F6B0A35C4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B807D5-6E0A-6232-A0AD-93CDF0466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7735A9-4C82-4823-27E6-E0BFC7325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73A2E-8957-406C-2FAF-576FA8471F39}"/>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6" name="Footer Placeholder 5">
            <a:extLst>
              <a:ext uri="{FF2B5EF4-FFF2-40B4-BE49-F238E27FC236}">
                <a16:creationId xmlns:a16="http://schemas.microsoft.com/office/drawing/2014/main" id="{CF7B3E0B-EA59-33D3-4428-34EBD0D030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67235F-6A78-3750-F3A1-CF064FB72AC6}"/>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4395527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87A8E-DA89-B00F-59C8-9A80E15E47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AD0749-0C61-78AF-B4AB-0766217A9D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349A40-C0B6-624C-1643-9399171971C4}"/>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5" name="Footer Placeholder 4">
            <a:extLst>
              <a:ext uri="{FF2B5EF4-FFF2-40B4-BE49-F238E27FC236}">
                <a16:creationId xmlns:a16="http://schemas.microsoft.com/office/drawing/2014/main" id="{4E526577-E22B-4E74-2382-04CB062A7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AEA85-7297-753E-B9B2-EDD61D5CB1AD}"/>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13944087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AA74C-79C9-1805-DA32-98620DFC58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7A0A4F-056F-36D8-A8AE-86A037D14B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F60AF0-791E-6300-1A99-8A5BBE934394}"/>
              </a:ext>
            </a:extLst>
          </p:cNvPr>
          <p:cNvSpPr>
            <a:spLocks noGrp="1"/>
          </p:cNvSpPr>
          <p:nvPr>
            <p:ph type="dt" sz="half" idx="10"/>
          </p:nvPr>
        </p:nvSpPr>
        <p:spPr/>
        <p:txBody>
          <a:bodyPr/>
          <a:lstStyle/>
          <a:p>
            <a:fld id="{CCA18DE0-C786-4B81-A280-816435620A3C}" type="datetimeFigureOut">
              <a:rPr lang="en-US" smtClean="0"/>
              <a:t>9/18/2025</a:t>
            </a:fld>
            <a:endParaRPr lang="en-US"/>
          </a:p>
        </p:txBody>
      </p:sp>
      <p:sp>
        <p:nvSpPr>
          <p:cNvPr id="5" name="Footer Placeholder 4">
            <a:extLst>
              <a:ext uri="{FF2B5EF4-FFF2-40B4-BE49-F238E27FC236}">
                <a16:creationId xmlns:a16="http://schemas.microsoft.com/office/drawing/2014/main" id="{BF1AD8A5-D500-5DE6-DADB-5E07BB738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C5D47E-6B20-84ED-6138-5C0DA5F47188}"/>
              </a:ext>
            </a:extLst>
          </p:cNvPr>
          <p:cNvSpPr>
            <a:spLocks noGrp="1"/>
          </p:cNvSpPr>
          <p:nvPr>
            <p:ph type="sldNum" sz="quarter" idx="12"/>
          </p:nvPr>
        </p:nvSpPr>
        <p:spPr/>
        <p:txBody>
          <a:bodyPr/>
          <a:lstStyle/>
          <a:p>
            <a:fld id="{873F38D7-825B-4323-8E94-8106C1066F5C}" type="slidenum">
              <a:rPr lang="en-US" smtClean="0"/>
              <a:t>‹#›</a:t>
            </a:fld>
            <a:endParaRPr lang="en-US"/>
          </a:p>
        </p:txBody>
      </p:sp>
    </p:spTree>
    <p:extLst>
      <p:ext uri="{BB962C8B-B14F-4D97-AF65-F5344CB8AC3E}">
        <p14:creationId xmlns:p14="http://schemas.microsoft.com/office/powerpoint/2010/main" val="21909411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9A0E6C2A-85C6-4763-B97A-9CB1A3C5CA1A}" type="datetime1">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4413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F6831CBB-E587-4C0C-A6F8-430621204336}" type="datetime1">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vl1pPr>
          </a:lstStyle>
          <a:p>
            <a:r>
              <a:rPr lang="en-US" dirty="0"/>
              <a:t>1</a:t>
            </a:r>
          </a:p>
        </p:txBody>
      </p:sp>
    </p:spTree>
    <p:extLst>
      <p:ext uri="{BB962C8B-B14F-4D97-AF65-F5344CB8AC3E}">
        <p14:creationId xmlns:p14="http://schemas.microsoft.com/office/powerpoint/2010/main" val="6418374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DA4A5C29-8B6B-4284-A7DC-DA9815FC9D66}" type="datetime1">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2358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0ECD0ED3-E3FF-49C2-BEB6-3CB3BB8F6B01}" type="datetime1">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109391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97280" y="6459785"/>
            <a:ext cx="2472271" cy="365125"/>
          </a:xfrm>
          <a:prstGeom prst="rect">
            <a:avLst/>
          </a:prstGeom>
        </p:spPr>
        <p:txBody>
          <a:bodyPr/>
          <a:lstStyle/>
          <a:p>
            <a:fld id="{BC1D00F5-7B0B-434C-92F6-D4A501945092}" type="datetime1">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7170203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97280" y="6459785"/>
            <a:ext cx="2472271" cy="365125"/>
          </a:xfrm>
          <a:prstGeom prst="rect">
            <a:avLst/>
          </a:prstGeom>
        </p:spPr>
        <p:txBody>
          <a:bodyPr/>
          <a:lstStyle/>
          <a:p>
            <a:fld id="{F86AD80F-763D-4800-AC1F-C97D17DD2E33}" type="datetime1">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52789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a:xfrm>
            <a:off x="1097280" y="6459785"/>
            <a:ext cx="2472271" cy="365125"/>
          </a:xfrm>
          <a:prstGeom prst="rect">
            <a:avLst/>
          </a:prstGeom>
        </p:spPr>
        <p:txBody>
          <a:bodyPr/>
          <a:lstStyle/>
          <a:p>
            <a:fld id="{1481E8BD-8411-47D2-BCC1-3CC240AE6870}" type="datetime1">
              <a:rPr lang="en-US" smtClean="0"/>
              <a:t>9/18/2025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4384968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a:prstGeom prst="rect">
            <a:avLst/>
          </a:prstGeom>
        </p:spPr>
        <p:txBody>
          <a:bodyPr/>
          <a:lstStyle>
            <a:lvl1pPr algn="l">
              <a:defRPr/>
            </a:lvl1pPr>
          </a:lstStyle>
          <a:p>
            <a:fld id="{B615E2FD-3C7B-408C-8930-01309CA3A77B}" type="datetime1">
              <a:rPr lang="en-US" smtClean="0"/>
              <a:t>9/18/2025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2093888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1097280" y="6459785"/>
            <a:ext cx="2472271" cy="365125"/>
          </a:xfrm>
          <a:prstGeom prst="rect">
            <a:avLst/>
          </a:prstGeom>
        </p:spPr>
        <p:txBody>
          <a:bodyPr/>
          <a:lstStyle/>
          <a:p>
            <a:fld id="{5A02716E-CE70-4312-B252-2F0243E2D4E8}" type="datetime1">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9213000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F7467F08-7016-449B-8057-F5CBC8B29386}" type="datetime1">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7819463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63453A84-61F2-4B80-819C-46242AF185E7}" type="datetime1">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821367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6" y="770467"/>
            <a:ext cx="10782300" cy="3352800"/>
          </a:xfrm>
        </p:spPr>
        <p:txBody>
          <a:bodyPr anchor="b">
            <a:noAutofit/>
          </a:bodyPr>
          <a:lstStyle>
            <a:lvl1pPr algn="l">
              <a:lnSpc>
                <a:spcPct val="80000"/>
              </a:lnSpc>
              <a:defRPr sz="4950" spc="-68"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4" y="4206876"/>
            <a:ext cx="9228201" cy="1645920"/>
          </a:xfrm>
        </p:spPr>
        <p:txBody>
          <a:bodyPr>
            <a:normAutofit/>
          </a:bodyPr>
          <a:lstStyle>
            <a:lvl1pPr marL="0" indent="0" algn="l">
              <a:buNone/>
              <a:defRPr sz="1800">
                <a:solidFill>
                  <a:schemeClr val="bg1"/>
                </a:solidFill>
                <a:latin typeface="+mj-lt"/>
              </a:defRPr>
            </a:lvl1pPr>
            <a:lvl2pPr marL="257175" indent="0" algn="ctr">
              <a:buNone/>
              <a:defRPr sz="1575"/>
            </a:lvl2pPr>
            <a:lvl3pPr marL="514350" indent="0" algn="ctr">
              <a:buNone/>
              <a:defRPr sz="1350"/>
            </a:lvl3pPr>
            <a:lvl4pPr marL="771525" indent="0" algn="ctr">
              <a:buNone/>
              <a:defRPr sz="1125"/>
            </a:lvl4pPr>
            <a:lvl5pPr marL="1028700" indent="0" algn="ctr">
              <a:buNone/>
              <a:defRPr sz="1125"/>
            </a:lvl5pPr>
            <a:lvl6pPr marL="1285875" indent="0" algn="ctr">
              <a:buNone/>
              <a:defRPr sz="1125"/>
            </a:lvl6pPr>
            <a:lvl7pPr marL="1543050" indent="0" algn="ctr">
              <a:buNone/>
              <a:defRPr sz="1125"/>
            </a:lvl7pPr>
            <a:lvl8pPr marL="1800225" indent="0" algn="ctr">
              <a:buNone/>
              <a:defRPr sz="1125"/>
            </a:lvl8pPr>
            <a:lvl9pPr marL="2057400" indent="0" algn="ctr">
              <a:buNone/>
              <a:defRPr sz="1125"/>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AF239A9A-B4B0-4B32-B8CD-2E25E95134C4}" type="datetimeFigureOut">
              <a:rPr lang="en-US" smtClean="0"/>
              <a:t>9/18/2025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08312450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03352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495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1800">
                <a:solidFill>
                  <a:schemeClr val="tx1"/>
                </a:solidFill>
                <a:latin typeface="+mj-lt"/>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11815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1" y="1998134"/>
            <a:ext cx="4663440" cy="376732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373519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1238" b="0" cap="all" baseline="0">
                <a:solidFill>
                  <a:schemeClr val="tx1">
                    <a:lumMod val="85000"/>
                    <a:lumOff val="15000"/>
                  </a:schemeClr>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1238" b="0" cap="all" baseline="0">
                <a:solidFill>
                  <a:schemeClr val="tx1">
                    <a:lumMod val="85000"/>
                    <a:lumOff val="15000"/>
                  </a:schemeClr>
                </a:solidFill>
                <a:latin typeface="+mj-lt"/>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47390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smtClean="0"/>
              <a:t>9/18/2025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44869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1AE78-96A2-4A23-B183-3B6DB4374FE7}" type="datetimeFigureOut">
              <a:rPr lang="en-US" smtClean="0"/>
              <a:t>9/18/2025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69825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225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3" y="2511813"/>
            <a:ext cx="3398520" cy="3126987"/>
          </a:xfrm>
        </p:spPr>
        <p:txBody>
          <a:bodyPr>
            <a:normAutofit/>
          </a:bodyPr>
          <a:lstStyle>
            <a:lvl1pPr marL="0" marR="0" indent="0" algn="l" defTabSz="514350" rtl="0" eaLnBrk="1" fontAlgn="auto" latinLnBrk="0" hangingPunct="1">
              <a:lnSpc>
                <a:spcPct val="100000"/>
              </a:lnSpc>
              <a:spcBef>
                <a:spcPts val="675"/>
              </a:spcBef>
              <a:spcAft>
                <a:spcPts val="0"/>
              </a:spcAft>
              <a:buClrTx/>
              <a:buSzTx/>
              <a:buFontTx/>
              <a:buNone/>
              <a:tabLst/>
              <a:defRPr sz="1013">
                <a:solidFill>
                  <a:srgbClr val="262626"/>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marL="0" marR="0" lvl="0" indent="0" algn="l" defTabSz="514350" rtl="0" eaLnBrk="1" fontAlgn="auto" latinLnBrk="0" hangingPunct="1">
              <a:lnSpc>
                <a:spcPct val="100000"/>
              </a:lnSpc>
              <a:spcBef>
                <a:spcPts val="788"/>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73AE0757-B101-4811-9189-10EB2F458E2D}" type="datetimeFigureOut">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68973615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71"/>
            <a:ext cx="10780776" cy="613283"/>
          </a:xfrm>
        </p:spPr>
        <p:txBody>
          <a:bodyPr anchor="b">
            <a:normAutofit/>
          </a:bodyPr>
          <a:lstStyle>
            <a:lvl1pPr>
              <a:defRPr sz="1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450"/>
              </a:spcBef>
              <a:buNone/>
              <a:defRPr sz="1800">
                <a:solidFill>
                  <a:schemeClr val="tx1">
                    <a:lumMod val="75000"/>
                    <a:lumOff val="25000"/>
                  </a:schemeClr>
                </a:solidFill>
              </a:defRPr>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788">
                <a:solidFill>
                  <a:srgbClr val="262626"/>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BDC078-589F-40E3-816C-EE21D62B5BBA}" type="datetimeFigureOut">
              <a:rPr lang="en-US" smtClean="0"/>
              <a:t>9/18/2025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4116709907"/>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388178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1"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6" y="714379"/>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3FEF9-69D0-4F8C-A336-59491FBEDC47}"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603137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8827-7DAA-4B12-BBA5-27FF5C8BD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5CE7D9-DC3E-4AB0-8E40-0C04CBA27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0D79C1-DE76-4FCB-8188-181C040E4FF4}"/>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a:extLst>
              <a:ext uri="{FF2B5EF4-FFF2-40B4-BE49-F238E27FC236}">
                <a16:creationId xmlns:a16="http://schemas.microsoft.com/office/drawing/2014/main" id="{C2405598-672E-4D50-854E-B96733DD5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805C8-BB65-4C8D-B691-88211A1AA9F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2512238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AD076-4798-4C50-A8B1-90B046801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131B4-EEF7-4807-8CFA-BB139C1C49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13381-0A75-43C3-B1E7-E16A27D650F3}"/>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a:extLst>
              <a:ext uri="{FF2B5EF4-FFF2-40B4-BE49-F238E27FC236}">
                <a16:creationId xmlns:a16="http://schemas.microsoft.com/office/drawing/2014/main" id="{3CD45E5C-A815-4AAC-A044-A72DB10FF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F8D4E-A7F2-40E3-A8C3-E9A85B81FCE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5328707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3AF2-1750-42D3-A8EC-CDD7324A7A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1DF344-AA40-4E59-92F2-C2DA544233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461F01-B958-4045-84C3-B0BB71ED415A}"/>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a:extLst>
              <a:ext uri="{FF2B5EF4-FFF2-40B4-BE49-F238E27FC236}">
                <a16:creationId xmlns:a16="http://schemas.microsoft.com/office/drawing/2014/main" id="{E3CA38DF-389B-4A00-B1DD-FE1B8BAAF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EC238-8C07-4957-9D43-A464BB5CE8A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236557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C08A-3821-4D5C-909A-2C45E6CD1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274B3D-856C-47D4-A448-D6C4CBAAF5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493D3-BBCA-45F3-91CA-7D094F9655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90E599-4AB1-4101-8B86-5D077A72D0A0}"/>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6" name="Footer Placeholder 5">
            <a:extLst>
              <a:ext uri="{FF2B5EF4-FFF2-40B4-BE49-F238E27FC236}">
                <a16:creationId xmlns:a16="http://schemas.microsoft.com/office/drawing/2014/main" id="{181E23CE-AD0B-4D46-AC56-7B7C168BD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6DB82-02F1-41A3-B56E-2065A7358113}"/>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96017017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1B23-AB25-4C4E-B792-FDBB1E15B2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F026DB-C6AC-434D-8DD1-074AB824D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FEFF785-4E71-4121-A402-E8FD4B32D7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1338B6-DDF8-4D85-8A93-1DA7C3257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735309-8E56-4FFD-B8DE-BF2C87DB7E0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C889-958E-4EDB-A992-ABF68B4D3F54}"/>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8" name="Footer Placeholder 7">
            <a:extLst>
              <a:ext uri="{FF2B5EF4-FFF2-40B4-BE49-F238E27FC236}">
                <a16:creationId xmlns:a16="http://schemas.microsoft.com/office/drawing/2014/main" id="{DCECBBD6-57EE-4AC2-BF91-F33F856504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8224FF-CDF8-4626-985E-37641164FA9F}"/>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81785813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D6F0-6A61-4D68-9ADD-12ECD765B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C6083-803D-40D1-AF86-62B35A100120}"/>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4" name="Footer Placeholder 3">
            <a:extLst>
              <a:ext uri="{FF2B5EF4-FFF2-40B4-BE49-F238E27FC236}">
                <a16:creationId xmlns:a16="http://schemas.microsoft.com/office/drawing/2014/main" id="{06E28194-0D70-40AB-9E2C-52A6C15F48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5B879-22E7-4AFA-BB68-2B949443116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76264331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245807-40C6-44C9-80CA-BFD4B8007C72}"/>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3" name="Footer Placeholder 2">
            <a:extLst>
              <a:ext uri="{FF2B5EF4-FFF2-40B4-BE49-F238E27FC236}">
                <a16:creationId xmlns:a16="http://schemas.microsoft.com/office/drawing/2014/main" id="{7590DC38-D02A-4F45-A87E-775BB3719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59F3A2-CBE7-404E-AED4-60C437788B5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5205674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898D-83DC-4932-8FCF-C9612815C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4D70E1-EFA7-4F48-ABFB-AF343677D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4D2C29-36E8-430E-BE9C-06B62E230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0C6058-FD47-4A03-BFF1-4954DDC6A959}"/>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6" name="Footer Placeholder 5">
            <a:extLst>
              <a:ext uri="{FF2B5EF4-FFF2-40B4-BE49-F238E27FC236}">
                <a16:creationId xmlns:a16="http://schemas.microsoft.com/office/drawing/2014/main" id="{4E4533B8-BA50-49E8-8F51-5FFAD31F0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0799A-F109-4FFB-8FE4-78B1B964464D}"/>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7759259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FD8E-6853-4457-9E2A-560147A384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3367B8-7F55-4B6B-8DC1-CA7466A2E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435A9-F101-4D1C-9344-C46AD7B5C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19DC05-BE1A-4423-ABAB-5C90D9A73D36}"/>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6" name="Footer Placeholder 5">
            <a:extLst>
              <a:ext uri="{FF2B5EF4-FFF2-40B4-BE49-F238E27FC236}">
                <a16:creationId xmlns:a16="http://schemas.microsoft.com/office/drawing/2014/main" id="{6EAF8F60-6705-4B79-98FA-D02C3FFDA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22494-3A9F-40FD-83DF-C79D3F43B525}"/>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4821912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D530-FD25-4393-95C3-66ECAD601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D12BA7-0160-45FB-8877-6ACB0F6429D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91E08-0225-43D6-AE4D-3EF59ED63FA2}"/>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a:extLst>
              <a:ext uri="{FF2B5EF4-FFF2-40B4-BE49-F238E27FC236}">
                <a16:creationId xmlns:a16="http://schemas.microsoft.com/office/drawing/2014/main" id="{71948B2C-1FFD-4D0C-A29A-6743E0A62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02C6A-83F2-4C44-92F1-CAD39BE768A9}"/>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8010731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3EFAE8-9B12-4E1E-876E-310AD2FB1E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53A4B-4004-4596-A7F8-17D75B91D33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476B8-A8D0-415B-9638-B6A6AFE967B9}"/>
              </a:ext>
            </a:extLst>
          </p:cNvPr>
          <p:cNvSpPr>
            <a:spLocks noGrp="1"/>
          </p:cNvSpPr>
          <p:nvPr>
            <p:ph type="dt" sz="half" idx="10"/>
          </p:nvPr>
        </p:nvSpPr>
        <p:spPr/>
        <p:txBody>
          <a:bodyPr/>
          <a:lstStyle/>
          <a:p>
            <a:fld id="{BC1D1087-A499-403C-9706-56256D6A62D2}" type="datetimeFigureOut">
              <a:rPr lang="en-US" smtClean="0"/>
              <a:t>9/18/2025</a:t>
            </a:fld>
            <a:endParaRPr lang="en-US"/>
          </a:p>
        </p:txBody>
      </p:sp>
      <p:sp>
        <p:nvSpPr>
          <p:cNvPr id="5" name="Footer Placeholder 4">
            <a:extLst>
              <a:ext uri="{FF2B5EF4-FFF2-40B4-BE49-F238E27FC236}">
                <a16:creationId xmlns:a16="http://schemas.microsoft.com/office/drawing/2014/main" id="{ADD18B58-4B67-4A0C-92F4-24A7241D3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B9D46-566C-473A-9F38-4F26001360D1}"/>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06335266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AF239A9A-B4B0-4B32-B8CD-2E25E95134C4}" type="datetimeFigureOut">
              <a:rPr lang="en-US" smtClean="0"/>
              <a:t>9/18/2025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3048019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03589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31884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514145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3816296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smtClean="0"/>
              <a:t>9/18/2025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077602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1AE78-96A2-4A23-B183-3B6DB4374FE7}" type="datetimeFigureOut">
              <a:rPr lang="en-US" smtClean="0"/>
              <a:t>9/18/2025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747060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73AE0757-B101-4811-9189-10EB2F458E2D}" type="datetimeFigureOut">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1781733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BDC078-589F-40E3-816C-EE21D62B5BBA}" type="datetimeFigureOut">
              <a:rPr lang="en-US" smtClean="0"/>
              <a:t>9/18/2025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658499682"/>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356048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3FEF9-69D0-4F8C-A336-59491FBEDC47}"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452172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AF239A9A-B4B0-4B32-B8CD-2E25E95134C4}" type="datetimeFigureOut">
              <a:rPr lang="en-US" smtClean="0"/>
              <a:t>9/18/2025</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23393909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504221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927875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8233547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2577934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smtClean="0"/>
              <a:t>9/18/2025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194447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1AE78-96A2-4A23-B183-3B6DB4374FE7}" type="datetimeFigureOut">
              <a:rPr lang="en-US" smtClean="0"/>
              <a:t>9/18/2025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232421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73AE0757-B101-4811-9189-10EB2F458E2D}" type="datetimeFigureOut">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40367977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EBDC078-589F-40E3-816C-EE21D62B5BBA}" type="datetimeFigureOut">
              <a:rPr lang="en-US" smtClean="0"/>
              <a:t>9/18/2025</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296956303"/>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6120109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3FEF9-69D0-4F8C-A336-59491FBEDC47}" type="datetimeFigureOut">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753098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A6A481-4185-416C-B0AE-3D8396B35273}" type="slidenum">
              <a:rPr lang="en-US" altLang="en-US"/>
              <a:pPr>
                <a:defRPr/>
              </a:pPr>
              <a:t>‹#›</a:t>
            </a:fld>
            <a:endParaRPr lang="en-US" altLang="en-US"/>
          </a:p>
        </p:txBody>
      </p:sp>
    </p:spTree>
    <p:extLst>
      <p:ext uri="{BB962C8B-B14F-4D97-AF65-F5344CB8AC3E}">
        <p14:creationId xmlns:p14="http://schemas.microsoft.com/office/powerpoint/2010/main" val="335243014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525DAA86-D487-4582-8852-AA829BCF81E2}" type="slidenum">
              <a:rPr lang="en-US" altLang="en-US"/>
              <a:pPr>
                <a:defRPr/>
              </a:pPr>
              <a:t>‹#›</a:t>
            </a:fld>
            <a:endParaRPr lang="en-US" altLang="en-US"/>
          </a:p>
        </p:txBody>
      </p:sp>
    </p:spTree>
    <p:extLst>
      <p:ext uri="{BB962C8B-B14F-4D97-AF65-F5344CB8AC3E}">
        <p14:creationId xmlns:p14="http://schemas.microsoft.com/office/powerpoint/2010/main" val="301201523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210BE2E-6396-470C-A5EF-11FD5D874D17}" type="slidenum">
              <a:rPr lang="en-US" altLang="en-US"/>
              <a:pPr>
                <a:defRPr/>
              </a:pPr>
              <a:t>‹#›</a:t>
            </a:fld>
            <a:endParaRPr lang="en-US" altLang="en-US"/>
          </a:p>
        </p:txBody>
      </p:sp>
    </p:spTree>
    <p:extLst>
      <p:ext uri="{BB962C8B-B14F-4D97-AF65-F5344CB8AC3E}">
        <p14:creationId xmlns:p14="http://schemas.microsoft.com/office/powerpoint/2010/main" val="183436488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02F141B5-3D08-4999-8B27-551A22F4C907}" type="slidenum">
              <a:rPr lang="en-US" altLang="en-US"/>
              <a:pPr>
                <a:defRPr/>
              </a:pPr>
              <a:t>‹#›</a:t>
            </a:fld>
            <a:endParaRPr lang="en-US" altLang="en-US"/>
          </a:p>
        </p:txBody>
      </p:sp>
    </p:spTree>
    <p:extLst>
      <p:ext uri="{BB962C8B-B14F-4D97-AF65-F5344CB8AC3E}">
        <p14:creationId xmlns:p14="http://schemas.microsoft.com/office/powerpoint/2010/main" val="273396699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8F17390-B0F6-4A5C-8E97-34214B383216}" type="slidenum">
              <a:rPr lang="en-US" altLang="en-US"/>
              <a:pPr>
                <a:defRPr/>
              </a:pPr>
              <a:t>‹#›</a:t>
            </a:fld>
            <a:endParaRPr lang="en-US" altLang="en-US"/>
          </a:p>
        </p:txBody>
      </p:sp>
    </p:spTree>
    <p:extLst>
      <p:ext uri="{BB962C8B-B14F-4D97-AF65-F5344CB8AC3E}">
        <p14:creationId xmlns:p14="http://schemas.microsoft.com/office/powerpoint/2010/main" val="115730737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4F9B65C-78BE-461D-AE71-441C4988390D}" type="slidenum">
              <a:rPr lang="en-US" altLang="en-US"/>
              <a:pPr>
                <a:defRPr/>
              </a:pPr>
              <a:t>‹#›</a:t>
            </a:fld>
            <a:endParaRPr lang="en-US" altLang="en-US"/>
          </a:p>
        </p:txBody>
      </p:sp>
    </p:spTree>
    <p:extLst>
      <p:ext uri="{BB962C8B-B14F-4D97-AF65-F5344CB8AC3E}">
        <p14:creationId xmlns:p14="http://schemas.microsoft.com/office/powerpoint/2010/main" val="221349257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7FF3451F-0E83-4ABA-9E13-21CF2A3199D9}" type="slidenum">
              <a:rPr lang="en-US" altLang="en-US"/>
              <a:pPr>
                <a:defRPr/>
              </a:pPr>
              <a:t>‹#›</a:t>
            </a:fld>
            <a:endParaRPr lang="en-US" altLang="en-US"/>
          </a:p>
        </p:txBody>
      </p:sp>
    </p:spTree>
    <p:extLst>
      <p:ext uri="{BB962C8B-B14F-4D97-AF65-F5344CB8AC3E}">
        <p14:creationId xmlns:p14="http://schemas.microsoft.com/office/powerpoint/2010/main" val="366783156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61EF910-1344-4C5D-BC30-2161215A0F62}" type="slidenum">
              <a:rPr lang="en-US" altLang="en-US"/>
              <a:pPr>
                <a:defRPr/>
              </a:pPr>
              <a:t>‹#›</a:t>
            </a:fld>
            <a:endParaRPr lang="en-US" altLang="en-US"/>
          </a:p>
        </p:txBody>
      </p:sp>
    </p:spTree>
    <p:extLst>
      <p:ext uri="{BB962C8B-B14F-4D97-AF65-F5344CB8AC3E}">
        <p14:creationId xmlns:p14="http://schemas.microsoft.com/office/powerpoint/2010/main" val="55089870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3185156-6697-43F4-8AEF-8A7581F10907}" type="slidenum">
              <a:rPr lang="en-US" altLang="en-US"/>
              <a:pPr>
                <a:defRPr/>
              </a:pPr>
              <a:t>‹#›</a:t>
            </a:fld>
            <a:endParaRPr lang="en-US" altLang="en-US"/>
          </a:p>
        </p:txBody>
      </p:sp>
    </p:spTree>
    <p:extLst>
      <p:ext uri="{BB962C8B-B14F-4D97-AF65-F5344CB8AC3E}">
        <p14:creationId xmlns:p14="http://schemas.microsoft.com/office/powerpoint/2010/main" val="336669473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27072B4-7338-4C79-A187-96B50929E634}" type="slidenum">
              <a:rPr lang="en-US" altLang="en-US"/>
              <a:pPr>
                <a:defRPr/>
              </a:pPr>
              <a:t>‹#›</a:t>
            </a:fld>
            <a:endParaRPr lang="en-US" altLang="en-US"/>
          </a:p>
        </p:txBody>
      </p:sp>
    </p:spTree>
    <p:extLst>
      <p:ext uri="{BB962C8B-B14F-4D97-AF65-F5344CB8AC3E}">
        <p14:creationId xmlns:p14="http://schemas.microsoft.com/office/powerpoint/2010/main" val="187918624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C440989-2367-435C-94F0-B43EE48357AF}" type="slidenum">
              <a:rPr lang="en-US" altLang="en-US"/>
              <a:pPr>
                <a:defRPr/>
              </a:pPr>
              <a:t>‹#›</a:t>
            </a:fld>
            <a:endParaRPr lang="en-US" altLang="en-US"/>
          </a:p>
        </p:txBody>
      </p:sp>
    </p:spTree>
    <p:extLst>
      <p:ext uri="{BB962C8B-B14F-4D97-AF65-F5344CB8AC3E}">
        <p14:creationId xmlns:p14="http://schemas.microsoft.com/office/powerpoint/2010/main" val="106088158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1FA-BE16-4C1E-86D0-DC8A0B329AC5}"/>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4249172-0525-49D7-A2E8-DD77D0AEF393}"/>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1D11EA3-381A-499E-A133-8CA01CB7CD48}"/>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4F8B604E-7C2E-4FEC-AA3D-97FEAE58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6043C-8401-4887-887B-9E41FEA9DA2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53726091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F157-DA10-4A11-A29B-50549C9347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00FB92-069D-4BCF-AFFF-D6669C4FEB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AB370-84AC-4D00-8918-4CEB78AC8279}"/>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70953B6E-2A04-48C5-B33D-F54F6A877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A076F-45FB-4745-91EC-D1F76C7145E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73855413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FCD3-A38E-4C0C-99F0-70BA26480E3F}"/>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AAC9567-8BE3-4660-924E-B8F1C5F80FAE}"/>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4A124AE-C6BD-458E-994C-A6D0B0EE8378}"/>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D947A992-4F67-4DE5-8D3F-FD6443F3B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FE13F2-491D-420A-B326-DAD8D275831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50606665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F4AA-5195-4782-A216-9BE8D3264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744A1C-BD6D-4446-9214-E36B77CA1BF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989C59-552C-4DD0-B95B-B557F0BE62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69013F-3ED5-4315-B25A-92CA90D95364}"/>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6" name="Footer Placeholder 5">
            <a:extLst>
              <a:ext uri="{FF2B5EF4-FFF2-40B4-BE49-F238E27FC236}">
                <a16:creationId xmlns:a16="http://schemas.microsoft.com/office/drawing/2014/main" id="{F2310BE9-B419-4141-8EAA-CFBABC3F0A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B2B25-636C-49A9-A2AD-03474D97DB64}"/>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97376896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580F-5DE3-4802-AB94-5C551C56CAA8}"/>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06DEFB-C589-4867-B1A6-2F636336E044}"/>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C4072145-8E5B-40E1-955E-311B0ECEE08D}"/>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605866-8DB6-4992-BDD7-07F154682FF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A596DCED-16F6-45C3-9DCC-3194AA7FF3F9}"/>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869C04-23DD-49C9-A9CA-67FC48A17B34}"/>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8" name="Footer Placeholder 7">
            <a:extLst>
              <a:ext uri="{FF2B5EF4-FFF2-40B4-BE49-F238E27FC236}">
                <a16:creationId xmlns:a16="http://schemas.microsoft.com/office/drawing/2014/main" id="{0B0DED90-6357-473E-9649-9412162B81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60121F-D176-4BD8-A8AE-0EDF3436D73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99807316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1BE2-3645-4604-AA51-CCA02B5A2C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F1B2D3-2F30-4757-ACF9-6EAEC869FC3C}"/>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4" name="Footer Placeholder 3">
            <a:extLst>
              <a:ext uri="{FF2B5EF4-FFF2-40B4-BE49-F238E27FC236}">
                <a16:creationId xmlns:a16="http://schemas.microsoft.com/office/drawing/2014/main" id="{448B7B7B-0050-4B5B-842C-B81B75757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F7F962-DE99-4D14-AF88-3918B8F59A82}"/>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314214200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36AD3-A99A-4152-9828-DA9C8AC5088B}"/>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3" name="Footer Placeholder 2">
            <a:extLst>
              <a:ext uri="{FF2B5EF4-FFF2-40B4-BE49-F238E27FC236}">
                <a16:creationId xmlns:a16="http://schemas.microsoft.com/office/drawing/2014/main" id="{71FE5AFF-0B74-49EF-836A-6AB403A7EE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525EFA-1A8E-48BE-BCF0-A4EDCA1916C9}"/>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72868652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5B29-6546-4270-8053-079AF003CE13}"/>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5F534A-7F7F-4C5A-ADD0-DF775C0A4085}"/>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2DCEAE-DDC0-47C2-806B-2EA0D66FA1BB}"/>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D5A841BC-169D-487B-866B-06193FB50550}"/>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6" name="Footer Placeholder 5">
            <a:extLst>
              <a:ext uri="{FF2B5EF4-FFF2-40B4-BE49-F238E27FC236}">
                <a16:creationId xmlns:a16="http://schemas.microsoft.com/office/drawing/2014/main" id="{F756DD77-C322-4158-B590-40B140DDEB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CD8DE7-664A-45BB-890E-353D2EAC0748}"/>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9663212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D0D41-7458-4A2E-80B7-EDAF79A62AA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48A3135-255B-493E-A673-E4AD9888CF14}"/>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C252E37-FFA0-48E8-A4A3-FF5975E58397}"/>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88292746-D8A5-46E0-8DCF-F14A65F60362}"/>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6" name="Footer Placeholder 5">
            <a:extLst>
              <a:ext uri="{FF2B5EF4-FFF2-40B4-BE49-F238E27FC236}">
                <a16:creationId xmlns:a16="http://schemas.microsoft.com/office/drawing/2014/main" id="{847C0451-133E-4015-B1A7-1171A1BEFB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8C6061-593B-4067-BC28-F60009237A7B}"/>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173541358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C986-062D-4268-AAF8-628F962CE3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3DFF04-5BCB-4BCB-A68C-36DC2BFE35A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146C0-7B1B-451D-98F1-CD73A586BBB1}"/>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EFD2749D-CAB0-4871-907A-8B5FB39E5C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E692D2-D623-4F67-88F3-370FB72B018E}"/>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6633627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0A2EB-8377-4CAB-BD90-CE047EF81AC6}"/>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A36EDB-7A09-4D57-ABD4-16B46459250B}"/>
              </a:ext>
            </a:extLst>
          </p:cNvPr>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B29B3-93C4-4FB7-9BD2-B7196BD476AA}"/>
              </a:ext>
            </a:extLst>
          </p:cNvPr>
          <p:cNvSpPr>
            <a:spLocks noGrp="1"/>
          </p:cNvSpPr>
          <p:nvPr>
            <p:ph type="dt" sz="half" idx="10"/>
          </p:nvPr>
        </p:nvSpPr>
        <p:spPr/>
        <p:txBody>
          <a:body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4538B756-1600-499F-A625-3E554C34EC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B865B-EE72-44AB-9195-7B97EF3E9065}"/>
              </a:ext>
            </a:extLst>
          </p:cNvPr>
          <p:cNvSpPr>
            <a:spLocks noGrp="1"/>
          </p:cNvSpPr>
          <p:nvPr>
            <p:ph type="sldNum" sz="quarter" idx="12"/>
          </p:nvPr>
        </p:nvSpPr>
        <p:spPr/>
        <p:txBody>
          <a:bodyPr/>
          <a:lstStyle/>
          <a:p>
            <a:fld id="{B4A935CD-6950-45A5-B2A5-CC8A5C839D84}" type="slidenum">
              <a:rPr lang="en-US" smtClean="0"/>
              <a:t>‹#›</a:t>
            </a:fld>
            <a:endParaRPr lang="en-US"/>
          </a:p>
        </p:txBody>
      </p:sp>
    </p:spTree>
    <p:extLst>
      <p:ext uri="{BB962C8B-B14F-4D97-AF65-F5344CB8AC3E}">
        <p14:creationId xmlns:p14="http://schemas.microsoft.com/office/powerpoint/2010/main" val="27677761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EBA854-A26D-41C5-9D40-DF6B49ACB136}"/>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995BFA7-EB65-4E20-A693-324FEF74D3AE}"/>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A9E9218-0397-4231-81F4-03972AB6A3DD}"/>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81905177-1789-44BB-950A-7018653E6466}"/>
              </a:ext>
            </a:extLst>
          </p:cNvPr>
          <p:cNvSpPr>
            <a:spLocks noGrp="1"/>
          </p:cNvSpPr>
          <p:nvPr>
            <p:ph type="title" hasCustomPrompt="1"/>
          </p:nvPr>
        </p:nvSpPr>
        <p:spPr>
          <a:xfrm>
            <a:off x="1535371" y="1044054"/>
            <a:ext cx="10013709" cy="1030360"/>
          </a:xfrm>
        </p:spPr>
        <p:txBody>
          <a:bodyPr/>
          <a:lstStyle>
            <a:lvl1pPr>
              <a:defRPr>
                <a:solidFill>
                  <a:schemeClr val="bg1"/>
                </a:solidFill>
              </a:defRPr>
            </a:lvl1pPr>
          </a:lstStyle>
          <a:p>
            <a:r>
              <a:rPr lang="en-US" dirty="0">
                <a:solidFill>
                  <a:schemeClr val="bg1"/>
                </a:solidFill>
              </a:rPr>
              <a:t>Click to add title</a:t>
            </a:r>
          </a:p>
        </p:txBody>
      </p:sp>
      <p:sp>
        <p:nvSpPr>
          <p:cNvPr id="16" name="Rectangle 15">
            <a:extLst>
              <a:ext uri="{FF2B5EF4-FFF2-40B4-BE49-F238E27FC236}">
                <a16:creationId xmlns:a16="http://schemas.microsoft.com/office/drawing/2014/main" id="{AF2F4B8C-C655-4441-A7FF-616EF634E6E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89301A4-3CA9-4D0E-944E-1BE5921FA0B3}"/>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ooter Placeholder 4">
            <a:extLst>
              <a:ext uri="{FF2B5EF4-FFF2-40B4-BE49-F238E27FC236}">
                <a16:creationId xmlns:a16="http://schemas.microsoft.com/office/drawing/2014/main" id="{A9C29C55-D1EC-4DD4-BA5B-11E4AB1578D7}"/>
              </a:ext>
            </a:extLst>
          </p:cNvPr>
          <p:cNvSpPr>
            <a:spLocks noGrp="1"/>
          </p:cNvSpPr>
          <p:nvPr>
            <p:ph type="ftr" sz="quarter" idx="11"/>
          </p:nvPr>
        </p:nvSpPr>
        <p:spPr>
          <a:xfrm>
            <a:off x="1535371" y="6309360"/>
            <a:ext cx="5732061" cy="457200"/>
          </a:xfrm>
        </p:spPr>
        <p:txBody>
          <a:bodyPr/>
          <a:lstStyle/>
          <a:p>
            <a:r>
              <a:rPr lang="en-US" dirty="0"/>
              <a:t>Presentation Title</a:t>
            </a:r>
          </a:p>
        </p:txBody>
      </p:sp>
      <p:sp>
        <p:nvSpPr>
          <p:cNvPr id="20" name="Date Placeholder 3">
            <a:extLst>
              <a:ext uri="{FF2B5EF4-FFF2-40B4-BE49-F238E27FC236}">
                <a16:creationId xmlns:a16="http://schemas.microsoft.com/office/drawing/2014/main" id="{C31C8C6B-3212-41F0-A8A1-4A6A700AFB9D}"/>
              </a:ext>
            </a:extLst>
          </p:cNvPr>
          <p:cNvSpPr>
            <a:spLocks noGrp="1"/>
          </p:cNvSpPr>
          <p:nvPr>
            <p:ph type="dt" sz="half" idx="10"/>
          </p:nvPr>
        </p:nvSpPr>
        <p:spPr>
          <a:xfrm>
            <a:off x="8202168" y="6309360"/>
            <a:ext cx="2148840" cy="457200"/>
          </a:xfrm>
        </p:spPr>
        <p:txBody>
          <a:bodyPr/>
          <a:lstStyle/>
          <a:p>
            <a:r>
              <a:rPr lang="en-US"/>
              <a:t>2/1/20XX</a:t>
            </a:r>
            <a:endParaRPr lang="en-US" dirty="0"/>
          </a:p>
        </p:txBody>
      </p:sp>
      <p:sp>
        <p:nvSpPr>
          <p:cNvPr id="21" name="Slide Number Placeholder 5">
            <a:extLst>
              <a:ext uri="{FF2B5EF4-FFF2-40B4-BE49-F238E27FC236}">
                <a16:creationId xmlns:a16="http://schemas.microsoft.com/office/drawing/2014/main" id="{67357410-255F-470C-AD92-44B15997A771}"/>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57962387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F1FDAB0-1CD3-48D1-9007-731674405289}" type="datetime1">
              <a:rPr lang="en-US" smtClean="0"/>
              <a:t>9/18/2025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3466561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BDF7FB-15D3-4923-B9D6-4AE54633BD74}" type="datetime1">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6802756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07AA711-06FA-406F-A64A-816AE4445FE7}" type="datetime1">
              <a:rPr lang="en-US" smtClean="0"/>
              <a:t>9/18/2025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459197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A61EC9-3B9E-4078-831C-4982CC077118}" type="datetime1">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2126568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7ED7CE-7EFB-47C0-AC04-21ADFD626E1D}" type="datetime1">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044893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522D6C-4FCB-4F13-BABC-731BB314B0D4}" type="datetime1">
              <a:rPr lang="en-US" smtClean="0"/>
              <a:t>9/18/2025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2265154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A23AC4-20F1-48F9-A8D5-74B0150F929C}" type="datetime1">
              <a:rPr lang="en-US" smtClean="0"/>
              <a:t>9/18/2025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4926236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602185DB-CA1E-488C-AF35-490C059E2B11}" type="datetime1">
              <a:rPr lang="en-US" smtClean="0"/>
              <a:t>9/18/2025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86723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071F101-97EA-4D5C-8F96-91C440E93AD8}" type="datetime1">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3604156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4C1B62-4BE9-490E-BC2E-B0EB6BE8E241}" type="datetime1">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7397593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3F4BFBD-5BFA-4A55-882E-61E65396C667}" type="datetime1">
              <a:rPr lang="en-US" smtClean="0"/>
              <a:t>9/18/2025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8633519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8827-7DAA-4B12-BBA5-27FF5C8BD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5CE7D9-DC3E-4AB0-8E40-0C04CBA27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0D79C1-DE76-4FCB-8188-181C040E4FF4}"/>
              </a:ext>
            </a:extLst>
          </p:cNvPr>
          <p:cNvSpPr>
            <a:spLocks noGrp="1"/>
          </p:cNvSpPr>
          <p:nvPr>
            <p:ph type="dt" sz="half" idx="10"/>
          </p:nvPr>
        </p:nvSpPr>
        <p:spPr/>
        <p:txBody>
          <a:bodyPr/>
          <a:lstStyle/>
          <a:p>
            <a:fld id="{5B6FC71D-F711-4FED-9378-F249EAE12C67}" type="datetime1">
              <a:rPr lang="en-US" smtClean="0"/>
              <a:t>9/18/2025</a:t>
            </a:fld>
            <a:endParaRPr lang="en-US"/>
          </a:p>
        </p:txBody>
      </p:sp>
      <p:sp>
        <p:nvSpPr>
          <p:cNvPr id="5" name="Footer Placeholder 4">
            <a:extLst>
              <a:ext uri="{FF2B5EF4-FFF2-40B4-BE49-F238E27FC236}">
                <a16:creationId xmlns:a16="http://schemas.microsoft.com/office/drawing/2014/main" id="{C2405598-672E-4D50-854E-B96733DD5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805C8-BB65-4C8D-B691-88211A1AA9F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81045516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AD076-4798-4C50-A8B1-90B046801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6131B4-EEF7-4807-8CFA-BB139C1C49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13381-0A75-43C3-B1E7-E16A27D650F3}"/>
              </a:ext>
            </a:extLst>
          </p:cNvPr>
          <p:cNvSpPr>
            <a:spLocks noGrp="1"/>
          </p:cNvSpPr>
          <p:nvPr>
            <p:ph type="dt" sz="half" idx="10"/>
          </p:nvPr>
        </p:nvSpPr>
        <p:spPr/>
        <p:txBody>
          <a:bodyPr/>
          <a:lstStyle/>
          <a:p>
            <a:fld id="{A87235D2-B073-48E6-8A0A-FCE50CD65A17}" type="datetime1">
              <a:rPr lang="en-US" smtClean="0"/>
              <a:t>9/18/2025</a:t>
            </a:fld>
            <a:endParaRPr lang="en-US"/>
          </a:p>
        </p:txBody>
      </p:sp>
      <p:sp>
        <p:nvSpPr>
          <p:cNvPr id="5" name="Footer Placeholder 4">
            <a:extLst>
              <a:ext uri="{FF2B5EF4-FFF2-40B4-BE49-F238E27FC236}">
                <a16:creationId xmlns:a16="http://schemas.microsoft.com/office/drawing/2014/main" id="{3CD45E5C-A815-4AAC-A044-A72DB10FF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F8D4E-A7F2-40E3-A8C3-E9A85B81FCE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4173705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3AF2-1750-42D3-A8EC-CDD7324A7A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1DF344-AA40-4E59-92F2-C2DA544233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7461F01-B958-4045-84C3-B0BB71ED415A}"/>
              </a:ext>
            </a:extLst>
          </p:cNvPr>
          <p:cNvSpPr>
            <a:spLocks noGrp="1"/>
          </p:cNvSpPr>
          <p:nvPr>
            <p:ph type="dt" sz="half" idx="10"/>
          </p:nvPr>
        </p:nvSpPr>
        <p:spPr/>
        <p:txBody>
          <a:bodyPr/>
          <a:lstStyle/>
          <a:p>
            <a:fld id="{591D4240-8E5C-4256-A99D-164DB0EC057D}" type="datetime1">
              <a:rPr lang="en-US" smtClean="0"/>
              <a:t>9/18/2025</a:t>
            </a:fld>
            <a:endParaRPr lang="en-US"/>
          </a:p>
        </p:txBody>
      </p:sp>
      <p:sp>
        <p:nvSpPr>
          <p:cNvPr id="5" name="Footer Placeholder 4">
            <a:extLst>
              <a:ext uri="{FF2B5EF4-FFF2-40B4-BE49-F238E27FC236}">
                <a16:creationId xmlns:a16="http://schemas.microsoft.com/office/drawing/2014/main" id="{E3CA38DF-389B-4A00-B1DD-FE1B8BAAF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EC238-8C07-4957-9D43-A464BB5CE8AE}"/>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19266488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C08A-3821-4D5C-909A-2C45E6CD1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274B3D-856C-47D4-A448-D6C4CBAAF53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493D3-BBCA-45F3-91CA-7D094F9655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90E599-4AB1-4101-8B86-5D077A72D0A0}"/>
              </a:ext>
            </a:extLst>
          </p:cNvPr>
          <p:cNvSpPr>
            <a:spLocks noGrp="1"/>
          </p:cNvSpPr>
          <p:nvPr>
            <p:ph type="dt" sz="half" idx="10"/>
          </p:nvPr>
        </p:nvSpPr>
        <p:spPr/>
        <p:txBody>
          <a:bodyPr/>
          <a:lstStyle/>
          <a:p>
            <a:fld id="{D4510530-7C31-4193-9594-D83BC03F0E6B}" type="datetime1">
              <a:rPr lang="en-US" smtClean="0"/>
              <a:t>9/18/2025</a:t>
            </a:fld>
            <a:endParaRPr lang="en-US"/>
          </a:p>
        </p:txBody>
      </p:sp>
      <p:sp>
        <p:nvSpPr>
          <p:cNvPr id="6" name="Footer Placeholder 5">
            <a:extLst>
              <a:ext uri="{FF2B5EF4-FFF2-40B4-BE49-F238E27FC236}">
                <a16:creationId xmlns:a16="http://schemas.microsoft.com/office/drawing/2014/main" id="{181E23CE-AD0B-4D46-AC56-7B7C168BD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6DB82-02F1-41A3-B56E-2065A7358113}"/>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72675749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1B23-AB25-4C4E-B792-FDBB1E15B2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F026DB-C6AC-434D-8DD1-074AB824D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FEFF785-4E71-4121-A402-E8FD4B32D7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1338B6-DDF8-4D85-8A93-1DA7C3257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735309-8E56-4FFD-B8DE-BF2C87DB7E0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C889-958E-4EDB-A992-ABF68B4D3F54}"/>
              </a:ext>
            </a:extLst>
          </p:cNvPr>
          <p:cNvSpPr>
            <a:spLocks noGrp="1"/>
          </p:cNvSpPr>
          <p:nvPr>
            <p:ph type="dt" sz="half" idx="10"/>
          </p:nvPr>
        </p:nvSpPr>
        <p:spPr/>
        <p:txBody>
          <a:bodyPr/>
          <a:lstStyle/>
          <a:p>
            <a:fld id="{A89BF9FB-3148-458B-88FB-3BAF246671E3}" type="datetime1">
              <a:rPr lang="en-US" smtClean="0"/>
              <a:t>9/18/2025</a:t>
            </a:fld>
            <a:endParaRPr lang="en-US"/>
          </a:p>
        </p:txBody>
      </p:sp>
      <p:sp>
        <p:nvSpPr>
          <p:cNvPr id="8" name="Footer Placeholder 7">
            <a:extLst>
              <a:ext uri="{FF2B5EF4-FFF2-40B4-BE49-F238E27FC236}">
                <a16:creationId xmlns:a16="http://schemas.microsoft.com/office/drawing/2014/main" id="{DCECBBD6-57EE-4AC2-BF91-F33F856504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8224FF-CDF8-4626-985E-37641164FA9F}"/>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292631416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D6F0-6A61-4D68-9ADD-12ECD765B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C6083-803D-40D1-AF86-62B35A100120}"/>
              </a:ext>
            </a:extLst>
          </p:cNvPr>
          <p:cNvSpPr>
            <a:spLocks noGrp="1"/>
          </p:cNvSpPr>
          <p:nvPr>
            <p:ph type="dt" sz="half" idx="10"/>
          </p:nvPr>
        </p:nvSpPr>
        <p:spPr/>
        <p:txBody>
          <a:bodyPr/>
          <a:lstStyle/>
          <a:p>
            <a:fld id="{6CB8D954-8B0A-4A8C-A055-25E220162C3E}" type="datetime1">
              <a:rPr lang="en-US" smtClean="0"/>
              <a:t>9/18/2025</a:t>
            </a:fld>
            <a:endParaRPr lang="en-US"/>
          </a:p>
        </p:txBody>
      </p:sp>
      <p:sp>
        <p:nvSpPr>
          <p:cNvPr id="4" name="Footer Placeholder 3">
            <a:extLst>
              <a:ext uri="{FF2B5EF4-FFF2-40B4-BE49-F238E27FC236}">
                <a16:creationId xmlns:a16="http://schemas.microsoft.com/office/drawing/2014/main" id="{06E28194-0D70-40AB-9E2C-52A6C15F48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5B879-22E7-4AFA-BB68-2B949443116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5502474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245807-40C6-44C9-80CA-BFD4B8007C72}"/>
              </a:ext>
            </a:extLst>
          </p:cNvPr>
          <p:cNvSpPr>
            <a:spLocks noGrp="1"/>
          </p:cNvSpPr>
          <p:nvPr>
            <p:ph type="dt" sz="half" idx="10"/>
          </p:nvPr>
        </p:nvSpPr>
        <p:spPr/>
        <p:txBody>
          <a:bodyPr/>
          <a:lstStyle/>
          <a:p>
            <a:fld id="{0CDCE465-C5AF-45EF-90E2-DD619140A105}" type="datetime1">
              <a:rPr lang="en-US" smtClean="0"/>
              <a:t>9/18/2025</a:t>
            </a:fld>
            <a:endParaRPr lang="en-US"/>
          </a:p>
        </p:txBody>
      </p:sp>
      <p:sp>
        <p:nvSpPr>
          <p:cNvPr id="3" name="Footer Placeholder 2">
            <a:extLst>
              <a:ext uri="{FF2B5EF4-FFF2-40B4-BE49-F238E27FC236}">
                <a16:creationId xmlns:a16="http://schemas.microsoft.com/office/drawing/2014/main" id="{7590DC38-D02A-4F45-A87E-775BB3719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59F3A2-CBE7-404E-AED4-60C437788B56}"/>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46999783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898D-83DC-4932-8FCF-C9612815C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4D70E1-EFA7-4F48-ABFB-AF343677D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4D2C29-36E8-430E-BE9C-06B62E230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0C6058-FD47-4A03-BFF1-4954DDC6A959}"/>
              </a:ext>
            </a:extLst>
          </p:cNvPr>
          <p:cNvSpPr>
            <a:spLocks noGrp="1"/>
          </p:cNvSpPr>
          <p:nvPr>
            <p:ph type="dt" sz="half" idx="10"/>
          </p:nvPr>
        </p:nvSpPr>
        <p:spPr/>
        <p:txBody>
          <a:bodyPr/>
          <a:lstStyle/>
          <a:p>
            <a:fld id="{D8FE8294-5F82-4472-9653-661A2EB65D5D}" type="datetime1">
              <a:rPr lang="en-US" smtClean="0"/>
              <a:t>9/18/2025</a:t>
            </a:fld>
            <a:endParaRPr lang="en-US"/>
          </a:p>
        </p:txBody>
      </p:sp>
      <p:sp>
        <p:nvSpPr>
          <p:cNvPr id="6" name="Footer Placeholder 5">
            <a:extLst>
              <a:ext uri="{FF2B5EF4-FFF2-40B4-BE49-F238E27FC236}">
                <a16:creationId xmlns:a16="http://schemas.microsoft.com/office/drawing/2014/main" id="{4E4533B8-BA50-49E8-8F51-5FFAD31F0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0799A-F109-4FFB-8FE4-78B1B964464D}"/>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346092546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FD8E-6853-4457-9E2A-560147A384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3367B8-7F55-4B6B-8DC1-CA7466A2E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435A9-F101-4D1C-9344-C46AD7B5C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19DC05-BE1A-4423-ABAB-5C90D9A73D36}"/>
              </a:ext>
            </a:extLst>
          </p:cNvPr>
          <p:cNvSpPr>
            <a:spLocks noGrp="1"/>
          </p:cNvSpPr>
          <p:nvPr>
            <p:ph type="dt" sz="half" idx="10"/>
          </p:nvPr>
        </p:nvSpPr>
        <p:spPr/>
        <p:txBody>
          <a:bodyPr/>
          <a:lstStyle/>
          <a:p>
            <a:fld id="{367F54C7-52B4-43CB-8548-931FBB7E73A4}" type="datetime1">
              <a:rPr lang="en-US" smtClean="0"/>
              <a:t>9/18/2025</a:t>
            </a:fld>
            <a:endParaRPr lang="en-US"/>
          </a:p>
        </p:txBody>
      </p:sp>
      <p:sp>
        <p:nvSpPr>
          <p:cNvPr id="6" name="Footer Placeholder 5">
            <a:extLst>
              <a:ext uri="{FF2B5EF4-FFF2-40B4-BE49-F238E27FC236}">
                <a16:creationId xmlns:a16="http://schemas.microsoft.com/office/drawing/2014/main" id="{6EAF8F60-6705-4B79-98FA-D02C3FFDA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22494-3A9F-40FD-83DF-C79D3F43B525}"/>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58007084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D530-FD25-4393-95C3-66ECAD601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D12BA7-0160-45FB-8877-6ACB0F6429D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91E08-0225-43D6-AE4D-3EF59ED63FA2}"/>
              </a:ext>
            </a:extLst>
          </p:cNvPr>
          <p:cNvSpPr>
            <a:spLocks noGrp="1"/>
          </p:cNvSpPr>
          <p:nvPr>
            <p:ph type="dt" sz="half" idx="10"/>
          </p:nvPr>
        </p:nvSpPr>
        <p:spPr/>
        <p:txBody>
          <a:bodyPr/>
          <a:lstStyle/>
          <a:p>
            <a:fld id="{4142FE14-A3C3-4BEC-B8B3-B2CA0F6454F8}" type="datetime1">
              <a:rPr lang="en-US" smtClean="0"/>
              <a:t>9/18/2025</a:t>
            </a:fld>
            <a:endParaRPr lang="en-US"/>
          </a:p>
        </p:txBody>
      </p:sp>
      <p:sp>
        <p:nvSpPr>
          <p:cNvPr id="5" name="Footer Placeholder 4">
            <a:extLst>
              <a:ext uri="{FF2B5EF4-FFF2-40B4-BE49-F238E27FC236}">
                <a16:creationId xmlns:a16="http://schemas.microsoft.com/office/drawing/2014/main" id="{71948B2C-1FFD-4D0C-A29A-6743E0A62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02C6A-83F2-4C44-92F1-CAD39BE768A9}"/>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46792434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3EFAE8-9B12-4E1E-876E-310AD2FB1E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53A4B-4004-4596-A7F8-17D75B91D33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476B8-A8D0-415B-9638-B6A6AFE967B9}"/>
              </a:ext>
            </a:extLst>
          </p:cNvPr>
          <p:cNvSpPr>
            <a:spLocks noGrp="1"/>
          </p:cNvSpPr>
          <p:nvPr>
            <p:ph type="dt" sz="half" idx="10"/>
          </p:nvPr>
        </p:nvSpPr>
        <p:spPr/>
        <p:txBody>
          <a:bodyPr/>
          <a:lstStyle/>
          <a:p>
            <a:fld id="{5E20CC8A-C013-47B5-A947-E141717B7C0C}" type="datetime1">
              <a:rPr lang="en-US" smtClean="0"/>
              <a:t>9/18/2025</a:t>
            </a:fld>
            <a:endParaRPr lang="en-US"/>
          </a:p>
        </p:txBody>
      </p:sp>
      <p:sp>
        <p:nvSpPr>
          <p:cNvPr id="5" name="Footer Placeholder 4">
            <a:extLst>
              <a:ext uri="{FF2B5EF4-FFF2-40B4-BE49-F238E27FC236}">
                <a16:creationId xmlns:a16="http://schemas.microsoft.com/office/drawing/2014/main" id="{ADD18B58-4B67-4A0C-92F4-24A7241D3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B9D46-566C-473A-9F38-4F26001360D1}"/>
              </a:ext>
            </a:extLst>
          </p:cNvPr>
          <p:cNvSpPr>
            <a:spLocks noGrp="1"/>
          </p:cNvSpPr>
          <p:nvPr>
            <p:ph type="sldNum" sz="quarter" idx="12"/>
          </p:nvPr>
        </p:nvSpPr>
        <p:spPr/>
        <p:txBody>
          <a:bodyPr/>
          <a:lstStyle/>
          <a:p>
            <a:fld id="{27EB5961-2DF2-47D3-A538-C3172A95AC44}" type="slidenum">
              <a:rPr lang="en-US" smtClean="0"/>
              <a:t>‹#›</a:t>
            </a:fld>
            <a:endParaRPr lang="en-US"/>
          </a:p>
        </p:txBody>
      </p:sp>
    </p:spTree>
    <p:extLst>
      <p:ext uri="{BB962C8B-B14F-4D97-AF65-F5344CB8AC3E}">
        <p14:creationId xmlns:p14="http://schemas.microsoft.com/office/powerpoint/2010/main" val="140388014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BA6755F-F704-4AA9-AADD-036FA844C89A}" type="datetime1">
              <a:rPr lang="en-US" smtClean="0"/>
              <a:t>9/18/2025</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559640638"/>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D8499F-E4D4-4EAB-A150-E01B5FF13F24}" type="datetime1">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0068259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D76C540-088A-4C5A-9D58-55623A040B3B}" type="datetime1">
              <a:rPr lang="en-US" smtClean="0"/>
              <a:t>9/18/2025</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01685740"/>
      </p:ext>
    </p:extLst>
  </p:cSld>
  <p:clrMapOvr>
    <a:overrideClrMapping bg1="lt1" tx1="dk1" bg2="lt2" tx2="dk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79E52B-F77B-4B38-A507-3888358CC9A9}" type="datetime1">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0965023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A4F2F9-A8C7-4AB4-87EF-457EA0D69BBC}" type="datetime1">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78836570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A25634-50AA-4F39-AE14-57F14647CB5C}" type="datetime1">
              <a:rPr lang="en-US" smtClean="0"/>
              <a:t>9/18/2025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9294991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AFEC19-E47D-4A96-B0F3-6345D019FE36}" type="datetime1">
              <a:rPr lang="en-US" smtClean="0"/>
              <a:t>9/18/2025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6989520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userDrawn="1"/>
        </p:nvSpPr>
        <p:spPr>
          <a:xfrm>
            <a:off x="9020386" y="237744"/>
            <a:ext cx="2926080" cy="6382512"/>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754683"/>
          </a:xfrm>
          <a:solidFill>
            <a:schemeClr val="bg1"/>
          </a:solidFill>
        </p:spPr>
        <p:txBody>
          <a:bodyPr anchor="b">
            <a:noAutofit/>
          </a:bodyPr>
          <a:lstStyle>
            <a:lvl1pPr algn="ctr" defTabSz="914400" rtl="0" eaLnBrk="1" latinLnBrk="0" hangingPunct="1">
              <a:lnSpc>
                <a:spcPct val="90000"/>
              </a:lnSpc>
              <a:spcBef>
                <a:spcPct val="0"/>
              </a:spcBef>
              <a:buNone/>
              <a:defRPr lang="en-US" sz="2000" b="0" kern="1200" cap="small" spc="0" baseline="0" dirty="0">
                <a:solidFill>
                  <a:schemeClr val="tx1"/>
                </a:solidFill>
                <a:effectLst/>
                <a:latin typeface="+mj-lt"/>
                <a:ea typeface="+mn-ea"/>
                <a:cs typeface="+mn-cs"/>
              </a:defRPr>
            </a:lvl1pPr>
          </a:lstStyle>
          <a:p>
            <a:r>
              <a:rPr lang="en-US" dirty="0"/>
              <a:t>Click to edit Master title style</a:t>
            </a:r>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B1382D32-AD57-442E-921B-2832BD06A569}" type="datetime1">
              <a:rPr lang="en-US" smtClean="0"/>
              <a:t>9/18/2025</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4458723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F450E0EB-A22A-4FBB-A99A-2567B22CFF61}" type="datetime1">
              <a:rPr lang="en-US" smtClean="0"/>
              <a:t>9/18/2025</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9557833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92BFCE-BA7A-4499-A128-A8A676F52887}" type="datetime1">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7021351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C0B43-BAC1-483E-846C-944B1E438065}" type="datetime1">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0780467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3519D74-014B-4D26-BC7B-8A88646CFF51}" type="datetimeFigureOut">
              <a:rPr lang="en-US">
                <a:solidFill>
                  <a:prstClr val="black">
                    <a:tint val="75000"/>
                  </a:prstClr>
                </a:solidFill>
              </a:rPr>
              <a:pPr>
                <a:defRPr/>
              </a:pPr>
              <a:t>9/18/2025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BF16A36-6DAB-478E-B9BA-DB70AF8BC6ED}" type="slidenum">
              <a:rPr lang="en-US" altLang="en-US"/>
              <a:pPr>
                <a:defRPr/>
              </a:pPr>
              <a:t>‹#›</a:t>
            </a:fld>
            <a:endParaRPr lang="en-US" altLang="en-US"/>
          </a:p>
        </p:txBody>
      </p:sp>
    </p:spTree>
    <p:extLst>
      <p:ext uri="{BB962C8B-B14F-4D97-AF65-F5344CB8AC3E}">
        <p14:creationId xmlns:p14="http://schemas.microsoft.com/office/powerpoint/2010/main" val="64727023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EEAEA56-7245-4CEA-B9E8-04F853A85CB9}" type="datetimeFigureOut">
              <a:rPr lang="en-US">
                <a:solidFill>
                  <a:prstClr val="black">
                    <a:tint val="75000"/>
                  </a:prstClr>
                </a:solidFill>
              </a:rPr>
              <a:pPr>
                <a:defRPr/>
              </a:pPr>
              <a:t>9/18/2025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1B14808-9868-4EA1-BA81-B1C12F75E547}" type="slidenum">
              <a:rPr lang="en-US" altLang="en-US"/>
              <a:pPr>
                <a:defRPr/>
              </a:pPr>
              <a:t>‹#›</a:t>
            </a:fld>
            <a:endParaRPr lang="en-US" altLang="en-US"/>
          </a:p>
        </p:txBody>
      </p:sp>
    </p:spTree>
    <p:extLst>
      <p:ext uri="{BB962C8B-B14F-4D97-AF65-F5344CB8AC3E}">
        <p14:creationId xmlns:p14="http://schemas.microsoft.com/office/powerpoint/2010/main" val="402399520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49CA664-21A7-4315-A58C-60ED1B598371}" type="datetimeFigureOut">
              <a:rPr lang="en-US">
                <a:solidFill>
                  <a:prstClr val="black">
                    <a:tint val="75000"/>
                  </a:prstClr>
                </a:solidFill>
              </a:rPr>
              <a:pPr>
                <a:defRPr/>
              </a:pPr>
              <a:t>9/18/2025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E557772-FBF6-40BE-9151-171F7C3C313F}" type="slidenum">
              <a:rPr lang="en-US" altLang="en-US"/>
              <a:pPr>
                <a:defRPr/>
              </a:pPr>
              <a:t>‹#›</a:t>
            </a:fld>
            <a:endParaRPr lang="en-US" altLang="en-US"/>
          </a:p>
        </p:txBody>
      </p:sp>
    </p:spTree>
    <p:extLst>
      <p:ext uri="{BB962C8B-B14F-4D97-AF65-F5344CB8AC3E}">
        <p14:creationId xmlns:p14="http://schemas.microsoft.com/office/powerpoint/2010/main" val="229198660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DB667A-1840-4BE8-B2A4-8746C5423395}" type="datetimeFigureOut">
              <a:rPr lang="en-US">
                <a:solidFill>
                  <a:prstClr val="black">
                    <a:tint val="75000"/>
                  </a:prstClr>
                </a:solidFill>
              </a:rPr>
              <a:pPr>
                <a:defRPr/>
              </a:pPr>
              <a:t>9/18/2025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A0490134-5E4C-4160-A126-7FF06F5FBACA}" type="slidenum">
              <a:rPr lang="en-US" altLang="en-US"/>
              <a:pPr>
                <a:defRPr/>
              </a:pPr>
              <a:t>‹#›</a:t>
            </a:fld>
            <a:endParaRPr lang="en-US" altLang="en-US"/>
          </a:p>
        </p:txBody>
      </p:sp>
    </p:spTree>
    <p:extLst>
      <p:ext uri="{BB962C8B-B14F-4D97-AF65-F5344CB8AC3E}">
        <p14:creationId xmlns:p14="http://schemas.microsoft.com/office/powerpoint/2010/main" val="409924047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EC33CBC-F189-4658-AB8E-0F1F006CBD47}" type="datetimeFigureOut">
              <a:rPr lang="en-US">
                <a:solidFill>
                  <a:prstClr val="black">
                    <a:tint val="75000"/>
                  </a:prstClr>
                </a:solidFill>
              </a:rPr>
              <a:pPr>
                <a:defRPr/>
              </a:pPr>
              <a:t>9/18/2025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9446FF00-7F5F-4F65-B7BE-7976EE93BD34}" type="slidenum">
              <a:rPr lang="en-US" altLang="en-US"/>
              <a:pPr>
                <a:defRPr/>
              </a:pPr>
              <a:t>‹#›</a:t>
            </a:fld>
            <a:endParaRPr lang="en-US" altLang="en-US"/>
          </a:p>
        </p:txBody>
      </p:sp>
    </p:spTree>
    <p:extLst>
      <p:ext uri="{BB962C8B-B14F-4D97-AF65-F5344CB8AC3E}">
        <p14:creationId xmlns:p14="http://schemas.microsoft.com/office/powerpoint/2010/main" val="34578840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C1D9DD3-0495-425E-8936-9916E06F45FA}" type="datetimeFigureOut">
              <a:rPr lang="en-US">
                <a:solidFill>
                  <a:prstClr val="black">
                    <a:tint val="75000"/>
                  </a:prstClr>
                </a:solidFill>
              </a:rPr>
              <a:pPr>
                <a:defRPr/>
              </a:pPr>
              <a:t>9/18/2025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D3B9FB01-B661-40F4-881F-C3E187FA5D7D}" type="slidenum">
              <a:rPr lang="en-US" altLang="en-US"/>
              <a:pPr>
                <a:defRPr/>
              </a:pPr>
              <a:t>‹#›</a:t>
            </a:fld>
            <a:endParaRPr lang="en-US" altLang="en-US"/>
          </a:p>
        </p:txBody>
      </p:sp>
    </p:spTree>
    <p:extLst>
      <p:ext uri="{BB962C8B-B14F-4D97-AF65-F5344CB8AC3E}">
        <p14:creationId xmlns:p14="http://schemas.microsoft.com/office/powerpoint/2010/main" val="5178488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5862F34-D246-4535-93E6-77FF46FB47C8}" type="datetimeFigureOut">
              <a:rPr lang="en-US">
                <a:solidFill>
                  <a:prstClr val="black">
                    <a:tint val="75000"/>
                  </a:prstClr>
                </a:solidFill>
              </a:rPr>
              <a:pPr>
                <a:defRPr/>
              </a:pPr>
              <a:t>9/18/2025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A566CC41-6C09-421C-AE99-295CE75A5742}" type="slidenum">
              <a:rPr lang="en-US" altLang="en-US"/>
              <a:pPr>
                <a:defRPr/>
              </a:pPr>
              <a:t>‹#›</a:t>
            </a:fld>
            <a:endParaRPr lang="en-US" altLang="en-US"/>
          </a:p>
        </p:txBody>
      </p:sp>
    </p:spTree>
    <p:extLst>
      <p:ext uri="{BB962C8B-B14F-4D97-AF65-F5344CB8AC3E}">
        <p14:creationId xmlns:p14="http://schemas.microsoft.com/office/powerpoint/2010/main" val="23569398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2493759-4DCF-4448-81E9-75851888E521}" type="datetimeFigureOut">
              <a:rPr lang="en-US">
                <a:solidFill>
                  <a:prstClr val="black">
                    <a:tint val="75000"/>
                  </a:prstClr>
                </a:solidFill>
              </a:rPr>
              <a:pPr>
                <a:defRPr/>
              </a:pPr>
              <a:t>9/18/2025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EF1461D-9C00-4713-895A-BEA66C4C3C6A}" type="slidenum">
              <a:rPr lang="en-US" altLang="en-US"/>
              <a:pPr>
                <a:defRPr/>
              </a:pPr>
              <a:t>‹#›</a:t>
            </a:fld>
            <a:endParaRPr lang="en-US" altLang="en-US"/>
          </a:p>
        </p:txBody>
      </p:sp>
    </p:spTree>
    <p:extLst>
      <p:ext uri="{BB962C8B-B14F-4D97-AF65-F5344CB8AC3E}">
        <p14:creationId xmlns:p14="http://schemas.microsoft.com/office/powerpoint/2010/main" val="1161618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FF35F26-1F6D-4FDF-9855-0D68E4B489D5}" type="datetimeFigureOut">
              <a:rPr lang="en-US">
                <a:solidFill>
                  <a:prstClr val="black">
                    <a:tint val="75000"/>
                  </a:prstClr>
                </a:solidFill>
              </a:rPr>
              <a:pPr>
                <a:defRPr/>
              </a:pPr>
              <a:t>9/18/2025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650D40E-B5DD-4BAB-B961-2E8DDF948191}" type="slidenum">
              <a:rPr lang="en-US" altLang="en-US"/>
              <a:pPr>
                <a:defRPr/>
              </a:pPr>
              <a:t>‹#›</a:t>
            </a:fld>
            <a:endParaRPr lang="en-US" altLang="en-US"/>
          </a:p>
        </p:txBody>
      </p:sp>
    </p:spTree>
    <p:extLst>
      <p:ext uri="{BB962C8B-B14F-4D97-AF65-F5344CB8AC3E}">
        <p14:creationId xmlns:p14="http://schemas.microsoft.com/office/powerpoint/2010/main" val="236592419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66B5898-5BA1-47C7-B9E5-6881ABDDAD16}" type="datetimeFigureOut">
              <a:rPr lang="en-US">
                <a:solidFill>
                  <a:prstClr val="black">
                    <a:tint val="75000"/>
                  </a:prstClr>
                </a:solidFill>
              </a:rPr>
              <a:pPr>
                <a:defRPr/>
              </a:pPr>
              <a:t>9/18/2025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47F9FA6-CF97-45DD-9FBB-2A41C0D1622D}" type="slidenum">
              <a:rPr lang="en-US" altLang="en-US"/>
              <a:pPr>
                <a:defRPr/>
              </a:pPr>
              <a:t>‹#›</a:t>
            </a:fld>
            <a:endParaRPr lang="en-US" altLang="en-US"/>
          </a:p>
        </p:txBody>
      </p:sp>
    </p:spTree>
    <p:extLst>
      <p:ext uri="{BB962C8B-B14F-4D97-AF65-F5344CB8AC3E}">
        <p14:creationId xmlns:p14="http://schemas.microsoft.com/office/powerpoint/2010/main" val="149659401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79CD0C4-77AF-44C2-B217-E203EB25E167}" type="datetimeFigureOut">
              <a:rPr lang="en-US">
                <a:solidFill>
                  <a:prstClr val="black">
                    <a:tint val="75000"/>
                  </a:prstClr>
                </a:solidFill>
              </a:rPr>
              <a:pPr>
                <a:defRPr/>
              </a:pPr>
              <a:t>9/18/2025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1DC79F2-CF4E-4666-9D1F-423CB38EC15F}" type="slidenum">
              <a:rPr lang="en-US" altLang="en-US"/>
              <a:pPr>
                <a:defRPr/>
              </a:pPr>
              <a:t>‹#›</a:t>
            </a:fld>
            <a:endParaRPr lang="en-US" altLang="en-US"/>
          </a:p>
        </p:txBody>
      </p:sp>
    </p:spTree>
    <p:extLst>
      <p:ext uri="{BB962C8B-B14F-4D97-AF65-F5344CB8AC3E}">
        <p14:creationId xmlns:p14="http://schemas.microsoft.com/office/powerpoint/2010/main" val="198298795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3" descr="graph"/>
          <p:cNvPicPr>
            <a:picLocks noChangeAspect="1" noChangeArrowheads="1"/>
          </p:cNvPicPr>
          <p:nvPr userDrawn="1"/>
        </p:nvPicPr>
        <p:blipFill>
          <a:blip r:embed="rId2">
            <a:extLst>
              <a:ext uri="{28A0092B-C50C-407E-A947-70E740481C1C}">
                <a14:useLocalDpi xmlns:a14="http://schemas.microsoft.com/office/drawing/2010/main" val="0"/>
              </a:ext>
            </a:extLst>
          </a:blip>
          <a:srcRect l="3638" t="2191" r="3653" b="2213"/>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914400" y="1196975"/>
            <a:ext cx="10363200" cy="1470025"/>
          </a:xfrm>
        </p:spPr>
        <p:txBody>
          <a:bodyPr/>
          <a:lstStyle>
            <a:lvl1pPr>
              <a:defRPr/>
            </a:lvl1pPr>
          </a:lstStyle>
          <a:p>
            <a:pPr lvl="0"/>
            <a:r>
              <a:rPr lang="en-US" noProof="0"/>
              <a:t>Click to edit Master title style</a:t>
            </a:r>
          </a:p>
        </p:txBody>
      </p:sp>
      <p:sp>
        <p:nvSpPr>
          <p:cNvPr id="3075" name="Rectangle 3"/>
          <p:cNvSpPr>
            <a:spLocks noGrp="1" noChangeArrowheads="1"/>
          </p:cNvSpPr>
          <p:nvPr>
            <p:ph type="subTitle" idx="1"/>
          </p:nvPr>
        </p:nvSpPr>
        <p:spPr>
          <a:xfrm>
            <a:off x="1828800" y="2952750"/>
            <a:ext cx="8534400" cy="17526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smtClean="0"/>
            </a:lvl1pPr>
          </a:lstStyle>
          <a:p>
            <a:pPr>
              <a:defRPr/>
            </a:pPr>
            <a:fld id="{78EE160E-37CC-4D8D-B979-6386FBC2E1E9}" type="slidenum">
              <a:rPr lang="en-US" altLang="en-US"/>
              <a:pPr>
                <a:defRPr/>
              </a:pPr>
              <a:t>‹#›</a:t>
            </a:fld>
            <a:endParaRPr lang="en-US" altLang="en-US"/>
          </a:p>
        </p:txBody>
      </p:sp>
    </p:spTree>
    <p:extLst>
      <p:ext uri="{BB962C8B-B14F-4D97-AF65-F5344CB8AC3E}">
        <p14:creationId xmlns:p14="http://schemas.microsoft.com/office/powerpoint/2010/main" val="93247757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93DBF01-A5FB-4D57-BE8C-C9BF9CA051CD}" type="slidenum">
              <a:rPr lang="en-US" altLang="en-US"/>
              <a:pPr>
                <a:defRPr/>
              </a:pPr>
              <a:t>‹#›</a:t>
            </a:fld>
            <a:endParaRPr lang="en-US" altLang="en-US"/>
          </a:p>
        </p:txBody>
      </p:sp>
    </p:spTree>
    <p:extLst>
      <p:ext uri="{BB962C8B-B14F-4D97-AF65-F5344CB8AC3E}">
        <p14:creationId xmlns:p14="http://schemas.microsoft.com/office/powerpoint/2010/main" val="191999513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4778DF-B5A4-4242-A50C-3DDD3273F78D}" type="slidenum">
              <a:rPr lang="en-US" altLang="en-US"/>
              <a:pPr>
                <a:defRPr/>
              </a:pPr>
              <a:t>‹#›</a:t>
            </a:fld>
            <a:endParaRPr lang="en-US" altLang="en-US"/>
          </a:p>
        </p:txBody>
      </p:sp>
    </p:spTree>
    <p:extLst>
      <p:ext uri="{BB962C8B-B14F-4D97-AF65-F5344CB8AC3E}">
        <p14:creationId xmlns:p14="http://schemas.microsoft.com/office/powerpoint/2010/main" val="415849657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2"/>
            <a:ext cx="5384800" cy="37004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2"/>
            <a:ext cx="5384800" cy="37004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663879F-3A1A-4D9D-9FD5-6CBC38D55D17}" type="slidenum">
              <a:rPr lang="en-US" altLang="en-US"/>
              <a:pPr>
                <a:defRPr/>
              </a:pPr>
              <a:t>‹#›</a:t>
            </a:fld>
            <a:endParaRPr lang="en-US" altLang="en-US"/>
          </a:p>
        </p:txBody>
      </p:sp>
    </p:spTree>
    <p:extLst>
      <p:ext uri="{BB962C8B-B14F-4D97-AF65-F5344CB8AC3E}">
        <p14:creationId xmlns:p14="http://schemas.microsoft.com/office/powerpoint/2010/main" val="113114893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C028257-8119-4899-9F0B-1785D7220E3E}" type="slidenum">
              <a:rPr lang="en-US" altLang="en-US"/>
              <a:pPr>
                <a:defRPr/>
              </a:pPr>
              <a:t>‹#›</a:t>
            </a:fld>
            <a:endParaRPr lang="en-US" altLang="en-US"/>
          </a:p>
        </p:txBody>
      </p:sp>
    </p:spTree>
    <p:extLst>
      <p:ext uri="{BB962C8B-B14F-4D97-AF65-F5344CB8AC3E}">
        <p14:creationId xmlns:p14="http://schemas.microsoft.com/office/powerpoint/2010/main" val="411787797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DC00943-405F-4C69-AB7D-3E801DF3DF9C}" type="slidenum">
              <a:rPr lang="en-US" altLang="en-US"/>
              <a:pPr>
                <a:defRPr/>
              </a:pPr>
              <a:t>‹#›</a:t>
            </a:fld>
            <a:endParaRPr lang="en-US" altLang="en-US"/>
          </a:p>
        </p:txBody>
      </p:sp>
    </p:spTree>
    <p:extLst>
      <p:ext uri="{BB962C8B-B14F-4D97-AF65-F5344CB8AC3E}">
        <p14:creationId xmlns:p14="http://schemas.microsoft.com/office/powerpoint/2010/main" val="340709425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7F9502-F20C-41E5-A6B8-799F8705C8A7}" type="slidenum">
              <a:rPr lang="en-US" altLang="en-US"/>
              <a:pPr>
                <a:defRPr/>
              </a:pPr>
              <a:t>‹#›</a:t>
            </a:fld>
            <a:endParaRPr lang="en-US" altLang="en-US"/>
          </a:p>
        </p:txBody>
      </p:sp>
    </p:spTree>
    <p:extLst>
      <p:ext uri="{BB962C8B-B14F-4D97-AF65-F5344CB8AC3E}">
        <p14:creationId xmlns:p14="http://schemas.microsoft.com/office/powerpoint/2010/main" val="313193025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F0C514-AF7D-4BC0-87B9-1E11A75EB07D}" type="slidenum">
              <a:rPr lang="en-US" altLang="en-US"/>
              <a:pPr>
                <a:defRPr/>
              </a:pPr>
              <a:t>‹#›</a:t>
            </a:fld>
            <a:endParaRPr lang="en-US" altLang="en-US"/>
          </a:p>
        </p:txBody>
      </p:sp>
    </p:spTree>
    <p:extLst>
      <p:ext uri="{BB962C8B-B14F-4D97-AF65-F5344CB8AC3E}">
        <p14:creationId xmlns:p14="http://schemas.microsoft.com/office/powerpoint/2010/main" val="317812904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AA7FCC5-46E4-47BC-AB36-26C563A2A3FE}" type="slidenum">
              <a:rPr lang="en-US" altLang="en-US"/>
              <a:pPr>
                <a:defRPr/>
              </a:pPr>
              <a:t>‹#›</a:t>
            </a:fld>
            <a:endParaRPr lang="en-US" altLang="en-US"/>
          </a:p>
        </p:txBody>
      </p:sp>
    </p:spTree>
    <p:extLst>
      <p:ext uri="{BB962C8B-B14F-4D97-AF65-F5344CB8AC3E}">
        <p14:creationId xmlns:p14="http://schemas.microsoft.com/office/powerpoint/2010/main" val="186453302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065A53F-C4EC-42D7-8F1E-DE3C96957658}" type="slidenum">
              <a:rPr lang="en-US" altLang="en-US"/>
              <a:pPr>
                <a:defRPr/>
              </a:pPr>
              <a:t>‹#›</a:t>
            </a:fld>
            <a:endParaRPr lang="en-US" altLang="en-US"/>
          </a:p>
        </p:txBody>
      </p:sp>
    </p:spTree>
    <p:extLst>
      <p:ext uri="{BB962C8B-B14F-4D97-AF65-F5344CB8AC3E}">
        <p14:creationId xmlns:p14="http://schemas.microsoft.com/office/powerpoint/2010/main" val="82840353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0260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41"/>
            <a:ext cx="8026400" cy="5026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39C8EA4-CECC-4C97-831D-F89F82B423A8}" type="slidenum">
              <a:rPr lang="en-US" altLang="en-US"/>
              <a:pPr>
                <a:defRPr/>
              </a:pPr>
              <a:t>‹#›</a:t>
            </a:fld>
            <a:endParaRPr lang="en-US" altLang="en-US"/>
          </a:p>
        </p:txBody>
      </p:sp>
    </p:spTree>
    <p:extLst>
      <p:ext uri="{BB962C8B-B14F-4D97-AF65-F5344CB8AC3E}">
        <p14:creationId xmlns:p14="http://schemas.microsoft.com/office/powerpoint/2010/main" val="421442462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Chart Placeholder 2"/>
          <p:cNvSpPr>
            <a:spLocks noGrp="1"/>
          </p:cNvSpPr>
          <p:nvPr>
            <p:ph type="chart" idx="1"/>
          </p:nvPr>
        </p:nvSpPr>
        <p:spPr>
          <a:xfrm>
            <a:off x="609600" y="1600202"/>
            <a:ext cx="10972800" cy="3700463"/>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2B2D51B-1ADC-4A39-855B-B8F85D60A5DD}" type="slidenum">
              <a:rPr lang="en-US" altLang="en-US"/>
              <a:pPr>
                <a:defRPr/>
              </a:pPr>
              <a:t>‹#›</a:t>
            </a:fld>
            <a:endParaRPr lang="en-US" altLang="en-US"/>
          </a:p>
        </p:txBody>
      </p:sp>
    </p:spTree>
    <p:extLst>
      <p:ext uri="{BB962C8B-B14F-4D97-AF65-F5344CB8AC3E}">
        <p14:creationId xmlns:p14="http://schemas.microsoft.com/office/powerpoint/2010/main" val="412319882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609600" y="1600202"/>
            <a:ext cx="5384800" cy="3700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2"/>
            <a:ext cx="5384800" cy="3700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209A35B-9E1E-4472-B428-B76D2C1BD9F9}" type="slidenum">
              <a:rPr lang="en-US" altLang="en-US"/>
              <a:pPr>
                <a:defRPr/>
              </a:pPr>
              <a:t>‹#›</a:t>
            </a:fld>
            <a:endParaRPr lang="en-US" altLang="en-US"/>
          </a:p>
        </p:txBody>
      </p:sp>
    </p:spTree>
    <p:extLst>
      <p:ext uri="{BB962C8B-B14F-4D97-AF65-F5344CB8AC3E}">
        <p14:creationId xmlns:p14="http://schemas.microsoft.com/office/powerpoint/2010/main" val="73983260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A0CC7D-2F25-4CEA-A5B1-A0738FB0D26A}"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374199010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A0CC7D-2F25-4CEA-A5B1-A0738FB0D26A}"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61251194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A0CC7D-2F25-4CEA-A5B1-A0738FB0D26A}"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9082132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A0CC7D-2F25-4CEA-A5B1-A0738FB0D26A}"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112160739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A0CC7D-2F25-4CEA-A5B1-A0738FB0D26A}" type="datetimeFigureOut">
              <a:rPr lang="en-US" smtClean="0"/>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407854845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A0CC7D-2F25-4CEA-A5B1-A0738FB0D26A}" type="datetimeFigureOut">
              <a:rPr lang="en-US" smtClean="0"/>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136222268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A0CC7D-2F25-4CEA-A5B1-A0738FB0D26A}" type="datetimeFigureOut">
              <a:rPr lang="en-US" smtClean="0"/>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1213188451"/>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A0CC7D-2F25-4CEA-A5B1-A0738FB0D26A}"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251155003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A0CC7D-2F25-4CEA-A5B1-A0738FB0D26A}" type="datetimeFigureOut">
              <a:rPr lang="en-US" smtClean="0"/>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47089634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A0CC7D-2F25-4CEA-A5B1-A0738FB0D26A}"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329557299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A0CC7D-2F25-4CEA-A5B1-A0738FB0D26A}" type="datetimeFigureOut">
              <a:rPr lang="en-US" smtClean="0"/>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9585C6-4C2A-444E-BFEA-5B8D89F1D572}" type="slidenum">
              <a:rPr lang="en-US" smtClean="0"/>
              <a:t>‹#›</a:t>
            </a:fld>
            <a:endParaRPr lang="en-US"/>
          </a:p>
        </p:txBody>
      </p:sp>
    </p:spTree>
    <p:extLst>
      <p:ext uri="{BB962C8B-B14F-4D97-AF65-F5344CB8AC3E}">
        <p14:creationId xmlns:p14="http://schemas.microsoft.com/office/powerpoint/2010/main" val="503957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1.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0.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theme" Target="../theme/theme12.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1.xml"/><Relationship Id="rId3" Type="http://schemas.openxmlformats.org/officeDocument/2006/relationships/slideLayout" Target="../slideLayouts/slideLayout136.xml"/><Relationship Id="rId7" Type="http://schemas.openxmlformats.org/officeDocument/2006/relationships/slideLayout" Target="../slideLayouts/slideLayout140.xml"/><Relationship Id="rId12" Type="http://schemas.openxmlformats.org/officeDocument/2006/relationships/theme" Target="../theme/theme13.xml"/><Relationship Id="rId2" Type="http://schemas.openxmlformats.org/officeDocument/2006/relationships/slideLayout" Target="../slideLayouts/slideLayout135.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1" Type="http://schemas.openxmlformats.org/officeDocument/2006/relationships/slideLayout" Target="../slideLayouts/slideLayout144.xml"/><Relationship Id="rId5" Type="http://schemas.openxmlformats.org/officeDocument/2006/relationships/slideLayout" Target="../slideLayouts/slideLayout138.xml"/><Relationship Id="rId10" Type="http://schemas.openxmlformats.org/officeDocument/2006/relationships/slideLayout" Target="../slideLayouts/slideLayout143.xml"/><Relationship Id="rId4" Type="http://schemas.openxmlformats.org/officeDocument/2006/relationships/slideLayout" Target="../slideLayouts/slideLayout137.xml"/><Relationship Id="rId9" Type="http://schemas.openxmlformats.org/officeDocument/2006/relationships/slideLayout" Target="../slideLayouts/slideLayout142.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2.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theme" Target="../theme/theme14.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3.xml"/><Relationship Id="rId3" Type="http://schemas.openxmlformats.org/officeDocument/2006/relationships/slideLayout" Target="../slideLayouts/slideLayout158.xml"/><Relationship Id="rId7" Type="http://schemas.openxmlformats.org/officeDocument/2006/relationships/slideLayout" Target="../slideLayouts/slideLayout162.xml"/><Relationship Id="rId12" Type="http://schemas.openxmlformats.org/officeDocument/2006/relationships/theme" Target="../theme/theme15.xml"/><Relationship Id="rId2" Type="http://schemas.openxmlformats.org/officeDocument/2006/relationships/slideLayout" Target="../slideLayouts/slideLayout157.xml"/><Relationship Id="rId1" Type="http://schemas.openxmlformats.org/officeDocument/2006/relationships/slideLayout" Target="../slideLayouts/slideLayout156.xml"/><Relationship Id="rId6" Type="http://schemas.openxmlformats.org/officeDocument/2006/relationships/slideLayout" Target="../slideLayouts/slideLayout161.xml"/><Relationship Id="rId11" Type="http://schemas.openxmlformats.org/officeDocument/2006/relationships/slideLayout" Target="../slideLayouts/slideLayout166.xml"/><Relationship Id="rId5" Type="http://schemas.openxmlformats.org/officeDocument/2006/relationships/slideLayout" Target="../slideLayouts/slideLayout160.xml"/><Relationship Id="rId10" Type="http://schemas.openxmlformats.org/officeDocument/2006/relationships/slideLayout" Target="../slideLayouts/slideLayout165.xml"/><Relationship Id="rId4" Type="http://schemas.openxmlformats.org/officeDocument/2006/relationships/slideLayout" Target="../slideLayouts/slideLayout159.xml"/><Relationship Id="rId9" Type="http://schemas.openxmlformats.org/officeDocument/2006/relationships/slideLayout" Target="../slideLayouts/slideLayout164.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4.xml"/><Relationship Id="rId13" Type="http://schemas.openxmlformats.org/officeDocument/2006/relationships/slideLayout" Target="../slideLayouts/slideLayout179.xml"/><Relationship Id="rId3" Type="http://schemas.openxmlformats.org/officeDocument/2006/relationships/slideLayout" Target="../slideLayouts/slideLayout169.xml"/><Relationship Id="rId7" Type="http://schemas.openxmlformats.org/officeDocument/2006/relationships/slideLayout" Target="../slideLayouts/slideLayout173.xml"/><Relationship Id="rId12" Type="http://schemas.openxmlformats.org/officeDocument/2006/relationships/slideLayout" Target="../slideLayouts/slideLayout178.xml"/><Relationship Id="rId2" Type="http://schemas.openxmlformats.org/officeDocument/2006/relationships/slideLayout" Target="../slideLayouts/slideLayout168.xml"/><Relationship Id="rId1" Type="http://schemas.openxmlformats.org/officeDocument/2006/relationships/slideLayout" Target="../slideLayouts/slideLayout167.xml"/><Relationship Id="rId6" Type="http://schemas.openxmlformats.org/officeDocument/2006/relationships/slideLayout" Target="../slideLayouts/slideLayout172.xml"/><Relationship Id="rId11" Type="http://schemas.openxmlformats.org/officeDocument/2006/relationships/slideLayout" Target="../slideLayouts/slideLayout177.xml"/><Relationship Id="rId5" Type="http://schemas.openxmlformats.org/officeDocument/2006/relationships/slideLayout" Target="../slideLayouts/slideLayout171.xml"/><Relationship Id="rId15" Type="http://schemas.openxmlformats.org/officeDocument/2006/relationships/image" Target="../media/image4.png"/><Relationship Id="rId10" Type="http://schemas.openxmlformats.org/officeDocument/2006/relationships/slideLayout" Target="../slideLayouts/slideLayout176.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14"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7.xml"/><Relationship Id="rId3" Type="http://schemas.openxmlformats.org/officeDocument/2006/relationships/slideLayout" Target="../slideLayouts/slideLayout182.xml"/><Relationship Id="rId7" Type="http://schemas.openxmlformats.org/officeDocument/2006/relationships/slideLayout" Target="../slideLayouts/slideLayout186.xml"/><Relationship Id="rId12" Type="http://schemas.openxmlformats.org/officeDocument/2006/relationships/theme" Target="../theme/theme17.xml"/><Relationship Id="rId2" Type="http://schemas.openxmlformats.org/officeDocument/2006/relationships/slideLayout" Target="../slideLayouts/slideLayout181.xml"/><Relationship Id="rId1" Type="http://schemas.openxmlformats.org/officeDocument/2006/relationships/slideLayout" Target="../slideLayouts/slideLayout180.xml"/><Relationship Id="rId6" Type="http://schemas.openxmlformats.org/officeDocument/2006/relationships/slideLayout" Target="../slideLayouts/slideLayout185.xml"/><Relationship Id="rId11" Type="http://schemas.openxmlformats.org/officeDocument/2006/relationships/slideLayout" Target="../slideLayouts/slideLayout190.xml"/><Relationship Id="rId5" Type="http://schemas.openxmlformats.org/officeDocument/2006/relationships/slideLayout" Target="../slideLayouts/slideLayout184.xml"/><Relationship Id="rId10" Type="http://schemas.openxmlformats.org/officeDocument/2006/relationships/slideLayout" Target="../slideLayouts/slideLayout189.xml"/><Relationship Id="rId4" Type="http://schemas.openxmlformats.org/officeDocument/2006/relationships/slideLayout" Target="../slideLayouts/slideLayout183.xml"/><Relationship Id="rId9" Type="http://schemas.openxmlformats.org/officeDocument/2006/relationships/slideLayout" Target="../slideLayouts/slideLayout1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9/18/2025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207644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31B9A1-2196-4E70-A6E8-F81E3423D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57A298-1527-4D6F-922F-35E32737A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B70ED-3BA3-40AD-9D41-D32F67752F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698A1C5B-F977-4812-AF37-FCC77B94AC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B6E8A7-F108-49E0-A737-B2104CBBA3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935CD-6950-45A5-B2A5-CC8A5C839D84}" type="slidenum">
              <a:rPr lang="en-US" smtClean="0"/>
              <a:t>‹#›</a:t>
            </a:fld>
            <a:endParaRPr lang="en-US"/>
          </a:p>
        </p:txBody>
      </p:sp>
    </p:spTree>
    <p:extLst>
      <p:ext uri="{BB962C8B-B14F-4D97-AF65-F5344CB8AC3E}">
        <p14:creationId xmlns:p14="http://schemas.microsoft.com/office/powerpoint/2010/main" val="42805207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6"/>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7" cy="323968"/>
          </a:xfrm>
          <a:prstGeom prst="rect">
            <a:avLst/>
          </a:prstGeom>
        </p:spPr>
        <p:txBody>
          <a:bodyPr vert="horz" lIns="91440" tIns="45720" rIns="91440" bIns="45720" rtlCol="0" anchor="ctr"/>
          <a:lstStyle>
            <a:lvl1pPr algn="r">
              <a:defRPr sz="788">
                <a:solidFill>
                  <a:schemeClr val="tx1">
                    <a:alpha val="70000"/>
                  </a:schemeClr>
                </a:solidFill>
              </a:defRPr>
            </a:lvl1pPr>
          </a:lstStyle>
          <a:p>
            <a:fld id="{BC1D1087-A499-403C-9706-56256D6A62D2}" type="datetimeFigureOut">
              <a:rPr lang="en-US" smtClean="0"/>
              <a:t>9/18/2025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3"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153735989"/>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E7E59B-8EE4-D16B-FBBD-CC3DF40F4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1B6CCF-402A-C914-7056-1723B18B2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2706DA-83BD-0340-AC0A-6997FFA67D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A18DE0-C786-4B81-A280-816435620A3C}" type="datetimeFigureOut">
              <a:rPr lang="en-US" smtClean="0"/>
              <a:t>9/18/2025</a:t>
            </a:fld>
            <a:endParaRPr lang="en-US"/>
          </a:p>
        </p:txBody>
      </p:sp>
      <p:sp>
        <p:nvSpPr>
          <p:cNvPr id="5" name="Footer Placeholder 4">
            <a:extLst>
              <a:ext uri="{FF2B5EF4-FFF2-40B4-BE49-F238E27FC236}">
                <a16:creationId xmlns:a16="http://schemas.microsoft.com/office/drawing/2014/main" id="{66D27432-7159-D64E-0AF4-78513E642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31B137-3A41-7711-05AA-F7F9BFC4A0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3F38D7-825B-4323-8E94-8106C1066F5C}" type="slidenum">
              <a:rPr lang="en-US" smtClean="0"/>
              <a:t>‹#›</a:t>
            </a:fld>
            <a:endParaRPr lang="en-US"/>
          </a:p>
        </p:txBody>
      </p:sp>
    </p:spTree>
    <p:extLst>
      <p:ext uri="{BB962C8B-B14F-4D97-AF65-F5344CB8AC3E}">
        <p14:creationId xmlns:p14="http://schemas.microsoft.com/office/powerpoint/2010/main" val="727047947"/>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82599" y="6413747"/>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r>
              <a:rPr lang="en-US" dirty="0"/>
              <a:t>1</a:t>
            </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02688"/>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7"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535">
                <a:solidFill>
                  <a:schemeClr val="tx1">
                    <a:alpha val="80000"/>
                  </a:schemeClr>
                </a:solidFill>
              </a:defRPr>
            </a:lvl1pPr>
          </a:lstStyle>
          <a:p>
            <a:fld id="{C7004436-CA73-4D53-89B4-2A5C7347BF2F}" type="datetimeFigureOut">
              <a:rPr lang="en-US" smtClean="0"/>
              <a:t>9/18/2025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535"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7" y="5876416"/>
            <a:ext cx="2926080" cy="1397039"/>
          </a:xfrm>
          <a:prstGeom prst="rect">
            <a:avLst/>
          </a:prstGeom>
        </p:spPr>
        <p:txBody>
          <a:bodyPr vert="horz" lIns="91440" tIns="45720" rIns="91440" bIns="45720" rtlCol="0" anchor="b"/>
          <a:lstStyle>
            <a:lvl1pPr algn="r">
              <a:defRPr sz="5794" b="0">
                <a:ln>
                  <a:noFill/>
                </a:ln>
                <a:solidFill>
                  <a:schemeClr val="accent1">
                    <a:alpha val="25000"/>
                  </a:schemeClr>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809475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19" r:id="rId11"/>
  </p:sldLayoutIdLst>
  <p:hf sldNum="0" hdr="0" ftr="0" dt="0"/>
  <p:txStyles>
    <p:titleStyle>
      <a:lvl1pPr algn="l" defTabSz="514350" rtl="0" eaLnBrk="1" latinLnBrk="0" hangingPunct="1">
        <a:lnSpc>
          <a:spcPct val="85000"/>
        </a:lnSpc>
        <a:spcBef>
          <a:spcPct val="0"/>
        </a:spcBef>
        <a:buNone/>
        <a:defRPr sz="3038" kern="1200" spc="-68" baseline="0">
          <a:solidFill>
            <a:schemeClr val="accent1"/>
          </a:solidFill>
          <a:latin typeface="+mj-lt"/>
          <a:ea typeface="+mj-ea"/>
          <a:cs typeface="+mj-cs"/>
        </a:defRPr>
      </a:lvl1pPr>
    </p:titleStyle>
    <p:bodyStyle>
      <a:lvl1pPr marL="51435" indent="-51435" algn="l" defTabSz="514350" rtl="0" eaLnBrk="1" latinLnBrk="0" hangingPunct="1">
        <a:lnSpc>
          <a:spcPct val="85000"/>
        </a:lnSpc>
        <a:spcBef>
          <a:spcPts val="731"/>
        </a:spcBef>
        <a:buFont typeface="Arial" pitchFamily="34" charset="0"/>
        <a:buChar char=" "/>
        <a:defRPr sz="1350" kern="1200">
          <a:solidFill>
            <a:schemeClr val="tx1">
              <a:lumMod val="85000"/>
              <a:lumOff val="15000"/>
            </a:schemeClr>
          </a:solidFill>
          <a:latin typeface="+mn-lt"/>
          <a:ea typeface="+mn-ea"/>
          <a:cs typeface="+mn-cs"/>
        </a:defRPr>
      </a:lvl1pPr>
      <a:lvl2pPr marL="195453" indent="-192881" algn="l" defTabSz="514350" rtl="0" eaLnBrk="1" latinLnBrk="0" hangingPunct="1">
        <a:lnSpc>
          <a:spcPct val="85000"/>
        </a:lnSpc>
        <a:spcBef>
          <a:spcPts val="338"/>
        </a:spcBef>
        <a:buFont typeface="Arial" pitchFamily="34" charset="0"/>
        <a:buChar char=" "/>
        <a:defRPr sz="1350" kern="1200">
          <a:solidFill>
            <a:schemeClr val="tx1">
              <a:lumMod val="85000"/>
              <a:lumOff val="15000"/>
            </a:schemeClr>
          </a:solidFill>
          <a:latin typeface="+mn-lt"/>
          <a:ea typeface="+mn-ea"/>
          <a:cs typeface="+mn-cs"/>
        </a:defRPr>
      </a:lvl2pPr>
      <a:lvl3pPr marL="308610" indent="-308610" algn="l" defTabSz="514350" rtl="0" eaLnBrk="1" latinLnBrk="0" hangingPunct="1">
        <a:lnSpc>
          <a:spcPct val="85000"/>
        </a:lnSpc>
        <a:spcBef>
          <a:spcPts val="338"/>
        </a:spcBef>
        <a:buFont typeface="Arial" pitchFamily="34" charset="0"/>
        <a:buChar char=" "/>
        <a:defRPr sz="1125" i="1" kern="1200">
          <a:solidFill>
            <a:schemeClr val="tx1">
              <a:lumMod val="85000"/>
              <a:lumOff val="15000"/>
            </a:schemeClr>
          </a:solidFill>
          <a:latin typeface="+mn-lt"/>
          <a:ea typeface="+mn-ea"/>
          <a:cs typeface="+mn-cs"/>
        </a:defRPr>
      </a:lvl3pPr>
      <a:lvl4pPr marL="462915" indent="-462915"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4pPr>
      <a:lvl5pPr marL="617220" indent="-617220"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5pPr>
      <a:lvl6pPr marL="6750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6pPr>
      <a:lvl7pPr marL="7875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7pPr>
      <a:lvl8pPr marL="9000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8pPr>
      <a:lvl9pPr marL="1012500" indent="-128588" algn="l" defTabSz="514350" rtl="0" eaLnBrk="1" latinLnBrk="0" hangingPunct="1">
        <a:lnSpc>
          <a:spcPct val="85000"/>
        </a:lnSpc>
        <a:spcBef>
          <a:spcPts val="338"/>
        </a:spcBef>
        <a:buFont typeface="Arial" pitchFamily="34" charset="0"/>
        <a:buChar char=" "/>
        <a:defRPr sz="1013" kern="1200">
          <a:solidFill>
            <a:schemeClr val="tx1">
              <a:lumMod val="85000"/>
              <a:lumOff val="15000"/>
            </a:schemeClr>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50097-E68E-47E7-BB42-E331A2C38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EECED-6870-4AE0-972D-649C0D4EA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A1839-A75A-47AC-B398-AB1C4B7F9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1D1087-A499-403C-9706-56256D6A62D2}" type="datetimeFigureOut">
              <a:rPr lang="en-US" smtClean="0"/>
              <a:t>9/18/2025</a:t>
            </a:fld>
            <a:endParaRPr lang="en-US"/>
          </a:p>
        </p:txBody>
      </p:sp>
      <p:sp>
        <p:nvSpPr>
          <p:cNvPr id="5" name="Footer Placeholder 4">
            <a:extLst>
              <a:ext uri="{FF2B5EF4-FFF2-40B4-BE49-F238E27FC236}">
                <a16:creationId xmlns:a16="http://schemas.microsoft.com/office/drawing/2014/main" id="{273768A3-42FB-4191-9620-3370692C3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0FEBEB-49AA-415B-9EEE-6AA47D47CC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783903143"/>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7004436-CA73-4D53-89B4-2A5C7347BF2F}" type="datetimeFigureOut">
              <a:rPr lang="en-US" smtClean="0"/>
              <a:t>9/18/2025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86386909"/>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CCEC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7004436-CA73-4D53-89B4-2A5C7347BF2F}" type="datetimeFigureOut">
              <a:rPr lang="en-US" smtClean="0"/>
              <a:t>9/18/2025</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44364493"/>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 name="Text Placeholder 2"/>
          <p:cNvSpPr>
            <a:spLocks noGrp="1"/>
          </p:cNvSpPr>
          <p:nvPr>
            <p:ph type="body" idx="1"/>
          </p:nvPr>
        </p:nvSpPr>
        <p:spPr bwMode="auto">
          <a:xfrm>
            <a:off x="609600" y="1600205"/>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defTabSz="514350">
              <a:defRPr/>
            </a:pPr>
            <a:endParaRPr lang="en-US">
              <a:solidFill>
                <a:prstClr val="black">
                  <a:tint val="75000"/>
                </a:prstClr>
              </a:solidFill>
              <a:latin typeface="Verdana" panose="020B0604030504040204" pitchFamily="34" charset="0"/>
            </a:endParaRPr>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pPr defTabSz="514350">
              <a:defRPr/>
            </a:pPr>
            <a:endParaRPr lang="en-US">
              <a:solidFill>
                <a:prstClr val="black">
                  <a:tint val="75000"/>
                </a:prstClr>
              </a:solidFill>
              <a:latin typeface="Verdana" panose="020B0604030504040204" pitchFamily="34" charset="0"/>
            </a:endParaRPr>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675">
                <a:solidFill>
                  <a:srgbClr val="898989"/>
                </a:solidFill>
              </a:defRPr>
            </a:lvl1pPr>
          </a:lstStyle>
          <a:p>
            <a:pPr defTabSz="514350">
              <a:defRPr/>
            </a:pPr>
            <a:fld id="{70316B3B-81D3-4DA6-9C8C-D747F98811E8}" type="slidenum">
              <a:rPr lang="en-US" altLang="en-US" smtClean="0">
                <a:latin typeface="Verdana" panose="020B0604030504040204" pitchFamily="34" charset="0"/>
              </a:rPr>
              <a:pPr defTabSz="514350">
                <a:defRPr/>
              </a:pPr>
              <a:t>‹#›</a:t>
            </a:fld>
            <a:endParaRPr lang="en-US" altLang="en-US">
              <a:latin typeface="Verdana" panose="020B0604030504040204" pitchFamily="34" charset="0"/>
            </a:endParaRPr>
          </a:p>
        </p:txBody>
      </p:sp>
    </p:spTree>
    <p:extLst>
      <p:ext uri="{BB962C8B-B14F-4D97-AF65-F5344CB8AC3E}">
        <p14:creationId xmlns:p14="http://schemas.microsoft.com/office/powerpoint/2010/main" val="4115328467"/>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2000"/>
                        <p:tgtEl>
                          <p:spTgt spid="3"/>
                        </p:tgtEl>
                      </p:cBhvr>
                    </p:animEffect>
                  </p:childTnLst>
                </p:cTn>
              </p:par>
            </p:tnLst>
          </p:tmpl>
        </p:tmplLst>
      </p:bldP>
    </p:bldLst>
  </p:timing>
  <p:hf hdr="0" ftr="0" dt="0"/>
  <p:txStyles>
    <p:titleStyle>
      <a:lvl1pPr algn="ctr" rtl="0" eaLnBrk="0" fontAlgn="base" hangingPunct="0">
        <a:spcBef>
          <a:spcPct val="0"/>
        </a:spcBef>
        <a:spcAft>
          <a:spcPct val="0"/>
        </a:spcAft>
        <a:defRPr sz="2475" kern="1200">
          <a:solidFill>
            <a:schemeClr val="tx1"/>
          </a:solidFill>
          <a:latin typeface="+mj-lt"/>
          <a:ea typeface="+mj-ea"/>
          <a:cs typeface="+mj-cs"/>
        </a:defRPr>
      </a:lvl1pPr>
      <a:lvl2pPr algn="ctr" rtl="0" eaLnBrk="0" fontAlgn="base" hangingPunct="0">
        <a:spcBef>
          <a:spcPct val="0"/>
        </a:spcBef>
        <a:spcAft>
          <a:spcPct val="0"/>
        </a:spcAft>
        <a:defRPr sz="2475">
          <a:solidFill>
            <a:schemeClr val="tx1"/>
          </a:solidFill>
          <a:latin typeface="Calibri" pitchFamily="34" charset="0"/>
        </a:defRPr>
      </a:lvl2pPr>
      <a:lvl3pPr algn="ctr" rtl="0" eaLnBrk="0" fontAlgn="base" hangingPunct="0">
        <a:spcBef>
          <a:spcPct val="0"/>
        </a:spcBef>
        <a:spcAft>
          <a:spcPct val="0"/>
        </a:spcAft>
        <a:defRPr sz="2475">
          <a:solidFill>
            <a:schemeClr val="tx1"/>
          </a:solidFill>
          <a:latin typeface="Calibri" pitchFamily="34" charset="0"/>
        </a:defRPr>
      </a:lvl3pPr>
      <a:lvl4pPr algn="ctr" rtl="0" eaLnBrk="0" fontAlgn="base" hangingPunct="0">
        <a:spcBef>
          <a:spcPct val="0"/>
        </a:spcBef>
        <a:spcAft>
          <a:spcPct val="0"/>
        </a:spcAft>
        <a:defRPr sz="2475">
          <a:solidFill>
            <a:schemeClr val="tx1"/>
          </a:solidFill>
          <a:latin typeface="Calibri" pitchFamily="34" charset="0"/>
        </a:defRPr>
      </a:lvl4pPr>
      <a:lvl5pPr algn="ctr" rtl="0" eaLnBrk="0" fontAlgn="base" hangingPunct="0">
        <a:spcBef>
          <a:spcPct val="0"/>
        </a:spcBef>
        <a:spcAft>
          <a:spcPct val="0"/>
        </a:spcAft>
        <a:defRPr sz="2475">
          <a:solidFill>
            <a:schemeClr val="tx1"/>
          </a:solidFill>
          <a:latin typeface="Calibri" pitchFamily="34" charset="0"/>
        </a:defRPr>
      </a:lvl5pPr>
      <a:lvl6pPr marL="257175" algn="ctr" rtl="0" fontAlgn="base">
        <a:spcBef>
          <a:spcPct val="0"/>
        </a:spcBef>
        <a:spcAft>
          <a:spcPct val="0"/>
        </a:spcAft>
        <a:defRPr sz="2475">
          <a:solidFill>
            <a:schemeClr val="tx1"/>
          </a:solidFill>
          <a:latin typeface="Calibri" pitchFamily="34" charset="0"/>
        </a:defRPr>
      </a:lvl6pPr>
      <a:lvl7pPr marL="514350" algn="ctr" rtl="0" fontAlgn="base">
        <a:spcBef>
          <a:spcPct val="0"/>
        </a:spcBef>
        <a:spcAft>
          <a:spcPct val="0"/>
        </a:spcAft>
        <a:defRPr sz="2475">
          <a:solidFill>
            <a:schemeClr val="tx1"/>
          </a:solidFill>
          <a:latin typeface="Calibri" pitchFamily="34" charset="0"/>
        </a:defRPr>
      </a:lvl7pPr>
      <a:lvl8pPr marL="771525" algn="ctr" rtl="0" fontAlgn="base">
        <a:spcBef>
          <a:spcPct val="0"/>
        </a:spcBef>
        <a:spcAft>
          <a:spcPct val="0"/>
        </a:spcAft>
        <a:defRPr sz="2475">
          <a:solidFill>
            <a:schemeClr val="tx1"/>
          </a:solidFill>
          <a:latin typeface="Calibri" pitchFamily="34" charset="0"/>
        </a:defRPr>
      </a:lvl8pPr>
      <a:lvl9pPr marL="1028700" algn="ctr" rtl="0" fontAlgn="base">
        <a:spcBef>
          <a:spcPct val="0"/>
        </a:spcBef>
        <a:spcAft>
          <a:spcPct val="0"/>
        </a:spcAft>
        <a:defRPr sz="2475">
          <a:solidFill>
            <a:schemeClr val="tx1"/>
          </a:solidFill>
          <a:latin typeface="Calibri" pitchFamily="34" charset="0"/>
        </a:defRPr>
      </a:lvl9pPr>
    </p:titleStyle>
    <p:bodyStyle>
      <a:lvl1pPr marL="192881" indent="-192881"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1pPr>
      <a:lvl2pPr marL="417910" indent="-160735" algn="l" rtl="0" eaLnBrk="0" fontAlgn="base" hangingPunct="0">
        <a:spcBef>
          <a:spcPct val="20000"/>
        </a:spcBef>
        <a:spcAft>
          <a:spcPct val="0"/>
        </a:spcAft>
        <a:buFont typeface="Arial" panose="020B0604020202020204" pitchFamily="34" charset="0"/>
        <a:buChar char="–"/>
        <a:defRPr sz="1575" kern="1200">
          <a:solidFill>
            <a:schemeClr val="tx1"/>
          </a:solidFill>
          <a:latin typeface="+mn-lt"/>
          <a:ea typeface="+mn-ea"/>
          <a:cs typeface="+mn-cs"/>
        </a:defRPr>
      </a:lvl2pPr>
      <a:lvl3pPr marL="642938" indent="-128588" algn="l" rtl="0" eaLnBrk="0" fontAlgn="base" hangingPunct="0">
        <a:spcBef>
          <a:spcPct val="20000"/>
        </a:spcBef>
        <a:spcAft>
          <a:spcPct val="0"/>
        </a:spcAft>
        <a:buFont typeface="Arial" panose="020B0604020202020204" pitchFamily="34" charset="0"/>
        <a:buChar char="•"/>
        <a:defRPr sz="1350" kern="1200">
          <a:solidFill>
            <a:schemeClr val="tx1"/>
          </a:solidFill>
          <a:latin typeface="+mn-lt"/>
          <a:ea typeface="+mn-ea"/>
          <a:cs typeface="+mn-cs"/>
        </a:defRPr>
      </a:lvl3pPr>
      <a:lvl4pPr marL="900113" indent="-128588" algn="l" rtl="0" eaLnBrk="0" fontAlgn="base" hangingPunct="0">
        <a:spcBef>
          <a:spcPct val="20000"/>
        </a:spcBef>
        <a:spcAft>
          <a:spcPct val="0"/>
        </a:spcAft>
        <a:buFont typeface="Arial" panose="020B0604020202020204" pitchFamily="34" charset="0"/>
        <a:buChar char="–"/>
        <a:defRPr sz="1125" kern="1200">
          <a:solidFill>
            <a:schemeClr val="tx1"/>
          </a:solidFill>
          <a:latin typeface="+mn-lt"/>
          <a:ea typeface="+mn-ea"/>
          <a:cs typeface="+mn-cs"/>
        </a:defRPr>
      </a:lvl4pPr>
      <a:lvl5pPr marL="1157288" indent="-128588" algn="l" rtl="0" eaLnBrk="0" fontAlgn="base" hangingPunct="0">
        <a:spcBef>
          <a:spcPct val="20000"/>
        </a:spcBef>
        <a:spcAft>
          <a:spcPct val="0"/>
        </a:spcAft>
        <a:buFont typeface="Arial" panose="020B0604020202020204"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31B9A1-2196-4E70-A6E8-F81E3423D61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57A298-1527-4D6F-922F-35E32737A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B70ED-3BA3-40AD-9D41-D32F67752FD5}"/>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210552C-D2EE-429C-8F10-87868A576033}" type="datetimeFigureOut">
              <a:rPr lang="en-US" smtClean="0"/>
              <a:t>9/18/2025</a:t>
            </a:fld>
            <a:endParaRPr lang="en-US"/>
          </a:p>
        </p:txBody>
      </p:sp>
      <p:sp>
        <p:nvSpPr>
          <p:cNvPr id="5" name="Footer Placeholder 4">
            <a:extLst>
              <a:ext uri="{FF2B5EF4-FFF2-40B4-BE49-F238E27FC236}">
                <a16:creationId xmlns:a16="http://schemas.microsoft.com/office/drawing/2014/main" id="{698A1C5B-F977-4812-AF37-FCC77B94ACA7}"/>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B6E8A7-F108-49E0-A737-B2104CBBA3C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4A935CD-6950-45A5-B2A5-CC8A5C839D84}" type="slidenum">
              <a:rPr lang="en-US" smtClean="0"/>
              <a:t>‹#›</a:t>
            </a:fld>
            <a:endParaRPr lang="en-US"/>
          </a:p>
        </p:txBody>
      </p:sp>
    </p:spTree>
    <p:extLst>
      <p:ext uri="{BB962C8B-B14F-4D97-AF65-F5344CB8AC3E}">
        <p14:creationId xmlns:p14="http://schemas.microsoft.com/office/powerpoint/2010/main" val="2452755409"/>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65643C6-E394-42A9-AE2E-4A5EAD0D0189}" type="datetime1">
              <a:rPr lang="en-US" smtClean="0"/>
              <a:t>9/18/2025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17091140"/>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50097-E68E-47E7-BB42-E331A2C38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EECED-6870-4AE0-972D-649C0D4EA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A1839-A75A-47AC-B398-AB1C4B7F9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478A89-FD86-4775-B4F8-FE2A760F49F0}" type="datetime1">
              <a:rPr lang="en-US" smtClean="0"/>
              <a:t>9/18/2025</a:t>
            </a:fld>
            <a:endParaRPr lang="en-US"/>
          </a:p>
        </p:txBody>
      </p:sp>
      <p:sp>
        <p:nvSpPr>
          <p:cNvPr id="5" name="Footer Placeholder 4">
            <a:extLst>
              <a:ext uri="{FF2B5EF4-FFF2-40B4-BE49-F238E27FC236}">
                <a16:creationId xmlns:a16="http://schemas.microsoft.com/office/drawing/2014/main" id="{273768A3-42FB-4191-9620-3370692C3A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0FEBEB-49AA-415B-9EEE-6AA47D47CC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EB5961-2DF2-47D3-A538-C3172A95AC44}" type="slidenum">
              <a:rPr lang="en-US" smtClean="0"/>
              <a:t>‹#›</a:t>
            </a:fld>
            <a:endParaRPr lang="en-US"/>
          </a:p>
        </p:txBody>
      </p:sp>
    </p:spTree>
    <p:extLst>
      <p:ext uri="{BB962C8B-B14F-4D97-AF65-F5344CB8AC3E}">
        <p14:creationId xmlns:p14="http://schemas.microsoft.com/office/powerpoint/2010/main" val="1287007630"/>
      </p:ext>
    </p:extLst>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 id="2147484028" r:id="rId10"/>
    <p:sldLayoutId id="214748402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1"/>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A5383634-4E7E-4CF7-8746-02ABCC236A57}" type="datetime1">
              <a:rPr lang="en-US" smtClean="0"/>
              <a:t>9/18/2025</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941598418"/>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Lst>
  <p:hf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3"/>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cs typeface="+mn-cs"/>
              </a:defRPr>
            </a:lvl1pPr>
          </a:lstStyle>
          <a:p>
            <a:pPr>
              <a:defRPr/>
            </a:pPr>
            <a:fld id="{E0D3ACB0-BDE8-44A5-859B-31042846A2C3}" type="datetimeFigureOut">
              <a:rPr lang="en-US">
                <a:solidFill>
                  <a:prstClr val="black">
                    <a:tint val="75000"/>
                  </a:prstClr>
                </a:solidFill>
              </a:rPr>
              <a:pPr>
                <a:defRPr/>
              </a:pPr>
              <a:t>9/18/2025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defRPr/>
            </a:pPr>
            <a:fld id="{52167409-4EC4-466A-85DF-CC0355AA9330}" type="slidenum">
              <a:rPr lang="en-US" altLang="en-US">
                <a:cs typeface="Arial" panose="020B0604020202020204" pitchFamily="34" charset="0"/>
              </a:rPr>
              <a:pPr fontAlgn="base">
                <a:spcBef>
                  <a:spcPct val="0"/>
                </a:spcBef>
                <a:spcAft>
                  <a:spcPct val="0"/>
                </a:spcAft>
                <a:defRPr/>
              </a:pPr>
              <a:t>‹#›</a:t>
            </a:fld>
            <a:endParaRPr lang="en-US" altLang="en-US">
              <a:cs typeface="Arial" panose="020B0604020202020204" pitchFamily="34" charset="0"/>
            </a:endParaRPr>
          </a:p>
        </p:txBody>
      </p:sp>
    </p:spTree>
    <p:extLst>
      <p:ext uri="{BB962C8B-B14F-4D97-AF65-F5344CB8AC3E}">
        <p14:creationId xmlns:p14="http://schemas.microsoft.com/office/powerpoint/2010/main" val="2061923279"/>
      </p:ext>
    </p:extLst>
  </p:cSld>
  <p:clrMap bg1="lt1" tx1="dk1" bg2="lt2" tx2="dk2" accent1="accent1" accent2="accent2" accent3="accent3" accent4="accent4" accent5="accent5" accent6="accent6" hlink="hlink" folHlink="folHlink"/>
  <p:sldLayoutIdLst>
    <p:sldLayoutId id="2147484043" r:id="rId1"/>
    <p:sldLayoutId id="2147484044" r:id="rId2"/>
    <p:sldLayoutId id="2147484045" r:id="rId3"/>
    <p:sldLayoutId id="2147484046" r:id="rId4"/>
    <p:sldLayoutId id="2147484047" r:id="rId5"/>
    <p:sldLayoutId id="2147484048" r:id="rId6"/>
    <p:sldLayoutId id="2147484049" r:id="rId7"/>
    <p:sldLayoutId id="2147484050" r:id="rId8"/>
    <p:sldLayoutId id="2147484051" r:id="rId9"/>
    <p:sldLayoutId id="2147484052" r:id="rId10"/>
    <p:sldLayoutId id="2147484053"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3" descr="graph"/>
          <p:cNvPicPr>
            <a:picLocks noChangeAspect="1" noChangeArrowheads="1"/>
          </p:cNvPicPr>
          <p:nvPr userDrawn="1"/>
        </p:nvPicPr>
        <p:blipFill>
          <a:blip r:embed="rId15">
            <a:extLst>
              <a:ext uri="{28A0092B-C50C-407E-A947-70E740481C1C}">
                <a14:useLocalDpi xmlns:a14="http://schemas.microsoft.com/office/drawing/2010/main" val="0"/>
              </a:ext>
            </a:extLst>
          </a:blip>
          <a:srcRect l="3638" t="2191" r="3653" b="2213"/>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609600" y="1600202"/>
            <a:ext cx="10972800" cy="370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5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50" smtClean="0"/>
            </a:lvl1pPr>
          </a:lstStyle>
          <a:p>
            <a:pPr>
              <a:defRPr/>
            </a:pPr>
            <a:fld id="{B953DA43-4302-477D-B1A2-E5979C4E4987}" type="slidenum">
              <a:rPr lang="en-US" altLang="en-US"/>
              <a:pPr>
                <a:defRPr/>
              </a:pPr>
              <a:t>‹#›</a:t>
            </a:fld>
            <a:endParaRPr lang="en-US" altLang="en-US"/>
          </a:p>
        </p:txBody>
      </p:sp>
    </p:spTree>
    <p:extLst>
      <p:ext uri="{BB962C8B-B14F-4D97-AF65-F5344CB8AC3E}">
        <p14:creationId xmlns:p14="http://schemas.microsoft.com/office/powerpoint/2010/main" val="3891455033"/>
      </p:ext>
    </p:extLst>
  </p:cSld>
  <p:clrMap bg1="lt1" tx1="dk1" bg2="lt2" tx2="dk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 id="2147484066" r:id="rId12"/>
    <p:sldLayoutId id="2147484067" r:id="rId13"/>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0CC7D-2F25-4CEA-A5B1-A0738FB0D26A}" type="datetimeFigureOut">
              <a:rPr lang="en-US" smtClean="0"/>
              <a:t>9/18/2025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9585C6-4C2A-444E-BFEA-5B8D89F1D572}" type="slidenum">
              <a:rPr lang="en-US" smtClean="0"/>
              <a:t>‹#›</a:t>
            </a:fld>
            <a:endParaRPr lang="en-US"/>
          </a:p>
        </p:txBody>
      </p:sp>
    </p:spTree>
    <p:extLst>
      <p:ext uri="{BB962C8B-B14F-4D97-AF65-F5344CB8AC3E}">
        <p14:creationId xmlns:p14="http://schemas.microsoft.com/office/powerpoint/2010/main" val="4070120539"/>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7.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8.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81.xml"/></Relationships>
</file>

<file path=ppt/slides/_rels/slide4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181.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81.xml"/></Relationships>
</file>

<file path=ppt/slides/_rels/slide4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2.bin"/><Relationship Id="rId1" Type="http://schemas.openxmlformats.org/officeDocument/2006/relationships/slideLayout" Target="../slideLayouts/slideLayout18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5.xml"/></Relationships>
</file>

<file path=ppt/slides/_rels/slide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9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0.xml"/></Relationships>
</file>

<file path=ppt/slides/_rels/slide5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40.xml"/><Relationship Id="rId4" Type="http://schemas.openxmlformats.org/officeDocument/2006/relationships/image" Target="../media/image11.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0.xml"/></Relationships>
</file>

<file path=ppt/slides/_rels/slide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9.xml"/></Relationships>
</file>

<file path=ppt/slides/_rels/slide5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3.xml"/><Relationship Id="rId1" Type="http://schemas.openxmlformats.org/officeDocument/2006/relationships/slideLayout" Target="../slideLayouts/slideLayout57.xml"/></Relationships>
</file>

<file path=ppt/slides/_rels/slide5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25.png"/><Relationship Id="rId4" Type="http://schemas.openxmlformats.org/officeDocument/2006/relationships/image" Target="../media/image24.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84.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7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4.xml"/></Relationships>
</file>

<file path=ppt/slides/_rels/slide76.xml.rels><?xml version="1.0" encoding="UTF-8" standalone="yes"?>
<Relationships xmlns="http://schemas.openxmlformats.org/package/2006/relationships"><Relationship Id="rId2" Type="http://schemas.openxmlformats.org/officeDocument/2006/relationships/hyperlink" Target="https://www.youtube.com/watch?v=LaApqL4QjH8" TargetMode="External"/><Relationship Id="rId1" Type="http://schemas.openxmlformats.org/officeDocument/2006/relationships/slideLayout" Target="../slideLayouts/slideLayout14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7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0.xml"/></Relationships>
</file>

<file path=ppt/slides/_rels/slide7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Topview of mint green workspace with laptop, coffee, notebook, pen, glasses, and mouse">
            <a:extLst>
              <a:ext uri="{FF2B5EF4-FFF2-40B4-BE49-F238E27FC236}">
                <a16:creationId xmlns:a16="http://schemas.microsoft.com/office/drawing/2014/main" id="{F0F8CEE5-2E71-1C78-3336-9A61DCABC304}"/>
              </a:ext>
            </a:extLst>
          </p:cNvPr>
          <p:cNvPicPr>
            <a:picLocks noChangeAspect="1"/>
          </p:cNvPicPr>
          <p:nvPr/>
        </p:nvPicPr>
        <p:blipFill>
          <a:blip r:embed="rId2"/>
          <a:srcRect r="9091" b="23391"/>
          <a:stretch>
            <a:fillRect/>
          </a:stretch>
        </p:blipFill>
        <p:spPr>
          <a:xfrm>
            <a:off x="20" y="10"/>
            <a:ext cx="12191979" cy="6857990"/>
          </a:xfrm>
          <a:prstGeom prst="rect">
            <a:avLst/>
          </a:prstGeom>
        </p:spPr>
      </p:pic>
      <p:sp>
        <p:nvSpPr>
          <p:cNvPr id="15" name="Rectangle 14">
            <a:extLst>
              <a:ext uri="{FF2B5EF4-FFF2-40B4-BE49-F238E27FC236}">
                <a16:creationId xmlns:a16="http://schemas.microsoft.com/office/drawing/2014/main" id="{0DBFCB27-760B-5FF3-72F5-581461CE1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889C93-7A75-67E2-414B-CFE3F9C67EAA}"/>
              </a:ext>
            </a:extLst>
          </p:cNvPr>
          <p:cNvSpPr>
            <a:spLocks noGrp="1"/>
          </p:cNvSpPr>
          <p:nvPr>
            <p:ph type="ctrTitle"/>
          </p:nvPr>
        </p:nvSpPr>
        <p:spPr>
          <a:xfrm>
            <a:off x="5527431" y="-184902"/>
            <a:ext cx="6664569" cy="1649961"/>
          </a:xfrm>
        </p:spPr>
        <p:txBody>
          <a:bodyPr anchor="ctr">
            <a:normAutofit fontScale="90000"/>
          </a:bodyPr>
          <a:lstStyle/>
          <a:p>
            <a:pPr algn="ctr"/>
            <a:r>
              <a:rPr lang="en-US" sz="4400" dirty="0">
                <a:solidFill>
                  <a:schemeClr val="bg1"/>
                </a:solidFill>
              </a:rPr>
              <a:t>V450: Project Management &amp; Implementation </a:t>
            </a:r>
          </a:p>
        </p:txBody>
      </p:sp>
      <p:sp>
        <p:nvSpPr>
          <p:cNvPr id="3" name="Subtitle 2">
            <a:extLst>
              <a:ext uri="{FF2B5EF4-FFF2-40B4-BE49-F238E27FC236}">
                <a16:creationId xmlns:a16="http://schemas.microsoft.com/office/drawing/2014/main" id="{A032B49F-D8D2-5623-DC28-689E025329E5}"/>
              </a:ext>
            </a:extLst>
          </p:cNvPr>
          <p:cNvSpPr>
            <a:spLocks noGrp="1"/>
          </p:cNvSpPr>
          <p:nvPr>
            <p:ph type="subTitle" idx="1"/>
          </p:nvPr>
        </p:nvSpPr>
        <p:spPr>
          <a:xfrm>
            <a:off x="5256075" y="5208039"/>
            <a:ext cx="6453553" cy="1777525"/>
          </a:xfrm>
        </p:spPr>
        <p:txBody>
          <a:bodyPr anchor="ctr">
            <a:normAutofit/>
          </a:bodyPr>
          <a:lstStyle/>
          <a:p>
            <a:pPr>
              <a:lnSpc>
                <a:spcPct val="100000"/>
              </a:lnSpc>
              <a:spcBef>
                <a:spcPts val="0"/>
              </a:spcBef>
            </a:pPr>
            <a:r>
              <a:rPr lang="en-US" sz="3000" i="0" dirty="0">
                <a:solidFill>
                  <a:schemeClr val="bg1"/>
                </a:solidFill>
                <a:latin typeface="Calibri" panose="020F0502020204030204" pitchFamily="34" charset="0"/>
                <a:cs typeface="Calibri" panose="020F0502020204030204" pitchFamily="34" charset="0"/>
              </a:rPr>
              <a:t>“Unless commitment is made, there are only promises and hopes; but no plans.” – Peter F. Drucker."</a:t>
            </a:r>
          </a:p>
          <a:p>
            <a:pPr algn="r"/>
            <a:endParaRPr lang="en-US" sz="1900" dirty="0"/>
          </a:p>
        </p:txBody>
      </p:sp>
      <p:sp>
        <p:nvSpPr>
          <p:cNvPr id="5" name="Title 1">
            <a:extLst>
              <a:ext uri="{FF2B5EF4-FFF2-40B4-BE49-F238E27FC236}">
                <a16:creationId xmlns:a16="http://schemas.microsoft.com/office/drawing/2014/main" id="{5301D76F-3E0D-9ACC-56BD-2C71F4219BA7}"/>
              </a:ext>
            </a:extLst>
          </p:cNvPr>
          <p:cNvSpPr txBox="1">
            <a:spLocks/>
          </p:cNvSpPr>
          <p:nvPr/>
        </p:nvSpPr>
        <p:spPr>
          <a:xfrm>
            <a:off x="5527432" y="1649961"/>
            <a:ext cx="6579576" cy="3152775"/>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6500" b="0" dirty="0">
                <a:solidFill>
                  <a:schemeClr val="bg1"/>
                </a:solidFill>
              </a:rPr>
              <a:t>Class 8</a:t>
            </a:r>
          </a:p>
          <a:p>
            <a:r>
              <a:rPr lang="en-US" sz="5800" dirty="0">
                <a:solidFill>
                  <a:schemeClr val="bg1"/>
                </a:solidFill>
              </a:rPr>
              <a:t>Scope of Work II</a:t>
            </a:r>
          </a:p>
          <a:p>
            <a:r>
              <a:rPr lang="en-US" sz="5800" dirty="0">
                <a:solidFill>
                  <a:schemeClr val="bg1"/>
                </a:solidFill>
              </a:rPr>
              <a:t>Pre-Planning</a:t>
            </a:r>
          </a:p>
        </p:txBody>
      </p:sp>
    </p:spTree>
    <p:extLst>
      <p:ext uri="{BB962C8B-B14F-4D97-AF65-F5344CB8AC3E}">
        <p14:creationId xmlns:p14="http://schemas.microsoft.com/office/powerpoint/2010/main" val="34018923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CCEC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036-CDBC-4EB9-A94F-BEAB3E20CFD1}"/>
              </a:ext>
            </a:extLst>
          </p:cNvPr>
          <p:cNvSpPr>
            <a:spLocks noGrp="1"/>
          </p:cNvSpPr>
          <p:nvPr>
            <p:ph type="title"/>
          </p:nvPr>
        </p:nvSpPr>
        <p:spPr>
          <a:xfrm>
            <a:off x="2914045" y="379834"/>
            <a:ext cx="5797296" cy="891540"/>
          </a:xfrm>
        </p:spPr>
        <p:txBody>
          <a:bodyPr>
            <a:noAutofit/>
          </a:bodyPr>
          <a:lstStyle/>
          <a:p>
            <a:r>
              <a:rPr lang="en-US" sz="4500" b="1" dirty="0">
                <a:latin typeface="+mn-lt"/>
              </a:rPr>
              <a:t>Warm-Up</a:t>
            </a:r>
          </a:p>
        </p:txBody>
      </p:sp>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914400" y="1768980"/>
            <a:ext cx="10363199" cy="4128238"/>
          </a:xfrm>
        </p:spPr>
        <p:txBody>
          <a:bodyPr>
            <a:normAutofit/>
          </a:bodyPr>
          <a:lstStyle/>
          <a:p>
            <a:pPr marL="557213" indent="-557213">
              <a:spcBef>
                <a:spcPts val="0"/>
              </a:spcBef>
              <a:buFont typeface="+mj-lt"/>
              <a:buAutoNum type="alphaLcParenR"/>
            </a:pPr>
            <a:r>
              <a:rPr lang="en-US" sz="3500" dirty="0">
                <a:solidFill>
                  <a:schemeClr val="tx1"/>
                </a:solidFill>
                <a:latin typeface="Calibri" panose="020F0502020204030204" pitchFamily="34" charset="0"/>
                <a:cs typeface="Calibri" panose="020F0502020204030204" pitchFamily="34" charset="0"/>
              </a:rPr>
              <a:t>Which superpower would you prefer, to be able to fly or to be able to become invisible?</a:t>
            </a:r>
          </a:p>
          <a:p>
            <a:pPr marL="557213" indent="-557213">
              <a:spcBef>
                <a:spcPts val="0"/>
              </a:spcBef>
              <a:buFont typeface="+mj-lt"/>
              <a:buAutoNum type="alphaLcParenR"/>
            </a:pPr>
            <a:endParaRPr lang="en-US" sz="3500" dirty="0">
              <a:solidFill>
                <a:schemeClr val="tx1"/>
              </a:solidFill>
              <a:latin typeface="Calibri" panose="020F0502020204030204" pitchFamily="34" charset="0"/>
              <a:cs typeface="Calibri" panose="020F0502020204030204" pitchFamily="34" charset="0"/>
            </a:endParaRPr>
          </a:p>
          <a:p>
            <a:pPr marL="557213" indent="-557213">
              <a:spcBef>
                <a:spcPts val="0"/>
              </a:spcBef>
              <a:buFont typeface="+mj-lt"/>
              <a:buAutoNum type="alphaLcParenR"/>
            </a:pPr>
            <a:r>
              <a:rPr lang="en-US" sz="3500" dirty="0">
                <a:solidFill>
                  <a:schemeClr val="tx1"/>
                </a:solidFill>
                <a:latin typeface="Calibri" panose="020F0502020204030204" pitchFamily="34" charset="0"/>
                <a:cs typeface="Calibri" panose="020F0502020204030204" pitchFamily="34" charset="0"/>
              </a:rPr>
              <a:t>Would you have five dogs or five cats? Why?</a:t>
            </a:r>
          </a:p>
        </p:txBody>
      </p:sp>
    </p:spTree>
    <p:extLst>
      <p:ext uri="{BB962C8B-B14F-4D97-AF65-F5344CB8AC3E}">
        <p14:creationId xmlns:p14="http://schemas.microsoft.com/office/powerpoint/2010/main" val="74946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www.shankyfinance.com/uploaded_files/main_img/shankyfinance.com5877335340ff511505663-the-word-project-placed-over-a-plan-project-3d-render--Stock-Photo.jpg">
            <a:extLst>
              <a:ext uri="{FF2B5EF4-FFF2-40B4-BE49-F238E27FC236}">
                <a16:creationId xmlns:a16="http://schemas.microsoft.com/office/drawing/2014/main" id="{7FA62F0B-9AE8-42B0-AD9A-1EB9E05D67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316"/>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014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85500-3683-3137-5E2C-C61563D7FE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8A766-170A-6772-4F26-E71EFA533E54}"/>
              </a:ext>
            </a:extLst>
          </p:cNvPr>
          <p:cNvSpPr>
            <a:spLocks noGrp="1"/>
          </p:cNvSpPr>
          <p:nvPr>
            <p:ph idx="1"/>
          </p:nvPr>
        </p:nvSpPr>
        <p:spPr>
          <a:xfrm>
            <a:off x="564022" y="534825"/>
            <a:ext cx="10921526" cy="5788350"/>
          </a:xfrm>
        </p:spPr>
        <p:txBody>
          <a:bodyPr/>
          <a:lstStyle/>
          <a:p>
            <a:pPr marL="457200" indent="-457200">
              <a:buAutoNum type="arabicPeriod"/>
            </a:pPr>
            <a:r>
              <a:rPr lang="en-US" sz="3500" strike="sngStrike" dirty="0">
                <a:latin typeface="Calibri" panose="020F0502020204030204" pitchFamily="34" charset="0"/>
                <a:cs typeface="Calibri" panose="020F0502020204030204" pitchFamily="34" charset="0"/>
              </a:rPr>
              <a:t>Pick a project.</a:t>
            </a:r>
          </a:p>
          <a:p>
            <a:pPr marL="457200" indent="-457200">
              <a:buAutoNum type="arabicPeriod"/>
            </a:pPr>
            <a:r>
              <a:rPr lang="en-US" sz="3500" dirty="0">
                <a:latin typeface="Calibri" panose="020F0502020204030204" pitchFamily="34" charset="0"/>
                <a:cs typeface="Calibri" panose="020F0502020204030204" pitchFamily="34" charset="0"/>
              </a:rPr>
              <a:t>Individual Skills Inventory </a:t>
            </a:r>
            <a:r>
              <a:rPr lang="en-US" sz="3500" b="1" dirty="0">
                <a:solidFill>
                  <a:srgbClr val="FF0000"/>
                </a:solidFill>
                <a:latin typeface="Calibri" panose="020F0502020204030204" pitchFamily="34" charset="0"/>
                <a:cs typeface="Calibri" panose="020F0502020204030204" pitchFamily="34" charset="0"/>
              </a:rPr>
              <a:t>due Sunday @ midnight</a:t>
            </a:r>
          </a:p>
          <a:p>
            <a:pPr marL="457200" indent="-457200">
              <a:buAutoNum type="arabicPeriod"/>
            </a:pPr>
            <a:r>
              <a:rPr lang="en-US" sz="3500" dirty="0">
                <a:latin typeface="Calibri" panose="020F0502020204030204" pitchFamily="34" charset="0"/>
                <a:cs typeface="Calibri" panose="020F0502020204030204" pitchFamily="34" charset="0"/>
              </a:rPr>
              <a:t>My User’s Manual.</a:t>
            </a:r>
          </a:p>
          <a:p>
            <a:pPr marL="457200" indent="-457200">
              <a:buAutoNum type="arabicPeriod"/>
            </a:pPr>
            <a:r>
              <a:rPr lang="en-US" sz="3500" dirty="0">
                <a:latin typeface="Calibri" panose="020F0502020204030204" pitchFamily="34" charset="0"/>
                <a:cs typeface="Calibri" panose="020F0502020204030204" pitchFamily="34" charset="0"/>
              </a:rPr>
              <a:t>Phase 1: Initiating</a:t>
            </a:r>
          </a:p>
          <a:p>
            <a:pPr marL="457200" indent="-457200">
              <a:buAutoNum type="arabicPeriod"/>
            </a:pPr>
            <a:r>
              <a:rPr lang="en-US" sz="3500" dirty="0">
                <a:latin typeface="Calibri" panose="020F0502020204030204" pitchFamily="34" charset="0"/>
                <a:cs typeface="Calibri" panose="020F0502020204030204" pitchFamily="34" charset="0"/>
              </a:rPr>
              <a:t>Phase 2: Planning.</a:t>
            </a:r>
          </a:p>
          <a:p>
            <a:pPr marL="457200" indent="-457200">
              <a:buAutoNum type="arabicPeriod"/>
            </a:pPr>
            <a:r>
              <a:rPr lang="en-US" sz="3500" dirty="0">
                <a:latin typeface="Calibri" panose="020F0502020204030204" pitchFamily="34" charset="0"/>
                <a:cs typeface="Calibri" panose="020F0502020204030204" pitchFamily="34" charset="0"/>
              </a:rPr>
              <a:t>Phase 3: Executing.</a:t>
            </a:r>
          </a:p>
          <a:p>
            <a:pPr marL="457200" indent="-457200">
              <a:buAutoNum type="arabicPeriod"/>
            </a:pPr>
            <a:r>
              <a:rPr lang="en-US" sz="3500" dirty="0">
                <a:latin typeface="Calibri" panose="020F0502020204030204" pitchFamily="34" charset="0"/>
                <a:cs typeface="Calibri" panose="020F0502020204030204" pitchFamily="34" charset="0"/>
              </a:rPr>
              <a:t>Phase 4: Monitoring.</a:t>
            </a:r>
          </a:p>
          <a:p>
            <a:pPr marL="457200" indent="-457200">
              <a:buAutoNum type="arabicPeriod"/>
            </a:pPr>
            <a:r>
              <a:rPr lang="en-US" sz="3500" dirty="0">
                <a:latin typeface="Calibri" panose="020F0502020204030204" pitchFamily="34" charset="0"/>
                <a:cs typeface="Calibri" panose="020F0502020204030204" pitchFamily="34" charset="0"/>
              </a:rPr>
              <a:t>Phase 5 Closing.</a:t>
            </a:r>
          </a:p>
          <a:p>
            <a:pPr marL="457200" indent="-457200">
              <a:buAutoNum type="arabicPeriod"/>
            </a:pPr>
            <a:r>
              <a:rPr lang="en-US" sz="3500" dirty="0">
                <a:latin typeface="Calibri" panose="020F0502020204030204" pitchFamily="34" charset="0"/>
                <a:cs typeface="Calibri" panose="020F0502020204030204" pitchFamily="34" charset="0"/>
              </a:rPr>
              <a:t>Self &amp; Peer Evaluation.</a:t>
            </a:r>
          </a:p>
          <a:p>
            <a:endParaRPr lang="en-US" dirty="0"/>
          </a:p>
        </p:txBody>
      </p:sp>
    </p:spTree>
    <p:extLst>
      <p:ext uri="{BB962C8B-B14F-4D97-AF65-F5344CB8AC3E}">
        <p14:creationId xmlns:p14="http://schemas.microsoft.com/office/powerpoint/2010/main" val="494978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686C91-8630-0BF4-2CEE-0226EDFEE39C}"/>
              </a:ext>
            </a:extLst>
          </p:cNvPr>
          <p:cNvPicPr>
            <a:picLocks noChangeAspect="1"/>
          </p:cNvPicPr>
          <p:nvPr/>
        </p:nvPicPr>
        <p:blipFill>
          <a:blip r:embed="rId2"/>
          <a:stretch>
            <a:fillRect/>
          </a:stretch>
        </p:blipFill>
        <p:spPr>
          <a:xfrm rot="2809775">
            <a:off x="10232255" y="121587"/>
            <a:ext cx="2139095" cy="1511627"/>
          </a:xfrm>
          <a:prstGeom prst="rect">
            <a:avLst/>
          </a:prstGeom>
        </p:spPr>
      </p:pic>
      <p:sp>
        <p:nvSpPr>
          <p:cNvPr id="3" name="Content Placeholder 2">
            <a:extLst>
              <a:ext uri="{FF2B5EF4-FFF2-40B4-BE49-F238E27FC236}">
                <a16:creationId xmlns:a16="http://schemas.microsoft.com/office/drawing/2014/main" id="{8CF1BEB2-12BF-2B0D-57CF-69283B1F5C16}"/>
              </a:ext>
            </a:extLst>
          </p:cNvPr>
          <p:cNvSpPr>
            <a:spLocks noGrp="1"/>
          </p:cNvSpPr>
          <p:nvPr>
            <p:ph idx="1"/>
          </p:nvPr>
        </p:nvSpPr>
        <p:spPr>
          <a:xfrm>
            <a:off x="609600" y="802950"/>
            <a:ext cx="10353675" cy="5630868"/>
          </a:xfrm>
        </p:spPr>
        <p:txBody>
          <a:bodyPr/>
          <a:lstStyle/>
          <a:p>
            <a:pPr>
              <a:buFont typeface="Wingdings" panose="05000000000000000000" pitchFamily="2" charset="2"/>
              <a:buChar char="q"/>
            </a:pPr>
            <a:r>
              <a:rPr lang="en-US" sz="4000" dirty="0"/>
              <a:t> Name the Big 5 Pre-Questions.</a:t>
            </a:r>
            <a:br>
              <a:rPr lang="en-US" sz="4000" dirty="0"/>
            </a:br>
            <a:endParaRPr lang="en-US" sz="4000" dirty="0"/>
          </a:p>
          <a:p>
            <a:pPr>
              <a:buFont typeface="Wingdings" panose="05000000000000000000" pitchFamily="2" charset="2"/>
              <a:buChar char="q"/>
            </a:pPr>
            <a:r>
              <a:rPr lang="en-US" sz="4000" b="1" dirty="0"/>
              <a:t> </a:t>
            </a:r>
            <a:r>
              <a:rPr lang="en-US" sz="4000" dirty="0"/>
              <a:t>Why would some new PMs have trouble asking them?</a:t>
            </a:r>
          </a:p>
        </p:txBody>
      </p:sp>
      <p:sp>
        <p:nvSpPr>
          <p:cNvPr id="4" name="Slide Number Placeholder 3">
            <a:extLst>
              <a:ext uri="{FF2B5EF4-FFF2-40B4-BE49-F238E27FC236}">
                <a16:creationId xmlns:a16="http://schemas.microsoft.com/office/drawing/2014/main" id="{9CE1182C-F6D8-7C63-CFF1-D7DBBDDF90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DAA86-D487-4582-8852-AA829BCF81E2}" type="slidenum">
              <a:rPr kumimoji="0" lang="en-US" altLang="en-US" sz="675"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altLang="en-US" sz="675"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87303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52AB0E-B64A-4CCD-1A66-D81B9454E29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425EC55-9404-68A9-F2A6-6F4588A09109}"/>
              </a:ext>
            </a:extLst>
          </p:cNvPr>
          <p:cNvSpPr>
            <a:spLocks noGrp="1"/>
          </p:cNvSpPr>
          <p:nvPr>
            <p:ph idx="1"/>
          </p:nvPr>
        </p:nvSpPr>
        <p:spPr>
          <a:xfrm>
            <a:off x="266700" y="416405"/>
            <a:ext cx="11658599" cy="916739"/>
          </a:xfrm>
        </p:spPr>
        <p:txBody>
          <a:bodyPr vert="horz" lIns="91440" tIns="45720" rIns="91440" bIns="45720" rtlCol="0" anchor="t">
            <a:normAutofit/>
          </a:bodyPr>
          <a:lstStyle/>
          <a:p>
            <a:pPr marL="0" indent="0" algn="ctr">
              <a:lnSpc>
                <a:spcPct val="100000"/>
              </a:lnSpc>
              <a:spcBef>
                <a:spcPts val="0"/>
              </a:spcBef>
              <a:buNone/>
            </a:pPr>
            <a:r>
              <a:rPr lang="en-US" sz="4500" b="1" noProof="1">
                <a:latin typeface="Gill Sans Ultra Bold" panose="020B0A02020104020203" pitchFamily="34" charset="0"/>
              </a:rPr>
              <a:t>Today’s Objectives</a:t>
            </a:r>
          </a:p>
          <a:p>
            <a:pPr marL="0" indent="0">
              <a:lnSpc>
                <a:spcPct val="100000"/>
              </a:lnSpc>
              <a:spcBef>
                <a:spcPts val="0"/>
              </a:spcBef>
              <a:buNone/>
            </a:pPr>
            <a:endParaRPr lang="en-US" sz="3800" noProof="1"/>
          </a:p>
          <a:p>
            <a:pPr marL="0" indent="0">
              <a:lnSpc>
                <a:spcPct val="100000"/>
              </a:lnSpc>
              <a:spcBef>
                <a:spcPts val="0"/>
              </a:spcBef>
              <a:buNone/>
            </a:pPr>
            <a:endParaRPr lang="en-US" sz="3800" noProof="1"/>
          </a:p>
          <a:p>
            <a:pPr marL="0" indent="0">
              <a:lnSpc>
                <a:spcPct val="100000"/>
              </a:lnSpc>
              <a:spcBef>
                <a:spcPts val="0"/>
              </a:spcBef>
              <a:buNone/>
            </a:pPr>
            <a:endParaRPr lang="en-US" sz="3800" noProof="1"/>
          </a:p>
          <a:p>
            <a:pPr marL="0" indent="0">
              <a:lnSpc>
                <a:spcPct val="100000"/>
              </a:lnSpc>
              <a:spcBef>
                <a:spcPts val="0"/>
              </a:spcBef>
              <a:buNone/>
            </a:pPr>
            <a:endParaRPr lang="en-US" sz="3800" noProof="1"/>
          </a:p>
        </p:txBody>
      </p:sp>
      <p:sp>
        <p:nvSpPr>
          <p:cNvPr id="38" name="Slide Number Placeholder 37">
            <a:extLst>
              <a:ext uri="{FF2B5EF4-FFF2-40B4-BE49-F238E27FC236}">
                <a16:creationId xmlns:a16="http://schemas.microsoft.com/office/drawing/2014/main" id="{30DFC3CF-EE19-9EE3-DBA8-DAF744FFC8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dirty="0">
              <a:ln>
                <a:noFill/>
              </a:ln>
              <a:solidFill>
                <a:prstClr val="black"/>
              </a:solidFill>
              <a:effectLst/>
              <a:uLnTx/>
              <a:uFillTx/>
              <a:latin typeface="Avenir Next LT Pro Light"/>
              <a:ea typeface="+mn-ea"/>
              <a:cs typeface="+mn-cs"/>
            </a:endParaRPr>
          </a:p>
        </p:txBody>
      </p:sp>
      <p:sp>
        <p:nvSpPr>
          <p:cNvPr id="2" name="Rectangle 1">
            <a:extLst>
              <a:ext uri="{FF2B5EF4-FFF2-40B4-BE49-F238E27FC236}">
                <a16:creationId xmlns:a16="http://schemas.microsoft.com/office/drawing/2014/main" id="{FE0D8EE5-8B00-4F94-9DBF-EF0AC2417F74}"/>
              </a:ext>
              <a:ext uri="{C183D7F6-B498-43B3-948B-1728B52AA6E4}">
                <adec:decorative xmlns:adec="http://schemas.microsoft.com/office/drawing/2017/decorative" val="1"/>
              </a:ext>
            </a:extLst>
          </p:cNvPr>
          <p:cNvSpPr/>
          <p:nvPr/>
        </p:nvSpPr>
        <p:spPr>
          <a:xfrm>
            <a:off x="853868" y="1574561"/>
            <a:ext cx="2538813" cy="3572143"/>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 name="Rectangle 2">
            <a:extLst>
              <a:ext uri="{FF2B5EF4-FFF2-40B4-BE49-F238E27FC236}">
                <a16:creationId xmlns:a16="http://schemas.microsoft.com/office/drawing/2014/main" id="{5BFAFCFC-FA4A-7345-9E6A-1D31CD6329C3}"/>
              </a:ext>
              <a:ext uri="{C183D7F6-B498-43B3-948B-1728B52AA6E4}">
                <adec:decorative xmlns:adec="http://schemas.microsoft.com/office/drawing/2017/decorative" val="1"/>
              </a:ext>
            </a:extLst>
          </p:cNvPr>
          <p:cNvSpPr/>
          <p:nvPr/>
        </p:nvSpPr>
        <p:spPr>
          <a:xfrm>
            <a:off x="4904573" y="1576697"/>
            <a:ext cx="2649909" cy="3572142"/>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 name="Rectangle 3">
            <a:extLst>
              <a:ext uri="{FF2B5EF4-FFF2-40B4-BE49-F238E27FC236}">
                <a16:creationId xmlns:a16="http://schemas.microsoft.com/office/drawing/2014/main" id="{A9F040BB-2824-4DE9-070F-099CC55D627D}"/>
              </a:ext>
              <a:ext uri="{C183D7F6-B498-43B3-948B-1728B52AA6E4}">
                <adec:decorative xmlns:adec="http://schemas.microsoft.com/office/drawing/2017/decorative" val="1"/>
              </a:ext>
            </a:extLst>
          </p:cNvPr>
          <p:cNvSpPr/>
          <p:nvPr/>
        </p:nvSpPr>
        <p:spPr>
          <a:xfrm>
            <a:off x="8610600" y="1624390"/>
            <a:ext cx="2598098" cy="3458911"/>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5" name="Text Placeholder 19">
            <a:extLst>
              <a:ext uri="{FF2B5EF4-FFF2-40B4-BE49-F238E27FC236}">
                <a16:creationId xmlns:a16="http://schemas.microsoft.com/office/drawing/2014/main" id="{153A561B-90F9-A655-1B27-E53D9445535E}"/>
              </a:ext>
            </a:extLst>
          </p:cNvPr>
          <p:cNvSpPr txBox="1">
            <a:spLocks/>
          </p:cNvSpPr>
          <p:nvPr/>
        </p:nvSpPr>
        <p:spPr>
          <a:xfrm>
            <a:off x="983302" y="1893510"/>
            <a:ext cx="2221155" cy="309723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Realize that all key stakeholders will have expectations about a project.  Find out what they are – early &amp; in detail.</a:t>
            </a:r>
          </a:p>
        </p:txBody>
      </p:sp>
      <p:sp>
        <p:nvSpPr>
          <p:cNvPr id="7" name="Text Placeholder 19">
            <a:extLst>
              <a:ext uri="{FF2B5EF4-FFF2-40B4-BE49-F238E27FC236}">
                <a16:creationId xmlns:a16="http://schemas.microsoft.com/office/drawing/2014/main" id="{ABA12262-BE31-F79F-268A-11387F101653}"/>
              </a:ext>
            </a:extLst>
          </p:cNvPr>
          <p:cNvSpPr txBox="1">
            <a:spLocks/>
          </p:cNvSpPr>
          <p:nvPr/>
        </p:nvSpPr>
        <p:spPr>
          <a:xfrm>
            <a:off x="5118949" y="1893510"/>
            <a:ext cx="2221155" cy="2610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Know the difference between requirements and expectations.</a:t>
            </a:r>
          </a:p>
        </p:txBody>
      </p:sp>
      <p:sp>
        <p:nvSpPr>
          <p:cNvPr id="12" name="Text Placeholder 19">
            <a:extLst>
              <a:ext uri="{FF2B5EF4-FFF2-40B4-BE49-F238E27FC236}">
                <a16:creationId xmlns:a16="http://schemas.microsoft.com/office/drawing/2014/main" id="{936FC880-3536-5354-0515-233D260954A4}"/>
              </a:ext>
            </a:extLst>
          </p:cNvPr>
          <p:cNvSpPr txBox="1">
            <a:spLocks/>
          </p:cNvSpPr>
          <p:nvPr/>
        </p:nvSpPr>
        <p:spPr>
          <a:xfrm>
            <a:off x="8799071" y="1893510"/>
            <a:ext cx="2221155" cy="24018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2400" b="1" noProof="1">
                <a:latin typeface="Calibri" panose="020F0502020204030204" pitchFamily="34" charset="0"/>
                <a:cs typeface="Calibri" panose="020F0502020204030204" pitchFamily="34" charset="0"/>
              </a:rPr>
              <a:t>Understand how to set both goals and objectives. </a:t>
            </a:r>
          </a:p>
        </p:txBody>
      </p:sp>
    </p:spTree>
    <p:extLst>
      <p:ext uri="{BB962C8B-B14F-4D97-AF65-F5344CB8AC3E}">
        <p14:creationId xmlns:p14="http://schemas.microsoft.com/office/powerpoint/2010/main" val="262947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fade">
                                      <p:cBhvr>
                                        <p:cTn id="1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F68134DA-2A4D-DD8C-FE74-0F42ECF1F1EC}"/>
            </a:ext>
          </a:extLst>
        </p:cNvPr>
        <p:cNvGrpSpPr/>
        <p:nvPr/>
      </p:nvGrpSpPr>
      <p:grpSpPr>
        <a:xfrm>
          <a:off x="0" y="0"/>
          <a:ext cx="0" cy="0"/>
          <a:chOff x="0" y="0"/>
          <a:chExt cx="0" cy="0"/>
        </a:xfrm>
      </p:grpSpPr>
      <p:sp>
        <p:nvSpPr>
          <p:cNvPr id="38" name="Slide Number Placeholder 37">
            <a:extLst>
              <a:ext uri="{FF2B5EF4-FFF2-40B4-BE49-F238E27FC236}">
                <a16:creationId xmlns:a16="http://schemas.microsoft.com/office/drawing/2014/main" id="{462A6852-C74B-9232-642A-E49FEC410D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000" b="0" i="0" u="none" strike="noStrike" kern="1200" cap="none" spc="0" normalizeH="0" baseline="0" noProof="0" smtClean="0">
                <a:ln>
                  <a:noFill/>
                </a:ln>
                <a:solidFill>
                  <a:prstClr val="black"/>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dirty="0">
              <a:ln>
                <a:noFill/>
              </a:ln>
              <a:solidFill>
                <a:prstClr val="black"/>
              </a:solidFill>
              <a:effectLst/>
              <a:uLnTx/>
              <a:uFillTx/>
              <a:latin typeface="Avenir Next LT Pro Light"/>
              <a:ea typeface="+mn-ea"/>
              <a:cs typeface="+mn-cs"/>
            </a:endParaRPr>
          </a:p>
        </p:txBody>
      </p:sp>
      <p:sp>
        <p:nvSpPr>
          <p:cNvPr id="2" name="Title 3">
            <a:extLst>
              <a:ext uri="{FF2B5EF4-FFF2-40B4-BE49-F238E27FC236}">
                <a16:creationId xmlns:a16="http://schemas.microsoft.com/office/drawing/2014/main" id="{2EE38DA7-38FC-061F-937A-5C328064EF17}"/>
              </a:ext>
            </a:extLst>
          </p:cNvPr>
          <p:cNvSpPr txBox="1">
            <a:spLocks/>
          </p:cNvSpPr>
          <p:nvPr/>
        </p:nvSpPr>
        <p:spPr>
          <a:xfrm>
            <a:off x="795620" y="2503788"/>
            <a:ext cx="10876085" cy="4217687"/>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2500" b="1" i="0" u="none" strike="noStrike" kern="1200" cap="none" spc="0" normalizeH="0" baseline="0" noProof="0" dirty="0">
                <a:ln>
                  <a:noFill/>
                </a:ln>
                <a:solidFill>
                  <a:prstClr val="black"/>
                </a:solidFill>
                <a:effectLst/>
                <a:uLnTx/>
                <a:uFillTx/>
                <a:latin typeface="Amasis MT Pro Black" panose="020F0502020204030204" pitchFamily="18" charset="0"/>
                <a:ea typeface="+mj-ea"/>
                <a:cs typeface="+mj-cs"/>
              </a:rPr>
              <a:t>Today’s</a:t>
            </a: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2500" b="1" i="0" u="none" strike="noStrike" kern="1200" cap="none" spc="0" normalizeH="0" baseline="0" noProof="0" dirty="0">
                <a:ln>
                  <a:noFill/>
                </a:ln>
                <a:solidFill>
                  <a:prstClr val="black"/>
                </a:solidFill>
                <a:effectLst/>
                <a:uLnTx/>
                <a:uFillTx/>
                <a:latin typeface="Amasis MT Pro Black" panose="020F0502020204030204" pitchFamily="18" charset="0"/>
                <a:ea typeface="+mj-ea"/>
                <a:cs typeface="+mj-cs"/>
              </a:rPr>
              <a:t>PM Problem</a:t>
            </a:r>
          </a:p>
        </p:txBody>
      </p:sp>
      <p:sp>
        <p:nvSpPr>
          <p:cNvPr id="7" name="Title 3">
            <a:extLst>
              <a:ext uri="{FF2B5EF4-FFF2-40B4-BE49-F238E27FC236}">
                <a16:creationId xmlns:a16="http://schemas.microsoft.com/office/drawing/2014/main" id="{3FDD61FC-2E18-A766-21F5-1B1891C8EE35}"/>
              </a:ext>
            </a:extLst>
          </p:cNvPr>
          <p:cNvSpPr txBox="1">
            <a:spLocks/>
          </p:cNvSpPr>
          <p:nvPr/>
        </p:nvSpPr>
        <p:spPr>
          <a:xfrm>
            <a:off x="745649" y="491956"/>
            <a:ext cx="11346650" cy="960829"/>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az-Cyrl-AZ" sz="45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ꚙ</a:t>
            </a:r>
            <a:r>
              <a:rPr kumimoji="0" lang="en-US" sz="4500" b="1" i="0" u="none" strike="noStrike" kern="1200" cap="none" spc="0" normalizeH="0" baseline="0" noProof="0" dirty="0">
                <a:ln>
                  <a:noFill/>
                </a:ln>
                <a:solidFill>
                  <a:prstClr val="black"/>
                </a:solidFill>
                <a:effectLst/>
                <a:uLnTx/>
                <a:uFillTx/>
                <a:latin typeface="Amasis MT Pro Black" panose="02040A04050005020304" pitchFamily="18" charset="0"/>
                <a:ea typeface="+mj-ea"/>
                <a:cs typeface="+mj-cs"/>
              </a:rPr>
              <a:t> Off to a fast start, slowly. </a:t>
            </a:r>
            <a:r>
              <a:rPr kumimoji="0" lang="az-Cyrl-AZ" sz="4500" b="1" i="0" u="none" strike="noStrike" kern="1200" cap="none" spc="0" normalizeH="0" baseline="0" noProof="0" dirty="0">
                <a:ln>
                  <a:noFill/>
                </a:ln>
                <a:solidFill>
                  <a:prstClr val="black"/>
                </a:solidFill>
                <a:effectLst/>
                <a:uLnTx/>
                <a:uFillTx/>
                <a:latin typeface="Calibri" panose="020F0502020204030204" pitchFamily="34" charset="0"/>
                <a:ea typeface="+mj-ea"/>
                <a:cs typeface="Calibri" panose="020F0502020204030204" pitchFamily="34" charset="0"/>
              </a:rPr>
              <a:t>ꚙ</a:t>
            </a:r>
            <a:endParaRPr kumimoji="0" lang="en-US" sz="4500" b="1" i="0" u="none" strike="noStrike" kern="1200" cap="none" spc="0" normalizeH="0" baseline="0" noProof="0" dirty="0">
              <a:ln>
                <a:noFill/>
              </a:ln>
              <a:solidFill>
                <a:prstClr val="black"/>
              </a:solidFill>
              <a:effectLst/>
              <a:uLnTx/>
              <a:uFillTx/>
              <a:latin typeface="Amasis MT Pro Black" panose="02040A04050005020304" pitchFamily="18" charset="0"/>
              <a:ea typeface="+mj-ea"/>
              <a:cs typeface="+mj-cs"/>
            </a:endParaRPr>
          </a:p>
        </p:txBody>
      </p:sp>
    </p:spTree>
    <p:extLst>
      <p:ext uri="{BB962C8B-B14F-4D97-AF65-F5344CB8AC3E}">
        <p14:creationId xmlns:p14="http://schemas.microsoft.com/office/powerpoint/2010/main" val="264631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5BF6F3-2C97-2D26-D6D8-327DA2A3AC55}"/>
              </a:ext>
            </a:extLst>
          </p:cNvPr>
          <p:cNvSpPr txBox="1">
            <a:spLocks/>
          </p:cNvSpPr>
          <p:nvPr/>
        </p:nvSpPr>
        <p:spPr>
          <a:xfrm>
            <a:off x="472428" y="380287"/>
            <a:ext cx="11175489" cy="6153863"/>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lvl="0">
              <a:defRPr/>
            </a:pPr>
            <a:r>
              <a:rPr lang="en-US" sz="2500" b="0" dirty="0">
                <a:solidFill>
                  <a:srgbClr val="000000"/>
                </a:solidFill>
                <a:latin typeface="Calibri" panose="020F0502020204030204" pitchFamily="34" charset="0"/>
                <a:cs typeface="Calibri" panose="020F0502020204030204" pitchFamily="34" charset="0"/>
              </a:rPr>
              <a:t>You've just been hired as PM for a new, high-stakes project: developing a custom Client Relationship Management (CRM) system called "Evergreen" for a long-standing client. Your predecessor retired, leaving behind a project that's been in a holding pattern for months.</a:t>
            </a:r>
          </a:p>
          <a:p>
            <a:pPr lvl="0">
              <a:defRPr/>
            </a:pPr>
            <a:endParaRPr lang="en-US" sz="2500" b="0" dirty="0">
              <a:solidFill>
                <a:srgbClr val="000000"/>
              </a:solidFill>
              <a:latin typeface="Calibri" panose="020F0502020204030204" pitchFamily="34" charset="0"/>
              <a:cs typeface="Calibri" panose="020F0502020204030204" pitchFamily="34" charset="0"/>
            </a:endParaRPr>
          </a:p>
          <a:p>
            <a:pPr lvl="0">
              <a:defRPr/>
            </a:pPr>
            <a:r>
              <a:rPr lang="en-US" sz="2500" b="0" dirty="0">
                <a:solidFill>
                  <a:srgbClr val="000000"/>
                </a:solidFill>
                <a:latin typeface="Calibri" panose="020F0502020204030204" pitchFamily="34" charset="0"/>
                <a:cs typeface="Calibri" panose="020F0502020204030204" pitchFamily="34" charset="0"/>
              </a:rPr>
              <a:t>The only documentation you can find is a signed contract that states, "Branch Financial requires a new CRM system to improve client relations and streamline sales processes." There are no detailed requirements, no documented scope, and no project charter. At your first client/team meeting, no one agrees on the goals.</a:t>
            </a:r>
          </a:p>
          <a:p>
            <a:pPr lvl="0">
              <a:defRPr/>
            </a:pPr>
            <a:endParaRPr lang="en-US" sz="2500" b="0" dirty="0">
              <a:solidFill>
                <a:srgbClr val="000000"/>
              </a:solidFill>
              <a:latin typeface="Calibri" panose="020F0502020204030204" pitchFamily="34" charset="0"/>
              <a:cs typeface="Calibri" panose="020F0502020204030204" pitchFamily="34" charset="0"/>
            </a:endParaRPr>
          </a:p>
          <a:p>
            <a:pPr lvl="0">
              <a:defRPr/>
            </a:pPr>
            <a:r>
              <a:rPr lang="en-US" sz="2500" b="0" dirty="0">
                <a:solidFill>
                  <a:srgbClr val="000000"/>
                </a:solidFill>
                <a:latin typeface="Calibri" panose="020F0502020204030204" pitchFamily="34" charset="0"/>
                <a:cs typeface="Calibri" panose="020F0502020204030204" pitchFamily="34" charset="0"/>
              </a:rPr>
              <a:t>Your project team is ready to start, but they're confused. They have a general idea of a CRM, but without a clear direction, they've been doing preliminary work based on assumptions. Morale is low, and the client is getting impatient, believing the project should have already started in earnest.</a:t>
            </a:r>
          </a:p>
        </p:txBody>
      </p:sp>
    </p:spTree>
    <p:extLst>
      <p:ext uri="{BB962C8B-B14F-4D97-AF65-F5344CB8AC3E}">
        <p14:creationId xmlns:p14="http://schemas.microsoft.com/office/powerpoint/2010/main" val="377257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5A6FFB-8214-883C-A4FF-916C3D16DE30}"/>
              </a:ext>
            </a:extLst>
          </p:cNvPr>
          <p:cNvPicPr>
            <a:picLocks noChangeAspect="1"/>
          </p:cNvPicPr>
          <p:nvPr/>
        </p:nvPicPr>
        <p:blipFill>
          <a:blip r:embed="rId2"/>
          <a:stretch>
            <a:fillRect/>
          </a:stretch>
        </p:blipFill>
        <p:spPr>
          <a:xfrm>
            <a:off x="1" y="-74065"/>
            <a:ext cx="12192000" cy="6925891"/>
          </a:xfrm>
          <a:prstGeom prst="rect">
            <a:avLst/>
          </a:prstGeom>
        </p:spPr>
      </p:pic>
      <p:sp>
        <p:nvSpPr>
          <p:cNvPr id="5" name="Title 3">
            <a:extLst>
              <a:ext uri="{FF2B5EF4-FFF2-40B4-BE49-F238E27FC236}">
                <a16:creationId xmlns:a16="http://schemas.microsoft.com/office/drawing/2014/main" id="{4D17CA6E-28C8-B930-52C3-F72C1DB86013}"/>
              </a:ext>
            </a:extLst>
          </p:cNvPr>
          <p:cNvSpPr txBox="1">
            <a:spLocks/>
          </p:cNvSpPr>
          <p:nvPr/>
        </p:nvSpPr>
        <p:spPr>
          <a:xfrm>
            <a:off x="316194" y="136525"/>
            <a:ext cx="6456081" cy="3292475"/>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000000"/>
                </a:solidFill>
                <a:effectLst/>
                <a:uLnTx/>
                <a:uFillTx/>
                <a:latin typeface="Bierstadt"/>
                <a:ea typeface="+mj-ea"/>
                <a:cs typeface="+mj-cs"/>
              </a:rPr>
              <a:t>What’s the main thing that’s missing? Name the first 3 immediate actions you would take.</a:t>
            </a:r>
          </a:p>
        </p:txBody>
      </p:sp>
    </p:spTree>
    <p:extLst>
      <p:ext uri="{BB962C8B-B14F-4D97-AF65-F5344CB8AC3E}">
        <p14:creationId xmlns:p14="http://schemas.microsoft.com/office/powerpoint/2010/main" val="4149686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a:extLst>
            <a:ext uri="{FF2B5EF4-FFF2-40B4-BE49-F238E27FC236}">
              <a16:creationId xmlns:a16="http://schemas.microsoft.com/office/drawing/2014/main" id="{9C6EF8D5-CF4A-617B-36AF-B5F1604B4960}"/>
            </a:ext>
          </a:extLst>
        </p:cNvPr>
        <p:cNvGrpSpPr/>
        <p:nvPr/>
      </p:nvGrpSpPr>
      <p:grpSpPr>
        <a:xfrm>
          <a:off x="0" y="0"/>
          <a:ext cx="0" cy="0"/>
          <a:chOff x="0" y="0"/>
          <a:chExt cx="0" cy="0"/>
        </a:xfrm>
      </p:grpSpPr>
      <p:pic>
        <p:nvPicPr>
          <p:cNvPr id="2060" name="Picture 12" descr="Learning Labs • Training and Development • scitrain">
            <a:extLst>
              <a:ext uri="{FF2B5EF4-FFF2-40B4-BE49-F238E27FC236}">
                <a16:creationId xmlns:a16="http://schemas.microsoft.com/office/drawing/2014/main" id="{351FD63D-C5A4-983F-8A1A-9F68B234B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394722">
            <a:off x="10971376" y="-13531"/>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BECE9FE5-131E-F840-6192-0575A2DBE4A7}"/>
              </a:ext>
            </a:extLst>
          </p:cNvPr>
          <p:cNvSpPr txBox="1">
            <a:spLocks/>
          </p:cNvSpPr>
          <p:nvPr/>
        </p:nvSpPr>
        <p:spPr>
          <a:xfrm>
            <a:off x="1298276" y="596069"/>
            <a:ext cx="10893724" cy="5665862"/>
          </a:xfrm>
          <a:prstGeom prst="rect">
            <a:avLst/>
          </a:prstGeom>
        </p:spPr>
        <p:txBody>
          <a:bodyPr>
            <a:no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45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4" name="TextBox 3">
            <a:extLst>
              <a:ext uri="{FF2B5EF4-FFF2-40B4-BE49-F238E27FC236}">
                <a16:creationId xmlns:a16="http://schemas.microsoft.com/office/drawing/2014/main" id="{78DAD4B8-EAD0-CC59-8BB3-25378469C0D9}"/>
              </a:ext>
            </a:extLst>
          </p:cNvPr>
          <p:cNvSpPr txBox="1"/>
          <p:nvPr/>
        </p:nvSpPr>
        <p:spPr>
          <a:xfrm>
            <a:off x="408677" y="596069"/>
            <a:ext cx="10893724" cy="4708981"/>
          </a:xfrm>
          <a:prstGeom prst="rect">
            <a:avLst/>
          </a:prstGeom>
          <a:noFill/>
        </p:spPr>
        <p:txBody>
          <a:bodyPr wrap="square">
            <a:spAutoFit/>
          </a:bodyPr>
          <a:lstStyle/>
          <a:p>
            <a:pPr lvl="0">
              <a:defRPr/>
            </a:pPr>
            <a:r>
              <a:rPr lang="en-US" sz="3000" dirty="0">
                <a:solidFill>
                  <a:prstClr val="black"/>
                </a:solidFill>
              </a:rPr>
              <a:t>Big things are missing from this project's initiation and planning phases.</a:t>
            </a:r>
          </a:p>
          <a:p>
            <a:pPr lvl="0">
              <a:defRPr/>
            </a:pPr>
            <a:endParaRPr lang="en-US" sz="3000" dirty="0">
              <a:solidFill>
                <a:prstClr val="black"/>
              </a:solidFill>
            </a:endParaRPr>
          </a:p>
          <a:p>
            <a:pPr lvl="0">
              <a:defRPr/>
            </a:pPr>
            <a:r>
              <a:rPr lang="en-US" sz="3000" dirty="0">
                <a:solidFill>
                  <a:prstClr val="black"/>
                </a:solidFill>
              </a:rPr>
              <a:t>You are missing specific information that you </a:t>
            </a:r>
            <a:r>
              <a:rPr lang="en-US" sz="3000" b="1" dirty="0">
                <a:solidFill>
                  <a:prstClr val="black"/>
                </a:solidFill>
                <a:highlight>
                  <a:srgbClr val="FFFF00"/>
                </a:highlight>
              </a:rPr>
              <a:t>now need to gather</a:t>
            </a:r>
            <a:r>
              <a:rPr lang="en-US" sz="3000" dirty="0">
                <a:solidFill>
                  <a:prstClr val="black"/>
                </a:solidFill>
              </a:rPr>
              <a:t>.</a:t>
            </a:r>
          </a:p>
          <a:p>
            <a:pPr lvl="0">
              <a:defRPr/>
            </a:pPr>
            <a:endParaRPr lang="en-US" sz="3000" dirty="0">
              <a:solidFill>
                <a:prstClr val="black"/>
              </a:solidFill>
            </a:endParaRPr>
          </a:p>
          <a:p>
            <a:pPr lvl="0">
              <a:defRPr/>
            </a:pPr>
            <a:r>
              <a:rPr lang="en-US" sz="3000" b="1" dirty="0">
                <a:solidFill>
                  <a:prstClr val="black"/>
                </a:solidFill>
                <a:highlight>
                  <a:srgbClr val="FFFF00"/>
                </a:highlight>
              </a:rPr>
              <a:t>Start with the conflicting expectations</a:t>
            </a:r>
            <a:r>
              <a:rPr lang="en-US" sz="3000" dirty="0">
                <a:solidFill>
                  <a:prstClr val="black"/>
                </a:solidFill>
              </a:rPr>
              <a:t> among the client's stakeholders. What strategy would you use?</a:t>
            </a:r>
          </a:p>
          <a:p>
            <a:pPr lvl="0">
              <a:defRPr/>
            </a:pPr>
            <a:endParaRPr lang="en-US" sz="3000" dirty="0">
              <a:solidFill>
                <a:prstClr val="black"/>
              </a:solidFill>
            </a:endParaRPr>
          </a:p>
          <a:p>
            <a:pPr lvl="0">
              <a:defRPr/>
            </a:pPr>
            <a:r>
              <a:rPr lang="en-US" sz="3000" dirty="0">
                <a:solidFill>
                  <a:prstClr val="black"/>
                </a:solidFill>
              </a:rPr>
              <a:t>Next, </a:t>
            </a:r>
            <a:r>
              <a:rPr lang="en-US" sz="3000" b="1" dirty="0">
                <a:solidFill>
                  <a:srgbClr val="FF0000"/>
                </a:solidFill>
              </a:rPr>
              <a:t>reset</a:t>
            </a:r>
            <a:r>
              <a:rPr lang="en-US" sz="3000" dirty="0">
                <a:solidFill>
                  <a:prstClr val="black"/>
                </a:solidFill>
              </a:rPr>
              <a:t> expectations without damaging the relationship or further delaying the project.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462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03CEE61A-08EA-F658-23B9-371127FF5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35" y="0"/>
            <a:ext cx="12439135"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8C6F537-CE37-3BA6-B06A-601F522A9F07}"/>
              </a:ext>
            </a:extLst>
          </p:cNvPr>
          <p:cNvSpPr>
            <a:spLocks noGrp="1"/>
          </p:cNvSpPr>
          <p:nvPr>
            <p:ph idx="1"/>
          </p:nvPr>
        </p:nvSpPr>
        <p:spPr>
          <a:xfrm>
            <a:off x="424069" y="646707"/>
            <a:ext cx="7720073" cy="2515238"/>
          </a:xfrm>
        </p:spPr>
        <p:txBody>
          <a:bodyPr>
            <a:normAutofit/>
          </a:bodyPr>
          <a:lstStyle/>
          <a:p>
            <a:pPr marL="0" indent="0">
              <a:lnSpc>
                <a:spcPct val="100000"/>
              </a:lnSpc>
              <a:spcBef>
                <a:spcPts val="0"/>
              </a:spcBef>
              <a:buNone/>
            </a:pPr>
            <a:r>
              <a:rPr lang="en-US" sz="3500" b="1" dirty="0">
                <a:solidFill>
                  <a:schemeClr val="tx1"/>
                </a:solidFill>
                <a:latin typeface="Calibri" panose="020F0502020204030204" pitchFamily="34" charset="0"/>
                <a:cs typeface="Calibri" panose="020F0502020204030204" pitchFamily="34" charset="0"/>
              </a:rPr>
              <a:t>From what you already know about projects and human nature, what are the top two reasons PMs say most projects fail? </a:t>
            </a:r>
          </a:p>
        </p:txBody>
      </p:sp>
    </p:spTree>
    <p:extLst>
      <p:ext uri="{BB962C8B-B14F-4D97-AF65-F5344CB8AC3E}">
        <p14:creationId xmlns:p14="http://schemas.microsoft.com/office/powerpoint/2010/main" val="134230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36895" y="820396"/>
            <a:ext cx="11157358" cy="5913732"/>
          </a:xfrm>
        </p:spPr>
        <p:txBody>
          <a:bodyPr>
            <a:noAutofit/>
          </a:bodyPr>
          <a:lstStyle/>
          <a:p>
            <a:pPr marL="0" indent="0">
              <a:buNone/>
            </a:pPr>
            <a:r>
              <a:rPr lang="en-US" sz="4500" dirty="0">
                <a:latin typeface="Calibri" panose="020F0502020204030204" pitchFamily="34" charset="0"/>
                <a:cs typeface="Calibri" panose="020F0502020204030204" pitchFamily="34" charset="0"/>
              </a:rPr>
              <a:t>When PMs were surveyed why projects fail, they gave two main reasons: </a:t>
            </a:r>
          </a:p>
          <a:p>
            <a:pPr>
              <a:buFont typeface="Wingdings" panose="05000000000000000000" pitchFamily="2" charset="2"/>
              <a:buChar char="Ø"/>
            </a:pPr>
            <a:r>
              <a:rPr lang="en-US" sz="4500" dirty="0">
                <a:latin typeface="Calibri" panose="020F0502020204030204" pitchFamily="34" charset="0"/>
                <a:cs typeface="Calibri" panose="020F0502020204030204" pitchFamily="34" charset="0"/>
              </a:rPr>
              <a:t> </a:t>
            </a:r>
            <a:r>
              <a:rPr lang="en-US" sz="4500" b="1" dirty="0">
                <a:latin typeface="Calibri" panose="020F0502020204030204" pitchFamily="34" charset="0"/>
                <a:cs typeface="Calibri" panose="020F0502020204030204" pitchFamily="34" charset="0"/>
              </a:rPr>
              <a:t>No. 1 </a:t>
            </a:r>
            <a:r>
              <a:rPr lang="en-US" sz="4500" dirty="0">
                <a:latin typeface="Calibri" panose="020F0502020204030204" pitchFamily="34" charset="0"/>
                <a:cs typeface="Calibri" panose="020F0502020204030204" pitchFamily="34" charset="0"/>
              </a:rPr>
              <a:t>reason was perpetual </a:t>
            </a:r>
            <a:r>
              <a:rPr lang="en-US" sz="4500" b="1" dirty="0">
                <a:highlight>
                  <a:srgbClr val="FFFF00"/>
                </a:highlight>
                <a:latin typeface="Calibri" panose="020F0502020204030204" pitchFamily="34" charset="0"/>
                <a:cs typeface="Calibri" panose="020F0502020204030204" pitchFamily="34" charset="0"/>
              </a:rPr>
              <a:t>scope creep</a:t>
            </a:r>
            <a:r>
              <a:rPr lang="en-US" sz="4500" dirty="0">
                <a:latin typeface="Calibri" panose="020F0502020204030204" pitchFamily="34" charset="0"/>
                <a:cs typeface="Calibri" panose="020F0502020204030204" pitchFamily="34" charset="0"/>
              </a:rPr>
              <a:t>.</a:t>
            </a:r>
            <a:br>
              <a:rPr lang="en-US" sz="4500" dirty="0">
                <a:latin typeface="Calibri" panose="020F0502020204030204" pitchFamily="34" charset="0"/>
                <a:cs typeface="Calibri" panose="020F0502020204030204" pitchFamily="34" charset="0"/>
              </a:rPr>
            </a:br>
            <a:endParaRPr lang="en-US" sz="4500" dirty="0">
              <a:latin typeface="Calibri" panose="020F0502020204030204" pitchFamily="34" charset="0"/>
              <a:cs typeface="Calibri" panose="020F0502020204030204" pitchFamily="34" charset="0"/>
            </a:endParaRPr>
          </a:p>
          <a:p>
            <a:pPr>
              <a:buFont typeface="Wingdings" panose="05000000000000000000" pitchFamily="2" charset="2"/>
              <a:buChar char="Ø"/>
            </a:pPr>
            <a:r>
              <a:rPr lang="en-US" sz="4500" dirty="0">
                <a:latin typeface="Calibri" panose="020F0502020204030204" pitchFamily="34" charset="0"/>
                <a:cs typeface="Calibri" panose="020F0502020204030204" pitchFamily="34" charset="0"/>
              </a:rPr>
              <a:t> No. 2 was  a </a:t>
            </a:r>
            <a:r>
              <a:rPr lang="en-US" sz="4500" b="1" dirty="0">
                <a:highlight>
                  <a:srgbClr val="FFFF00"/>
                </a:highlight>
                <a:latin typeface="Calibri" panose="020F0502020204030204" pitchFamily="34" charset="0"/>
                <a:cs typeface="Calibri" panose="020F0502020204030204" pitchFamily="34" charset="0"/>
              </a:rPr>
              <a:t>lack of understanding</a:t>
            </a:r>
            <a:r>
              <a:rPr lang="en-US" sz="4500" dirty="0">
                <a:latin typeface="Calibri" panose="020F0502020204030204" pitchFamily="34" charset="0"/>
                <a:cs typeface="Calibri" panose="020F0502020204030204" pitchFamily="34" charset="0"/>
              </a:rPr>
              <a:t> of the scope or clients' vision.</a:t>
            </a:r>
            <a:r>
              <a:rPr lang="en-US" sz="4500" b="1"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10022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4C1E0D5-8078-41F7-92FD-B0778A6FFADD}"/>
              </a:ext>
            </a:extLst>
          </p:cNvPr>
          <p:cNvSpPr txBox="1"/>
          <p:nvPr/>
        </p:nvSpPr>
        <p:spPr>
          <a:xfrm>
            <a:off x="794759" y="627018"/>
            <a:ext cx="10417724" cy="49398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Scope management, or rather the lack of it, is one of the biggest reasons for project failure.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Correctly defining what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is and is </a:t>
            </a:r>
            <a:r>
              <a:rPr kumimoji="0" lang="en-US" sz="35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not</a:t>
            </a:r>
            <a:r>
              <a:rPr kumimoji="0" lang="en-US" sz="35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a:t>
            </a: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included in the project is absolutely foundational to good project management.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Even projects with the right expertise, schedule, budget and satisfied clients can get derailed by “scope creep.”</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175856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F6C677E-B34E-1CE5-8C47-82B72318D8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DE64EF-9BB6-3E7E-A220-95CEB8569F11}"/>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59E61C4A-EED6-A471-87FD-9C9D6442092D}"/>
              </a:ext>
            </a:extLst>
          </p:cNvPr>
          <p:cNvSpPr txBox="1"/>
          <p:nvPr/>
        </p:nvSpPr>
        <p:spPr>
          <a:xfrm>
            <a:off x="794759" y="627018"/>
            <a:ext cx="10417724" cy="563231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Scope creep</a:t>
            </a: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is uncontrolled growth in what work needs to be done.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It typically </a:t>
            </a:r>
            <a:r>
              <a:rPr kumimoji="0" lang="en-US" sz="4000" b="1" i="0" u="none" strike="noStrike" kern="1200" cap="none" spc="0" normalizeH="0" baseline="0" noProof="0" dirty="0">
                <a:ln>
                  <a:noFill/>
                </a:ln>
                <a:solidFill>
                  <a:srgbClr val="FF0000"/>
                </a:solidFill>
                <a:effectLst/>
                <a:uLnTx/>
                <a:uFillTx/>
                <a:latin typeface="Calibri" panose="020F0502020204030204" pitchFamily="34" charset="0"/>
                <a:ea typeface="Meiryo" panose="020B0604030504040204" pitchFamily="34" charset="-128"/>
                <a:cs typeface="Calibri" panose="020F0502020204030204" pitchFamily="34" charset="0"/>
              </a:rPr>
              <a:t>occurs gradually</a:t>
            </a: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 and </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seemingly innocently</a:t>
            </a: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 as changes or new features are requested after the project begins.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It almost always results in delays, cost overruns or diminished quality.</a:t>
            </a:r>
          </a:p>
        </p:txBody>
      </p:sp>
      <p:sp>
        <p:nvSpPr>
          <p:cNvPr id="4" name="Slide Number Placeholder 3">
            <a:extLst>
              <a:ext uri="{FF2B5EF4-FFF2-40B4-BE49-F238E27FC236}">
                <a16:creationId xmlns:a16="http://schemas.microsoft.com/office/drawing/2014/main" id="{D712A174-B312-7912-FCA2-76F5FDD7BD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pic>
        <p:nvPicPr>
          <p:cNvPr id="8" name="Picture 7">
            <a:extLst>
              <a:ext uri="{FF2B5EF4-FFF2-40B4-BE49-F238E27FC236}">
                <a16:creationId xmlns:a16="http://schemas.microsoft.com/office/drawing/2014/main" id="{67262389-4D20-EA04-F5E4-D53C7D2EB9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82268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D70F92-7CB5-6DC1-AEAF-31F5814C5DA9}"/>
            </a:ext>
          </a:extLst>
        </p:cNvPr>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96AF57EC-51C9-0C0B-7EA1-0D059B2729F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2212"/>
          <a:stretch/>
        </p:blipFill>
        <p:spPr bwMode="auto">
          <a:xfrm>
            <a:off x="-1" y="-11884"/>
            <a:ext cx="14849475" cy="6946084"/>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552C8110-A8EB-68EF-2A8C-29D0DF0A6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5143" y="85725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7F3FE99D-16C9-FC89-3033-488F1A9216A5}"/>
              </a:ext>
            </a:extLst>
          </p:cNvPr>
          <p:cNvSpPr>
            <a:spLocks noGrp="1"/>
          </p:cNvSpPr>
          <p:nvPr>
            <p:ph type="title"/>
          </p:nvPr>
        </p:nvSpPr>
        <p:spPr>
          <a:xfrm>
            <a:off x="390970" y="347530"/>
            <a:ext cx="6001284" cy="3980367"/>
          </a:xfrm>
        </p:spPr>
        <p:txBody>
          <a:bodyPr anchor="t">
            <a:normAutofit/>
          </a:bodyPr>
          <a:lstStyle/>
          <a:p>
            <a:r>
              <a:rPr lang="en-US" sz="3600" b="1" dirty="0">
                <a:solidFill>
                  <a:prstClr val="black"/>
                </a:solidFill>
              </a:rPr>
              <a:t>Give an example you’ve seen of scope creep in plans for a vacation, home projects, the weekend, etc.</a:t>
            </a:r>
            <a:r>
              <a:rPr lang="en-US" sz="3500" b="1" dirty="0">
                <a:latin typeface="Calibri" panose="020F0502020204030204" pitchFamily="34" charset="0"/>
                <a:cs typeface="Calibri" panose="020F0502020204030204" pitchFamily="34" charset="0"/>
              </a:rPr>
              <a:t>?</a:t>
            </a:r>
            <a:br>
              <a:rPr lang="en-US" sz="2625" dirty="0">
                <a:latin typeface="Calibri" panose="020F0502020204030204" pitchFamily="34" charset="0"/>
                <a:cs typeface="Calibri" panose="020F0502020204030204" pitchFamily="34" charset="0"/>
              </a:rPr>
            </a:br>
            <a:r>
              <a:rPr lang="en-US" sz="2625"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268487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36895" y="820396"/>
            <a:ext cx="11157358" cy="5913732"/>
          </a:xfrm>
        </p:spPr>
        <p:txBody>
          <a:bodyPr>
            <a:noAutofit/>
          </a:bodyPr>
          <a:lstStyle/>
          <a:p>
            <a:pPr marL="0" indent="0">
              <a:lnSpc>
                <a:spcPct val="100000"/>
              </a:lnSpc>
              <a:spcBef>
                <a:spcPts val="0"/>
              </a:spcBef>
              <a:buNone/>
            </a:pPr>
            <a:r>
              <a:rPr lang="en-US" sz="4500" b="1" dirty="0">
                <a:highlight>
                  <a:srgbClr val="FFFF00"/>
                </a:highlight>
                <a:latin typeface="Calibri" panose="020F0502020204030204" pitchFamily="34" charset="0"/>
                <a:cs typeface="Calibri" panose="020F0502020204030204" pitchFamily="34" charset="0"/>
              </a:rPr>
              <a:t>Lack of understanding</a:t>
            </a:r>
            <a:r>
              <a:rPr lang="en-US" sz="4500" b="1" dirty="0">
                <a:latin typeface="Calibri" panose="020F0502020204030204" pitchFamily="34" charset="0"/>
                <a:cs typeface="Calibri" panose="020F0502020204030204" pitchFamily="34" charset="0"/>
              </a:rPr>
              <a:t> </a:t>
            </a:r>
            <a:r>
              <a:rPr lang="en-US" sz="4500" dirty="0">
                <a:latin typeface="Calibri" panose="020F0502020204030204" pitchFamily="34" charset="0"/>
                <a:cs typeface="Calibri" panose="020F0502020204030204" pitchFamily="34" charset="0"/>
              </a:rPr>
              <a:t>of the scope or clients' vision comes down to one of humankind’s oldest problems – and easiest to fix – </a:t>
            </a:r>
            <a:r>
              <a:rPr lang="en-US" sz="4500" b="1" dirty="0">
                <a:solidFill>
                  <a:srgbClr val="FF0000"/>
                </a:solidFill>
                <a:latin typeface="Calibri" panose="020F0502020204030204" pitchFamily="34" charset="0"/>
                <a:cs typeface="Calibri" panose="020F0502020204030204" pitchFamily="34" charset="0"/>
              </a:rPr>
              <a:t>poor communication</a:t>
            </a:r>
            <a:r>
              <a:rPr lang="en-US" sz="4500" dirty="0">
                <a:latin typeface="Calibri" panose="020F0502020204030204" pitchFamily="34" charset="0"/>
                <a:cs typeface="Calibri" panose="020F0502020204030204" pitchFamily="34" charset="0"/>
              </a:rPr>
              <a:t>. </a:t>
            </a:r>
          </a:p>
          <a:p>
            <a:pPr marL="0" indent="0">
              <a:buNone/>
            </a:pPr>
            <a:endParaRPr lang="en-US" sz="35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2611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D3308-A02D-3375-4C9E-6D5D09706B24}"/>
            </a:ext>
          </a:extLst>
        </p:cNvPr>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C6B08019-5E8F-7D4D-0B1E-B5631391928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2212"/>
          <a:stretch/>
        </p:blipFill>
        <p:spPr bwMode="auto">
          <a:xfrm>
            <a:off x="-1" y="-11884"/>
            <a:ext cx="14849475" cy="6946084"/>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EF65B08A-A553-37E7-13EE-95CF08D590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5143" y="85725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F696101E-39F8-0722-CB30-24C4938CA78F}"/>
              </a:ext>
            </a:extLst>
          </p:cNvPr>
          <p:cNvSpPr>
            <a:spLocks noGrp="1"/>
          </p:cNvSpPr>
          <p:nvPr>
            <p:ph type="title"/>
          </p:nvPr>
        </p:nvSpPr>
        <p:spPr>
          <a:xfrm>
            <a:off x="390970" y="347530"/>
            <a:ext cx="6001284" cy="3980367"/>
          </a:xfrm>
        </p:spPr>
        <p:txBody>
          <a:bodyPr anchor="t">
            <a:normAutofit/>
          </a:bodyPr>
          <a:lstStyle/>
          <a:p>
            <a:r>
              <a:rPr lang="en-US" sz="3600" b="1" dirty="0">
                <a:solidFill>
                  <a:prstClr val="black"/>
                </a:solidFill>
              </a:rPr>
              <a:t>Why is it so important to state was is </a:t>
            </a:r>
            <a:r>
              <a:rPr lang="en-US" sz="3600" b="1" i="1" dirty="0">
                <a:solidFill>
                  <a:prstClr val="black"/>
                </a:solidFill>
              </a:rPr>
              <a:t>not</a:t>
            </a:r>
            <a:r>
              <a:rPr lang="en-US" sz="3600" b="1" dirty="0">
                <a:solidFill>
                  <a:prstClr val="black"/>
                </a:solidFill>
              </a:rPr>
              <a:t> in a project, isn’t that kind of a downer</a:t>
            </a:r>
            <a:r>
              <a:rPr lang="en-US" sz="3500" b="1" dirty="0">
                <a:latin typeface="Calibri" panose="020F0502020204030204" pitchFamily="34" charset="0"/>
                <a:cs typeface="Calibri" panose="020F0502020204030204" pitchFamily="34" charset="0"/>
              </a:rPr>
              <a:t>?</a:t>
            </a:r>
            <a:br>
              <a:rPr lang="en-US" sz="3500" b="1" dirty="0">
                <a:latin typeface="Calibri" panose="020F0502020204030204" pitchFamily="34" charset="0"/>
                <a:cs typeface="Calibri" panose="020F0502020204030204" pitchFamily="34" charset="0"/>
              </a:rPr>
            </a:br>
            <a:br>
              <a:rPr lang="en-US" sz="3500" b="1" dirty="0">
                <a:latin typeface="Calibri" panose="020F0502020204030204" pitchFamily="34" charset="0"/>
                <a:cs typeface="Calibri" panose="020F0502020204030204" pitchFamily="34" charset="0"/>
              </a:rPr>
            </a:br>
            <a:r>
              <a:rPr lang="en-US" sz="3500" b="1" dirty="0">
                <a:latin typeface="Calibri" panose="020F0502020204030204" pitchFamily="34" charset="0"/>
                <a:cs typeface="Calibri" panose="020F0502020204030204" pitchFamily="34" charset="0"/>
              </a:rPr>
              <a:t>Won’t the boss or client think you’re shirking?</a:t>
            </a:r>
            <a:br>
              <a:rPr lang="en-US" sz="2625" dirty="0">
                <a:latin typeface="Calibri" panose="020F0502020204030204" pitchFamily="34" charset="0"/>
                <a:cs typeface="Calibri" panose="020F0502020204030204" pitchFamily="34" charset="0"/>
              </a:rPr>
            </a:br>
            <a:r>
              <a:rPr lang="en-US" sz="2625"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497375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692210" y="584289"/>
            <a:ext cx="10499220" cy="38625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Even after answering The Big 5 Questions, the wise PM still doesn’t launch into detailing the entire planning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They have additional prep work to do to. </a:t>
            </a:r>
            <a:r>
              <a:rPr lang="en-US" sz="3500" dirty="0">
                <a:solidFill>
                  <a:prstClr val="black"/>
                </a:solidFill>
                <a:latin typeface="Calibri" panose="020F0502020204030204" pitchFamily="34" charset="0"/>
                <a:ea typeface="Meiryo" panose="020B0604030504040204" pitchFamily="34" charset="-128"/>
                <a:cs typeface="Calibri" panose="020F0502020204030204" pitchFamily="34" charset="0"/>
              </a:rPr>
              <a:t>Before a PM starts on the scope of work, they must first determine some ground rules. </a:t>
            </a:r>
            <a:r>
              <a:rPr kumimoji="0" lang="en-US" sz="3500" b="0"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  </a:t>
            </a: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336048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92035" y="237064"/>
            <a:ext cx="11207930" cy="6620936"/>
          </a:xfrm>
        </p:spPr>
        <p:txBody>
          <a:bodyPr>
            <a:noAutofit/>
          </a:bodyPr>
          <a:lstStyle/>
          <a:p>
            <a:pPr marL="0" indent="0" algn="ctr">
              <a:lnSpc>
                <a:spcPct val="100000"/>
              </a:lnSpc>
              <a:spcBef>
                <a:spcPts val="0"/>
              </a:spcBef>
              <a:buNone/>
            </a:pPr>
            <a:r>
              <a:rPr lang="en-US" sz="3000" dirty="0">
                <a:latin typeface="Calibri" panose="020F0502020204030204" pitchFamily="34" charset="0"/>
                <a:cs typeface="Calibri" panose="020F0502020204030204" pitchFamily="34" charset="0"/>
              </a:rPr>
              <a:t>Big 5 Pre-Questions/</a:t>
            </a:r>
            <a:r>
              <a:rPr lang="en-US" sz="3000" dirty="0">
                <a:highlight>
                  <a:srgbClr val="FFFF00"/>
                </a:highlight>
                <a:latin typeface="Calibri" panose="020F0502020204030204" pitchFamily="34" charset="0"/>
                <a:cs typeface="Calibri" panose="020F0502020204030204" pitchFamily="34" charset="0"/>
              </a:rPr>
              <a:t>Pre-Planning</a:t>
            </a:r>
          </a:p>
          <a:p>
            <a:pPr marL="0" indent="0" algn="ctr">
              <a:lnSpc>
                <a:spcPct val="100000"/>
              </a:lnSpc>
              <a:spcBef>
                <a:spcPts val="0"/>
              </a:spcBef>
              <a:buNone/>
            </a:pPr>
            <a:r>
              <a:rPr lang="en-US" sz="3000" dirty="0">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highlight>
                  <a:srgbClr val="FFFF00"/>
                </a:highlight>
                <a:latin typeface="Calibri" panose="020F0502020204030204" pitchFamily="34" charset="0"/>
                <a:cs typeface="Calibri" panose="020F0502020204030204" pitchFamily="34" charset="0"/>
              </a:rPr>
              <a:t>Requirements</a:t>
            </a:r>
            <a:r>
              <a:rPr lang="en-US" sz="3000" dirty="0">
                <a:solidFill>
                  <a:schemeClr val="tx1"/>
                </a:solidFill>
                <a:latin typeface="Calibri" panose="020F0502020204030204" pitchFamily="34" charset="0"/>
                <a:cs typeface="Calibri" panose="020F0502020204030204" pitchFamily="34" charset="0"/>
              </a:rPr>
              <a:t> </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highlight>
                  <a:srgbClr val="FFFF00"/>
                </a:highlight>
                <a:latin typeface="Calibri" panose="020F0502020204030204" pitchFamily="34" charset="0"/>
                <a:cs typeface="Calibri" panose="020F0502020204030204" pitchFamily="34" charset="0"/>
              </a:rPr>
              <a:t>Expectations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highlight>
                  <a:srgbClr val="FFFF00"/>
                </a:highlight>
                <a:latin typeface="Calibri" panose="020F0502020204030204" pitchFamily="34" charset="0"/>
                <a:cs typeface="Calibri" panose="020F0502020204030204" pitchFamily="34" charset="0"/>
              </a:rPr>
              <a:t>Goals &amp; Objectives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highlight>
                  <a:srgbClr val="FFFF00"/>
                </a:highlight>
                <a:latin typeface="Calibri" panose="020F0502020204030204" pitchFamily="34" charset="0"/>
                <a:cs typeface="Calibri" panose="020F0502020204030204" pitchFamily="34" charset="0"/>
              </a:rPr>
              <a:t>Deliverables</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Scope of Work Action Plan </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a:t>
            </a:r>
          </a:p>
          <a:p>
            <a:pPr marL="0" indent="0" algn="ctr">
              <a:lnSpc>
                <a:spcPct val="100000"/>
              </a:lnSpc>
              <a:spcBef>
                <a:spcPts val="0"/>
              </a:spcBef>
              <a:buNone/>
            </a:pPr>
            <a:r>
              <a:rPr lang="en-US" sz="3000" dirty="0">
                <a:solidFill>
                  <a:schemeClr val="tx1"/>
                </a:solidFill>
                <a:latin typeface="Calibri" panose="020F0502020204030204" pitchFamily="34" charset="0"/>
                <a:cs typeface="Calibri" panose="020F0502020204030204" pitchFamily="34" charset="0"/>
              </a:rPr>
              <a:t>Work Breakdown Structure </a:t>
            </a:r>
            <a:endParaRPr lang="en-US" sz="3000" dirty="0">
              <a:latin typeface="Calibri" panose="020F0502020204030204" pitchFamily="34" charset="0"/>
              <a:cs typeface="Calibri" panose="020F0502020204030204" pitchFamily="34" charset="0"/>
            </a:endParaRPr>
          </a:p>
        </p:txBody>
      </p:sp>
      <p:graphicFrame>
        <p:nvGraphicFramePr>
          <p:cNvPr id="4" name="Diagram 3">
            <a:extLst>
              <a:ext uri="{FF2B5EF4-FFF2-40B4-BE49-F238E27FC236}">
                <a16:creationId xmlns:a16="http://schemas.microsoft.com/office/drawing/2014/main" id="{CCB7FCF9-46B4-0787-729E-847EB6F2014B}"/>
              </a:ext>
            </a:extLst>
          </p:cNvPr>
          <p:cNvGraphicFramePr/>
          <p:nvPr/>
        </p:nvGraphicFramePr>
        <p:xfrm>
          <a:off x="492035" y="1563881"/>
          <a:ext cx="3413393" cy="25808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E4EFDF6F-79FF-891B-DDED-BD94D82DBD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1"/>
            <a:ext cx="694346" cy="555476"/>
          </a:xfrm>
          <a:prstGeom prst="rect">
            <a:avLst/>
          </a:prstGeom>
        </p:spPr>
      </p:pic>
    </p:spTree>
    <p:extLst>
      <p:ext uri="{BB962C8B-B14F-4D97-AF65-F5344CB8AC3E}">
        <p14:creationId xmlns:p14="http://schemas.microsoft.com/office/powerpoint/2010/main" val="91188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769122" y="627018"/>
            <a:ext cx="10793338" cy="60170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Start by </a:t>
            </a:r>
            <a:r>
              <a:rPr kumimoji="0" lang="en-US" sz="3500" b="1" i="1"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planning</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 for a plan</a:t>
            </a: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Planners have the illusion that the sooner they imagine some goals and get those goals on paper, the sooner they’ll achieve those goals, as well. So that’s where they start – fantasizing about goals.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Too </a:t>
            </a:r>
            <a:r>
              <a:rPr kumimoji="0" lang="en-US" sz="3500" b="1" i="0" u="none" strike="noStrike" kern="1200" cap="none" spc="0" normalizeH="0" baseline="0" noProof="0" dirty="0">
                <a:ln>
                  <a:noFill/>
                </a:ln>
                <a:solidFill>
                  <a:srgbClr val="FF0000"/>
                </a:solidFill>
                <a:effectLst/>
                <a:uLnTx/>
                <a:uFillTx/>
                <a:latin typeface="Calibri" panose="020F0502020204030204" pitchFamily="34" charset="0"/>
                <a:ea typeface="Meiryo" panose="020B0604030504040204" pitchFamily="34" charset="-128"/>
                <a:cs typeface="Calibri" panose="020F0502020204030204" pitchFamily="34" charset="0"/>
              </a:rPr>
              <a:t>dangerous</a:t>
            </a:r>
            <a:r>
              <a:rPr kumimoji="0" lang="en-US" sz="35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a:t>
            </a:r>
            <a:r>
              <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 it’s like going on a trip without a map and then complaining that you didn’t get where you wanted to go.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 </a:t>
            </a:r>
            <a:endParaRPr kumimoji="0" lang="en-US" sz="3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943312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4C1E0D5-8078-41F7-92FD-B0778A6FFADD}"/>
              </a:ext>
            </a:extLst>
          </p:cNvPr>
          <p:cNvSpPr txBox="1"/>
          <p:nvPr/>
        </p:nvSpPr>
        <p:spPr>
          <a:xfrm>
            <a:off x="1290847" y="627018"/>
            <a:ext cx="9610306" cy="493981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Expectations must be managed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from </a:t>
            </a:r>
            <a:r>
              <a:rPr kumimoji="0" lang="en-US" sz="45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the start</a:t>
            </a:r>
            <a:r>
              <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Expectations are managed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in the </a:t>
            </a:r>
            <a:r>
              <a:rPr kumimoji="0" lang="en-US" sz="45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scope of work.</a:t>
            </a:r>
            <a:r>
              <a:rPr kumimoji="0" lang="en-US" sz="4500" b="0" i="0" u="none" strike="noStrike" kern="1200" cap="none" spc="0" normalizeH="0" baseline="0" noProof="0" dirty="0">
                <a:ln>
                  <a:noFill/>
                </a:ln>
                <a:solidFill>
                  <a:prstClr val="white"/>
                </a:solidFill>
                <a:effectLst/>
                <a:uLnTx/>
                <a:uFillTx/>
                <a:latin typeface="Calibri" panose="020F0502020204030204" pitchFamily="34" charset="0"/>
                <a:ea typeface="Meiryo" panose="020B0604030504040204" pitchFamily="34" charset="-128"/>
                <a:cs typeface="Calibri" panose="020F050202020403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500" b="0" i="0" u="none" strike="noStrike" kern="1200" cap="none" spc="0" normalizeH="0" baseline="0" noProof="0" dirty="0">
              <a:ln>
                <a:noFill/>
              </a:ln>
              <a:solidFill>
                <a:prstClr val="white"/>
              </a:solidFill>
              <a:effectLst/>
              <a:uLnTx/>
              <a:uFillTx/>
              <a:latin typeface="Calibri" panose="020F0502020204030204" pitchFamily="34" charset="0"/>
              <a:ea typeface="Meiryo" panose="020B0604030504040204" pitchFamily="34" charset="-128"/>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Meiryo" panose="020B0604030504040204" pitchFamily="34" charset="-128"/>
                <a:cs typeface="Calibri" panose="020F0502020204030204" pitchFamily="34" charset="0"/>
              </a:rPr>
              <a:t>Everybody’s</a:t>
            </a:r>
            <a:r>
              <a:rPr kumimoji="0" lang="en-US" sz="4500" b="1" i="0" u="none" strike="noStrike" kern="1200" cap="none" spc="0" normalizeH="0" baseline="0" noProof="0" dirty="0">
                <a:ln>
                  <a:noFill/>
                </a:ln>
                <a:solidFill>
                  <a:srgbClr val="FF0000"/>
                </a:solidFill>
                <a:effectLst/>
                <a:uLnTx/>
                <a:uFillTx/>
                <a:latin typeface="Calibri" panose="020F0502020204030204" pitchFamily="34" charset="0"/>
                <a:ea typeface="Meiryo" panose="020B0604030504040204" pitchFamily="34" charset="-128"/>
                <a:cs typeface="Calibri" panose="020F0502020204030204" pitchFamily="34" charset="0"/>
              </a:rPr>
              <a:t> expectations</a:t>
            </a:r>
            <a:r>
              <a:rPr kumimoji="0" lang="en-US" sz="4500" b="0"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rPr>
              <a:t>.</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274551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BB63B7-552C-8427-B598-6828914B3D2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09BAC809-EA64-95C0-DABC-48180EAE0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6" name="Picture 15">
            <a:extLst>
              <a:ext uri="{FF2B5EF4-FFF2-40B4-BE49-F238E27FC236}">
                <a16:creationId xmlns:a16="http://schemas.microsoft.com/office/drawing/2014/main" id="{50466D52-7456-DB36-0E00-EE8FB3767974}"/>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17" name="Rectangle 16">
            <a:extLst>
              <a:ext uri="{FF2B5EF4-FFF2-40B4-BE49-F238E27FC236}">
                <a16:creationId xmlns:a16="http://schemas.microsoft.com/office/drawing/2014/main" id="{843B3FE5-5DCF-F2FC-F294-F6C0A1A2E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280160"/>
          </a:xfrm>
          <a:prstGeom prst="rect">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B5E75BD-3344-7BEB-1DF9-D0A4584DA748}"/>
              </a:ext>
            </a:extLst>
          </p:cNvPr>
          <p:cNvSpPr>
            <a:spLocks noGrp="1"/>
          </p:cNvSpPr>
          <p:nvPr>
            <p:ph type="ctrTitle"/>
          </p:nvPr>
        </p:nvSpPr>
        <p:spPr>
          <a:xfrm>
            <a:off x="4042161" y="3290131"/>
            <a:ext cx="8149839" cy="2683380"/>
          </a:xfrm>
        </p:spPr>
        <p:txBody>
          <a:bodyPr anchor="ctr">
            <a:noAutofit/>
          </a:bodyPr>
          <a:lstStyle/>
          <a:p>
            <a:r>
              <a:rPr lang="en-US" sz="9600" dirty="0">
                <a:solidFill>
                  <a:prstClr val="black"/>
                </a:solidFill>
                <a:latin typeface="Calibri" panose="020F0502020204030204" pitchFamily="34" charset="0"/>
                <a:cs typeface="Calibri" panose="020F0502020204030204" pitchFamily="34" charset="0"/>
              </a:rPr>
              <a:t>Requirements</a:t>
            </a:r>
            <a:endParaRPr lang="en-US" sz="6500" dirty="0">
              <a:solidFill>
                <a:schemeClr val="bg1"/>
              </a:solidFill>
            </a:endParaRPr>
          </a:p>
        </p:txBody>
      </p:sp>
    </p:spTree>
    <p:extLst>
      <p:ext uri="{BB962C8B-B14F-4D97-AF65-F5344CB8AC3E}">
        <p14:creationId xmlns:p14="http://schemas.microsoft.com/office/powerpoint/2010/main" val="748873860"/>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036-CDBC-4EB9-A94F-BEAB3E20CFD1}"/>
              </a:ext>
            </a:extLst>
          </p:cNvPr>
          <p:cNvSpPr>
            <a:spLocks noGrp="1"/>
          </p:cNvSpPr>
          <p:nvPr>
            <p:ph type="title"/>
          </p:nvPr>
        </p:nvSpPr>
        <p:spPr>
          <a:xfrm>
            <a:off x="627495" y="130437"/>
            <a:ext cx="10646229" cy="972181"/>
          </a:xfrm>
        </p:spPr>
        <p:txBody>
          <a:bodyPr/>
          <a:lstStyle/>
          <a:p>
            <a:pPr algn="ctr"/>
            <a:r>
              <a:rPr lang="en-US" sz="4500" b="1" dirty="0">
                <a:solidFill>
                  <a:schemeClr val="tx1"/>
                </a:solidFill>
                <a:latin typeface="Calibri" panose="020F0502020204030204" pitchFamily="34" charset="0"/>
                <a:ea typeface="Meiryo" panose="020B0604030504040204" pitchFamily="34" charset="-128"/>
                <a:cs typeface="Calibri" panose="020F0502020204030204" pitchFamily="34" charset="0"/>
              </a:rPr>
              <a:t>Requirements v. Expectations</a:t>
            </a:r>
            <a:endParaRPr lang="en-US" b="1" dirty="0">
              <a:solidFill>
                <a:schemeClr val="tx1"/>
              </a:solidFill>
              <a:latin typeface="Calibri" panose="020F0502020204030204" pitchFamily="34" charset="0"/>
              <a:ea typeface="Meiryo" panose="020B0604030504040204" pitchFamily="34" charset="-128"/>
              <a:cs typeface="Calibri" panose="020F0502020204030204" pitchFamily="34" charset="0"/>
            </a:endParaRPr>
          </a:p>
        </p:txBody>
      </p:sp>
      <p:sp>
        <p:nvSpPr>
          <p:cNvPr id="5" name="TextBox 4">
            <a:extLst>
              <a:ext uri="{FF2B5EF4-FFF2-40B4-BE49-F238E27FC236}">
                <a16:creationId xmlns:a16="http://schemas.microsoft.com/office/drawing/2014/main" id="{B4C1E0D5-8078-41F7-92FD-B0778A6FFADD}"/>
              </a:ext>
            </a:extLst>
          </p:cNvPr>
          <p:cNvSpPr txBox="1"/>
          <p:nvPr/>
        </p:nvSpPr>
        <p:spPr>
          <a:xfrm>
            <a:off x="501661" y="1115540"/>
            <a:ext cx="11241846" cy="5170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Requirements</a:t>
            </a:r>
            <a:r>
              <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are necessities; things that must be completed up to a standard before a project is considered complete. They are usually </a:t>
            </a:r>
            <a:r>
              <a:rPr kumimoji="0" lang="en-US" sz="30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non-negotiable</a:t>
            </a:r>
            <a:r>
              <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in the scope of work.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Expectations</a:t>
            </a:r>
            <a:r>
              <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are broader and squishier. Expectations are the client’s strong belief that something will happen during or </a:t>
            </a:r>
            <a:r>
              <a:rPr kumimoji="0" lang="en-US" sz="3000" b="1" i="1"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because</a:t>
            </a:r>
            <a:r>
              <a:rPr kumimoji="0" lang="en-US" sz="3000" b="0" i="1"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of </a:t>
            </a:r>
            <a:r>
              <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“I just thought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“I naturally assumed …”</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pic>
        <p:nvPicPr>
          <p:cNvPr id="3" name="Picture 2">
            <a:extLst>
              <a:ext uri="{FF2B5EF4-FFF2-40B4-BE49-F238E27FC236}">
                <a16:creationId xmlns:a16="http://schemas.microsoft.com/office/drawing/2014/main" id="{BDBA4166-3CD8-089D-74FA-BBA642E11C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41076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631213" y="689788"/>
            <a:ext cx="11099353" cy="4939814"/>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Requirements</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are tasks or conditions that </a:t>
            </a:r>
            <a:r>
              <a:rPr kumimoji="0" lang="en-US" sz="35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must be completed</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to finish the project successfully.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They can include regulations, laws, product features, quality, services or even processes. </a:t>
            </a:r>
          </a:p>
          <a:p>
            <a:pPr marL="457200" marR="0" lvl="0" indent="-45720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Federal law.</a:t>
            </a:r>
          </a:p>
          <a:p>
            <a:pPr marL="457200" marR="0" lvl="0" indent="-45720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State Law (comp plans).</a:t>
            </a:r>
          </a:p>
          <a:p>
            <a:pPr marL="457200" marR="0" lvl="0" indent="-45720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Required by Funder.</a:t>
            </a:r>
          </a:p>
          <a:p>
            <a:pPr marL="457200" marR="0" lvl="0" indent="-45720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Required by client (timeline, specific stakeholders, etc.).</a:t>
            </a:r>
          </a:p>
        </p:txBody>
      </p:sp>
    </p:spTree>
    <p:extLst>
      <p:ext uri="{BB962C8B-B14F-4D97-AF65-F5344CB8AC3E}">
        <p14:creationId xmlns:p14="http://schemas.microsoft.com/office/powerpoint/2010/main" val="1294958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4294967295"/>
          </p:nvPr>
        </p:nvSpPr>
        <p:spPr>
          <a:xfrm>
            <a:off x="734938" y="701912"/>
            <a:ext cx="10458014" cy="5590301"/>
          </a:xfrm>
        </p:spPr>
        <p:txBody>
          <a:bodyPr anchor="t">
            <a:noAutofit/>
          </a:bodyPr>
          <a:lstStyle/>
          <a:p>
            <a:pPr marL="0" indent="0">
              <a:lnSpc>
                <a:spcPct val="100000"/>
              </a:lnSpc>
              <a:spcBef>
                <a:spcPts val="0"/>
              </a:spcBef>
              <a:buNone/>
            </a:pPr>
            <a:r>
              <a:rPr lang="en-US" sz="4000" dirty="0">
                <a:cs typeface="Calibri" panose="020F0502020204030204" pitchFamily="34" charset="0"/>
              </a:rPr>
              <a:t>Requirements help </a:t>
            </a:r>
            <a:r>
              <a:rPr lang="en-US" sz="4000" b="1" dirty="0">
                <a:highlight>
                  <a:srgbClr val="FFFF00"/>
                </a:highlight>
                <a:cs typeface="Calibri" panose="020F0502020204030204" pitchFamily="34" charset="0"/>
              </a:rPr>
              <a:t>define the </a:t>
            </a:r>
            <a:r>
              <a:rPr lang="en-US" sz="4000" b="1" dirty="0">
                <a:solidFill>
                  <a:srgbClr val="FF0000"/>
                </a:solidFill>
                <a:highlight>
                  <a:srgbClr val="FFFF00"/>
                </a:highlight>
                <a:cs typeface="Calibri" panose="020F0502020204030204" pitchFamily="34" charset="0"/>
              </a:rPr>
              <a:t>quality aspect</a:t>
            </a:r>
            <a:r>
              <a:rPr lang="en-US" sz="4000" b="1" dirty="0">
                <a:highlight>
                  <a:srgbClr val="FFFF00"/>
                </a:highlight>
                <a:cs typeface="Calibri" panose="020F0502020204030204" pitchFamily="34" charset="0"/>
              </a:rPr>
              <a:t> of the time-cost-quality triangle</a:t>
            </a:r>
            <a:r>
              <a:rPr lang="en-US" sz="4000" b="1" dirty="0">
                <a:cs typeface="Calibri" panose="020F0502020204030204" pitchFamily="34" charset="0"/>
              </a:rPr>
              <a:t> </a:t>
            </a:r>
            <a:r>
              <a:rPr lang="en-US" sz="4000" dirty="0">
                <a:cs typeface="Calibri" panose="020F0502020204030204" pitchFamily="34" charset="0"/>
              </a:rPr>
              <a:t>and ultimately define the full and detailed scope of the project.</a:t>
            </a:r>
          </a:p>
          <a:p>
            <a:pPr marL="0" indent="0">
              <a:lnSpc>
                <a:spcPct val="100000"/>
              </a:lnSpc>
              <a:spcBef>
                <a:spcPts val="0"/>
              </a:spcBef>
              <a:buNone/>
            </a:pPr>
            <a:endParaRPr lang="en-US" sz="4000" b="0" dirty="0">
              <a:cs typeface="Calibri" panose="020F0502020204030204" pitchFamily="34" charset="0"/>
            </a:endParaRPr>
          </a:p>
          <a:p>
            <a:pPr marL="0" indent="0">
              <a:lnSpc>
                <a:spcPct val="100000"/>
              </a:lnSpc>
              <a:spcBef>
                <a:spcPts val="0"/>
              </a:spcBef>
              <a:buNone/>
            </a:pPr>
            <a:r>
              <a:rPr lang="en-US" sz="4000" b="0" dirty="0">
                <a:cs typeface="Calibri" panose="020F0502020204030204" pitchFamily="34" charset="0"/>
              </a:rPr>
              <a:t>They should therefore be as </a:t>
            </a:r>
            <a:r>
              <a:rPr lang="en-US" sz="4000" b="1" dirty="0">
                <a:highlight>
                  <a:srgbClr val="FFFF00"/>
                </a:highlight>
                <a:cs typeface="Calibri" panose="020F0502020204030204" pitchFamily="34" charset="0"/>
              </a:rPr>
              <a:t>detailed as the people specifying them need them to be</a:t>
            </a:r>
            <a:r>
              <a:rPr lang="en-US" sz="4000" b="0" dirty="0">
                <a:cs typeface="Calibri" panose="020F0502020204030204" pitchFamily="34" charset="0"/>
              </a:rPr>
              <a:t>.</a:t>
            </a:r>
          </a:p>
        </p:txBody>
      </p:sp>
      <p:pic>
        <p:nvPicPr>
          <p:cNvPr id="2" name="Picture 1">
            <a:extLst>
              <a:ext uri="{FF2B5EF4-FFF2-40B4-BE49-F238E27FC236}">
                <a16:creationId xmlns:a16="http://schemas.microsoft.com/office/drawing/2014/main" id="{F2361155-D2F1-1E61-0B9F-6C78A85869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731835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E0EBA4-55E2-406B-A636-516EA2DFE2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75D226D-E10B-411E-9429-7607C04BA749}"/>
              </a:ext>
            </a:extLst>
          </p:cNvPr>
          <p:cNvSpPr>
            <a:spLocks noGrp="1"/>
          </p:cNvSpPr>
          <p:nvPr>
            <p:ph idx="4294967295"/>
          </p:nvPr>
        </p:nvSpPr>
        <p:spPr>
          <a:xfrm>
            <a:off x="563563" y="415955"/>
            <a:ext cx="11030022" cy="5940397"/>
          </a:xfrm>
        </p:spPr>
        <p:txBody>
          <a:bodyPr>
            <a:noAutofit/>
          </a:bodyPr>
          <a:lstStyle/>
          <a:p>
            <a:pPr marL="0" indent="0">
              <a:lnSpc>
                <a:spcPct val="100000"/>
              </a:lnSpc>
              <a:buNone/>
            </a:pPr>
            <a:r>
              <a:rPr lang="en-US" sz="3500" b="1" dirty="0">
                <a:highlight>
                  <a:srgbClr val="FFFF00"/>
                </a:highlight>
              </a:rPr>
              <a:t>Are there </a:t>
            </a:r>
            <a:r>
              <a:rPr lang="en-US" sz="3500" b="1" dirty="0">
                <a:solidFill>
                  <a:srgbClr val="FF0000"/>
                </a:solidFill>
                <a:highlight>
                  <a:srgbClr val="FFFF00"/>
                </a:highlight>
              </a:rPr>
              <a:t>predetermined requirements?</a:t>
            </a:r>
          </a:p>
          <a:p>
            <a:pPr lvl="1">
              <a:lnSpc>
                <a:spcPct val="100000"/>
              </a:lnSpc>
              <a:buFont typeface="Wingdings" panose="05000000000000000000" pitchFamily="2" charset="2"/>
              <a:buChar char="§"/>
            </a:pPr>
            <a:r>
              <a:rPr lang="en-US" sz="3500" dirty="0"/>
              <a:t> </a:t>
            </a:r>
            <a:r>
              <a:rPr lang="en-US" sz="3500" b="1" dirty="0"/>
              <a:t>Project</a:t>
            </a:r>
            <a:r>
              <a:rPr lang="en-US" sz="3500" dirty="0"/>
              <a:t> requirements </a:t>
            </a:r>
          </a:p>
          <a:p>
            <a:pPr lvl="1">
              <a:lnSpc>
                <a:spcPct val="100000"/>
              </a:lnSpc>
              <a:buFont typeface="Wingdings" panose="05000000000000000000" pitchFamily="2" charset="2"/>
              <a:buChar char="§"/>
            </a:pPr>
            <a:r>
              <a:rPr lang="en-US" sz="3500" dirty="0"/>
              <a:t> </a:t>
            </a:r>
            <a:r>
              <a:rPr lang="en-US" sz="3500" b="1" dirty="0"/>
              <a:t>Business</a:t>
            </a:r>
            <a:r>
              <a:rPr lang="en-US" sz="3500" dirty="0"/>
              <a:t> requirements</a:t>
            </a:r>
          </a:p>
          <a:p>
            <a:pPr lvl="1">
              <a:lnSpc>
                <a:spcPct val="100000"/>
              </a:lnSpc>
              <a:buFont typeface="Wingdings" panose="05000000000000000000" pitchFamily="2" charset="2"/>
              <a:buChar char="§"/>
            </a:pPr>
            <a:r>
              <a:rPr lang="en-US" sz="3500" dirty="0"/>
              <a:t> </a:t>
            </a:r>
            <a:r>
              <a:rPr lang="en-US" sz="3500" b="1" dirty="0"/>
              <a:t>Quality</a:t>
            </a:r>
            <a:r>
              <a:rPr lang="en-US" sz="3500" dirty="0"/>
              <a:t> requirements </a:t>
            </a:r>
          </a:p>
          <a:p>
            <a:pPr lvl="1">
              <a:lnSpc>
                <a:spcPct val="100000"/>
              </a:lnSpc>
              <a:buFont typeface="Wingdings" panose="05000000000000000000" pitchFamily="2" charset="2"/>
              <a:buChar char="§"/>
            </a:pPr>
            <a:r>
              <a:rPr lang="en-US" sz="3500" dirty="0"/>
              <a:t> </a:t>
            </a:r>
            <a:r>
              <a:rPr lang="en-US" sz="3500" b="1" dirty="0"/>
              <a:t>Stakeholder</a:t>
            </a:r>
            <a:r>
              <a:rPr lang="en-US" sz="3500" dirty="0"/>
              <a:t> requirements</a:t>
            </a:r>
          </a:p>
          <a:p>
            <a:pPr lvl="1">
              <a:lnSpc>
                <a:spcPct val="100000"/>
              </a:lnSpc>
              <a:buFont typeface="Wingdings" panose="05000000000000000000" pitchFamily="2" charset="2"/>
              <a:buChar char="§"/>
            </a:pPr>
            <a:r>
              <a:rPr lang="en-US" sz="3500" dirty="0"/>
              <a:t> </a:t>
            </a:r>
            <a:r>
              <a:rPr lang="en-US" sz="3500" b="1" dirty="0"/>
              <a:t>Solution</a:t>
            </a:r>
            <a:r>
              <a:rPr lang="en-US" sz="3500" dirty="0"/>
              <a:t> requirements </a:t>
            </a:r>
          </a:p>
          <a:p>
            <a:pPr lvl="1">
              <a:lnSpc>
                <a:spcPct val="100000"/>
              </a:lnSpc>
              <a:buFont typeface="Wingdings" panose="05000000000000000000" pitchFamily="2" charset="2"/>
              <a:buChar char="§"/>
            </a:pPr>
            <a:r>
              <a:rPr lang="en-US" sz="3500" dirty="0"/>
              <a:t> </a:t>
            </a:r>
            <a:r>
              <a:rPr lang="en-US" sz="3500" b="1" dirty="0"/>
              <a:t>Functional</a:t>
            </a:r>
            <a:r>
              <a:rPr lang="en-US" sz="3500" dirty="0"/>
              <a:t> requirements </a:t>
            </a:r>
          </a:p>
          <a:p>
            <a:pPr lvl="1">
              <a:lnSpc>
                <a:spcPct val="100000"/>
              </a:lnSpc>
              <a:buFont typeface="Wingdings" panose="05000000000000000000" pitchFamily="2" charset="2"/>
              <a:buChar char="§"/>
            </a:pPr>
            <a:r>
              <a:rPr lang="en-US" sz="3500" dirty="0"/>
              <a:t> </a:t>
            </a:r>
            <a:r>
              <a:rPr lang="en-US" sz="3500" b="1" dirty="0"/>
              <a:t>Transition</a:t>
            </a:r>
            <a:r>
              <a:rPr lang="en-US" sz="3500" dirty="0"/>
              <a:t> requirements </a:t>
            </a:r>
          </a:p>
          <a:p>
            <a:pPr lvl="1">
              <a:lnSpc>
                <a:spcPct val="100000"/>
              </a:lnSpc>
              <a:buFont typeface="Wingdings" panose="05000000000000000000" pitchFamily="2" charset="2"/>
              <a:buChar char="§"/>
            </a:pPr>
            <a:r>
              <a:rPr lang="en-US" sz="3500" dirty="0"/>
              <a:t> </a:t>
            </a:r>
            <a:r>
              <a:rPr lang="en-US" sz="3500" b="1" dirty="0"/>
              <a:t>Regulatory</a:t>
            </a:r>
            <a:r>
              <a:rPr lang="en-US" sz="3500" dirty="0"/>
              <a:t> requirements</a:t>
            </a:r>
          </a:p>
          <a:p>
            <a:pPr lvl="1">
              <a:lnSpc>
                <a:spcPct val="100000"/>
              </a:lnSpc>
              <a:buFont typeface="Wingdings" panose="05000000000000000000" pitchFamily="2" charset="2"/>
              <a:buChar char="§"/>
            </a:pPr>
            <a:r>
              <a:rPr lang="en-US" sz="3500" dirty="0"/>
              <a:t> </a:t>
            </a:r>
            <a:r>
              <a:rPr lang="en-US" sz="3500" b="1" dirty="0"/>
              <a:t>Political</a:t>
            </a:r>
            <a:r>
              <a:rPr lang="en-US" sz="3500" dirty="0"/>
              <a:t> requirements</a:t>
            </a:r>
          </a:p>
        </p:txBody>
      </p:sp>
    </p:spTree>
    <p:extLst>
      <p:ext uri="{BB962C8B-B14F-4D97-AF65-F5344CB8AC3E}">
        <p14:creationId xmlns:p14="http://schemas.microsoft.com/office/powerpoint/2010/main" val="2955488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838200" y="453006"/>
            <a:ext cx="10515600" cy="6006517"/>
          </a:xfrm>
        </p:spPr>
        <p:txBody>
          <a:bodyPr anchor="t">
            <a:noAutofit/>
          </a:bodyPr>
          <a:lstStyle/>
          <a:p>
            <a:pPr marL="0" indent="0" fontAlgn="base">
              <a:lnSpc>
                <a:spcPct val="100000"/>
              </a:lnSpc>
              <a:spcBef>
                <a:spcPts val="0"/>
              </a:spcBef>
              <a:buNone/>
            </a:pPr>
            <a:r>
              <a:rPr lang="en-US" sz="3500" b="0" dirty="0">
                <a:solidFill>
                  <a:schemeClr val="tx1"/>
                </a:solidFill>
                <a:latin typeface="Calibri" panose="020F0502020204030204" pitchFamily="34" charset="0"/>
                <a:cs typeface="Calibri" panose="020F0502020204030204" pitchFamily="34" charset="0"/>
              </a:rPr>
              <a:t>The requirements for technical or complex project may be long and detailed: comply with all ISO codes, complete compatibility with system mainframe, etc., etc.</a:t>
            </a:r>
          </a:p>
          <a:p>
            <a:pPr marL="0" indent="0" fontAlgn="base">
              <a:lnSpc>
                <a:spcPct val="100000"/>
              </a:lnSpc>
              <a:spcBef>
                <a:spcPts val="0"/>
              </a:spcBef>
              <a:buNone/>
            </a:pPr>
            <a:endParaRPr lang="en-US" sz="3500" b="0" dirty="0">
              <a:solidFill>
                <a:schemeClr val="tx1"/>
              </a:solidFill>
              <a:latin typeface="Calibri" panose="020F0502020204030204" pitchFamily="34" charset="0"/>
              <a:cs typeface="Calibri" panose="020F0502020204030204" pitchFamily="34" charset="0"/>
            </a:endParaRPr>
          </a:p>
          <a:p>
            <a:pPr marL="0" indent="0" fontAlgn="base">
              <a:lnSpc>
                <a:spcPct val="100000"/>
              </a:lnSpc>
              <a:spcBef>
                <a:spcPts val="0"/>
              </a:spcBef>
              <a:buNone/>
            </a:pPr>
            <a:r>
              <a:rPr lang="en-US" sz="3500" b="0" dirty="0">
                <a:solidFill>
                  <a:schemeClr val="tx1"/>
                </a:solidFill>
                <a:latin typeface="Calibri" panose="020F0502020204030204" pitchFamily="34" charset="0"/>
                <a:cs typeface="Calibri" panose="020F0502020204030204" pitchFamily="34" charset="0"/>
              </a:rPr>
              <a:t>For non-technical projects, like </a:t>
            </a:r>
            <a:r>
              <a:rPr lang="en-US" sz="3500" b="0" dirty="0">
                <a:solidFill>
                  <a:schemeClr val="tx1"/>
                </a:solidFill>
                <a:highlight>
                  <a:srgbClr val="FFFF00"/>
                </a:highlight>
                <a:latin typeface="Calibri" panose="020F0502020204030204" pitchFamily="34" charset="0"/>
                <a:cs typeface="Calibri" panose="020F0502020204030204" pitchFamily="34" charset="0"/>
              </a:rPr>
              <a:t>community development plans, the requirements </a:t>
            </a:r>
            <a:r>
              <a:rPr lang="en-US" sz="3500" b="1" dirty="0">
                <a:solidFill>
                  <a:schemeClr val="tx1"/>
                </a:solidFill>
                <a:highlight>
                  <a:srgbClr val="FFFF00"/>
                </a:highlight>
                <a:latin typeface="Calibri" panose="020F0502020204030204" pitchFamily="34" charset="0"/>
                <a:cs typeface="Calibri" panose="020F0502020204030204" pitchFamily="34" charset="0"/>
              </a:rPr>
              <a:t>may be more general</a:t>
            </a:r>
            <a:r>
              <a:rPr lang="en-US" sz="3500" b="0" dirty="0">
                <a:solidFill>
                  <a:schemeClr val="tx1"/>
                </a:solidFill>
                <a:latin typeface="Calibri" panose="020F0502020204030204" pitchFamily="34" charset="0"/>
                <a:cs typeface="Calibri" panose="020F0502020204030204" pitchFamily="34" charset="0"/>
              </a:rPr>
              <a:t>: meet federal requirements for public notification, community meetings, etc.</a:t>
            </a:r>
          </a:p>
          <a:p>
            <a:pPr marL="0" indent="0" fontAlgn="base">
              <a:lnSpc>
                <a:spcPct val="100000"/>
              </a:lnSpc>
              <a:spcBef>
                <a:spcPts val="0"/>
              </a:spcBef>
              <a:buNone/>
            </a:pPr>
            <a:endParaRPr lang="en-US" sz="3500" b="0" dirty="0">
              <a:solidFill>
                <a:schemeClr val="tx1"/>
              </a:solidFill>
              <a:latin typeface="Calibri" panose="020F0502020204030204" pitchFamily="34" charset="0"/>
              <a:cs typeface="Calibri" panose="020F0502020204030204" pitchFamily="34" charset="0"/>
            </a:endParaRPr>
          </a:p>
          <a:p>
            <a:pPr marL="0" indent="0" fontAlgn="base">
              <a:lnSpc>
                <a:spcPct val="100000"/>
              </a:lnSpc>
              <a:spcBef>
                <a:spcPts val="0"/>
              </a:spcBef>
              <a:buNone/>
            </a:pPr>
            <a:r>
              <a:rPr lang="en-US" sz="3500" b="0" dirty="0">
                <a:solidFill>
                  <a:schemeClr val="tx1"/>
                </a:solidFill>
                <a:highlight>
                  <a:srgbClr val="FFFF00"/>
                </a:highlight>
                <a:latin typeface="Calibri" panose="020F0502020204030204" pitchFamily="34" charset="0"/>
                <a:cs typeface="Calibri" panose="020F0502020204030204" pitchFamily="34" charset="0"/>
              </a:rPr>
              <a:t>Make sure you understand </a:t>
            </a:r>
            <a:r>
              <a:rPr lang="en-US" sz="3500" b="1" dirty="0">
                <a:solidFill>
                  <a:schemeClr val="tx1"/>
                </a:solidFill>
                <a:highlight>
                  <a:srgbClr val="FFFF00"/>
                </a:highlight>
                <a:latin typeface="Calibri" panose="020F0502020204030204" pitchFamily="34" charset="0"/>
                <a:cs typeface="Calibri" panose="020F0502020204030204" pitchFamily="34" charset="0"/>
              </a:rPr>
              <a:t>both legal/technical </a:t>
            </a:r>
            <a:r>
              <a:rPr lang="en-US" sz="3500" b="0" dirty="0">
                <a:solidFill>
                  <a:schemeClr val="tx1"/>
                </a:solidFill>
                <a:highlight>
                  <a:srgbClr val="FFFF00"/>
                </a:highlight>
                <a:latin typeface="Calibri" panose="020F0502020204030204" pitchFamily="34" charset="0"/>
                <a:cs typeface="Calibri" panose="020F0502020204030204" pitchFamily="34" charset="0"/>
              </a:rPr>
              <a:t>requirements and client requirements.</a:t>
            </a:r>
          </a:p>
        </p:txBody>
      </p:sp>
      <p:sp>
        <p:nvSpPr>
          <p:cNvPr id="4" name="Slide Number Placeholder 3">
            <a:extLst>
              <a:ext uri="{FF2B5EF4-FFF2-40B4-BE49-F238E27FC236}">
                <a16:creationId xmlns:a16="http://schemas.microsoft.com/office/drawing/2014/main" id="{4700FD79-5A03-4CA4-B53E-565BCBECF1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903163"/>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dirty="0">
              <a:ln>
                <a:noFill/>
              </a:ln>
              <a:solidFill>
                <a:srgbClr val="903163"/>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3807436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A6A69D-DBC3-6A00-91F4-4F919A1513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5794" b="0" i="0" u="none" strike="noStrike" kern="1200" cap="none" spc="0" normalizeH="0" baseline="0" noProof="0">
                <a:ln>
                  <a:noFill/>
                </a:ln>
                <a:solidFill>
                  <a:srgbClr val="A5B592">
                    <a:alpha val="25000"/>
                  </a:srgbClr>
                </a:solidFill>
                <a:effectLst/>
                <a:uLnTx/>
                <a:uFillTx/>
                <a:latin typeface="Calibri Light" panose="020F0302020204030204"/>
                <a:ea typeface="+mn-ea"/>
                <a:cs typeface="+mn-cs"/>
              </a:rPr>
              <a:t>1</a:t>
            </a:r>
            <a:endParaRPr kumimoji="0" lang="en-US" sz="5794" b="0" i="0" u="none" strike="noStrike" kern="1200" cap="none" spc="0" normalizeH="0" baseline="0" noProof="0" dirty="0">
              <a:ln>
                <a:noFill/>
              </a:ln>
              <a:solidFill>
                <a:srgbClr val="A5B592">
                  <a:alpha val="25000"/>
                </a:srgbClr>
              </a:solidFill>
              <a:effectLst/>
              <a:uLnTx/>
              <a:uFillTx/>
              <a:latin typeface="Calibri Light" panose="020F0302020204030204"/>
              <a:ea typeface="+mn-ea"/>
              <a:cs typeface="+mn-cs"/>
            </a:endParaRPr>
          </a:p>
        </p:txBody>
      </p:sp>
      <p:pic>
        <p:nvPicPr>
          <p:cNvPr id="5" name="Picture 4">
            <a:extLst>
              <a:ext uri="{FF2B5EF4-FFF2-40B4-BE49-F238E27FC236}">
                <a16:creationId xmlns:a16="http://schemas.microsoft.com/office/drawing/2014/main" id="{204B838D-3A9E-D232-2435-B2D14F22AE38}"/>
              </a:ext>
            </a:extLst>
          </p:cNvPr>
          <p:cNvPicPr>
            <a:picLocks noChangeAspect="1"/>
          </p:cNvPicPr>
          <p:nvPr/>
        </p:nvPicPr>
        <p:blipFill>
          <a:blip r:embed="rId3"/>
          <a:stretch>
            <a:fillRect/>
          </a:stretch>
        </p:blipFill>
        <p:spPr>
          <a:xfrm>
            <a:off x="567798" y="806857"/>
            <a:ext cx="10661463" cy="4405185"/>
          </a:xfrm>
          <a:prstGeom prst="rect">
            <a:avLst/>
          </a:prstGeom>
        </p:spPr>
      </p:pic>
    </p:spTree>
    <p:extLst>
      <p:ext uri="{BB962C8B-B14F-4D97-AF65-F5344CB8AC3E}">
        <p14:creationId xmlns:p14="http://schemas.microsoft.com/office/powerpoint/2010/main" val="120378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B0FA5-872D-D1D2-EDAB-E8A3B3FF3BAA}"/>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2FCCDA49-BCCF-8A6A-B96E-3E042130E518}"/>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2" name="Title 1">
            <a:extLst>
              <a:ext uri="{FF2B5EF4-FFF2-40B4-BE49-F238E27FC236}">
                <a16:creationId xmlns:a16="http://schemas.microsoft.com/office/drawing/2014/main" id="{83DB75A3-BFFF-6390-9908-FB21D6A97183}"/>
              </a:ext>
            </a:extLst>
          </p:cNvPr>
          <p:cNvSpPr>
            <a:spLocks noGrp="1"/>
          </p:cNvSpPr>
          <p:nvPr>
            <p:ph type="ctrTitle"/>
          </p:nvPr>
        </p:nvSpPr>
        <p:spPr>
          <a:xfrm>
            <a:off x="4042161" y="3290131"/>
            <a:ext cx="8149839" cy="2683380"/>
          </a:xfrm>
        </p:spPr>
        <p:txBody>
          <a:bodyPr anchor="ctr">
            <a:noAutofit/>
          </a:bodyPr>
          <a:lstStyle/>
          <a:p>
            <a:pPr algn="l"/>
            <a:r>
              <a:rPr lang="en-US" sz="9600" b="1" dirty="0">
                <a:solidFill>
                  <a:prstClr val="black"/>
                </a:solidFill>
                <a:latin typeface="Calibri" panose="020F0502020204030204" pitchFamily="34" charset="0"/>
                <a:cs typeface="Calibri" panose="020F0502020204030204" pitchFamily="34" charset="0"/>
              </a:rPr>
              <a:t>Expectations</a:t>
            </a:r>
            <a:endParaRPr lang="en-US" sz="6500" dirty="0">
              <a:solidFill>
                <a:schemeClr val="bg1"/>
              </a:solidFill>
            </a:endParaRPr>
          </a:p>
        </p:txBody>
      </p:sp>
    </p:spTree>
    <p:extLst>
      <p:ext uri="{BB962C8B-B14F-4D97-AF65-F5344CB8AC3E}">
        <p14:creationId xmlns:p14="http://schemas.microsoft.com/office/powerpoint/2010/main" val="3681217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alpha val="81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92035" y="562062"/>
            <a:ext cx="11207930" cy="5897460"/>
          </a:xfrm>
        </p:spPr>
        <p:txBody>
          <a:bodyPr>
            <a:noAutofit/>
          </a:bodyPr>
          <a:lstStyle/>
          <a:p>
            <a:pPr marL="0" indent="0" fontAlgn="base">
              <a:lnSpc>
                <a:spcPct val="100000"/>
              </a:lnSpc>
              <a:spcBef>
                <a:spcPts val="0"/>
              </a:spcBef>
              <a:buNone/>
            </a:pPr>
            <a:r>
              <a:rPr lang="en-US" sz="5000" b="1" dirty="0">
                <a:solidFill>
                  <a:srgbClr val="FF0000"/>
                </a:solidFill>
                <a:latin typeface="Calibri" panose="020F0502020204030204" pitchFamily="34" charset="0"/>
                <a:cs typeface="Calibri" panose="020F0502020204030204" pitchFamily="34" charset="0"/>
              </a:rPr>
              <a:t>Expectations</a:t>
            </a:r>
            <a:r>
              <a:rPr lang="en-US" sz="5000" dirty="0">
                <a:latin typeface="Calibri" panose="020F0502020204030204" pitchFamily="34" charset="0"/>
                <a:cs typeface="Calibri" panose="020F0502020204030204" pitchFamily="34" charset="0"/>
              </a:rPr>
              <a:t> </a:t>
            </a:r>
            <a:r>
              <a:rPr lang="en-US" sz="5000" dirty="0">
                <a:solidFill>
                  <a:schemeClr val="tx1"/>
                </a:solidFill>
                <a:latin typeface="Calibri" panose="020F0502020204030204" pitchFamily="34" charset="0"/>
                <a:cs typeface="Calibri" panose="020F0502020204030204" pitchFamily="34" charset="0"/>
              </a:rPr>
              <a:t>are a critical measure of success. </a:t>
            </a:r>
          </a:p>
          <a:p>
            <a:pPr marL="0" indent="0" fontAlgn="base">
              <a:lnSpc>
                <a:spcPct val="100000"/>
              </a:lnSpc>
              <a:spcBef>
                <a:spcPts val="0"/>
              </a:spcBef>
              <a:buNone/>
            </a:pPr>
            <a:endParaRPr lang="en-US" sz="5000" dirty="0">
              <a:solidFill>
                <a:schemeClr val="tx1"/>
              </a:solidFill>
              <a:latin typeface="Calibri" panose="020F0502020204030204" pitchFamily="34" charset="0"/>
              <a:cs typeface="Calibri" panose="020F0502020204030204" pitchFamily="34" charset="0"/>
            </a:endParaRPr>
          </a:p>
          <a:p>
            <a:pPr marL="0" indent="0" fontAlgn="base">
              <a:lnSpc>
                <a:spcPct val="100000"/>
              </a:lnSpc>
              <a:spcBef>
                <a:spcPts val="0"/>
              </a:spcBef>
              <a:buNone/>
            </a:pPr>
            <a:r>
              <a:rPr lang="en-US" sz="5000" dirty="0">
                <a:solidFill>
                  <a:schemeClr val="tx1"/>
                </a:solidFill>
                <a:latin typeface="Calibri" panose="020F0502020204030204" pitchFamily="34" charset="0"/>
                <a:cs typeface="Calibri" panose="020F0502020204030204" pitchFamily="34" charset="0"/>
              </a:rPr>
              <a:t>These expectations are the </a:t>
            </a:r>
            <a:r>
              <a:rPr lang="en-US" sz="5000" dirty="0">
                <a:solidFill>
                  <a:schemeClr val="tx1"/>
                </a:solidFill>
                <a:highlight>
                  <a:srgbClr val="FFFF00"/>
                </a:highlight>
                <a:latin typeface="Calibri" panose="020F0502020204030204" pitchFamily="34" charset="0"/>
                <a:cs typeface="Calibri" panose="020F0502020204030204" pitchFamily="34" charset="0"/>
              </a:rPr>
              <a:t>central driving</a:t>
            </a:r>
            <a:r>
              <a:rPr lang="en-US" sz="5000" dirty="0">
                <a:solidFill>
                  <a:schemeClr val="tx1"/>
                </a:solidFill>
                <a:latin typeface="Calibri" panose="020F0502020204030204" pitchFamily="34" charset="0"/>
                <a:cs typeface="Calibri" panose="020F0502020204030204" pitchFamily="34" charset="0"/>
              </a:rPr>
              <a:t> </a:t>
            </a:r>
            <a:r>
              <a:rPr lang="en-US" sz="5000" dirty="0">
                <a:solidFill>
                  <a:schemeClr val="tx1"/>
                </a:solidFill>
                <a:highlight>
                  <a:srgbClr val="FFFF00"/>
                </a:highlight>
                <a:latin typeface="Calibri" panose="020F0502020204030204" pitchFamily="34" charset="0"/>
                <a:cs typeface="Calibri" panose="020F0502020204030204" pitchFamily="34" charset="0"/>
              </a:rPr>
              <a:t>factor</a:t>
            </a:r>
            <a:r>
              <a:rPr lang="en-US" sz="5000" dirty="0">
                <a:solidFill>
                  <a:schemeClr val="tx1"/>
                </a:solidFill>
                <a:latin typeface="Calibri" panose="020F0502020204030204" pitchFamily="34" charset="0"/>
                <a:cs typeface="Calibri" panose="020F0502020204030204" pitchFamily="34" charset="0"/>
              </a:rPr>
              <a:t> for client’s decisions and satisfaction level.</a:t>
            </a:r>
          </a:p>
        </p:txBody>
      </p:sp>
      <p:pic>
        <p:nvPicPr>
          <p:cNvPr id="2" name="Picture 1">
            <a:extLst>
              <a:ext uri="{FF2B5EF4-FFF2-40B4-BE49-F238E27FC236}">
                <a16:creationId xmlns:a16="http://schemas.microsoft.com/office/drawing/2014/main" id="{E14482B6-5C62-457C-36A9-E005C9C9CA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4064518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70264" y="897622"/>
            <a:ext cx="11207930" cy="5695975"/>
          </a:xfrm>
        </p:spPr>
        <p:txBody>
          <a:bodyPr>
            <a:noAutofit/>
          </a:bodyPr>
          <a:lstStyle/>
          <a:p>
            <a:pPr marL="0" indent="0" algn="ctr">
              <a:buNone/>
            </a:pPr>
            <a:r>
              <a:rPr lang="en-US" sz="8500" dirty="0">
                <a:solidFill>
                  <a:schemeClr val="tx1"/>
                </a:solidFill>
                <a:latin typeface="Calibri" panose="020F0502020204030204" pitchFamily="34" charset="0"/>
                <a:cs typeface="Calibri" panose="020F0502020204030204" pitchFamily="34" charset="0"/>
              </a:rPr>
              <a:t>Expectations </a:t>
            </a:r>
          </a:p>
          <a:p>
            <a:pPr marL="0" indent="0" algn="ctr">
              <a:buNone/>
            </a:pPr>
            <a:r>
              <a:rPr lang="en-US" sz="8500" dirty="0">
                <a:solidFill>
                  <a:schemeClr val="tx1"/>
                </a:solidFill>
                <a:latin typeface="Calibri" panose="020F0502020204030204" pitchFamily="34" charset="0"/>
                <a:cs typeface="Calibri" panose="020F0502020204030204" pitchFamily="34" charset="0"/>
              </a:rPr>
              <a:t>must be managed </a:t>
            </a:r>
          </a:p>
          <a:p>
            <a:pPr marL="0" indent="0" algn="ctr">
              <a:buNone/>
            </a:pPr>
            <a:r>
              <a:rPr lang="en-US" sz="8500" dirty="0">
                <a:solidFill>
                  <a:schemeClr val="tx1"/>
                </a:solidFill>
                <a:latin typeface="Calibri" panose="020F0502020204030204" pitchFamily="34" charset="0"/>
                <a:cs typeface="Calibri" panose="020F0502020204030204" pitchFamily="34" charset="0"/>
              </a:rPr>
              <a:t>from </a:t>
            </a:r>
            <a:r>
              <a:rPr lang="en-US" sz="8500" b="1" dirty="0">
                <a:solidFill>
                  <a:srgbClr val="FF0000"/>
                </a:solidFill>
                <a:latin typeface="Calibri" panose="020F0502020204030204" pitchFamily="34" charset="0"/>
                <a:cs typeface="Calibri" panose="020F0502020204030204" pitchFamily="34" charset="0"/>
              </a:rPr>
              <a:t>the start</a:t>
            </a:r>
            <a:r>
              <a:rPr lang="en-US" sz="85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113078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4C1E0D5-8078-41F7-92FD-B0778A6FFADD}"/>
              </a:ext>
            </a:extLst>
          </p:cNvPr>
          <p:cNvSpPr txBox="1"/>
          <p:nvPr/>
        </p:nvSpPr>
        <p:spPr>
          <a:xfrm>
            <a:off x="3535637" y="1316584"/>
            <a:ext cx="8752114" cy="93871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endParaRPr kumimoji="0" lang="en-US" sz="55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pic>
        <p:nvPicPr>
          <p:cNvPr id="1026" name="Picture 2" descr="See the source image">
            <a:extLst>
              <a:ext uri="{FF2B5EF4-FFF2-40B4-BE49-F238E27FC236}">
                <a16:creationId xmlns:a16="http://schemas.microsoft.com/office/drawing/2014/main" id="{1DF1716D-7341-4C5E-A877-F4D0A2866D6C}"/>
              </a:ext>
            </a:extLst>
          </p:cNvPr>
          <p:cNvPicPr>
            <a:picLocks noChangeAspect="1" noChangeArrowheads="1"/>
          </p:cNvPicPr>
          <p:nvPr/>
        </p:nvPicPr>
        <p:blipFill>
          <a:blip r:embed="rId3">
            <a:alphaModFix amt="25000"/>
            <a:extLst>
              <a:ext uri="{28A0092B-C50C-407E-A947-70E740481C1C}">
                <a14:useLocalDpi xmlns:a14="http://schemas.microsoft.com/office/drawing/2010/main" val="0"/>
              </a:ext>
            </a:extLst>
          </a:blip>
          <a:srcRect/>
          <a:stretch>
            <a:fillRect/>
          </a:stretch>
        </p:blipFill>
        <p:spPr bwMode="auto">
          <a:xfrm>
            <a:off x="25168" y="0"/>
            <a:ext cx="12166832" cy="682491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7489139D-E796-40CF-AA8A-C92E1C80F085}"/>
              </a:ext>
            </a:extLst>
          </p:cNvPr>
          <p:cNvSpPr>
            <a:spLocks noGrp="1"/>
          </p:cNvSpPr>
          <p:nvPr>
            <p:ph type="title"/>
          </p:nvPr>
        </p:nvSpPr>
        <p:spPr>
          <a:xfrm>
            <a:off x="823520" y="4101036"/>
            <a:ext cx="10570128" cy="720499"/>
          </a:xfrm>
        </p:spPr>
        <p:txBody>
          <a:bodyPr>
            <a:normAutofit fontScale="90000"/>
          </a:bodyPr>
          <a:lstStyle/>
          <a:p>
            <a:pPr algn="ctr"/>
            <a:r>
              <a:rPr lang="en-US" b="1" dirty="0">
                <a:solidFill>
                  <a:srgbClr val="FF0000"/>
                </a:solidFill>
                <a:latin typeface="+mn-lt"/>
              </a:rPr>
              <a:t>Client’s expectations are rarely clear – at first</a:t>
            </a:r>
          </a:p>
        </p:txBody>
      </p:sp>
    </p:spTree>
    <p:extLst>
      <p:ext uri="{BB962C8B-B14F-4D97-AF65-F5344CB8AC3E}">
        <p14:creationId xmlns:p14="http://schemas.microsoft.com/office/powerpoint/2010/main" val="303731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B4C1E0D5-8078-41F7-92FD-B0778A6FFADD}"/>
              </a:ext>
            </a:extLst>
          </p:cNvPr>
          <p:cNvSpPr txBox="1"/>
          <p:nvPr/>
        </p:nvSpPr>
        <p:spPr>
          <a:xfrm>
            <a:off x="562062" y="478664"/>
            <a:ext cx="11057408" cy="440120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Oddly enough, clients do not always make their expectations clear – but they will arise </a:t>
            </a:r>
            <a:r>
              <a:rPr kumimoji="0" lang="en-US" sz="40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later</a:t>
            </a: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For example: </a:t>
            </a:r>
          </a:p>
          <a:p>
            <a:pPr marL="457200" marR="0" lvl="0" indent="-45720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Required by community (diversity, certain neighborhoods).</a:t>
            </a:r>
            <a:b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br>
            <a:endPar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457200" marR="0" lvl="0" indent="-45720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Required by Patron (political cover).</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389626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574416" y="604007"/>
            <a:ext cx="10857467" cy="5839688"/>
          </a:xfrm>
        </p:spPr>
        <p:txBody>
          <a:bodyPr anchor="t">
            <a:noAutofit/>
          </a:bodyPr>
          <a:lstStyle/>
          <a:p>
            <a:pPr marL="0" indent="0">
              <a:lnSpc>
                <a:spcPct val="100000"/>
              </a:lnSpc>
              <a:spcBef>
                <a:spcPts val="0"/>
              </a:spcBef>
              <a:buNone/>
            </a:pPr>
            <a:r>
              <a:rPr lang="en-US" sz="4000" b="0" dirty="0">
                <a:solidFill>
                  <a:schemeClr val="tx1"/>
                </a:solidFill>
                <a:latin typeface="+mj-lt"/>
                <a:cs typeface="Calibri" panose="020F0502020204030204" pitchFamily="34" charset="0"/>
              </a:rPr>
              <a:t>Not all expectations are of equal importance.</a:t>
            </a:r>
          </a:p>
          <a:p>
            <a:pPr>
              <a:lnSpc>
                <a:spcPct val="100000"/>
              </a:lnSpc>
              <a:spcBef>
                <a:spcPts val="0"/>
              </a:spcBef>
            </a:pPr>
            <a:endParaRPr lang="en-US" sz="4000" b="0" dirty="0">
              <a:solidFill>
                <a:schemeClr val="tx1"/>
              </a:solidFill>
              <a:latin typeface="+mj-lt"/>
              <a:cs typeface="Calibri" panose="020F0502020204030204" pitchFamily="34" charset="0"/>
            </a:endParaRPr>
          </a:p>
          <a:p>
            <a:pPr marL="0" indent="0">
              <a:lnSpc>
                <a:spcPct val="100000"/>
              </a:lnSpc>
              <a:spcBef>
                <a:spcPts val="0"/>
              </a:spcBef>
              <a:buNone/>
            </a:pPr>
            <a:r>
              <a:rPr lang="en-US" sz="4000" dirty="0">
                <a:solidFill>
                  <a:schemeClr val="tx1"/>
                </a:solidFill>
                <a:latin typeface="+mj-lt"/>
                <a:cs typeface="Calibri" panose="020F0502020204030204" pitchFamily="34" charset="0"/>
              </a:rPr>
              <a:t>If you get uncertain or conflicting expectations, do a </a:t>
            </a:r>
            <a:r>
              <a:rPr lang="en-US" sz="4000" b="1" dirty="0" err="1">
                <a:solidFill>
                  <a:schemeClr val="tx1"/>
                </a:solidFill>
                <a:latin typeface="+mj-lt"/>
                <a:cs typeface="Calibri" panose="020F0502020204030204" pitchFamily="34" charset="0"/>
              </a:rPr>
              <a:t>MoSCoW</a:t>
            </a:r>
            <a:r>
              <a:rPr lang="en-US" sz="4000" b="1" dirty="0">
                <a:solidFill>
                  <a:schemeClr val="tx1"/>
                </a:solidFill>
                <a:latin typeface="+mj-lt"/>
                <a:cs typeface="Calibri" panose="020F0502020204030204" pitchFamily="34" charset="0"/>
              </a:rPr>
              <a:t> analysis. </a:t>
            </a:r>
            <a:r>
              <a:rPr lang="en-US" sz="4000" dirty="0">
                <a:solidFill>
                  <a:schemeClr val="tx1"/>
                </a:solidFill>
                <a:latin typeface="+mj-lt"/>
                <a:cs typeface="Calibri" panose="020F0502020204030204" pitchFamily="34" charset="0"/>
              </a:rPr>
              <a:t>Ask the client to define what the project:</a:t>
            </a:r>
          </a:p>
          <a:p>
            <a:pPr marL="342900" indent="-342900">
              <a:lnSpc>
                <a:spcPct val="100000"/>
              </a:lnSpc>
              <a:spcBef>
                <a:spcPts val="0"/>
              </a:spcBef>
              <a:buFont typeface="Wingdings" panose="05000000000000000000" pitchFamily="2" charset="2"/>
              <a:buChar char="§"/>
            </a:pPr>
            <a:r>
              <a:rPr lang="en-US" sz="4000" b="1" dirty="0">
                <a:solidFill>
                  <a:schemeClr val="tx1"/>
                </a:solidFill>
                <a:highlight>
                  <a:srgbClr val="FFFF00"/>
                </a:highlight>
                <a:latin typeface="+mj-lt"/>
                <a:cs typeface="Calibri" panose="020F0502020204030204" pitchFamily="34" charset="0"/>
              </a:rPr>
              <a:t>M</a:t>
            </a:r>
            <a:r>
              <a:rPr lang="en-US" sz="4000" b="0" dirty="0">
                <a:solidFill>
                  <a:schemeClr val="tx1"/>
                </a:solidFill>
                <a:highlight>
                  <a:srgbClr val="FFFF00"/>
                </a:highlight>
                <a:latin typeface="+mj-lt"/>
                <a:cs typeface="Calibri" panose="020F0502020204030204" pitchFamily="34" charset="0"/>
              </a:rPr>
              <a:t>ust</a:t>
            </a:r>
            <a:r>
              <a:rPr lang="en-US" sz="4000" b="0" dirty="0">
                <a:solidFill>
                  <a:schemeClr val="tx1"/>
                </a:solidFill>
                <a:latin typeface="+mj-lt"/>
                <a:cs typeface="Calibri" panose="020F0502020204030204" pitchFamily="34" charset="0"/>
              </a:rPr>
              <a:t>-Have</a:t>
            </a:r>
          </a:p>
          <a:p>
            <a:pPr marL="342900" indent="-342900">
              <a:lnSpc>
                <a:spcPct val="100000"/>
              </a:lnSpc>
              <a:spcBef>
                <a:spcPts val="0"/>
              </a:spcBef>
              <a:buFont typeface="Wingdings" panose="05000000000000000000" pitchFamily="2" charset="2"/>
              <a:buChar char="§"/>
            </a:pPr>
            <a:r>
              <a:rPr lang="en-US" sz="4000" b="1" dirty="0">
                <a:solidFill>
                  <a:schemeClr val="tx1"/>
                </a:solidFill>
                <a:highlight>
                  <a:srgbClr val="FFFF00"/>
                </a:highlight>
                <a:latin typeface="+mj-lt"/>
                <a:cs typeface="Calibri" panose="020F0502020204030204" pitchFamily="34" charset="0"/>
              </a:rPr>
              <a:t>S</a:t>
            </a:r>
            <a:r>
              <a:rPr lang="en-US" sz="4000" b="0" dirty="0">
                <a:solidFill>
                  <a:schemeClr val="tx1"/>
                </a:solidFill>
                <a:highlight>
                  <a:srgbClr val="FFFF00"/>
                </a:highlight>
                <a:latin typeface="+mj-lt"/>
                <a:cs typeface="Calibri" panose="020F0502020204030204" pitchFamily="34" charset="0"/>
              </a:rPr>
              <a:t>hould</a:t>
            </a:r>
            <a:r>
              <a:rPr lang="en-US" sz="4000" b="0" dirty="0">
                <a:solidFill>
                  <a:schemeClr val="tx1"/>
                </a:solidFill>
                <a:latin typeface="+mj-lt"/>
                <a:cs typeface="Calibri" panose="020F0502020204030204" pitchFamily="34" charset="0"/>
              </a:rPr>
              <a:t>-Have</a:t>
            </a:r>
          </a:p>
          <a:p>
            <a:pPr marL="342900" indent="-342900">
              <a:lnSpc>
                <a:spcPct val="100000"/>
              </a:lnSpc>
              <a:spcBef>
                <a:spcPts val="0"/>
              </a:spcBef>
              <a:buFont typeface="Wingdings" panose="05000000000000000000" pitchFamily="2" charset="2"/>
              <a:buChar char="§"/>
            </a:pPr>
            <a:r>
              <a:rPr lang="en-US" sz="4000" b="1" dirty="0">
                <a:solidFill>
                  <a:schemeClr val="tx1"/>
                </a:solidFill>
                <a:highlight>
                  <a:srgbClr val="FFFF00"/>
                </a:highlight>
                <a:latin typeface="+mj-lt"/>
                <a:cs typeface="Calibri" panose="020F0502020204030204" pitchFamily="34" charset="0"/>
              </a:rPr>
              <a:t>C</a:t>
            </a:r>
            <a:r>
              <a:rPr lang="en-US" sz="4000" b="0" dirty="0">
                <a:solidFill>
                  <a:schemeClr val="tx1"/>
                </a:solidFill>
                <a:highlight>
                  <a:srgbClr val="FFFF00"/>
                </a:highlight>
                <a:latin typeface="+mj-lt"/>
                <a:cs typeface="Calibri" panose="020F0502020204030204" pitchFamily="34" charset="0"/>
              </a:rPr>
              <a:t>ould</a:t>
            </a:r>
            <a:r>
              <a:rPr lang="en-US" sz="4000" b="0" dirty="0">
                <a:solidFill>
                  <a:schemeClr val="tx1"/>
                </a:solidFill>
                <a:latin typeface="+mj-lt"/>
                <a:cs typeface="Calibri" panose="020F0502020204030204" pitchFamily="34" charset="0"/>
              </a:rPr>
              <a:t>-Have</a:t>
            </a:r>
          </a:p>
          <a:p>
            <a:pPr marL="342900" indent="-342900">
              <a:lnSpc>
                <a:spcPct val="100000"/>
              </a:lnSpc>
              <a:spcBef>
                <a:spcPts val="0"/>
              </a:spcBef>
              <a:buFont typeface="Wingdings" panose="05000000000000000000" pitchFamily="2" charset="2"/>
              <a:buChar char="§"/>
            </a:pPr>
            <a:r>
              <a:rPr lang="en-US" sz="4000" b="1" dirty="0">
                <a:solidFill>
                  <a:schemeClr val="tx1"/>
                </a:solidFill>
                <a:highlight>
                  <a:srgbClr val="FFFF00"/>
                </a:highlight>
                <a:latin typeface="+mj-lt"/>
                <a:cs typeface="Calibri" panose="020F0502020204030204" pitchFamily="34" charset="0"/>
              </a:rPr>
              <a:t>W</a:t>
            </a:r>
            <a:r>
              <a:rPr lang="en-US" sz="4000" b="0" dirty="0">
                <a:solidFill>
                  <a:schemeClr val="tx1"/>
                </a:solidFill>
                <a:highlight>
                  <a:srgbClr val="FFFF00"/>
                </a:highlight>
                <a:latin typeface="+mj-lt"/>
                <a:cs typeface="Calibri" panose="020F0502020204030204" pitchFamily="34" charset="0"/>
              </a:rPr>
              <a:t>on’t</a:t>
            </a:r>
            <a:r>
              <a:rPr lang="en-US" sz="4000" b="0" dirty="0">
                <a:solidFill>
                  <a:schemeClr val="tx1"/>
                </a:solidFill>
                <a:latin typeface="+mj-lt"/>
                <a:cs typeface="Calibri" panose="020F0502020204030204" pitchFamily="34" charset="0"/>
              </a:rPr>
              <a:t>-Have </a:t>
            </a:r>
          </a:p>
          <a:p>
            <a:pPr marL="342900" indent="-342900">
              <a:lnSpc>
                <a:spcPct val="100000"/>
              </a:lnSpc>
              <a:spcBef>
                <a:spcPts val="0"/>
              </a:spcBef>
              <a:buFont typeface="Wingdings" panose="05000000000000000000" pitchFamily="2" charset="2"/>
              <a:buChar char="§"/>
            </a:pPr>
            <a:endParaRPr lang="en-US" sz="2500" b="0" dirty="0">
              <a:solidFill>
                <a:schemeClr val="tx1">
                  <a:lumMod val="95000"/>
                  <a:lumOff val="5000"/>
                </a:schemeClr>
              </a:solidFill>
              <a:latin typeface="+mj-lt"/>
              <a:cs typeface="Calibri" panose="020F0502020204030204" pitchFamily="34" charset="0"/>
            </a:endParaRPr>
          </a:p>
          <a:p>
            <a:pPr>
              <a:lnSpc>
                <a:spcPct val="100000"/>
              </a:lnSpc>
              <a:spcBef>
                <a:spcPts val="0"/>
              </a:spcBef>
            </a:pPr>
            <a:endParaRPr lang="en-US" sz="2500" b="0" dirty="0">
              <a:solidFill>
                <a:schemeClr val="tx1">
                  <a:lumMod val="95000"/>
                  <a:lumOff val="5000"/>
                </a:schemeClr>
              </a:solidFill>
              <a:latin typeface="+mj-lt"/>
              <a:cs typeface="Calibri" panose="020F0502020204030204" pitchFamily="34" charset="0"/>
            </a:endParaRPr>
          </a:p>
          <a:p>
            <a:pPr>
              <a:lnSpc>
                <a:spcPct val="100000"/>
              </a:lnSpc>
              <a:spcBef>
                <a:spcPts val="0"/>
              </a:spcBef>
            </a:pPr>
            <a:endParaRPr lang="en-US" sz="2800" b="0" dirty="0">
              <a:solidFill>
                <a:schemeClr val="tx1">
                  <a:lumMod val="95000"/>
                  <a:lumOff val="5000"/>
                </a:schemeClr>
              </a:solidFill>
              <a:latin typeface="+mj-lt"/>
              <a:cs typeface="Calibri" panose="020F0502020204030204" pitchFamily="34" charset="0"/>
            </a:endParaRPr>
          </a:p>
        </p:txBody>
      </p:sp>
      <p:pic>
        <p:nvPicPr>
          <p:cNvPr id="2" name="Picture 1">
            <a:extLst>
              <a:ext uri="{FF2B5EF4-FFF2-40B4-BE49-F238E27FC236}">
                <a16:creationId xmlns:a16="http://schemas.microsoft.com/office/drawing/2014/main" id="{F21D4605-83D3-02AB-DBBE-338B48E013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700755" cy="560604"/>
          </a:xfrm>
          <a:prstGeom prst="rect">
            <a:avLst/>
          </a:prstGeom>
        </p:spPr>
      </p:pic>
    </p:spTree>
    <p:extLst>
      <p:ext uri="{BB962C8B-B14F-4D97-AF65-F5344CB8AC3E}">
        <p14:creationId xmlns:p14="http://schemas.microsoft.com/office/powerpoint/2010/main" val="137879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8C4D2E-DAB3-4A53-B4D0-EDB681F564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10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75D226D-E10B-411E-9429-7607C04BA749}"/>
              </a:ext>
            </a:extLst>
          </p:cNvPr>
          <p:cNvSpPr>
            <a:spLocks noGrp="1"/>
          </p:cNvSpPr>
          <p:nvPr>
            <p:ph idx="4294967295"/>
          </p:nvPr>
        </p:nvSpPr>
        <p:spPr>
          <a:xfrm>
            <a:off x="426718" y="439505"/>
            <a:ext cx="11275924" cy="6281970"/>
          </a:xfrm>
        </p:spPr>
        <p:txBody>
          <a:bodyPr anchor="t">
            <a:noAutofit/>
          </a:bodyPr>
          <a:lstStyle/>
          <a:p>
            <a:pPr marL="0" lvl="0" indent="0">
              <a:lnSpc>
                <a:spcPct val="100000"/>
              </a:lnSpc>
              <a:spcBef>
                <a:spcPts val="0"/>
              </a:spcBef>
              <a:spcAft>
                <a:spcPts val="0"/>
              </a:spcAft>
              <a:buClr>
                <a:srgbClr val="1CADE4"/>
              </a:buClr>
              <a:buNone/>
            </a:pPr>
            <a:r>
              <a:rPr lang="en-US" sz="3000" b="1" dirty="0"/>
              <a:t>Objective</a:t>
            </a:r>
            <a:r>
              <a:rPr lang="en-US" sz="3000" b="0" dirty="0"/>
              <a:t>: Move all IT equipment from the old office, installing it in the new office.</a:t>
            </a:r>
          </a:p>
          <a:p>
            <a:pPr marL="0" lvl="0" indent="0">
              <a:lnSpc>
                <a:spcPct val="100000"/>
              </a:lnSpc>
              <a:spcBef>
                <a:spcPts val="0"/>
              </a:spcBef>
              <a:spcAft>
                <a:spcPts val="0"/>
              </a:spcAft>
              <a:buClr>
                <a:srgbClr val="1CADE4"/>
              </a:buClr>
              <a:buNone/>
            </a:pPr>
            <a:r>
              <a:rPr lang="en-US" sz="3000" b="1" dirty="0">
                <a:highlight>
                  <a:srgbClr val="FFFF00"/>
                </a:highlight>
              </a:rPr>
              <a:t>Must</a:t>
            </a:r>
            <a:r>
              <a:rPr lang="en-US" sz="3000" b="0" dirty="0"/>
              <a:t>: Every user should be able to log on to their computer in the new office and access their files.</a:t>
            </a:r>
            <a:br>
              <a:rPr lang="en-US" sz="3000" b="0" dirty="0"/>
            </a:br>
            <a:endParaRPr lang="en-US" sz="3000" b="0" dirty="0"/>
          </a:p>
          <a:p>
            <a:pPr marL="0" lvl="0" indent="0">
              <a:lnSpc>
                <a:spcPct val="100000"/>
              </a:lnSpc>
              <a:spcBef>
                <a:spcPts val="0"/>
              </a:spcBef>
              <a:spcAft>
                <a:spcPts val="0"/>
              </a:spcAft>
              <a:buClr>
                <a:srgbClr val="1CADE4"/>
              </a:buClr>
              <a:buNone/>
            </a:pPr>
            <a:r>
              <a:rPr lang="en-US" sz="3000" b="1" dirty="0">
                <a:highlight>
                  <a:srgbClr val="FFFF00"/>
                </a:highlight>
              </a:rPr>
              <a:t>Should</a:t>
            </a:r>
            <a:r>
              <a:rPr lang="en-US" sz="3000" b="0" dirty="0"/>
              <a:t>: Any specialist settings or functionality (e.g. access to a specific printer) should be migrated and not require additional configuration.</a:t>
            </a:r>
            <a:br>
              <a:rPr lang="en-US" sz="3000" b="0" dirty="0"/>
            </a:br>
            <a:endParaRPr lang="en-US" sz="3000" b="0" dirty="0"/>
          </a:p>
          <a:p>
            <a:pPr marL="0" lvl="0" indent="0">
              <a:lnSpc>
                <a:spcPct val="100000"/>
              </a:lnSpc>
              <a:spcBef>
                <a:spcPts val="0"/>
              </a:spcBef>
              <a:spcAft>
                <a:spcPts val="0"/>
              </a:spcAft>
              <a:buClr>
                <a:srgbClr val="1CADE4"/>
              </a:buClr>
              <a:buNone/>
            </a:pPr>
            <a:r>
              <a:rPr lang="en-US" sz="3000" b="1" dirty="0">
                <a:highlight>
                  <a:srgbClr val="FFFF00"/>
                </a:highlight>
              </a:rPr>
              <a:t>Could</a:t>
            </a:r>
            <a:r>
              <a:rPr lang="en-US" sz="3000" b="0" dirty="0"/>
              <a:t>: Any broken or faulty keyboards and mice should be replaced as part of the office move, provided they are clearly labeled.</a:t>
            </a:r>
            <a:br>
              <a:rPr lang="en-US" sz="3000" b="0" dirty="0"/>
            </a:br>
            <a:endParaRPr lang="en-US" sz="3000" b="0" dirty="0"/>
          </a:p>
          <a:p>
            <a:pPr marL="0" lvl="0" indent="0">
              <a:lnSpc>
                <a:spcPct val="100000"/>
              </a:lnSpc>
              <a:spcBef>
                <a:spcPts val="0"/>
              </a:spcBef>
              <a:spcAft>
                <a:spcPts val="0"/>
              </a:spcAft>
              <a:buClr>
                <a:srgbClr val="1CADE4"/>
              </a:buClr>
              <a:buNone/>
            </a:pPr>
            <a:r>
              <a:rPr lang="en-US" sz="3000" b="1" dirty="0">
                <a:highlight>
                  <a:srgbClr val="FFFF00"/>
                </a:highlight>
              </a:rPr>
              <a:t>Won’t</a:t>
            </a:r>
            <a:r>
              <a:rPr lang="en-US" sz="3000" b="0" dirty="0"/>
              <a:t>: The project will not replace any computers. Existing computers will simply be moved to the new office.</a:t>
            </a:r>
          </a:p>
        </p:txBody>
      </p:sp>
    </p:spTree>
    <p:extLst>
      <p:ext uri="{BB962C8B-B14F-4D97-AF65-F5344CB8AC3E}">
        <p14:creationId xmlns:p14="http://schemas.microsoft.com/office/powerpoint/2010/main" val="4266459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58B519-1E88-0E81-AE79-E8B8F9F05532}"/>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8A3B003C-A5A1-B116-1515-275C25B02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ntelligent student thinking an answer Photo | Free Download">
            <a:extLst>
              <a:ext uri="{FF2B5EF4-FFF2-40B4-BE49-F238E27FC236}">
                <a16:creationId xmlns:a16="http://schemas.microsoft.com/office/drawing/2014/main" id="{BB8B8299-1FE8-C1B4-F67A-344252915680}"/>
              </a:ext>
            </a:extLst>
          </p:cNvPr>
          <p:cNvPicPr>
            <a:picLocks noGrp="1" noChangeAspect="1" noChangeArrowheads="1"/>
          </p:cNvPicPr>
          <p:nvPr>
            <p:ph idx="1"/>
          </p:nvPr>
        </p:nvPicPr>
        <p:blipFill rotWithShape="1">
          <a:blip r:embed="rId2">
            <a:alphaModFix amt="50000"/>
            <a:extLst>
              <a:ext uri="{28A0092B-C50C-407E-A947-70E740481C1C}">
                <a14:useLocalDpi xmlns:a14="http://schemas.microsoft.com/office/drawing/2010/main" val="0"/>
              </a:ext>
            </a:extLst>
          </a:blip>
          <a:srcRect b="15746"/>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10D8D04-FBFD-8D8A-ABF6-E8F15D44AF97}"/>
              </a:ext>
            </a:extLst>
          </p:cNvPr>
          <p:cNvSpPr txBox="1"/>
          <p:nvPr/>
        </p:nvSpPr>
        <p:spPr>
          <a:xfrm>
            <a:off x="6096000" y="382012"/>
            <a:ext cx="5731323" cy="6170920"/>
          </a:xfrm>
          <a:prstGeom prst="rect">
            <a:avLst/>
          </a:prstGeom>
          <a:noFill/>
        </p:spPr>
        <p:txBody>
          <a:bodyPr wrap="square">
            <a:spAutoFit/>
          </a:bodyPr>
          <a:lstStyle/>
          <a:p>
            <a:pPr lvl="0">
              <a:buClr>
                <a:srgbClr val="E48312"/>
              </a:buClr>
              <a:buSzPct val="100000"/>
              <a:defRPr/>
            </a:pPr>
            <a:r>
              <a:rPr lang="en-US" sz="3500" b="1" dirty="0" err="1">
                <a:solidFill>
                  <a:prstClr val="black"/>
                </a:solidFill>
              </a:rPr>
              <a:t>MoSCoW</a:t>
            </a:r>
            <a:r>
              <a:rPr lang="en-US" sz="3500" b="1" dirty="0">
                <a:solidFill>
                  <a:prstClr val="black"/>
                </a:solidFill>
              </a:rPr>
              <a:t> your </a:t>
            </a: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requirements for this semester at IU: schoolwork,</a:t>
            </a:r>
            <a:r>
              <a:rPr kumimoji="0" lang="en-US" sz="3500" b="1" i="0" u="none" strike="noStrike" kern="1200" cap="none" spc="0" normalizeH="0" noProof="0" dirty="0">
                <a:ln>
                  <a:noFill/>
                </a:ln>
                <a:solidFill>
                  <a:prstClr val="black"/>
                </a:solidFill>
                <a:effectLst/>
                <a:uLnTx/>
                <a:uFillTx/>
                <a:latin typeface="Calibri" panose="020F0502020204030204"/>
                <a:ea typeface="+mn-ea"/>
                <a:cs typeface="+mn-cs"/>
              </a:rPr>
              <a:t> money or social life</a:t>
            </a:r>
            <a:r>
              <a:rPr kumimoji="0" lang="en-US" sz="3500" b="1"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457200" lvl="0" indent="-457200">
              <a:buClr>
                <a:srgbClr val="E48312"/>
              </a:buClr>
              <a:buSzPct val="100000"/>
              <a:buFont typeface="Wingdings" panose="05000000000000000000" pitchFamily="2" charset="2"/>
              <a:buChar char="§"/>
              <a:defRPr/>
            </a:pPr>
            <a:r>
              <a:rPr lang="en-US" sz="3500" b="1" dirty="0">
                <a:solidFill>
                  <a:prstClr val="black"/>
                </a:solidFill>
              </a:rPr>
              <a:t>Must-Have</a:t>
            </a:r>
          </a:p>
          <a:p>
            <a:pPr marL="457200" lvl="0" indent="-457200">
              <a:buClr>
                <a:srgbClr val="E48312"/>
              </a:buClr>
              <a:buSzPct val="100000"/>
              <a:buFont typeface="Wingdings" panose="05000000000000000000" pitchFamily="2" charset="2"/>
              <a:buChar char="§"/>
              <a:defRPr/>
            </a:pPr>
            <a:r>
              <a:rPr lang="en-US" sz="3500" b="1" dirty="0">
                <a:solidFill>
                  <a:prstClr val="black"/>
                </a:solidFill>
              </a:rPr>
              <a:t>Should-Have</a:t>
            </a:r>
          </a:p>
          <a:p>
            <a:pPr marL="457200" lvl="0" indent="-457200">
              <a:buClr>
                <a:srgbClr val="E48312"/>
              </a:buClr>
              <a:buSzPct val="100000"/>
              <a:buFont typeface="Wingdings" panose="05000000000000000000" pitchFamily="2" charset="2"/>
              <a:buChar char="§"/>
              <a:defRPr/>
            </a:pPr>
            <a:r>
              <a:rPr lang="en-US" sz="3500" b="1" dirty="0">
                <a:solidFill>
                  <a:prstClr val="black"/>
                </a:solidFill>
              </a:rPr>
              <a:t>Could-Have</a:t>
            </a:r>
          </a:p>
          <a:p>
            <a:pPr marL="457200" lvl="0" indent="-457200">
              <a:buClr>
                <a:srgbClr val="E48312"/>
              </a:buClr>
              <a:buSzPct val="100000"/>
              <a:buFont typeface="Wingdings" panose="05000000000000000000" pitchFamily="2" charset="2"/>
              <a:buChar char="§"/>
              <a:defRPr/>
            </a:pPr>
            <a:r>
              <a:rPr lang="en-US" sz="3500" b="1" dirty="0">
                <a:solidFill>
                  <a:prstClr val="black"/>
                </a:solidFill>
              </a:rPr>
              <a:t>Won’t-Have </a:t>
            </a:r>
          </a:p>
          <a:p>
            <a:pPr lvl="0">
              <a:buClr>
                <a:srgbClr val="E48312"/>
              </a:buClr>
              <a:buSzPct val="100000"/>
              <a:defRPr/>
            </a:pPr>
            <a:endPar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408541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03CEE61A-08EA-F658-23B9-371127FF5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35" y="0"/>
            <a:ext cx="12439135"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8C6F537-CE37-3BA6-B06A-601F522A9F07}"/>
              </a:ext>
            </a:extLst>
          </p:cNvPr>
          <p:cNvSpPr>
            <a:spLocks noGrp="1"/>
          </p:cNvSpPr>
          <p:nvPr>
            <p:ph idx="1"/>
          </p:nvPr>
        </p:nvSpPr>
        <p:spPr>
          <a:xfrm>
            <a:off x="424069" y="646707"/>
            <a:ext cx="7720073" cy="2515238"/>
          </a:xfrm>
        </p:spPr>
        <p:txBody>
          <a:bodyPr>
            <a:normAutofit/>
          </a:bodyPr>
          <a:lstStyle/>
          <a:p>
            <a:pPr marL="0" indent="0">
              <a:lnSpc>
                <a:spcPct val="100000"/>
              </a:lnSpc>
              <a:spcBef>
                <a:spcPts val="0"/>
              </a:spcBef>
              <a:buNone/>
            </a:pPr>
            <a:r>
              <a:rPr lang="en-US" sz="3500" b="1" dirty="0">
                <a:solidFill>
                  <a:schemeClr val="tx1"/>
                </a:solidFill>
                <a:latin typeface="Calibri" panose="020F0502020204030204" pitchFamily="34" charset="0"/>
                <a:cs typeface="Calibri" panose="020F0502020204030204" pitchFamily="34" charset="0"/>
              </a:rPr>
              <a:t>What problem might arise if the client is </a:t>
            </a:r>
            <a:r>
              <a:rPr lang="en-US" sz="3500" b="1" i="1" u="sng" dirty="0">
                <a:solidFill>
                  <a:schemeClr val="tx1"/>
                </a:solidFill>
                <a:latin typeface="Calibri" panose="020F0502020204030204" pitchFamily="34" charset="0"/>
                <a:cs typeface="Calibri" panose="020F0502020204030204" pitchFamily="34" charset="0"/>
              </a:rPr>
              <a:t>too specific</a:t>
            </a:r>
            <a:r>
              <a:rPr lang="en-US" sz="3500" b="1" i="1" dirty="0">
                <a:solidFill>
                  <a:schemeClr val="tx1"/>
                </a:solidFill>
                <a:latin typeface="Calibri" panose="020F0502020204030204" pitchFamily="34" charset="0"/>
                <a:cs typeface="Calibri" panose="020F0502020204030204" pitchFamily="34" charset="0"/>
              </a:rPr>
              <a:t> at the start </a:t>
            </a:r>
            <a:r>
              <a:rPr lang="en-US" sz="3500" b="1" dirty="0">
                <a:solidFill>
                  <a:schemeClr val="tx1"/>
                </a:solidFill>
                <a:latin typeface="Calibri" panose="020F0502020204030204" pitchFamily="34" charset="0"/>
                <a:cs typeface="Calibri" panose="020F0502020204030204" pitchFamily="34" charset="0"/>
              </a:rPr>
              <a:t>about what they want as an outcome for a planning project? </a:t>
            </a:r>
          </a:p>
        </p:txBody>
      </p:sp>
    </p:spTree>
    <p:extLst>
      <p:ext uri="{BB962C8B-B14F-4D97-AF65-F5344CB8AC3E}">
        <p14:creationId xmlns:p14="http://schemas.microsoft.com/office/powerpoint/2010/main" val="26567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EF0FA-8B95-B91C-9D84-BD934BF4A5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12B24-FFA5-0AC6-99E8-796E80944280}"/>
              </a:ext>
            </a:extLst>
          </p:cNvPr>
          <p:cNvSpPr>
            <a:spLocks noGrp="1"/>
          </p:cNvSpPr>
          <p:nvPr>
            <p:ph idx="1"/>
          </p:nvPr>
        </p:nvSpPr>
        <p:spPr>
          <a:xfrm>
            <a:off x="1097278" y="1845733"/>
            <a:ext cx="10789922" cy="4385249"/>
          </a:xfrm>
        </p:spPr>
        <p:txBody>
          <a:bodyPr>
            <a:normAutofit/>
          </a:bodyPr>
          <a:lstStyle/>
          <a:p>
            <a:r>
              <a:rPr lang="en-US" sz="3200" b="1" dirty="0"/>
              <a:t>  </a:t>
            </a:r>
            <a:endParaRPr lang="en-US" sz="3200" dirty="0"/>
          </a:p>
        </p:txBody>
      </p:sp>
      <p:sp>
        <p:nvSpPr>
          <p:cNvPr id="5" name="TextBox 4">
            <a:extLst>
              <a:ext uri="{FF2B5EF4-FFF2-40B4-BE49-F238E27FC236}">
                <a16:creationId xmlns:a16="http://schemas.microsoft.com/office/drawing/2014/main" id="{8128BBC4-716D-A268-A46B-597E1CEB4F70}"/>
              </a:ext>
            </a:extLst>
          </p:cNvPr>
          <p:cNvSpPr txBox="1"/>
          <p:nvPr/>
        </p:nvSpPr>
        <p:spPr>
          <a:xfrm>
            <a:off x="562062" y="478664"/>
            <a:ext cx="11057408" cy="2554545"/>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Being too specific – such as their must be exactly 11 meetings all held between 2 and 5 p.m. on Tuesdays - runs the risk of removing all flexibility from a project.  </a:t>
            </a:r>
          </a:p>
        </p:txBody>
      </p:sp>
      <p:sp>
        <p:nvSpPr>
          <p:cNvPr id="4" name="Slide Number Placeholder 3">
            <a:extLst>
              <a:ext uri="{FF2B5EF4-FFF2-40B4-BE49-F238E27FC236}">
                <a16:creationId xmlns:a16="http://schemas.microsoft.com/office/drawing/2014/main" id="{9EF34090-7127-D016-9383-C2745B1F189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3199358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55010-8E18-48F9-A622-A49881534196}"/>
              </a:ext>
            </a:extLst>
          </p:cNvPr>
          <p:cNvSpPr>
            <a:spLocks noGrp="1"/>
          </p:cNvSpPr>
          <p:nvPr>
            <p:ph type="title"/>
          </p:nvPr>
        </p:nvSpPr>
        <p:spPr>
          <a:xfrm>
            <a:off x="838200" y="18255"/>
            <a:ext cx="10515600" cy="1325563"/>
          </a:xfrm>
        </p:spPr>
        <p:txBody>
          <a:bodyPr>
            <a:noAutofit/>
          </a:bodyPr>
          <a:lstStyle/>
          <a:p>
            <a:pPr algn="ctr">
              <a:lnSpc>
                <a:spcPct val="100000"/>
              </a:lnSpc>
            </a:pPr>
            <a:r>
              <a:rPr lang="en-US" sz="4500" b="1" cap="none" dirty="0">
                <a:solidFill>
                  <a:srgbClr val="FF0000"/>
                </a:solidFill>
              </a:rPr>
              <a:t>Caution</a:t>
            </a:r>
            <a:endParaRPr lang="en-US" sz="4500" cap="none" dirty="0">
              <a:solidFill>
                <a:srgbClr val="FF0000"/>
              </a:solidFill>
            </a:endParaRPr>
          </a:p>
        </p:txBody>
      </p:sp>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43917" y="1062226"/>
            <a:ext cx="11426505" cy="5538271"/>
          </a:xfrm>
        </p:spPr>
        <p:txBody>
          <a:bodyPr anchor="t">
            <a:noAutofit/>
          </a:bodyPr>
          <a:lstStyle/>
          <a:p>
            <a:pPr marL="0" indent="0">
              <a:lnSpc>
                <a:spcPct val="100000"/>
              </a:lnSpc>
              <a:spcBef>
                <a:spcPts val="0"/>
              </a:spcBef>
              <a:buNone/>
            </a:pPr>
            <a:r>
              <a:rPr lang="en-US" sz="3500" b="1" dirty="0">
                <a:solidFill>
                  <a:schemeClr val="tx1"/>
                </a:solidFill>
              </a:rPr>
              <a:t>Expectations and requirements define the solution – not the other way around</a:t>
            </a:r>
            <a:r>
              <a:rPr lang="en-US" sz="3500" dirty="0">
                <a:solidFill>
                  <a:schemeClr val="tx1"/>
                </a:solidFill>
              </a:rPr>
              <a:t>. </a:t>
            </a:r>
            <a:r>
              <a:rPr lang="en-US" sz="3500" b="0" dirty="0">
                <a:solidFill>
                  <a:schemeClr val="tx1"/>
                </a:solidFill>
              </a:rPr>
              <a:t>This trap occurs when people already have an idea about the solution. So, they to lead the witness by building elements of their intended solution into the requirements. </a:t>
            </a:r>
          </a:p>
          <a:p>
            <a:pPr marL="0" indent="0">
              <a:lnSpc>
                <a:spcPct val="100000"/>
              </a:lnSpc>
              <a:spcBef>
                <a:spcPts val="0"/>
              </a:spcBef>
              <a:buNone/>
            </a:pPr>
            <a:endParaRPr lang="en-US" sz="3500" b="0" dirty="0">
              <a:solidFill>
                <a:schemeClr val="tx1"/>
              </a:solidFill>
            </a:endParaRPr>
          </a:p>
          <a:p>
            <a:pPr marL="0" indent="0">
              <a:lnSpc>
                <a:spcPct val="100000"/>
              </a:lnSpc>
              <a:spcBef>
                <a:spcPts val="0"/>
              </a:spcBef>
              <a:buNone/>
            </a:pPr>
            <a:r>
              <a:rPr lang="en-US" sz="3500" b="0" dirty="0">
                <a:solidFill>
                  <a:schemeClr val="tx1"/>
                </a:solidFill>
                <a:highlight>
                  <a:srgbClr val="FFFF00"/>
                </a:highlight>
              </a:rPr>
              <a:t>Once you </a:t>
            </a:r>
            <a:r>
              <a:rPr lang="en-US" sz="3500" b="0" i="1" dirty="0">
                <a:solidFill>
                  <a:schemeClr val="tx1"/>
                </a:solidFill>
                <a:highlight>
                  <a:srgbClr val="FFFF00"/>
                </a:highlight>
              </a:rPr>
              <a:t>have</a:t>
            </a:r>
            <a:r>
              <a:rPr lang="en-US" sz="3500" b="0" dirty="0">
                <a:solidFill>
                  <a:schemeClr val="tx1"/>
                </a:solidFill>
                <a:highlight>
                  <a:srgbClr val="FFFF00"/>
                </a:highlight>
              </a:rPr>
              <a:t> a solution, it's much harder to </a:t>
            </a:r>
            <a:r>
              <a:rPr lang="en-US" sz="3500" b="0" i="1" dirty="0">
                <a:solidFill>
                  <a:schemeClr val="tx1"/>
                </a:solidFill>
                <a:highlight>
                  <a:srgbClr val="FFFF00"/>
                </a:highlight>
              </a:rPr>
              <a:t>find</a:t>
            </a:r>
            <a:r>
              <a:rPr lang="en-US" sz="3500" b="0" dirty="0">
                <a:solidFill>
                  <a:schemeClr val="tx1"/>
                </a:solidFill>
                <a:highlight>
                  <a:srgbClr val="FFFF00"/>
                </a:highlight>
              </a:rPr>
              <a:t> a solution</a:t>
            </a:r>
            <a:r>
              <a:rPr lang="en-US" sz="3500" b="0" dirty="0">
                <a:solidFill>
                  <a:schemeClr val="tx1"/>
                </a:solidFill>
              </a:rPr>
              <a:t>. If you start with a solution already in mind, rather than a requirement, you risk missing alternative solutions that may be cheaper, quicker to deliver, or more fit-for-purpose. </a:t>
            </a:r>
          </a:p>
        </p:txBody>
      </p:sp>
      <p:sp>
        <p:nvSpPr>
          <p:cNvPr id="4" name="Slide Number Placeholder 3">
            <a:extLst>
              <a:ext uri="{FF2B5EF4-FFF2-40B4-BE49-F238E27FC236}">
                <a16:creationId xmlns:a16="http://schemas.microsoft.com/office/drawing/2014/main" id="{4700FD79-5A03-4CA4-B53E-565BCBECF1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903163"/>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900" b="0" i="0" u="none" strike="noStrike" kern="1200" cap="none" spc="0" normalizeH="0" baseline="0" noProof="0" dirty="0">
              <a:ln>
                <a:noFill/>
              </a:ln>
              <a:solidFill>
                <a:srgbClr val="903163"/>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27024997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26" name="Picture 2" descr="Greentown looks to the future in Downtown Revitalization Plan | Local ...">
            <a:extLst>
              <a:ext uri="{FF2B5EF4-FFF2-40B4-BE49-F238E27FC236}">
                <a16:creationId xmlns:a16="http://schemas.microsoft.com/office/drawing/2014/main" id="{0ABA855D-2E68-9834-EC46-82D508183EA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9484" b="6262"/>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622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7F137-4E5A-451E-B8FC-7ED1382AA9BF}"/>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209182B5-C901-463B-8F23-CF1C56B1509B}"/>
              </a:ext>
            </a:extLst>
          </p:cNvPr>
          <p:cNvGraphicFramePr>
            <a:graphicFrameLocks noGrp="1" noChangeAspect="1"/>
          </p:cNvGraphicFramePr>
          <p:nvPr>
            <p:ph idx="1"/>
          </p:nvPr>
        </p:nvGraphicFramePr>
        <p:xfrm>
          <a:off x="0" y="92238"/>
          <a:ext cx="12191999" cy="6518410"/>
        </p:xfrm>
        <a:graphic>
          <a:graphicData uri="http://schemas.openxmlformats.org/presentationml/2006/ole">
            <mc:AlternateContent xmlns:mc="http://schemas.openxmlformats.org/markup-compatibility/2006">
              <mc:Choice xmlns:v="urn:schemas-microsoft-com:vml" Requires="v">
                <p:oleObj name="Acrobat Document" r:id="rId2" imgW="10972800" imgH="16459200" progId="AcroExch.Document.DC">
                  <p:embed/>
                </p:oleObj>
              </mc:Choice>
              <mc:Fallback>
                <p:oleObj name="Acrobat Document" r:id="rId2" imgW="10972800" imgH="16459200" progId="AcroExch.Document.DC">
                  <p:embed/>
                  <p:pic>
                    <p:nvPicPr>
                      <p:cNvPr id="4" name="Content Placeholder 3">
                        <a:extLst>
                          <a:ext uri="{FF2B5EF4-FFF2-40B4-BE49-F238E27FC236}">
                            <a16:creationId xmlns:a16="http://schemas.microsoft.com/office/drawing/2014/main" id="{209182B5-C901-463B-8F23-CF1C56B1509B}"/>
                          </a:ext>
                        </a:extLst>
                      </p:cNvPr>
                      <p:cNvPicPr/>
                      <p:nvPr/>
                    </p:nvPicPr>
                    <p:blipFill>
                      <a:blip r:embed="rId3"/>
                      <a:stretch>
                        <a:fillRect/>
                      </a:stretch>
                    </p:blipFill>
                    <p:spPr>
                      <a:xfrm>
                        <a:off x="0" y="92238"/>
                        <a:ext cx="12191999" cy="6518410"/>
                      </a:xfrm>
                      <a:prstGeom prst="rect">
                        <a:avLst/>
                      </a:prstGeom>
                    </p:spPr>
                  </p:pic>
                </p:oleObj>
              </mc:Fallback>
            </mc:AlternateContent>
          </a:graphicData>
        </a:graphic>
      </p:graphicFrame>
    </p:spTree>
    <p:extLst>
      <p:ext uri="{BB962C8B-B14F-4D97-AF65-F5344CB8AC3E}">
        <p14:creationId xmlns:p14="http://schemas.microsoft.com/office/powerpoint/2010/main" val="1870649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39983-8C68-1AB8-E2C9-6EA93D9C0B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F3CD98-F085-2558-6D92-984BF9F191FE}"/>
              </a:ext>
            </a:extLst>
          </p:cNvPr>
          <p:cNvSpPr>
            <a:spLocks noGrp="1"/>
          </p:cNvSpPr>
          <p:nvPr>
            <p:ph idx="1"/>
          </p:nvPr>
        </p:nvSpPr>
        <p:spPr/>
        <p:txBody>
          <a:bodyPr/>
          <a:lstStyle/>
          <a:p>
            <a:endParaRPr lang="en-US" dirty="0"/>
          </a:p>
        </p:txBody>
      </p:sp>
      <p:pic>
        <p:nvPicPr>
          <p:cNvPr id="2050" name="Picture 2" descr="Ask Us: Bump-outs bug reader, but they serve a purpose | News ...">
            <a:extLst>
              <a:ext uri="{FF2B5EF4-FFF2-40B4-BE49-F238E27FC236}">
                <a16:creationId xmlns:a16="http://schemas.microsoft.com/office/drawing/2014/main" id="{62FC8D45-F5C0-7686-3A37-7E6CF18BD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5784112"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hat other intersections would benefit from artistic Complete Streets ...">
            <a:extLst>
              <a:ext uri="{FF2B5EF4-FFF2-40B4-BE49-F238E27FC236}">
                <a16:creationId xmlns:a16="http://schemas.microsoft.com/office/drawing/2014/main" id="{C77A1B64-A854-F9B6-3D44-52657E3A27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4112" y="0"/>
            <a:ext cx="640788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979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546F-8E90-46FE-9F79-462DB6C6E604}"/>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238D5F1B-8F32-4343-B8EE-D4702E25CFAC}"/>
              </a:ext>
            </a:extLst>
          </p:cNvPr>
          <p:cNvGraphicFramePr>
            <a:graphicFrameLocks noGrp="1" noChangeAspect="1"/>
          </p:cNvGraphicFramePr>
          <p:nvPr>
            <p:ph idx="1"/>
            <p:extLst>
              <p:ext uri="{D42A27DB-BD31-4B8C-83A1-F6EECF244321}">
                <p14:modId xmlns:p14="http://schemas.microsoft.com/office/powerpoint/2010/main" val="3666275869"/>
              </p:ext>
            </p:extLst>
          </p:nvPr>
        </p:nvGraphicFramePr>
        <p:xfrm>
          <a:off x="4433888" y="2681288"/>
          <a:ext cx="3322637" cy="2362200"/>
        </p:xfrm>
        <a:graphic>
          <a:graphicData uri="http://schemas.openxmlformats.org/presentationml/2006/ole">
            <mc:AlternateContent xmlns:mc="http://schemas.openxmlformats.org/markup-compatibility/2006">
              <mc:Choice xmlns:v="urn:schemas-microsoft-com:vml" Requires="v">
                <p:oleObj name="Packager Shell Object" showAsIcon="1" r:id="rId2" imgW="723875" imgH="514350" progId="Package">
                  <p:embed/>
                </p:oleObj>
              </mc:Choice>
              <mc:Fallback>
                <p:oleObj name="Packager Shell Object" showAsIcon="1" r:id="rId2" imgW="723875" imgH="514350" progId="Package">
                  <p:embed/>
                  <p:pic>
                    <p:nvPicPr>
                      <p:cNvPr id="4" name="Content Placeholder 3">
                        <a:extLst>
                          <a:ext uri="{FF2B5EF4-FFF2-40B4-BE49-F238E27FC236}">
                            <a16:creationId xmlns:a16="http://schemas.microsoft.com/office/drawing/2014/main" id="{238D5F1B-8F32-4343-B8EE-D4702E25CFAC}"/>
                          </a:ext>
                        </a:extLst>
                      </p:cNvPr>
                      <p:cNvPicPr/>
                      <p:nvPr/>
                    </p:nvPicPr>
                    <p:blipFill>
                      <a:blip r:embed="rId3"/>
                      <a:stretch>
                        <a:fillRect/>
                      </a:stretch>
                    </p:blipFill>
                    <p:spPr>
                      <a:xfrm>
                        <a:off x="4433888" y="2681288"/>
                        <a:ext cx="3322637" cy="2362200"/>
                      </a:xfrm>
                      <a:prstGeom prst="rect">
                        <a:avLst/>
                      </a:prstGeom>
                    </p:spPr>
                  </p:pic>
                </p:oleObj>
              </mc:Fallback>
            </mc:AlternateContent>
          </a:graphicData>
        </a:graphic>
      </p:graphicFrame>
    </p:spTree>
    <p:extLst>
      <p:ext uri="{BB962C8B-B14F-4D97-AF65-F5344CB8AC3E}">
        <p14:creationId xmlns:p14="http://schemas.microsoft.com/office/powerpoint/2010/main" val="97694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D226D-E10B-411E-9429-7607C04BA749}"/>
              </a:ext>
            </a:extLst>
          </p:cNvPr>
          <p:cNvSpPr>
            <a:spLocks noGrp="1"/>
          </p:cNvSpPr>
          <p:nvPr>
            <p:ph idx="1"/>
          </p:nvPr>
        </p:nvSpPr>
        <p:spPr>
          <a:xfrm>
            <a:off x="633928" y="705242"/>
            <a:ext cx="10789922" cy="4661675"/>
          </a:xfrm>
        </p:spPr>
        <p:txBody>
          <a:bodyPr>
            <a:noAutofit/>
          </a:bodyPr>
          <a:lstStyle/>
          <a:p>
            <a:pPr marL="201168" lvl="1" indent="0" algn="ctr">
              <a:lnSpc>
                <a:spcPct val="100000"/>
              </a:lnSpc>
              <a:buNone/>
            </a:pPr>
            <a:r>
              <a:rPr lang="en-US" sz="5500" dirty="0">
                <a:solidFill>
                  <a:schemeClr val="tx1"/>
                </a:solidFill>
                <a:highlight>
                  <a:srgbClr val="FFFF00"/>
                </a:highlight>
              </a:rPr>
              <a:t>Must meet </a:t>
            </a:r>
            <a:r>
              <a:rPr lang="en-US" sz="5500" b="1" dirty="0">
                <a:solidFill>
                  <a:schemeClr val="tx1"/>
                </a:solidFill>
                <a:highlight>
                  <a:srgbClr val="FFFF00"/>
                </a:highlight>
              </a:rPr>
              <a:t>Client</a:t>
            </a:r>
            <a:r>
              <a:rPr lang="en-US" sz="5500" dirty="0">
                <a:solidFill>
                  <a:schemeClr val="tx1"/>
                </a:solidFill>
                <a:highlight>
                  <a:srgbClr val="FFFF00"/>
                </a:highlight>
              </a:rPr>
              <a:t>’</a:t>
            </a:r>
            <a:r>
              <a:rPr lang="en-US" sz="5500" b="1" dirty="0">
                <a:solidFill>
                  <a:schemeClr val="tx1"/>
                </a:solidFill>
                <a:highlight>
                  <a:srgbClr val="FFFF00"/>
                </a:highlight>
              </a:rPr>
              <a:t>s</a:t>
            </a:r>
            <a:r>
              <a:rPr lang="en-US" sz="5500" dirty="0">
                <a:solidFill>
                  <a:schemeClr val="tx1"/>
                </a:solidFill>
                <a:highlight>
                  <a:srgbClr val="FFFF00"/>
                </a:highlight>
              </a:rPr>
              <a:t> </a:t>
            </a:r>
            <a:r>
              <a:rPr lang="en-US" sz="5500" b="1" dirty="0">
                <a:solidFill>
                  <a:schemeClr val="tx1"/>
                </a:solidFill>
                <a:highlight>
                  <a:srgbClr val="FFFF00"/>
                </a:highlight>
              </a:rPr>
              <a:t>Expectations.</a:t>
            </a:r>
          </a:p>
          <a:p>
            <a:pPr marL="201168" lvl="1" indent="0" algn="ctr">
              <a:lnSpc>
                <a:spcPct val="100000"/>
              </a:lnSpc>
              <a:buNone/>
            </a:pPr>
            <a:endParaRPr lang="en-US" sz="5500" b="1" dirty="0">
              <a:solidFill>
                <a:schemeClr val="tx1"/>
              </a:solidFill>
              <a:highlight>
                <a:srgbClr val="FFFF00"/>
              </a:highlight>
            </a:endParaRPr>
          </a:p>
          <a:p>
            <a:pPr lvl="0" algn="ctr">
              <a:lnSpc>
                <a:spcPct val="100000"/>
              </a:lnSpc>
              <a:spcBef>
                <a:spcPts val="0"/>
              </a:spcBef>
              <a:spcAft>
                <a:spcPts val="0"/>
              </a:spcAft>
              <a:buClr>
                <a:srgbClr val="1CADE4"/>
              </a:buClr>
            </a:pPr>
            <a:r>
              <a:rPr lang="en-US" sz="3800" dirty="0">
                <a:solidFill>
                  <a:schemeClr val="tx1"/>
                </a:solidFill>
              </a:rPr>
              <a:t>Ask – straight out. “What do you need to get out of this project?” </a:t>
            </a:r>
          </a:p>
          <a:p>
            <a:pPr lvl="0" algn="ctr">
              <a:lnSpc>
                <a:spcPct val="100000"/>
              </a:lnSpc>
              <a:spcBef>
                <a:spcPts val="0"/>
              </a:spcBef>
              <a:spcAft>
                <a:spcPts val="0"/>
              </a:spcAft>
              <a:buClr>
                <a:srgbClr val="1CADE4"/>
              </a:buClr>
            </a:pPr>
            <a:endParaRPr lang="en-US" sz="3800" dirty="0">
              <a:solidFill>
                <a:schemeClr val="tx1"/>
              </a:solidFill>
            </a:endParaRPr>
          </a:p>
          <a:p>
            <a:pPr lvl="0" algn="ctr">
              <a:lnSpc>
                <a:spcPct val="100000"/>
              </a:lnSpc>
              <a:spcBef>
                <a:spcPts val="0"/>
              </a:spcBef>
              <a:spcAft>
                <a:spcPts val="0"/>
              </a:spcAft>
              <a:buClr>
                <a:srgbClr val="1CADE4"/>
              </a:buClr>
            </a:pPr>
            <a:r>
              <a:rPr lang="en-US" sz="3800" dirty="0">
                <a:solidFill>
                  <a:schemeClr val="tx1"/>
                </a:solidFill>
              </a:rPr>
              <a:t>What would a successful project look like? A failure?</a:t>
            </a:r>
          </a:p>
          <a:p>
            <a:pPr marL="201168" lvl="1" indent="0">
              <a:lnSpc>
                <a:spcPct val="100000"/>
              </a:lnSpc>
              <a:buNone/>
            </a:pPr>
            <a:endParaRPr lang="en-US" sz="5500" dirty="0">
              <a:solidFill>
                <a:schemeClr val="tx1"/>
              </a:solidFill>
              <a:highlight>
                <a:srgbClr val="FFFF00"/>
              </a:highlight>
            </a:endParaRPr>
          </a:p>
        </p:txBody>
      </p:sp>
      <p:sp>
        <p:nvSpPr>
          <p:cNvPr id="4" name="Slide Number Placeholder 3">
            <a:extLst>
              <a:ext uri="{FF2B5EF4-FFF2-40B4-BE49-F238E27FC236}">
                <a16:creationId xmlns:a16="http://schemas.microsoft.com/office/drawing/2014/main" id="{DBE0EBA4-55E2-406B-A636-516EA2DFE2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1</a:t>
            </a:r>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9408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EAF0E-DE1D-5F4B-499A-962E171DB7E3}"/>
              </a:ext>
            </a:extLst>
          </p:cNvPr>
          <p:cNvSpPr>
            <a:spLocks noGrp="1"/>
          </p:cNvSpPr>
          <p:nvPr>
            <p:ph type="title"/>
          </p:nvPr>
        </p:nvSpPr>
        <p:spPr>
          <a:xfrm>
            <a:off x="370703" y="210065"/>
            <a:ext cx="11479427" cy="1302762"/>
          </a:xfrm>
        </p:spPr>
        <p:txBody>
          <a:bodyPr>
            <a:normAutofit/>
          </a:bodyPr>
          <a:lstStyle/>
          <a:p>
            <a:pPr algn="ctr"/>
            <a:r>
              <a:rPr lang="en-US" sz="4500" b="1" dirty="0">
                <a:solidFill>
                  <a:schemeClr val="tx1"/>
                </a:solidFill>
                <a:latin typeface="Calibri" panose="020F0502020204030204" pitchFamily="34" charset="0"/>
                <a:ea typeface="Meiryo" panose="020B0604030504040204" pitchFamily="34" charset="-128"/>
                <a:cs typeface="Calibri" panose="020F0502020204030204" pitchFamily="34" charset="0"/>
              </a:rPr>
              <a:t>Managing Expectations: Clients </a:t>
            </a:r>
          </a:p>
        </p:txBody>
      </p:sp>
      <p:sp>
        <p:nvSpPr>
          <p:cNvPr id="3" name="Content Placeholder 2">
            <a:extLst>
              <a:ext uri="{FF2B5EF4-FFF2-40B4-BE49-F238E27FC236}">
                <a16:creationId xmlns:a16="http://schemas.microsoft.com/office/drawing/2014/main" id="{4C97C95F-BBDC-4ACE-3075-BD74DF0D6091}"/>
              </a:ext>
            </a:extLst>
          </p:cNvPr>
          <p:cNvSpPr>
            <a:spLocks noGrp="1"/>
          </p:cNvSpPr>
          <p:nvPr>
            <p:ph idx="1"/>
          </p:nvPr>
        </p:nvSpPr>
        <p:spPr>
          <a:xfrm>
            <a:off x="676656" y="1512826"/>
            <a:ext cx="11173474" cy="5345173"/>
          </a:xfrm>
        </p:spPr>
        <p:txBody>
          <a:bodyPr>
            <a:normAutofit fontScale="92500"/>
          </a:bodyPr>
          <a:lstStyle/>
          <a:p>
            <a:pPr marL="514350" indent="-514350">
              <a:lnSpc>
                <a:spcPct val="100000"/>
              </a:lnSpc>
              <a:spcBef>
                <a:spcPts val="0"/>
              </a:spcBef>
              <a:buAutoNum type="arabicPeriod"/>
            </a:pP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Set </a:t>
            </a:r>
            <a:r>
              <a:rPr lang="en-US" sz="3500" b="1" dirty="0">
                <a:solidFill>
                  <a:schemeClr val="tx1"/>
                </a:solidFill>
                <a:latin typeface="Calibri" panose="020F0502020204030204" pitchFamily="34" charset="0"/>
                <a:ea typeface="Meiryo" panose="020B0604030504040204" pitchFamily="34" charset="-128"/>
                <a:cs typeface="Calibri" panose="020F0502020204030204" pitchFamily="34" charset="0"/>
              </a:rPr>
              <a:t>objectives</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 and point to them during every single conversation.</a:t>
            </a:r>
            <a:b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br>
            <a:endPar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endParaRPr>
          </a:p>
          <a:p>
            <a:pPr marL="514350" indent="-514350">
              <a:lnSpc>
                <a:spcPct val="100000"/>
              </a:lnSpc>
              <a:spcBef>
                <a:spcPts val="0"/>
              </a:spcBef>
              <a:buAutoNum type="arabicPeriod"/>
            </a:pP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Be transparent about what you can </a:t>
            </a:r>
            <a:r>
              <a:rPr lang="en-US" sz="3500" b="1" dirty="0">
                <a:solidFill>
                  <a:schemeClr val="tx1"/>
                </a:solidFill>
                <a:latin typeface="Calibri" panose="020F0502020204030204" pitchFamily="34" charset="0"/>
                <a:ea typeface="Meiryo" panose="020B0604030504040204" pitchFamily="34" charset="-128"/>
                <a:cs typeface="Calibri" panose="020F0502020204030204" pitchFamily="34" charset="0"/>
              </a:rPr>
              <a:t>and cannot </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accomplish.</a:t>
            </a:r>
            <a:b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br>
            <a:endPar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endParaRPr>
          </a:p>
          <a:p>
            <a:pPr marL="514350" indent="-514350">
              <a:lnSpc>
                <a:spcPct val="100000"/>
              </a:lnSpc>
              <a:spcBef>
                <a:spcPts val="0"/>
              </a:spcBef>
              <a:buAutoNum type="arabicPeriod"/>
            </a:pPr>
            <a:r>
              <a:rPr lang="en-US" sz="3500" b="1" dirty="0">
                <a:solidFill>
                  <a:srgbClr val="FF0000"/>
                </a:solidFill>
                <a:highlight>
                  <a:srgbClr val="FFFF00"/>
                </a:highlight>
                <a:latin typeface="Calibri" panose="020F0502020204030204" pitchFamily="34" charset="0"/>
                <a:ea typeface="Meiryo" panose="020B0604030504040204" pitchFamily="34" charset="-128"/>
                <a:cs typeface="Calibri" panose="020F0502020204030204" pitchFamily="34" charset="0"/>
              </a:rPr>
              <a:t>Steady communication</a:t>
            </a:r>
            <a:r>
              <a:rPr lang="en-US" sz="3500" b="1" dirty="0">
                <a:solidFill>
                  <a:srgbClr val="FF0000"/>
                </a:solidFill>
                <a:latin typeface="Calibri" panose="020F0502020204030204" pitchFamily="34" charset="0"/>
                <a:ea typeface="Meiryo" panose="020B0604030504040204" pitchFamily="34" charset="-128"/>
                <a:cs typeface="Calibri" panose="020F0502020204030204" pitchFamily="34" charset="0"/>
              </a:rPr>
              <a:t> </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during bad times </a:t>
            </a:r>
            <a:r>
              <a:rPr lang="en-US" sz="3500" b="1" u="sng" dirty="0">
                <a:solidFill>
                  <a:schemeClr val="tx1"/>
                </a:solidFill>
                <a:latin typeface="Calibri" panose="020F0502020204030204" pitchFamily="34" charset="0"/>
                <a:ea typeface="Meiryo" panose="020B0604030504040204" pitchFamily="34" charset="-128"/>
                <a:cs typeface="Calibri" panose="020F0502020204030204" pitchFamily="34" charset="0"/>
              </a:rPr>
              <a:t>and</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 good.</a:t>
            </a:r>
            <a:b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br>
            <a:endPar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endParaRPr>
          </a:p>
          <a:p>
            <a:pPr marL="514350" indent="-514350">
              <a:lnSpc>
                <a:spcPct val="100000"/>
              </a:lnSpc>
              <a:spcBef>
                <a:spcPts val="0"/>
              </a:spcBef>
              <a:buAutoNum type="arabicPeriod"/>
            </a:pPr>
            <a:r>
              <a:rPr lang="en-US" sz="3500" b="1" dirty="0">
                <a:solidFill>
                  <a:srgbClr val="FF0000"/>
                </a:solidFill>
                <a:highlight>
                  <a:srgbClr val="FFFF00"/>
                </a:highlight>
                <a:latin typeface="Calibri" panose="020F0502020204030204" pitchFamily="34" charset="0"/>
                <a:ea typeface="Meiryo" panose="020B0604030504040204" pitchFamily="34" charset="-128"/>
                <a:cs typeface="Calibri" panose="020F0502020204030204" pitchFamily="34" charset="0"/>
              </a:rPr>
              <a:t>Under-promise</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 and </a:t>
            </a:r>
            <a:r>
              <a:rPr lang="en-US" sz="3500" b="1" dirty="0">
                <a:solidFill>
                  <a:srgbClr val="FF0000"/>
                </a:solidFill>
                <a:highlight>
                  <a:srgbClr val="FFFF00"/>
                </a:highlight>
                <a:latin typeface="Calibri" panose="020F0502020204030204" pitchFamily="34" charset="0"/>
                <a:ea typeface="Meiryo" panose="020B0604030504040204" pitchFamily="34" charset="-128"/>
                <a:cs typeface="Calibri" panose="020F0502020204030204" pitchFamily="34" charset="0"/>
              </a:rPr>
              <a:t>over-deliver</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 Don’t say, “We </a:t>
            </a:r>
            <a:r>
              <a:rPr lang="en-US" sz="3500" i="1" dirty="0">
                <a:solidFill>
                  <a:schemeClr val="tx1"/>
                </a:solidFill>
                <a:latin typeface="Calibri" panose="020F0502020204030204" pitchFamily="34" charset="0"/>
                <a:ea typeface="Meiryo" panose="020B0604030504040204" pitchFamily="34" charset="-128"/>
                <a:cs typeface="Calibri" panose="020F0502020204030204" pitchFamily="34" charset="0"/>
              </a:rPr>
              <a:t>might</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 be able to do that,” if you know you can’t. Build in some cushion for the unexpected, and then deliver </a:t>
            </a:r>
            <a:r>
              <a:rPr lang="en-US" sz="3500" b="1" dirty="0">
                <a:solidFill>
                  <a:schemeClr val="tx1"/>
                </a:solidFill>
                <a:latin typeface="Calibri" panose="020F0502020204030204" pitchFamily="34" charset="0"/>
                <a:ea typeface="Meiryo" panose="020B0604030504040204" pitchFamily="34" charset="-128"/>
                <a:cs typeface="Calibri" panose="020F0502020204030204" pitchFamily="34" charset="0"/>
              </a:rPr>
              <a:t>ahead</a:t>
            </a:r>
            <a:r>
              <a:rPr lang="en-US" sz="3500" dirty="0">
                <a:solidFill>
                  <a:schemeClr val="tx1"/>
                </a:solidFill>
                <a:latin typeface="Calibri" panose="020F0502020204030204" pitchFamily="34" charset="0"/>
                <a:ea typeface="Meiryo" panose="020B0604030504040204" pitchFamily="34" charset="-128"/>
                <a:cs typeface="Calibri" panose="020F0502020204030204" pitchFamily="34" charset="0"/>
              </a:rPr>
              <a:t> of time. </a:t>
            </a:r>
          </a:p>
          <a:p>
            <a:pPr marL="514350" indent="-514350">
              <a:lnSpc>
                <a:spcPct val="100000"/>
              </a:lnSpc>
              <a:spcBef>
                <a:spcPts val="0"/>
              </a:spcBef>
              <a:buAutoNum type="arabicPeriod"/>
            </a:pPr>
            <a:endParaRPr lang="en-US" sz="2600" dirty="0">
              <a:solidFill>
                <a:schemeClr val="tx1"/>
              </a:solidFill>
              <a:latin typeface="Meiryo" panose="020B0604030504040204" pitchFamily="34" charset="-128"/>
              <a:ea typeface="Meiryo" panose="020B0604030504040204" pitchFamily="34" charset="-128"/>
            </a:endParaRPr>
          </a:p>
        </p:txBody>
      </p:sp>
      <p:pic>
        <p:nvPicPr>
          <p:cNvPr id="4" name="Picture 3">
            <a:extLst>
              <a:ext uri="{FF2B5EF4-FFF2-40B4-BE49-F238E27FC236}">
                <a16:creationId xmlns:a16="http://schemas.microsoft.com/office/drawing/2014/main" id="{3B0F037D-F62E-0D06-B490-DF1A6B1327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1518584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ackgrounds Gold - Wallpaper Cave">
            <a:extLst>
              <a:ext uri="{FF2B5EF4-FFF2-40B4-BE49-F238E27FC236}">
                <a16:creationId xmlns:a16="http://schemas.microsoft.com/office/drawing/2014/main" id="{4BF0455D-E564-0A6B-5755-A1213975B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Tuition PNG Transparent Images Free Download | Vector Files | Pngtree">
            <a:extLst>
              <a:ext uri="{FF2B5EF4-FFF2-40B4-BE49-F238E27FC236}">
                <a16:creationId xmlns:a16="http://schemas.microsoft.com/office/drawing/2014/main" id="{086CC3C1-7BE7-395E-10BB-AE0F9B71D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599264">
            <a:off x="9426680" y="457377"/>
            <a:ext cx="3242676" cy="12655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007D036-CDBC-4EB9-A94F-BEAB3E20CFD1}"/>
              </a:ext>
            </a:extLst>
          </p:cNvPr>
          <p:cNvSpPr txBox="1">
            <a:spLocks/>
          </p:cNvSpPr>
          <p:nvPr/>
        </p:nvSpPr>
        <p:spPr>
          <a:xfrm>
            <a:off x="926362" y="380209"/>
            <a:ext cx="10646229" cy="9721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500" b="1" dirty="0">
                <a:latin typeface="Calibri" panose="020F0502020204030204" pitchFamily="34" charset="0"/>
                <a:ea typeface="Meiryo" panose="020B0604030504040204" pitchFamily="34" charset="-128"/>
                <a:cs typeface="Calibri" panose="020F0502020204030204" pitchFamily="34" charset="0"/>
              </a:rPr>
              <a:t>Expectations</a:t>
            </a:r>
            <a:endParaRPr lang="en-US" b="1" dirty="0">
              <a:latin typeface="Calibri" panose="020F0502020204030204" pitchFamily="34" charset="0"/>
              <a:ea typeface="Meiryo" panose="020B0604030504040204" pitchFamily="34" charset="-128"/>
              <a:cs typeface="Calibri" panose="020F0502020204030204" pitchFamily="34" charset="0"/>
            </a:endParaRPr>
          </a:p>
        </p:txBody>
      </p:sp>
      <p:sp>
        <p:nvSpPr>
          <p:cNvPr id="5" name="TextBox 4">
            <a:extLst>
              <a:ext uri="{FF2B5EF4-FFF2-40B4-BE49-F238E27FC236}">
                <a16:creationId xmlns:a16="http://schemas.microsoft.com/office/drawing/2014/main" id="{B4C1E0D5-8078-41F7-92FD-B0778A6FFADD}"/>
              </a:ext>
            </a:extLst>
          </p:cNvPr>
          <p:cNvSpPr txBox="1"/>
          <p:nvPr/>
        </p:nvSpPr>
        <p:spPr>
          <a:xfrm>
            <a:off x="760564" y="1466721"/>
            <a:ext cx="11666289" cy="49398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Make this a </a:t>
            </a: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concrete</a:t>
            </a:r>
            <a:r>
              <a:rPr kumimoji="0" lang="en-US" sz="3500" b="1"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r>
              <a:rPr kumimoji="0" lang="en-US" sz="350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item on your prep to-do list.</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“What’s the biggest thing you hope comes out of this project?”</a:t>
            </a:r>
            <a:b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b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“What’s your biggest fear? What could go wrong?”</a:t>
            </a:r>
            <a:b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b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“What are </a:t>
            </a:r>
            <a:r>
              <a:rPr kumimoji="0" lang="en-US" sz="3500" b="0" i="1"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other people</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expecting of this project?”</a:t>
            </a:r>
            <a:b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b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“What’s your </a:t>
            </a:r>
            <a:r>
              <a:rPr kumimoji="0" lang="en-US" sz="3500" b="0" i="0" u="none" strike="noStrike" kern="1200" cap="none" spc="0" normalizeH="0" baseline="0" noProof="0" dirty="0" err="1">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MoSCoW</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for the project?”</a:t>
            </a:r>
            <a:endParaRPr kumimoji="0" lang="en-US" sz="28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Calibri" panose="020F0502020204030204" pitchFamily="34" charset="0"/>
            </a:endParaRPr>
          </a:p>
        </p:txBody>
      </p:sp>
    </p:spTree>
    <p:extLst>
      <p:ext uri="{BB962C8B-B14F-4D97-AF65-F5344CB8AC3E}">
        <p14:creationId xmlns:p14="http://schemas.microsoft.com/office/powerpoint/2010/main" val="18427106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E2BAF-BCB5-688C-7EB6-663342B3CDF4}"/>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FCA04A76-50A0-802B-7038-2C85ED5EAEA0}"/>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2" name="Title 1">
            <a:extLst>
              <a:ext uri="{FF2B5EF4-FFF2-40B4-BE49-F238E27FC236}">
                <a16:creationId xmlns:a16="http://schemas.microsoft.com/office/drawing/2014/main" id="{A926DE14-0426-FC8B-B3F4-3B3C3319DB2E}"/>
              </a:ext>
            </a:extLst>
          </p:cNvPr>
          <p:cNvSpPr>
            <a:spLocks noGrp="1"/>
          </p:cNvSpPr>
          <p:nvPr>
            <p:ph type="ctrTitle"/>
          </p:nvPr>
        </p:nvSpPr>
        <p:spPr>
          <a:xfrm>
            <a:off x="4153234" y="3429000"/>
            <a:ext cx="8149839" cy="2683380"/>
          </a:xfrm>
        </p:spPr>
        <p:txBody>
          <a:bodyPr anchor="ctr">
            <a:noAutofit/>
          </a:bodyPr>
          <a:lstStyle/>
          <a:p>
            <a:pPr lvl="0" fontAlgn="base">
              <a:lnSpc>
                <a:spcPct val="90000"/>
              </a:lnSpc>
              <a:defRPr/>
            </a:pPr>
            <a:r>
              <a:rPr lang="en-US" sz="9600" b="1" spc="0" dirty="0">
                <a:solidFill>
                  <a:prstClr val="black"/>
                </a:solidFill>
                <a:latin typeface="Calibri" panose="020F0502020204030204"/>
              </a:rPr>
              <a:t>Goals &amp; Objectives</a:t>
            </a:r>
            <a:r>
              <a:rPr lang="en-US" sz="9600" b="1" spc="0" dirty="0">
                <a:solidFill>
                  <a:prstClr val="black"/>
                </a:solidFill>
                <a:latin typeface="Calibri" panose="020F0502020204030204"/>
                <a:cs typeface="Calibri" panose="020F0502020204030204" pitchFamily="34" charset="0"/>
              </a:rPr>
              <a:t> </a:t>
            </a:r>
            <a:endParaRPr lang="en-US" sz="9600" spc="0" dirty="0">
              <a:solidFill>
                <a:prstClr val="black"/>
              </a:solidFill>
              <a:latin typeface="Calibri" panose="020F0502020204030204"/>
              <a:cs typeface="Calibri" panose="020F0502020204030204" pitchFamily="34" charset="0"/>
            </a:endParaRPr>
          </a:p>
        </p:txBody>
      </p:sp>
    </p:spTree>
    <p:extLst>
      <p:ext uri="{BB962C8B-B14F-4D97-AF65-F5344CB8AC3E}">
        <p14:creationId xmlns:p14="http://schemas.microsoft.com/office/powerpoint/2010/main" val="740494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645952" y="578841"/>
            <a:ext cx="11145454" cy="5704076"/>
          </a:xfrm>
        </p:spPr>
        <p:txBody>
          <a:bodyPr>
            <a:noAutofit/>
          </a:bodyPr>
          <a:lstStyle/>
          <a:p>
            <a:pPr marL="0" indent="0">
              <a:lnSpc>
                <a:spcPct val="100000"/>
              </a:lnSpc>
              <a:spcBef>
                <a:spcPts val="0"/>
              </a:spcBef>
              <a:buNone/>
            </a:pPr>
            <a:r>
              <a:rPr lang="en-US" sz="3500" dirty="0">
                <a:solidFill>
                  <a:schemeClr val="tx1"/>
                </a:solidFill>
                <a:highlight>
                  <a:srgbClr val="FFFF00"/>
                </a:highlight>
                <a:latin typeface="Calibri" panose="020F0502020204030204" pitchFamily="34" charset="0"/>
                <a:cs typeface="Calibri" panose="020F0502020204030204" pitchFamily="34" charset="0"/>
              </a:rPr>
              <a:t>People use the terms interchangeably, but the main difference comes in their level of </a:t>
            </a:r>
            <a:r>
              <a:rPr lang="en-US" sz="3500" b="1" dirty="0">
                <a:solidFill>
                  <a:srgbClr val="FF0000"/>
                </a:solidFill>
                <a:highlight>
                  <a:srgbClr val="FFFF00"/>
                </a:highlight>
                <a:latin typeface="Calibri" panose="020F0502020204030204" pitchFamily="34" charset="0"/>
                <a:cs typeface="Calibri" panose="020F0502020204030204" pitchFamily="34" charset="0"/>
              </a:rPr>
              <a:t>concreteness</a:t>
            </a:r>
            <a:r>
              <a:rPr lang="en-US" sz="3500" dirty="0">
                <a:latin typeface="Calibri" panose="020F0502020204030204" pitchFamily="34" charset="0"/>
                <a:cs typeface="Calibri" panose="020F0502020204030204" pitchFamily="34" charset="0"/>
              </a:rPr>
              <a:t>. </a:t>
            </a:r>
          </a:p>
          <a:p>
            <a:pPr marL="0" indent="0">
              <a:lnSpc>
                <a:spcPct val="100000"/>
              </a:lnSpc>
              <a:spcBef>
                <a:spcPts val="0"/>
              </a:spcBef>
              <a:buNone/>
            </a:pPr>
            <a:endParaRPr lang="en-US" sz="35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3500" b="1" dirty="0">
                <a:solidFill>
                  <a:srgbClr val="FF0000"/>
                </a:solidFill>
                <a:latin typeface="Calibri" panose="020F0502020204030204" pitchFamily="34" charset="0"/>
                <a:cs typeface="Calibri" panose="020F0502020204030204" pitchFamily="34" charset="0"/>
              </a:rPr>
              <a:t>Goals</a:t>
            </a:r>
            <a:r>
              <a:rPr lang="en-US" sz="3500" dirty="0">
                <a:solidFill>
                  <a:schemeClr val="tx1"/>
                </a:solidFill>
                <a:latin typeface="Calibri" panose="020F0502020204030204" pitchFamily="34" charset="0"/>
                <a:cs typeface="Calibri" panose="020F0502020204030204" pitchFamily="34" charset="0"/>
              </a:rPr>
              <a:t> have no set way to measure; you can never say for sure that you have definitively achieved them.</a:t>
            </a:r>
          </a:p>
          <a:p>
            <a:pPr marL="0" indent="0">
              <a:lnSpc>
                <a:spcPct val="100000"/>
              </a:lnSpc>
              <a:spcBef>
                <a:spcPts val="0"/>
              </a:spcBef>
              <a:buNone/>
            </a:pPr>
            <a:endParaRPr lang="en-US" sz="3500" dirty="0">
              <a:solidFill>
                <a:schemeClr val="tx1"/>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3500" b="1" dirty="0">
                <a:solidFill>
                  <a:srgbClr val="FF0000"/>
                </a:solidFill>
                <a:latin typeface="Calibri" panose="020F0502020204030204" pitchFamily="34" charset="0"/>
                <a:cs typeface="Calibri" panose="020F0502020204030204" pitchFamily="34" charset="0"/>
              </a:rPr>
              <a:t>Objectives</a:t>
            </a:r>
            <a:r>
              <a:rPr lang="en-US" sz="3500" dirty="0">
                <a:solidFill>
                  <a:schemeClr val="tx1"/>
                </a:solidFill>
                <a:latin typeface="Calibri" panose="020F0502020204030204" pitchFamily="34" charset="0"/>
                <a:cs typeface="Calibri" panose="020F0502020204030204" pitchFamily="34" charset="0"/>
              </a:rPr>
              <a:t> can be </a:t>
            </a:r>
            <a:r>
              <a:rPr lang="en-US" sz="3500" b="1" dirty="0">
                <a:solidFill>
                  <a:schemeClr val="tx1"/>
                </a:solidFill>
                <a:latin typeface="Calibri" panose="020F0502020204030204" pitchFamily="34" charset="0"/>
                <a:cs typeface="Calibri" panose="020F0502020204030204" pitchFamily="34" charset="0"/>
              </a:rPr>
              <a:t>measured</a:t>
            </a:r>
            <a:r>
              <a:rPr lang="en-US" sz="3500" dirty="0">
                <a:solidFill>
                  <a:schemeClr val="tx1"/>
                </a:solidFill>
                <a:latin typeface="Calibri" panose="020F0502020204030204" pitchFamily="34" charset="0"/>
                <a:cs typeface="Calibri" panose="020F0502020204030204" pitchFamily="34" charset="0"/>
              </a:rPr>
              <a:t>. Simply phrase your objective in the form of a question. For example, ‘I want to accomplish x in y amount of time’ becomes ‘Did I accomplish x in y amount of time?’ </a:t>
            </a:r>
          </a:p>
        </p:txBody>
      </p:sp>
      <p:pic>
        <p:nvPicPr>
          <p:cNvPr id="2" name="Picture 1">
            <a:extLst>
              <a:ext uri="{FF2B5EF4-FFF2-40B4-BE49-F238E27FC236}">
                <a16:creationId xmlns:a16="http://schemas.microsoft.com/office/drawing/2014/main" id="{05544B23-B0D5-4083-9A75-92957CEB96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3697974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818606" y="536895"/>
            <a:ext cx="10972800" cy="5746021"/>
          </a:xfrm>
        </p:spPr>
        <p:txBody>
          <a:bodyPr>
            <a:normAutofit/>
          </a:bodyPr>
          <a:lstStyle/>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Goals help you set your </a:t>
            </a:r>
            <a:r>
              <a:rPr lang="en-US" sz="3500" b="1" dirty="0">
                <a:solidFill>
                  <a:schemeClr val="tx1"/>
                </a:solidFill>
                <a:highlight>
                  <a:srgbClr val="FFFF00"/>
                </a:highlight>
                <a:latin typeface="Calibri" panose="020F0502020204030204" pitchFamily="34" charset="0"/>
                <a:cs typeface="Calibri" panose="020F0502020204030204" pitchFamily="34" charset="0"/>
              </a:rPr>
              <a:t>priorities</a:t>
            </a:r>
            <a:r>
              <a:rPr lang="en-US" sz="3500" dirty="0">
                <a:solidFill>
                  <a:schemeClr val="tx1"/>
                </a:solidFill>
                <a:latin typeface="Calibri" panose="020F0502020204030204" pitchFamily="34" charset="0"/>
                <a:cs typeface="Calibri" panose="020F0502020204030204" pitchFamily="34" charset="0"/>
              </a:rPr>
              <a:t>. </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Goals set to be achieved over a long period.</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Goals </a:t>
            </a:r>
            <a:r>
              <a:rPr lang="en-US" sz="3500" b="1" dirty="0">
                <a:solidFill>
                  <a:schemeClr val="tx1"/>
                </a:solidFill>
                <a:highlight>
                  <a:srgbClr val="FFFF00"/>
                </a:highlight>
                <a:latin typeface="Calibri" panose="020F0502020204030204" pitchFamily="34" charset="0"/>
                <a:cs typeface="Calibri" panose="020F0502020204030204" pitchFamily="34" charset="0"/>
              </a:rPr>
              <a:t>motivate</a:t>
            </a:r>
            <a:r>
              <a:rPr lang="en-US" sz="3500" dirty="0">
                <a:solidFill>
                  <a:schemeClr val="tx1"/>
                </a:solidFill>
                <a:latin typeface="Calibri" panose="020F0502020204030204" pitchFamily="34" charset="0"/>
                <a:cs typeface="Calibri" panose="020F0502020204030204" pitchFamily="34" charset="0"/>
              </a:rPr>
              <a:t> you to act. </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Goals give </a:t>
            </a:r>
            <a:r>
              <a:rPr lang="en-US" sz="3500" b="1" dirty="0">
                <a:solidFill>
                  <a:schemeClr val="tx1"/>
                </a:solidFill>
                <a:highlight>
                  <a:srgbClr val="FFFF00"/>
                </a:highlight>
                <a:latin typeface="Calibri" panose="020F0502020204030204" pitchFamily="34" charset="0"/>
                <a:cs typeface="Calibri" panose="020F0502020204030204" pitchFamily="34" charset="0"/>
              </a:rPr>
              <a:t>direction</a:t>
            </a:r>
            <a:r>
              <a:rPr lang="en-US" sz="3500" dirty="0">
                <a:solidFill>
                  <a:schemeClr val="tx1"/>
                </a:solidFill>
                <a:latin typeface="Calibri" panose="020F0502020204030204" pitchFamily="34" charset="0"/>
                <a:cs typeface="Calibri" panose="020F0502020204030204" pitchFamily="34" charset="0"/>
              </a:rPr>
              <a:t> to your efforts. </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Goals support </a:t>
            </a:r>
            <a:r>
              <a:rPr lang="en-US" sz="3500" b="1" dirty="0">
                <a:solidFill>
                  <a:schemeClr val="tx1"/>
                </a:solidFill>
                <a:highlight>
                  <a:srgbClr val="FFFF00"/>
                </a:highlight>
                <a:latin typeface="Calibri" panose="020F0502020204030204" pitchFamily="34" charset="0"/>
                <a:cs typeface="Calibri" panose="020F0502020204030204" pitchFamily="34" charset="0"/>
              </a:rPr>
              <a:t>decision-making</a:t>
            </a:r>
            <a:r>
              <a:rPr lang="en-US" sz="3500" dirty="0">
                <a:solidFill>
                  <a:schemeClr val="tx1"/>
                </a:solidFill>
                <a:latin typeface="Calibri" panose="020F0502020204030204" pitchFamily="34" charset="0"/>
                <a:cs typeface="Calibri" panose="020F0502020204030204" pitchFamily="34" charset="0"/>
              </a:rPr>
              <a:t>. </a:t>
            </a:r>
          </a:p>
          <a:p>
            <a:pPr>
              <a:lnSpc>
                <a:spcPct val="100000"/>
              </a:lnSpc>
              <a:spcBef>
                <a:spcPts val="0"/>
              </a:spcBef>
              <a:buFont typeface="Wingdings" panose="05000000000000000000" pitchFamily="2" charset="2"/>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57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fade">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fade">
                                      <p:cBhvr>
                                        <p:cTn id="17" dur="500"/>
                                        <p:tgtEl>
                                          <p:spTgt spid="7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fade">
                                      <p:cBhvr>
                                        <p:cTn id="22" dur="500"/>
                                        <p:tgtEl>
                                          <p:spTgt spid="71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Effect transition="in" filter="fade">
                                      <p:cBhvr>
                                        <p:cTn id="27"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818606" y="696287"/>
            <a:ext cx="10972800" cy="5586630"/>
          </a:xfrm>
        </p:spPr>
        <p:txBody>
          <a:bodyPr>
            <a:normAutofit/>
          </a:bodyPr>
          <a:lstStyle/>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Objectives </a:t>
            </a:r>
            <a:r>
              <a:rPr lang="en-US" sz="3500" b="1" dirty="0">
                <a:solidFill>
                  <a:schemeClr val="tx1"/>
                </a:solidFill>
                <a:highlight>
                  <a:srgbClr val="FFFF00"/>
                </a:highlight>
                <a:latin typeface="Calibri" panose="020F0502020204030204" pitchFamily="34" charset="0"/>
                <a:cs typeface="Calibri" panose="020F0502020204030204" pitchFamily="34" charset="0"/>
              </a:rPr>
              <a:t>measure your progress</a:t>
            </a:r>
            <a:r>
              <a:rPr lang="en-US" sz="3500" dirty="0">
                <a:solidFill>
                  <a:schemeClr val="tx1"/>
                </a:solidFill>
                <a:latin typeface="Calibri" panose="020F0502020204030204" pitchFamily="34" charset="0"/>
                <a:cs typeface="Calibri" panose="020F0502020204030204" pitchFamily="34" charset="0"/>
              </a:rPr>
              <a:t> toward your goal.  </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Objectives offer a </a:t>
            </a:r>
            <a:r>
              <a:rPr lang="en-US" sz="3500" b="1" dirty="0">
                <a:solidFill>
                  <a:schemeClr val="tx1"/>
                </a:solidFill>
                <a:highlight>
                  <a:srgbClr val="FFFF00"/>
                </a:highlight>
                <a:latin typeface="Calibri" panose="020F0502020204030204" pitchFamily="34" charset="0"/>
                <a:cs typeface="Calibri" panose="020F0502020204030204" pitchFamily="34" charset="0"/>
              </a:rPr>
              <a:t>sense of achievement</a:t>
            </a:r>
            <a:r>
              <a:rPr lang="en-US" sz="3500" dirty="0">
                <a:solidFill>
                  <a:schemeClr val="tx1"/>
                </a:solidFill>
                <a:latin typeface="Calibri" panose="020F0502020204030204" pitchFamily="34" charset="0"/>
                <a:cs typeface="Calibri" panose="020F0502020204030204" pitchFamily="34" charset="0"/>
              </a:rPr>
              <a:t>.</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Objectives help in making </a:t>
            </a:r>
            <a:r>
              <a:rPr lang="en-US" sz="3500" b="1" dirty="0">
                <a:solidFill>
                  <a:schemeClr val="tx1"/>
                </a:solidFill>
                <a:highlight>
                  <a:srgbClr val="FFFF00"/>
                </a:highlight>
                <a:latin typeface="Calibri" panose="020F0502020204030204" pitchFamily="34" charset="0"/>
                <a:cs typeface="Calibri" panose="020F0502020204030204" pitchFamily="34" charset="0"/>
              </a:rPr>
              <a:t>difficult decisions</a:t>
            </a:r>
            <a:r>
              <a:rPr lang="en-US" sz="3500" dirty="0">
                <a:solidFill>
                  <a:schemeClr val="tx1"/>
                </a:solidFill>
                <a:latin typeface="Calibri" panose="020F0502020204030204" pitchFamily="34" charset="0"/>
                <a:cs typeface="Calibri" panose="020F0502020204030204" pitchFamily="34" charset="0"/>
              </a:rPr>
              <a:t>. </a:t>
            </a:r>
          </a:p>
          <a:p>
            <a:pPr>
              <a:lnSpc>
                <a:spcPct val="150000"/>
              </a:lnSpc>
              <a:spcBef>
                <a:spcPts val="0"/>
              </a:spcBef>
              <a:buFont typeface="Wingdings" panose="05000000000000000000" pitchFamily="2" charset="2"/>
              <a:buChar char="§"/>
            </a:pPr>
            <a:r>
              <a:rPr lang="en-US" sz="3500" dirty="0">
                <a:solidFill>
                  <a:schemeClr val="tx1"/>
                </a:solidFill>
                <a:latin typeface="Calibri" panose="020F0502020204030204" pitchFamily="34" charset="0"/>
                <a:cs typeface="Calibri" panose="020F0502020204030204" pitchFamily="34" charset="0"/>
              </a:rPr>
              <a:t> Objectives help you understand </a:t>
            </a:r>
            <a:r>
              <a:rPr lang="en-US" sz="3500" b="1" dirty="0">
                <a:solidFill>
                  <a:schemeClr val="tx1"/>
                </a:solidFill>
                <a:highlight>
                  <a:srgbClr val="FFFF00"/>
                </a:highlight>
                <a:latin typeface="Calibri" panose="020F0502020204030204" pitchFamily="34" charset="0"/>
                <a:cs typeface="Calibri" panose="020F0502020204030204" pitchFamily="34" charset="0"/>
              </a:rPr>
              <a:t>what is expected</a:t>
            </a:r>
            <a:r>
              <a:rPr lang="en-US" sz="3500" dirty="0">
                <a:solidFill>
                  <a:schemeClr val="tx1"/>
                </a:solidFill>
                <a:latin typeface="Calibri" panose="020F0502020204030204" pitchFamily="34" charset="0"/>
                <a:cs typeface="Calibri" panose="020F0502020204030204" pitchFamily="34" charset="0"/>
              </a:rPr>
              <a:t> of you. </a:t>
            </a:r>
          </a:p>
        </p:txBody>
      </p:sp>
    </p:spTree>
    <p:extLst>
      <p:ext uri="{BB962C8B-B14F-4D97-AF65-F5344CB8AC3E}">
        <p14:creationId xmlns:p14="http://schemas.microsoft.com/office/powerpoint/2010/main" val="137884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fade">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fade">
                                      <p:cBhvr>
                                        <p:cTn id="17" dur="500"/>
                                        <p:tgtEl>
                                          <p:spTgt spid="7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fade">
                                      <p:cBhvr>
                                        <p:cTn id="22"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701161" y="587229"/>
            <a:ext cx="10972800" cy="6065241"/>
          </a:xfrm>
        </p:spPr>
        <p:txBody>
          <a:bodyPr>
            <a:normAutofit/>
          </a:bodyPr>
          <a:lstStyle/>
          <a:p>
            <a:pPr marL="0" indent="0">
              <a:lnSpc>
                <a:spcPct val="100000"/>
              </a:lnSpc>
              <a:spcBef>
                <a:spcPts val="0"/>
              </a:spcBef>
              <a:buNone/>
            </a:pPr>
            <a:r>
              <a:rPr lang="en-US" sz="3500" dirty="0">
                <a:solidFill>
                  <a:schemeClr val="tx1"/>
                </a:solidFill>
                <a:latin typeface="Calibri" panose="020F0502020204030204" pitchFamily="34" charset="0"/>
                <a:cs typeface="Calibri" panose="020F0502020204030204" pitchFamily="34" charset="0"/>
              </a:rPr>
              <a:t>Goals and objectives </a:t>
            </a:r>
            <a:r>
              <a:rPr lang="en-US" sz="3500" b="1" dirty="0">
                <a:solidFill>
                  <a:schemeClr val="tx1"/>
                </a:solidFill>
                <a:highlight>
                  <a:srgbClr val="FFFF00"/>
                </a:highlight>
                <a:latin typeface="Calibri" panose="020F0502020204030204" pitchFamily="34" charset="0"/>
                <a:cs typeface="Calibri" panose="020F0502020204030204" pitchFamily="34" charset="0"/>
              </a:rPr>
              <a:t>work in tandem</a:t>
            </a:r>
            <a:r>
              <a:rPr lang="en-US" sz="3500" dirty="0">
                <a:solidFill>
                  <a:schemeClr val="tx1"/>
                </a:solidFill>
                <a:latin typeface="Calibri" panose="020F0502020204030204" pitchFamily="34" charset="0"/>
                <a:cs typeface="Calibri" panose="020F0502020204030204" pitchFamily="34" charset="0"/>
              </a:rPr>
              <a:t> to achieve success. If you create goals without clear objectives, you’re in extreme danger of not accomplishing your goals.</a:t>
            </a:r>
          </a:p>
          <a:p>
            <a:pPr marL="0" indent="0">
              <a:lnSpc>
                <a:spcPct val="100000"/>
              </a:lnSpc>
              <a:spcBef>
                <a:spcPts val="0"/>
              </a:spcBef>
              <a:buNone/>
            </a:pPr>
            <a:endParaRPr lang="en-US" sz="3500" dirty="0">
              <a:solidFill>
                <a:schemeClr val="tx1"/>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3500" dirty="0">
                <a:solidFill>
                  <a:schemeClr val="tx1"/>
                </a:solidFill>
                <a:latin typeface="Calibri" panose="020F0502020204030204" pitchFamily="34" charset="0"/>
                <a:cs typeface="Calibri" panose="020F0502020204030204" pitchFamily="34" charset="0"/>
              </a:rPr>
              <a:t>Example:</a:t>
            </a:r>
          </a:p>
          <a:p>
            <a:pPr marL="0" indent="0">
              <a:lnSpc>
                <a:spcPct val="100000"/>
              </a:lnSpc>
              <a:spcBef>
                <a:spcPts val="0"/>
              </a:spcBef>
              <a:buNone/>
            </a:pPr>
            <a:r>
              <a:rPr lang="en-US" sz="3500" b="1" dirty="0">
                <a:solidFill>
                  <a:schemeClr val="tx1"/>
                </a:solidFill>
                <a:latin typeface="Calibri" panose="020F0502020204030204" pitchFamily="34" charset="0"/>
                <a:cs typeface="Calibri" panose="020F0502020204030204" pitchFamily="34" charset="0"/>
              </a:rPr>
              <a:t>Goal</a:t>
            </a:r>
            <a:r>
              <a:rPr lang="en-US" sz="3500" dirty="0">
                <a:solidFill>
                  <a:schemeClr val="tx1"/>
                </a:solidFill>
                <a:latin typeface="Calibri" panose="020F0502020204030204" pitchFamily="34" charset="0"/>
                <a:cs typeface="Calibri" panose="020F0502020204030204" pitchFamily="34" charset="0"/>
              </a:rPr>
              <a:t>: “Provide excellent customer service.” </a:t>
            </a:r>
          </a:p>
          <a:p>
            <a:pPr marL="0" indent="0">
              <a:lnSpc>
                <a:spcPct val="100000"/>
              </a:lnSpc>
              <a:spcBef>
                <a:spcPts val="0"/>
              </a:spcBef>
              <a:buNone/>
            </a:pPr>
            <a:r>
              <a:rPr lang="en-US" sz="3500" b="1" dirty="0">
                <a:solidFill>
                  <a:schemeClr val="tx1"/>
                </a:solidFill>
                <a:latin typeface="Calibri" panose="020F0502020204030204" pitchFamily="34" charset="0"/>
                <a:cs typeface="Calibri" panose="020F0502020204030204" pitchFamily="34" charset="0"/>
              </a:rPr>
              <a:t>Objective</a:t>
            </a:r>
            <a:r>
              <a:rPr lang="en-US" sz="3500" dirty="0">
                <a:solidFill>
                  <a:schemeClr val="tx1"/>
                </a:solidFill>
                <a:latin typeface="Calibri" panose="020F0502020204030204" pitchFamily="34" charset="0"/>
                <a:cs typeface="Calibri" panose="020F0502020204030204" pitchFamily="34" charset="0"/>
              </a:rPr>
              <a:t>: “Reduce customer wait time to one minute.”</a:t>
            </a:r>
          </a:p>
        </p:txBody>
      </p:sp>
    </p:spTree>
    <p:extLst>
      <p:ext uri="{BB962C8B-B14F-4D97-AF65-F5344CB8AC3E}">
        <p14:creationId xmlns:p14="http://schemas.microsoft.com/office/powerpoint/2010/main" val="431585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500"/>
                                        <p:tgtEl>
                                          <p:spTgt spid="7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Effect transition="in" filter="fade">
                                      <p:cBhvr>
                                        <p:cTn id="17" dur="500"/>
                                        <p:tgtEl>
                                          <p:spTgt spid="717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1">
                                            <p:txEl>
                                              <p:pRg st="4" end="4"/>
                                            </p:txEl>
                                          </p:spTgt>
                                        </p:tgtEl>
                                        <p:attrNameLst>
                                          <p:attrName>style.visibility</p:attrName>
                                        </p:attrNameLst>
                                      </p:cBhvr>
                                      <p:to>
                                        <p:strVal val="visible"/>
                                      </p:to>
                                    </p:set>
                                    <p:animEffect transition="in" filter="fade">
                                      <p:cBhvr>
                                        <p:cTn id="22"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https://d2myx53yhj7u4b.cloudfront.net/sites/default/files/demystifying-the-5-phases3.jpg">
            <a:extLst>
              <a:ext uri="{FF2B5EF4-FFF2-40B4-BE49-F238E27FC236}">
                <a16:creationId xmlns:a16="http://schemas.microsoft.com/office/drawing/2014/main" id="{3857F9E7-6D51-43D9-ABCE-1B008309292B}"/>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bwMode="auto">
          <a:xfrm>
            <a:off x="769121" y="1045717"/>
            <a:ext cx="10939463" cy="24606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28FF99E-7E96-124D-3886-359F501BA4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4866673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578840" y="251670"/>
            <a:ext cx="11212566" cy="6230030"/>
          </a:xfrm>
        </p:spPr>
        <p:txBody>
          <a:bodyPr>
            <a:normAutofit/>
          </a:bodyPr>
          <a:lstStyle/>
          <a:p>
            <a:pPr marL="0" indent="0">
              <a:lnSpc>
                <a:spcPct val="100000"/>
              </a:lnSpc>
              <a:spcBef>
                <a:spcPts val="0"/>
              </a:spcBef>
              <a:buNone/>
            </a:pPr>
            <a:r>
              <a:rPr lang="en-US" sz="2500" b="1" dirty="0">
                <a:latin typeface="Calibri" panose="020F0502020204030204" pitchFamily="34" charset="0"/>
                <a:cs typeface="Calibri" panose="020F0502020204030204" pitchFamily="34" charset="0"/>
              </a:rPr>
              <a:t>Goal</a:t>
            </a:r>
            <a:r>
              <a:rPr lang="en-US" sz="2500" dirty="0">
                <a:latin typeface="Calibri" panose="020F0502020204030204" pitchFamily="34" charset="0"/>
                <a:cs typeface="Calibri" panose="020F0502020204030204" pitchFamily="34" charset="0"/>
              </a:rPr>
              <a:t>: I want to help my department stay on budget this year.</a:t>
            </a:r>
          </a:p>
          <a:p>
            <a:pPr marL="0" indent="0">
              <a:lnSpc>
                <a:spcPct val="100000"/>
              </a:lnSpc>
              <a:spcBef>
                <a:spcPts val="0"/>
              </a:spcBef>
              <a:buNone/>
            </a:pPr>
            <a:endParaRPr lang="en-US" sz="2500" dirty="0">
              <a:highlight>
                <a:srgbClr val="FFFF00"/>
              </a:highlight>
              <a:latin typeface="Calibri" panose="020F0502020204030204" pitchFamily="34" charset="0"/>
              <a:cs typeface="Calibri" panose="020F0502020204030204" pitchFamily="34" charset="0"/>
            </a:endParaRPr>
          </a:p>
          <a:p>
            <a:pPr marL="0" indent="0">
              <a:lnSpc>
                <a:spcPct val="100000"/>
              </a:lnSpc>
              <a:spcBef>
                <a:spcPts val="0"/>
              </a:spcBef>
              <a:buNone/>
            </a:pPr>
            <a:r>
              <a:rPr lang="en-US" sz="2500" b="1" dirty="0">
                <a:highlight>
                  <a:srgbClr val="FFFF00"/>
                </a:highlight>
                <a:latin typeface="Calibri" panose="020F0502020204030204" pitchFamily="34" charset="0"/>
                <a:cs typeface="Calibri" panose="020F0502020204030204" pitchFamily="34" charset="0"/>
              </a:rPr>
              <a:t>Specific</a:t>
            </a:r>
            <a:r>
              <a:rPr lang="en-US" sz="2500" b="1" dirty="0">
                <a:latin typeface="Calibri" panose="020F0502020204030204" pitchFamily="34" charset="0"/>
                <a:cs typeface="Calibri" panose="020F0502020204030204" pitchFamily="34" charset="0"/>
              </a:rPr>
              <a:t> objective</a:t>
            </a:r>
            <a:r>
              <a:rPr lang="en-US" sz="2500" dirty="0">
                <a:latin typeface="Calibri" panose="020F0502020204030204" pitchFamily="34" charset="0"/>
                <a:cs typeface="Calibri" panose="020F0502020204030204" pitchFamily="34" charset="0"/>
              </a:rPr>
              <a:t>: “I will distribute a budget report."</a:t>
            </a:r>
          </a:p>
          <a:p>
            <a:pPr marL="0" indent="0">
              <a:lnSpc>
                <a:spcPct val="100000"/>
              </a:lnSpc>
              <a:buNone/>
            </a:pPr>
            <a:r>
              <a:rPr lang="en-US" sz="2500" b="1" dirty="0">
                <a:highlight>
                  <a:srgbClr val="FFFF00"/>
                </a:highlight>
                <a:latin typeface="Calibri" panose="020F0502020204030204" pitchFamily="34" charset="0"/>
                <a:cs typeface="Calibri" panose="020F0502020204030204" pitchFamily="34" charset="0"/>
              </a:rPr>
              <a:t>Measurable</a:t>
            </a:r>
            <a:r>
              <a:rPr lang="en-US" sz="2500" b="1" dirty="0">
                <a:latin typeface="Calibri" panose="020F0502020204030204" pitchFamily="34" charset="0"/>
                <a:cs typeface="Calibri" panose="020F0502020204030204" pitchFamily="34" charset="0"/>
              </a:rPr>
              <a:t> objective</a:t>
            </a:r>
            <a:r>
              <a:rPr lang="en-US" sz="2500" dirty="0">
                <a:latin typeface="Calibri" panose="020F0502020204030204" pitchFamily="34" charset="0"/>
                <a:cs typeface="Calibri" panose="020F0502020204030204" pitchFamily="34" charset="0"/>
              </a:rPr>
              <a:t>: "I will distribute a budget report that shows our department’s current expenses in comparison to our allotted annual budget.“</a:t>
            </a:r>
          </a:p>
          <a:p>
            <a:pPr marL="0" indent="0">
              <a:lnSpc>
                <a:spcPct val="100000"/>
              </a:lnSpc>
              <a:buNone/>
            </a:pPr>
            <a:r>
              <a:rPr lang="en-US" sz="2500" b="1" dirty="0">
                <a:highlight>
                  <a:srgbClr val="FFFF00"/>
                </a:highlight>
                <a:latin typeface="Calibri" panose="020F0502020204030204" pitchFamily="34" charset="0"/>
                <a:cs typeface="Calibri" panose="020F0502020204030204" pitchFamily="34" charset="0"/>
              </a:rPr>
              <a:t>Achievable</a:t>
            </a:r>
            <a:r>
              <a:rPr lang="en-US" sz="2500" dirty="0">
                <a:latin typeface="Calibri" panose="020F0502020204030204" pitchFamily="34" charset="0"/>
                <a:cs typeface="Calibri" panose="020F0502020204030204" pitchFamily="34" charset="0"/>
              </a:rPr>
              <a:t> </a:t>
            </a:r>
            <a:r>
              <a:rPr lang="en-US" sz="2500" b="1" dirty="0">
                <a:latin typeface="Calibri" panose="020F0502020204030204" pitchFamily="34" charset="0"/>
                <a:cs typeface="Calibri" panose="020F0502020204030204" pitchFamily="34" charset="0"/>
              </a:rPr>
              <a:t>objective</a:t>
            </a:r>
            <a:r>
              <a:rPr lang="en-US" sz="2500" dirty="0">
                <a:latin typeface="Calibri" panose="020F0502020204030204" pitchFamily="34" charset="0"/>
                <a:cs typeface="Calibri" panose="020F0502020204030204" pitchFamily="34" charset="0"/>
              </a:rPr>
              <a:t>: "I will distribute a budget report that shows our department’s current expenses in comparison to our allotted annual budget and I will highlight areas where we are overspending.“</a:t>
            </a:r>
          </a:p>
          <a:p>
            <a:pPr marL="0" indent="0">
              <a:lnSpc>
                <a:spcPct val="100000"/>
              </a:lnSpc>
              <a:buNone/>
            </a:pPr>
            <a:r>
              <a:rPr lang="en-US" sz="2500" b="1" dirty="0">
                <a:highlight>
                  <a:srgbClr val="FFFF00"/>
                </a:highlight>
                <a:latin typeface="Calibri" panose="020F0502020204030204" pitchFamily="34" charset="0"/>
                <a:cs typeface="Calibri" panose="020F0502020204030204" pitchFamily="34" charset="0"/>
              </a:rPr>
              <a:t>Relevant</a:t>
            </a:r>
            <a:r>
              <a:rPr lang="en-US" sz="2500" dirty="0">
                <a:latin typeface="Calibri" panose="020F0502020204030204" pitchFamily="34" charset="0"/>
                <a:cs typeface="Calibri" panose="020F0502020204030204" pitchFamily="34" charset="0"/>
              </a:rPr>
              <a:t> </a:t>
            </a:r>
            <a:r>
              <a:rPr lang="en-US" sz="2500" b="1" dirty="0">
                <a:latin typeface="Calibri" panose="020F0502020204030204" pitchFamily="34" charset="0"/>
                <a:cs typeface="Calibri" panose="020F0502020204030204" pitchFamily="34" charset="0"/>
              </a:rPr>
              <a:t>objective</a:t>
            </a:r>
            <a:r>
              <a:rPr lang="en-US" sz="2500" dirty="0">
                <a:latin typeface="Calibri" panose="020F0502020204030204" pitchFamily="34" charset="0"/>
                <a:cs typeface="Calibri" panose="020F0502020204030204" pitchFamily="34" charset="0"/>
              </a:rPr>
              <a:t>: "I will distribute a budget report that shows our department’s current expenses in comparison to our allotted annual budget and I will highlight areas where we are overspending. </a:t>
            </a:r>
          </a:p>
          <a:p>
            <a:pPr marL="0" indent="0">
              <a:lnSpc>
                <a:spcPct val="100000"/>
              </a:lnSpc>
              <a:buNone/>
            </a:pPr>
            <a:r>
              <a:rPr lang="en-US" sz="2500" b="1" dirty="0">
                <a:highlight>
                  <a:srgbClr val="FFFF00"/>
                </a:highlight>
                <a:latin typeface="Calibri" panose="020F0502020204030204" pitchFamily="34" charset="0"/>
                <a:cs typeface="Calibri" panose="020F0502020204030204" pitchFamily="34" charset="0"/>
              </a:rPr>
              <a:t>Time-based</a:t>
            </a:r>
            <a:r>
              <a:rPr lang="en-US" sz="2500" b="1" dirty="0">
                <a:latin typeface="Calibri" panose="020F0502020204030204" pitchFamily="34" charset="0"/>
                <a:cs typeface="Calibri" panose="020F0502020204030204" pitchFamily="34" charset="0"/>
              </a:rPr>
              <a:t> objective</a:t>
            </a:r>
            <a:r>
              <a:rPr lang="en-US" sz="2500" dirty="0">
                <a:latin typeface="Calibri" panose="020F0502020204030204" pitchFamily="34" charset="0"/>
                <a:cs typeface="Calibri" panose="020F0502020204030204" pitchFamily="34" charset="0"/>
              </a:rPr>
              <a:t>: "Each month this year, I will distribute a budget report that shows our department’s current expenses in comparison to our allotted annual budget.</a:t>
            </a:r>
          </a:p>
        </p:txBody>
      </p:sp>
    </p:spTree>
    <p:extLst>
      <p:ext uri="{BB962C8B-B14F-4D97-AF65-F5344CB8AC3E}">
        <p14:creationId xmlns:p14="http://schemas.microsoft.com/office/powerpoint/2010/main" val="10693752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609600" y="500248"/>
            <a:ext cx="10972800" cy="4983161"/>
          </a:xfrm>
        </p:spPr>
        <p:txBody>
          <a:bodyPr>
            <a:normAutofit/>
          </a:bodyPr>
          <a:lstStyle/>
          <a:p>
            <a:pPr marL="0" indent="0">
              <a:buNone/>
            </a:pPr>
            <a:r>
              <a:rPr lang="en-US" sz="3600" b="1" dirty="0">
                <a:latin typeface="Calibri" panose="020F0502020204030204" pitchFamily="34" charset="0"/>
                <a:cs typeface="Calibri" panose="020F0502020204030204" pitchFamily="34" charset="0"/>
              </a:rPr>
              <a:t>Recipe for Good Objectives </a:t>
            </a:r>
          </a:p>
          <a:p>
            <a:pPr marL="0" indent="0">
              <a:buNone/>
            </a:pPr>
            <a:r>
              <a:rPr lang="en-US" sz="3600" dirty="0">
                <a:latin typeface="Calibri" panose="020F0502020204030204" pitchFamily="34" charset="0"/>
                <a:cs typeface="Calibri" panose="020F0502020204030204" pitchFamily="34" charset="0"/>
              </a:rPr>
              <a:t>1. </a:t>
            </a:r>
            <a:r>
              <a:rPr lang="en-US" sz="3600" b="1" dirty="0">
                <a:solidFill>
                  <a:srgbClr val="FF0000"/>
                </a:solidFill>
                <a:latin typeface="Calibri" panose="020F0502020204030204" pitchFamily="34" charset="0"/>
                <a:cs typeface="Calibri" panose="020F0502020204030204" pitchFamily="34" charset="0"/>
              </a:rPr>
              <a:t>Articulate</a:t>
            </a:r>
            <a:r>
              <a:rPr lang="en-US" sz="3600" dirty="0">
                <a:latin typeface="Calibri" panose="020F0502020204030204" pitchFamily="34" charset="0"/>
                <a:cs typeface="Calibri" panose="020F0502020204030204" pitchFamily="34" charset="0"/>
              </a:rPr>
              <a:t> concerns and wishes. </a:t>
            </a:r>
          </a:p>
          <a:p>
            <a:pPr marL="0" indent="0">
              <a:buNone/>
            </a:pPr>
            <a:r>
              <a:rPr lang="en-US" sz="3600" dirty="0">
                <a:latin typeface="Calibri" panose="020F0502020204030204" pitchFamily="34" charset="0"/>
                <a:cs typeface="Calibri" panose="020F0502020204030204" pitchFamily="34" charset="0"/>
              </a:rPr>
              <a:t>2. </a:t>
            </a:r>
            <a:r>
              <a:rPr lang="en-US" sz="3600" b="1" dirty="0">
                <a:solidFill>
                  <a:srgbClr val="FF0000"/>
                </a:solidFill>
                <a:latin typeface="Calibri" panose="020F0502020204030204" pitchFamily="34" charset="0"/>
                <a:cs typeface="Calibri" panose="020F0502020204030204" pitchFamily="34" charset="0"/>
              </a:rPr>
              <a:t>Convert </a:t>
            </a:r>
            <a:r>
              <a:rPr lang="en-US" sz="3600" b="1" dirty="0">
                <a:solidFill>
                  <a:schemeClr val="tx1"/>
                </a:solidFill>
                <a:latin typeface="Calibri" panose="020F0502020204030204" pitchFamily="34" charset="0"/>
                <a:cs typeface="Calibri" panose="020F0502020204030204" pitchFamily="34" charset="0"/>
              </a:rPr>
              <a:t>concerns</a:t>
            </a:r>
            <a:r>
              <a:rPr lang="en-US" sz="3600" b="1" dirty="0">
                <a:solidFill>
                  <a:srgbClr val="FF0000"/>
                </a:solidFill>
                <a:latin typeface="Calibri" panose="020F0502020204030204" pitchFamily="34" charset="0"/>
                <a:cs typeface="Calibri" panose="020F0502020204030204" pitchFamily="34" charset="0"/>
              </a:rPr>
              <a:t> to </a:t>
            </a:r>
            <a:r>
              <a:rPr lang="en-US" sz="3600" b="1" dirty="0">
                <a:solidFill>
                  <a:schemeClr val="tx1"/>
                </a:solidFill>
                <a:latin typeface="Calibri" panose="020F0502020204030204" pitchFamily="34" charset="0"/>
                <a:cs typeface="Calibri" panose="020F0502020204030204" pitchFamily="34" charset="0"/>
              </a:rPr>
              <a:t>objectives.</a:t>
            </a:r>
            <a:r>
              <a:rPr lang="en-US" sz="3600" dirty="0">
                <a:latin typeface="Calibri" panose="020F0502020204030204" pitchFamily="34" charset="0"/>
                <a:cs typeface="Calibri" panose="020F0502020204030204" pitchFamily="34" charset="0"/>
              </a:rPr>
              <a:t> </a:t>
            </a:r>
          </a:p>
          <a:p>
            <a:pPr marL="0" indent="0">
              <a:buNone/>
            </a:pPr>
            <a:r>
              <a:rPr lang="en-US" sz="3600" dirty="0">
                <a:latin typeface="Calibri" panose="020F0502020204030204" pitchFamily="34" charset="0"/>
                <a:cs typeface="Calibri" panose="020F0502020204030204" pitchFamily="34" charset="0"/>
              </a:rPr>
              <a:t>3. Structure and classify (time, money, etc.). </a:t>
            </a:r>
          </a:p>
          <a:p>
            <a:pPr marL="0" indent="0">
              <a:buNone/>
            </a:pPr>
            <a:r>
              <a:rPr lang="en-US" sz="3600" dirty="0">
                <a:latin typeface="Calibri" panose="020F0502020204030204" pitchFamily="34" charset="0"/>
                <a:cs typeface="Calibri" panose="020F0502020204030204" pitchFamily="34" charset="0"/>
              </a:rPr>
              <a:t>4. Create objectives hierarchy (prioritize). </a:t>
            </a:r>
          </a:p>
          <a:p>
            <a:pPr marL="0" indent="0">
              <a:buNone/>
            </a:pPr>
            <a:r>
              <a:rPr lang="en-US" sz="3600" dirty="0">
                <a:latin typeface="Calibri" panose="020F0502020204030204" pitchFamily="34" charset="0"/>
                <a:cs typeface="Calibri" panose="020F0502020204030204" pitchFamily="34" charset="0"/>
              </a:rPr>
              <a:t>5. </a:t>
            </a:r>
            <a:r>
              <a:rPr lang="en-US" sz="3600" b="1" dirty="0">
                <a:solidFill>
                  <a:srgbClr val="FF0000"/>
                </a:solidFill>
                <a:latin typeface="Calibri" panose="020F0502020204030204" pitchFamily="34" charset="0"/>
                <a:cs typeface="Calibri" panose="020F0502020204030204" pitchFamily="34" charset="0"/>
              </a:rPr>
              <a:t>Create measurable attributes </a:t>
            </a:r>
            <a:r>
              <a:rPr lang="en-US" sz="3600" dirty="0">
                <a:latin typeface="Calibri" panose="020F0502020204030204" pitchFamily="34" charset="0"/>
                <a:cs typeface="Calibri" panose="020F0502020204030204" pitchFamily="34" charset="0"/>
              </a:rPr>
              <a:t>for each objective. </a:t>
            </a:r>
          </a:p>
          <a:p>
            <a:pPr marL="0" indent="0">
              <a:buNone/>
            </a:pPr>
            <a:r>
              <a:rPr lang="en-US" sz="3600" dirty="0">
                <a:latin typeface="Calibri" panose="020F0502020204030204" pitchFamily="34" charset="0"/>
                <a:cs typeface="Calibri" panose="020F0502020204030204" pitchFamily="34" charset="0"/>
              </a:rPr>
              <a:t>6. Repeat as needed.</a:t>
            </a:r>
          </a:p>
          <a:p>
            <a:pPr marL="0" indent="0">
              <a:buNone/>
            </a:pPr>
            <a:endParaRPr lang="en-US" dirty="0"/>
          </a:p>
        </p:txBody>
      </p:sp>
    </p:spTree>
    <p:extLst>
      <p:ext uri="{BB962C8B-B14F-4D97-AF65-F5344CB8AC3E}">
        <p14:creationId xmlns:p14="http://schemas.microsoft.com/office/powerpoint/2010/main" val="21292604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2ED61-C403-A1C8-4C0E-5A9D1628C95A}"/>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DD51BE5D-CA8F-63E6-C54C-9DC2ADF2175A}"/>
              </a:ext>
            </a:extLst>
          </p:cNvPr>
          <p:cNvPicPr>
            <a:picLocks noChangeAspect="1"/>
          </p:cNvPicPr>
          <p:nvPr/>
        </p:nvPicPr>
        <p:blipFill>
          <a:blip r:embed="rId2"/>
          <a:srcRect l="4378" t="19727" r="-1" b="8556"/>
          <a:stretch>
            <a:fillRect/>
          </a:stretch>
        </p:blipFill>
        <p:spPr>
          <a:xfrm>
            <a:off x="-1" y="10"/>
            <a:ext cx="12191979" cy="6857990"/>
          </a:xfrm>
          <a:prstGeom prst="rect">
            <a:avLst/>
          </a:prstGeom>
        </p:spPr>
      </p:pic>
      <p:sp>
        <p:nvSpPr>
          <p:cNvPr id="2" name="Title 1">
            <a:extLst>
              <a:ext uri="{FF2B5EF4-FFF2-40B4-BE49-F238E27FC236}">
                <a16:creationId xmlns:a16="http://schemas.microsoft.com/office/drawing/2014/main" id="{19225FFD-3DFB-9478-24FD-01969115A6AA}"/>
              </a:ext>
            </a:extLst>
          </p:cNvPr>
          <p:cNvSpPr>
            <a:spLocks noGrp="1"/>
          </p:cNvSpPr>
          <p:nvPr>
            <p:ph type="ctrTitle"/>
          </p:nvPr>
        </p:nvSpPr>
        <p:spPr>
          <a:xfrm>
            <a:off x="4170327" y="4127619"/>
            <a:ext cx="8021652" cy="2119358"/>
          </a:xfrm>
        </p:spPr>
        <p:txBody>
          <a:bodyPr anchor="ctr">
            <a:noAutofit/>
          </a:bodyPr>
          <a:lstStyle/>
          <a:p>
            <a:pPr lvl="0" fontAlgn="base">
              <a:lnSpc>
                <a:spcPct val="90000"/>
              </a:lnSpc>
              <a:defRPr/>
            </a:pPr>
            <a:r>
              <a:rPr lang="en-US" sz="9600" b="1" spc="0" dirty="0">
                <a:solidFill>
                  <a:prstClr val="black"/>
                </a:solidFill>
                <a:latin typeface="Calibri" panose="020F0502020204030204"/>
              </a:rPr>
              <a:t>Deliverables</a:t>
            </a:r>
            <a:endParaRPr lang="en-US" sz="9600" spc="0" dirty="0">
              <a:solidFill>
                <a:prstClr val="black"/>
              </a:solidFill>
              <a:latin typeface="Calibri" panose="020F0502020204030204"/>
              <a:cs typeface="Calibri" panose="020F0502020204030204" pitchFamily="34" charset="0"/>
            </a:endParaRPr>
          </a:p>
        </p:txBody>
      </p:sp>
    </p:spTree>
    <p:extLst>
      <p:ext uri="{BB962C8B-B14F-4D97-AF65-F5344CB8AC3E}">
        <p14:creationId xmlns:p14="http://schemas.microsoft.com/office/powerpoint/2010/main" val="16502023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868247" y="396174"/>
            <a:ext cx="10455506" cy="4939814"/>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Deliverables</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are what the client ends up with - products or services created or performed as part of a project.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3500" dirty="0">
              <a:solidFill>
                <a:prstClr val="black"/>
              </a:solidFill>
              <a:highlight>
                <a:srgbClr val="FFFF00"/>
              </a:highlight>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They are the tangible or intangible outcomes that help achieve the project objectives</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For example, a deliverable for a website development project could be a wireframe, a prototype or the website itself.  </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pic>
        <p:nvPicPr>
          <p:cNvPr id="2" name="Picture 1">
            <a:extLst>
              <a:ext uri="{FF2B5EF4-FFF2-40B4-BE49-F238E27FC236}">
                <a16:creationId xmlns:a16="http://schemas.microsoft.com/office/drawing/2014/main" id="{A5F6DC7E-FEFA-F999-68B5-203370AE36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22829504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ow Of College Students Raising Hands">
            <a:extLst>
              <a:ext uri="{FF2B5EF4-FFF2-40B4-BE49-F238E27FC236}">
                <a16:creationId xmlns:a16="http://schemas.microsoft.com/office/drawing/2014/main" id="{03CEE61A-08EA-F658-23B9-371127FF5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35" y="0"/>
            <a:ext cx="12439135"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8C6F537-CE37-3BA6-B06A-601F522A9F07}"/>
              </a:ext>
            </a:extLst>
          </p:cNvPr>
          <p:cNvSpPr>
            <a:spLocks noGrp="1"/>
          </p:cNvSpPr>
          <p:nvPr>
            <p:ph idx="1"/>
          </p:nvPr>
        </p:nvSpPr>
        <p:spPr>
          <a:xfrm>
            <a:off x="424069" y="646706"/>
            <a:ext cx="6933859" cy="5714337"/>
          </a:xfrm>
        </p:spPr>
        <p:txBody>
          <a:bodyPr>
            <a:normAutofit/>
          </a:bodyPr>
          <a:lstStyle/>
          <a:p>
            <a:pPr marL="0" indent="0">
              <a:lnSpc>
                <a:spcPct val="100000"/>
              </a:lnSpc>
              <a:spcBef>
                <a:spcPts val="0"/>
              </a:spcBef>
              <a:buNone/>
            </a:pPr>
            <a:r>
              <a:rPr lang="en-US" sz="3500" b="1" dirty="0">
                <a:solidFill>
                  <a:schemeClr val="tx1"/>
                </a:solidFill>
                <a:latin typeface="Calibri" panose="020F0502020204030204" pitchFamily="34" charset="0"/>
                <a:cs typeface="Calibri" panose="020F0502020204030204" pitchFamily="34" charset="0"/>
              </a:rPr>
              <a:t>What problem might the PM pushes so hard to get ahead of the schedule, that they end up turning the whole project in at once? </a:t>
            </a:r>
          </a:p>
        </p:txBody>
      </p:sp>
    </p:spTree>
    <p:extLst>
      <p:ext uri="{BB962C8B-B14F-4D97-AF65-F5344CB8AC3E}">
        <p14:creationId xmlns:p14="http://schemas.microsoft.com/office/powerpoint/2010/main" val="290143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556720" y="623266"/>
            <a:ext cx="11232384" cy="49398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rPr>
              <a:t>Don’t turn in everything all at once at the 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1" i="0" u="none" strike="noStrike" kern="1200" cap="none" spc="0" normalizeH="0" baseline="0" noProof="0" dirty="0">
              <a:ln>
                <a:noFill/>
              </a:ln>
              <a:solidFill>
                <a:srgbClr val="FF0000"/>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To avoid overwhelming a client, and to ensure you’re still aligned with the goals, divide the project into smaller components that you deliver one at a time throughout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dirty="0">
                <a:ln>
                  <a:noFill/>
                </a:ln>
                <a:solidFill>
                  <a:prstClr val="black"/>
                </a:solidFill>
                <a:effectLst/>
                <a:highlight>
                  <a:srgbClr val="FFFF00"/>
                </a:highlight>
                <a:uLnTx/>
                <a:uFillTx/>
                <a:latin typeface="Calibri" panose="020F0502020204030204"/>
                <a:ea typeface="Meiryo" panose="020B0604030504040204" pitchFamily="34" charset="-128"/>
                <a:cs typeface="Calibri" panose="020F0502020204030204" pitchFamily="34" charset="0"/>
              </a:rPr>
              <a:t>Get approval</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for one deliverable before moving on to the next.</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pic>
        <p:nvPicPr>
          <p:cNvPr id="2" name="Picture 1">
            <a:extLst>
              <a:ext uri="{FF2B5EF4-FFF2-40B4-BE49-F238E27FC236}">
                <a16:creationId xmlns:a16="http://schemas.microsoft.com/office/drawing/2014/main" id="{8DA4B4BC-AAE4-C84A-0D6E-88CC142DCA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623843" cy="499074"/>
          </a:xfrm>
          <a:prstGeom prst="rect">
            <a:avLst/>
          </a:prstGeom>
        </p:spPr>
      </p:pic>
    </p:spTree>
    <p:extLst>
      <p:ext uri="{BB962C8B-B14F-4D97-AF65-F5344CB8AC3E}">
        <p14:creationId xmlns:p14="http://schemas.microsoft.com/office/powerpoint/2010/main" val="320864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C1E0D5-8078-41F7-92FD-B0778A6FFADD}"/>
              </a:ext>
            </a:extLst>
          </p:cNvPr>
          <p:cNvSpPr txBox="1"/>
          <p:nvPr/>
        </p:nvSpPr>
        <p:spPr>
          <a:xfrm>
            <a:off x="556720" y="623266"/>
            <a:ext cx="11232384" cy="49398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For example, as a consultant for a community development project I will have these deliverables, each synched with </a:t>
            </a:r>
            <a:r>
              <a:rPr kumimoji="0" lang="en-US" sz="3500" b="1" i="0" u="none" strike="noStrike" kern="1200" cap="none" spc="0" normalizeH="0" baseline="0" noProof="0" dirty="0">
                <a:ln>
                  <a:noFill/>
                </a:ln>
                <a:solidFill>
                  <a:srgbClr val="00B050"/>
                </a:solidFill>
                <a:effectLst/>
                <a:uLnTx/>
                <a:uFillTx/>
                <a:latin typeface="Calibri" panose="020F0502020204030204"/>
                <a:ea typeface="Meiryo" panose="020B0604030504040204" pitchFamily="34" charset="-128"/>
                <a:cs typeface="Calibri" panose="020F0502020204030204" pitchFamily="34" charset="0"/>
              </a:rPr>
              <a:t>billing point$</a:t>
            </a: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Vision and Goals</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Demographic Profile</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Evaluation of Existing Conditions </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Stakeholder &amp; Public Input</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Draft Recommendations</a:t>
            </a:r>
          </a:p>
          <a:p>
            <a:pPr marL="685800" marR="0" lvl="0" indent="-6858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Adoption of Final Plan</a:t>
            </a:r>
          </a:p>
        </p:txBody>
      </p:sp>
      <p:sp>
        <p:nvSpPr>
          <p:cNvPr id="4" name="Slide Number Placeholder 3">
            <a:extLst>
              <a:ext uri="{FF2B5EF4-FFF2-40B4-BE49-F238E27FC236}">
                <a16:creationId xmlns:a16="http://schemas.microsoft.com/office/drawing/2014/main" id="{94CA2B9D-56CD-45B2-B1DE-4A533D37B0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Tree>
    <p:extLst>
      <p:ext uri="{BB962C8B-B14F-4D97-AF65-F5344CB8AC3E}">
        <p14:creationId xmlns:p14="http://schemas.microsoft.com/office/powerpoint/2010/main" val="15333629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F5323-7B8A-73F0-F669-E71F2067DE48}"/>
            </a:ext>
          </a:extLst>
        </p:cNvPr>
        <p:cNvGrpSpPr/>
        <p:nvPr/>
      </p:nvGrpSpPr>
      <p:grpSpPr>
        <a:xfrm>
          <a:off x="0" y="0"/>
          <a:ext cx="0" cy="0"/>
          <a:chOff x="0" y="0"/>
          <a:chExt cx="0" cy="0"/>
        </a:xfrm>
      </p:grpSpPr>
      <p:pic>
        <p:nvPicPr>
          <p:cNvPr id="3074" name="Picture 2" descr="Backgrounds Gold - Wallpaper Cave">
            <a:extLst>
              <a:ext uri="{FF2B5EF4-FFF2-40B4-BE49-F238E27FC236}">
                <a16:creationId xmlns:a16="http://schemas.microsoft.com/office/drawing/2014/main" id="{B9DBCDA3-6527-20DB-0F85-72BB37DDA2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Tuition PNG Transparent Images Free Download | Vector Files | Pngtree">
            <a:extLst>
              <a:ext uri="{FF2B5EF4-FFF2-40B4-BE49-F238E27FC236}">
                <a16:creationId xmlns:a16="http://schemas.microsoft.com/office/drawing/2014/main" id="{C8FAEBD0-8A9E-2652-6529-737F9BA60C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599264">
            <a:off x="9426680" y="457377"/>
            <a:ext cx="3242676" cy="12655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86D8D5A-EC0C-4587-F30B-3E0F1318433B}"/>
              </a:ext>
            </a:extLst>
          </p:cNvPr>
          <p:cNvSpPr txBox="1">
            <a:spLocks/>
          </p:cNvSpPr>
          <p:nvPr/>
        </p:nvSpPr>
        <p:spPr>
          <a:xfrm>
            <a:off x="926362" y="380209"/>
            <a:ext cx="10646229" cy="9721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r>
              <a:rPr lang="en-US" sz="4500" b="1" dirty="0">
                <a:latin typeface="Calibri" panose="020F0502020204030204" pitchFamily="34" charset="0"/>
                <a:ea typeface="Meiryo" panose="020B0604030504040204" pitchFamily="34" charset="-128"/>
                <a:cs typeface="Calibri" panose="020F0502020204030204" pitchFamily="34" charset="0"/>
              </a:rPr>
              <a:t>Pre-Planning Stage</a:t>
            </a:r>
            <a:endParaRPr kumimoji="0" lang="en-US" sz="4400" b="1" i="0" u="none" strike="noStrike" kern="1200" cap="none" spc="0" normalizeH="0" baseline="0" noProof="0" dirty="0">
              <a:ln>
                <a:noFill/>
              </a:ln>
              <a:solidFill>
                <a:prstClr val="black"/>
              </a:solidFill>
              <a:effectLst/>
              <a:uLnTx/>
              <a:uFillTx/>
              <a:latin typeface="Calibri" panose="020F0502020204030204" pitchFamily="34" charset="0"/>
              <a:ea typeface="Meiryo" panose="020B0604030504040204" pitchFamily="34" charset="-128"/>
              <a:cs typeface="Calibri" panose="020F0502020204030204" pitchFamily="34" charset="0"/>
            </a:endParaRPr>
          </a:p>
        </p:txBody>
      </p:sp>
      <p:sp>
        <p:nvSpPr>
          <p:cNvPr id="5" name="TextBox 4">
            <a:extLst>
              <a:ext uri="{FF2B5EF4-FFF2-40B4-BE49-F238E27FC236}">
                <a16:creationId xmlns:a16="http://schemas.microsoft.com/office/drawing/2014/main" id="{BB331FF2-334F-7202-7C80-8582E7FE8D08}"/>
              </a:ext>
            </a:extLst>
          </p:cNvPr>
          <p:cNvSpPr txBox="1"/>
          <p:nvPr/>
        </p:nvSpPr>
        <p:spPr>
          <a:xfrm>
            <a:off x="760564" y="1466721"/>
            <a:ext cx="11666289" cy="3862596"/>
          </a:xfrm>
          <a:prstGeom prst="rect">
            <a:avLst/>
          </a:prstGeom>
          <a:noFill/>
        </p:spPr>
        <p:txBody>
          <a:bodyPr wrap="square">
            <a:spAutoFit/>
          </a:bodyPr>
          <a:lstStyle/>
          <a:p>
            <a:pPr marL="457200" lvl="0" indent="-457200">
              <a:buFont typeface="Wingdings" panose="05000000000000000000" pitchFamily="2" charset="2"/>
              <a:buChar char="q"/>
              <a:defRPr/>
            </a:pPr>
            <a:r>
              <a:rPr lang="en-US" sz="3500" b="1" dirty="0">
                <a:latin typeface="Calibri" panose="020F0502020204030204"/>
                <a:ea typeface="Meiryo" panose="020B0604030504040204" pitchFamily="34" charset="-128"/>
                <a:cs typeface="Calibri" panose="020F0502020204030204" pitchFamily="34" charset="0"/>
              </a:rPr>
              <a:t> Answer Big 5 Questions.</a:t>
            </a:r>
          </a:p>
          <a:p>
            <a:pPr marL="457200" lvl="0" indent="-457200">
              <a:buFont typeface="Wingdings" panose="05000000000000000000" pitchFamily="2" charset="2"/>
              <a:buChar char="q"/>
              <a:defRPr/>
            </a:pPr>
            <a:r>
              <a:rPr lang="en-US" sz="3500" b="1" dirty="0">
                <a:latin typeface="Calibri" panose="020F0502020204030204"/>
                <a:ea typeface="Meiryo" panose="020B0604030504040204" pitchFamily="34" charset="-128"/>
                <a:cs typeface="Calibri" panose="020F0502020204030204" pitchFamily="34" charset="0"/>
              </a:rPr>
              <a:t> Perform R&amp;D for new approaches and insight.</a:t>
            </a:r>
          </a:p>
          <a:p>
            <a:pPr marL="457200" lvl="0" indent="-457200">
              <a:buFont typeface="Wingdings" panose="05000000000000000000" pitchFamily="2" charset="2"/>
              <a:buChar char="q"/>
              <a:defRPr/>
            </a:pPr>
            <a:r>
              <a:rPr lang="en-US" sz="3500" b="1" dirty="0">
                <a:latin typeface="Calibri" panose="020F0502020204030204"/>
                <a:ea typeface="Meiryo" panose="020B0604030504040204" pitchFamily="34" charset="-128"/>
                <a:cs typeface="Calibri" panose="020F0502020204030204" pitchFamily="34" charset="0"/>
              </a:rPr>
              <a:t> Determine official Requirements.</a:t>
            </a:r>
          </a:p>
          <a:p>
            <a:pPr marL="457200" lvl="0" indent="-457200">
              <a:buFont typeface="Wingdings" panose="05000000000000000000" pitchFamily="2" charset="2"/>
              <a:buChar char="q"/>
              <a:defRPr/>
            </a:pPr>
            <a:r>
              <a:rPr lang="en-US" sz="3500" b="1" dirty="0">
                <a:latin typeface="Calibri" panose="020F0502020204030204"/>
                <a:ea typeface="Meiryo" panose="020B0604030504040204" pitchFamily="34" charset="-128"/>
                <a:cs typeface="Calibri" panose="020F0502020204030204" pitchFamily="34" charset="0"/>
              </a:rPr>
              <a:t> Meet with client and team to set Expectations.</a:t>
            </a:r>
          </a:p>
          <a:p>
            <a:pPr marL="457200" lvl="0" indent="-457200">
              <a:buFont typeface="Wingdings" panose="05000000000000000000" pitchFamily="2" charset="2"/>
              <a:buChar char="q"/>
              <a:defRPr/>
            </a:pPr>
            <a:r>
              <a:rPr lang="en-US" sz="3500" b="1" dirty="0">
                <a:latin typeface="Calibri" panose="020F0502020204030204"/>
                <a:ea typeface="Meiryo" panose="020B0604030504040204" pitchFamily="34" charset="-128"/>
                <a:cs typeface="Calibri" panose="020F0502020204030204" pitchFamily="34" charset="0"/>
              </a:rPr>
              <a:t> Create goals of objectives.</a:t>
            </a:r>
          </a:p>
          <a:p>
            <a:pPr marL="457200" lvl="0" indent="-457200">
              <a:buFont typeface="Wingdings" panose="05000000000000000000" pitchFamily="2" charset="2"/>
              <a:buChar char="q"/>
              <a:defRPr/>
            </a:pPr>
            <a:r>
              <a:rPr lang="en-US" sz="3500" b="1" dirty="0">
                <a:latin typeface="Calibri" panose="020F0502020204030204"/>
                <a:ea typeface="Meiryo" panose="020B0604030504040204" pitchFamily="34" charset="-128"/>
                <a:cs typeface="Calibri" panose="020F0502020204030204" pitchFamily="34" charset="0"/>
              </a:rPr>
              <a:t> Determine the set of Deliverables.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eiryo" panose="020B0604030504040204" pitchFamily="34" charset="-128"/>
                <a:cs typeface="Calibri" panose="020F0502020204030204" pitchFamily="34" charset="0"/>
              </a:rPr>
              <a:t>  </a:t>
            </a:r>
            <a:endParaRPr kumimoji="0" lang="en-US" sz="28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Calibri" panose="020F0502020204030204" pitchFamily="34" charset="0"/>
            </a:endParaRPr>
          </a:p>
        </p:txBody>
      </p:sp>
    </p:spTree>
    <p:extLst>
      <p:ext uri="{BB962C8B-B14F-4D97-AF65-F5344CB8AC3E}">
        <p14:creationId xmlns:p14="http://schemas.microsoft.com/office/powerpoint/2010/main" val="40487667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9" name="Picture 2" descr="https://images.theconversation.com/files/223397/original/file-20180615-85840-pcxzl6.jpg?ixlib=rb-1.1.0&amp;q=45&amp;auto=format&amp;w=754&amp;fit=clip">
            <a:extLst>
              <a:ext uri="{FF2B5EF4-FFF2-40B4-BE49-F238E27FC236}">
                <a16:creationId xmlns:a16="http://schemas.microsoft.com/office/drawing/2014/main" id="{AD8000FC-3A2E-4FFF-97C3-A321509BCA2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617" r="9091" b="247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4" name="Freeform: Shape 73">
            <a:extLst>
              <a:ext uri="{FF2B5EF4-FFF2-40B4-BE49-F238E27FC236}">
                <a16:creationId xmlns:a16="http://schemas.microsoft.com/office/drawing/2014/main" id="{E862BE82-D00D-42C1-BF16-93AA37870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F6D92C2D-1D3D-4974-918C-06579FB35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3" y="-2"/>
            <a:ext cx="5441859" cy="5654940"/>
          </a:xfrm>
          <a:custGeom>
            <a:avLst/>
            <a:gdLst>
              <a:gd name="connsiteX0" fmla="*/ 0 w 5441859"/>
              <a:gd name="connsiteY0" fmla="*/ 0 h 5654940"/>
              <a:gd name="connsiteX1" fmla="*/ 4400492 w 5441859"/>
              <a:gd name="connsiteY1" fmla="*/ 0 h 5654940"/>
              <a:gd name="connsiteX2" fmla="*/ 4484767 w 5441859"/>
              <a:gd name="connsiteY2" fmla="*/ 76595 h 5654940"/>
              <a:gd name="connsiteX3" fmla="*/ 5441859 w 5441859"/>
              <a:gd name="connsiteY3" fmla="*/ 2387221 h 5654940"/>
              <a:gd name="connsiteX4" fmla="*/ 2174140 w 5441859"/>
              <a:gd name="connsiteY4" fmla="*/ 5654940 h 5654940"/>
              <a:gd name="connsiteX5" fmla="*/ 156693 w 5441859"/>
              <a:gd name="connsiteY5" fmla="*/ 4957981 h 5654940"/>
              <a:gd name="connsiteX6" fmla="*/ 0 w 5441859"/>
              <a:gd name="connsiteY6" fmla="*/ 4820612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Content Placeholder 1030">
            <a:extLst>
              <a:ext uri="{FF2B5EF4-FFF2-40B4-BE49-F238E27FC236}">
                <a16:creationId xmlns:a16="http://schemas.microsoft.com/office/drawing/2014/main" id="{42F9079B-5305-4260-8634-4A2A9652D7C5}"/>
              </a:ext>
            </a:extLst>
          </p:cNvPr>
          <p:cNvSpPr>
            <a:spLocks noGrp="1"/>
          </p:cNvSpPr>
          <p:nvPr>
            <p:ph idx="1"/>
          </p:nvPr>
        </p:nvSpPr>
        <p:spPr>
          <a:xfrm>
            <a:off x="128016" y="1774372"/>
            <a:ext cx="5481204" cy="2754086"/>
          </a:xfrm>
        </p:spPr>
        <p:txBody>
          <a:bodyPr anchor="t">
            <a:normAutofit/>
          </a:bodyPr>
          <a:lstStyle/>
          <a:p>
            <a:pPr marL="0" indent="0">
              <a:buNone/>
            </a:pPr>
            <a:r>
              <a:rPr lang="en-US" sz="5500" b="1" dirty="0"/>
              <a:t>Start at the End …</a:t>
            </a:r>
          </a:p>
          <a:p>
            <a:pPr marL="0" indent="0">
              <a:buNone/>
            </a:pPr>
            <a:r>
              <a:rPr lang="en-US" sz="5500" b="1" i="1" dirty="0"/>
              <a:t>Then Go Farther</a:t>
            </a:r>
            <a:endParaRPr lang="en-US" sz="5500" b="1" dirty="0"/>
          </a:p>
          <a:p>
            <a:pPr marL="0" indent="0">
              <a:buNone/>
            </a:pPr>
            <a:endParaRPr lang="en-US" sz="1800" dirty="0"/>
          </a:p>
        </p:txBody>
      </p:sp>
      <p:pic>
        <p:nvPicPr>
          <p:cNvPr id="6" name="274121__bone666138__choir-of-voices-single-chord (1)">
            <a:hlinkClick r:id="" action="ppaction://media"/>
            <a:extLst>
              <a:ext uri="{FF2B5EF4-FFF2-40B4-BE49-F238E27FC236}">
                <a16:creationId xmlns:a16="http://schemas.microsoft.com/office/drawing/2014/main" id="{7478834D-B0F5-4AF3-A69D-36E15CFCA4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3819" y="931069"/>
            <a:ext cx="365522" cy="365522"/>
          </a:xfrm>
          <a:prstGeom prst="rect">
            <a:avLst/>
          </a:prstGeom>
        </p:spPr>
      </p:pic>
    </p:spTree>
    <p:extLst>
      <p:ext uri="{BB962C8B-B14F-4D97-AF65-F5344CB8AC3E}">
        <p14:creationId xmlns:p14="http://schemas.microsoft.com/office/powerpoint/2010/main" val="2676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30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440119" y="428439"/>
            <a:ext cx="11118574" cy="6081417"/>
          </a:xfrm>
        </p:spPr>
        <p:txBody>
          <a:bodyPr>
            <a:noAutofit/>
          </a:bodyPr>
          <a:lstStyle/>
          <a:p>
            <a:pPr marL="0" indent="0">
              <a:lnSpc>
                <a:spcPct val="100000"/>
              </a:lnSpc>
              <a:spcBef>
                <a:spcPts val="0"/>
              </a:spcBef>
              <a:buNone/>
            </a:pPr>
            <a:r>
              <a:rPr lang="en-US" sz="3500" dirty="0"/>
              <a:t>Some new project managers make the mistake of starting a project at the beginning: “</a:t>
            </a:r>
            <a:r>
              <a:rPr lang="en-US" sz="3500" b="1" dirty="0">
                <a:highlight>
                  <a:srgbClr val="FFFF00"/>
                </a:highlight>
              </a:rPr>
              <a:t>OK, what do I do first</a:t>
            </a:r>
            <a:r>
              <a:rPr lang="en-US" sz="3500" dirty="0"/>
              <a:t>?” Then start building out, step by step.</a:t>
            </a:r>
          </a:p>
          <a:p>
            <a:pPr marL="0" indent="0">
              <a:lnSpc>
                <a:spcPct val="100000"/>
              </a:lnSpc>
              <a:spcBef>
                <a:spcPts val="0"/>
              </a:spcBef>
              <a:buNone/>
            </a:pPr>
            <a:endParaRPr lang="en-US" sz="3500" dirty="0"/>
          </a:p>
          <a:p>
            <a:pPr marL="0" indent="0">
              <a:lnSpc>
                <a:spcPct val="100000"/>
              </a:lnSpc>
              <a:spcBef>
                <a:spcPts val="0"/>
              </a:spcBef>
              <a:buNone/>
            </a:pPr>
            <a:r>
              <a:rPr lang="en-US" sz="3500" dirty="0"/>
              <a:t>I think that’s a mistake because the real questions is: “</a:t>
            </a:r>
            <a:r>
              <a:rPr lang="en-US" sz="3500" b="1" dirty="0">
                <a:highlight>
                  <a:srgbClr val="FFFF00"/>
                </a:highlight>
              </a:rPr>
              <a:t>What do I want to happen at the </a:t>
            </a:r>
            <a:r>
              <a:rPr lang="en-US" sz="3500" b="1" i="1" dirty="0">
                <a:highlight>
                  <a:srgbClr val="FFFF00"/>
                </a:highlight>
              </a:rPr>
              <a:t>end</a:t>
            </a:r>
            <a:r>
              <a:rPr lang="en-US" sz="3500" b="1" dirty="0">
                <a:highlight>
                  <a:srgbClr val="FFFF00"/>
                </a:highlight>
              </a:rPr>
              <a:t> of this project</a:t>
            </a:r>
            <a:r>
              <a:rPr lang="en-US" sz="3500" dirty="0"/>
              <a:t>?”</a:t>
            </a:r>
          </a:p>
          <a:p>
            <a:pPr marL="0" indent="0">
              <a:lnSpc>
                <a:spcPct val="100000"/>
              </a:lnSpc>
              <a:spcBef>
                <a:spcPts val="0"/>
              </a:spcBef>
              <a:buNone/>
            </a:pPr>
            <a:endParaRPr lang="en-US" sz="3500" dirty="0"/>
          </a:p>
          <a:p>
            <a:pPr marL="0" indent="0">
              <a:lnSpc>
                <a:spcPct val="100000"/>
              </a:lnSpc>
              <a:spcBef>
                <a:spcPts val="0"/>
              </a:spcBef>
              <a:buNone/>
            </a:pPr>
            <a:r>
              <a:rPr lang="en-US" sz="3500" dirty="0"/>
              <a:t>Increase the chances of making it successful </a:t>
            </a:r>
            <a:r>
              <a:rPr lang="en-US" sz="3500" i="1" dirty="0"/>
              <a:t>at the start</a:t>
            </a:r>
            <a:r>
              <a:rPr lang="en-US" sz="3500" dirty="0"/>
              <a:t> by stretching your imagination out farther – to what it will look like when the project is complete.</a:t>
            </a:r>
          </a:p>
        </p:txBody>
      </p:sp>
    </p:spTree>
    <p:extLst>
      <p:ext uri="{BB962C8B-B14F-4D97-AF65-F5344CB8AC3E}">
        <p14:creationId xmlns:p14="http://schemas.microsoft.com/office/powerpoint/2010/main" val="163930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440119" y="428439"/>
            <a:ext cx="11118574" cy="6081417"/>
          </a:xfrm>
        </p:spPr>
        <p:txBody>
          <a:bodyPr>
            <a:noAutofit/>
          </a:bodyPr>
          <a:lstStyle/>
          <a:p>
            <a:pPr marL="0" indent="0">
              <a:lnSpc>
                <a:spcPct val="100000"/>
              </a:lnSpc>
              <a:spcBef>
                <a:spcPts val="0"/>
              </a:spcBef>
              <a:buNone/>
            </a:pPr>
            <a:r>
              <a:rPr lang="en-US" sz="3500" i="1" dirty="0"/>
              <a:t>Farther</a:t>
            </a:r>
            <a:r>
              <a:rPr lang="en-US" sz="3500" dirty="0"/>
              <a:t> means imagining what is </a:t>
            </a:r>
            <a:r>
              <a:rPr lang="en-US" sz="3500" b="1" dirty="0"/>
              <a:t>left </a:t>
            </a:r>
            <a:r>
              <a:rPr lang="en-US" sz="3500" b="1" dirty="0">
                <a:solidFill>
                  <a:srgbClr val="FF0000"/>
                </a:solidFill>
              </a:rPr>
              <a:t>after </a:t>
            </a:r>
            <a:r>
              <a:rPr lang="en-US" sz="3500" b="1" u="sng" dirty="0">
                <a:solidFill>
                  <a:srgbClr val="FF0000"/>
                </a:solidFill>
              </a:rPr>
              <a:t>you are done</a:t>
            </a:r>
            <a:r>
              <a:rPr lang="en-US" sz="3500" b="1" dirty="0">
                <a:solidFill>
                  <a:srgbClr val="FF0000"/>
                </a:solidFill>
              </a:rPr>
              <a:t> </a:t>
            </a:r>
            <a:r>
              <a:rPr lang="en-US" sz="3500" b="1" dirty="0"/>
              <a:t>with the project</a:t>
            </a:r>
            <a:r>
              <a:rPr lang="en-US" sz="3500" dirty="0"/>
              <a:t>.  </a:t>
            </a:r>
          </a:p>
          <a:p>
            <a:pPr marL="0" indent="0">
              <a:lnSpc>
                <a:spcPct val="100000"/>
              </a:lnSpc>
              <a:spcBef>
                <a:spcPts val="0"/>
              </a:spcBef>
              <a:buNone/>
            </a:pPr>
            <a:endParaRPr lang="en-US" sz="3500" dirty="0"/>
          </a:p>
          <a:p>
            <a:pPr marL="0" indent="0">
              <a:lnSpc>
                <a:spcPct val="100000"/>
              </a:lnSpc>
              <a:spcBef>
                <a:spcPts val="0"/>
              </a:spcBef>
              <a:buNone/>
            </a:pPr>
            <a:r>
              <a:rPr lang="en-US" sz="3500" dirty="0"/>
              <a:t>Is the system running? What ’s likely to break down? How is </a:t>
            </a:r>
            <a:r>
              <a:rPr lang="en-US" sz="3500" i="1" dirty="0"/>
              <a:t>so-and-so </a:t>
            </a:r>
            <a:r>
              <a:rPr lang="en-US" sz="3500" dirty="0"/>
              <a:t>doing with your implementation plan? </a:t>
            </a:r>
          </a:p>
          <a:p>
            <a:pPr marL="0" indent="0">
              <a:lnSpc>
                <a:spcPct val="100000"/>
              </a:lnSpc>
              <a:spcBef>
                <a:spcPts val="0"/>
              </a:spcBef>
              <a:buNone/>
            </a:pPr>
            <a:endParaRPr lang="en-US" sz="3500" dirty="0"/>
          </a:p>
          <a:p>
            <a:pPr marL="0" indent="0">
              <a:lnSpc>
                <a:spcPct val="100000"/>
              </a:lnSpc>
              <a:spcBef>
                <a:spcPts val="0"/>
              </a:spcBef>
              <a:buNone/>
            </a:pPr>
            <a:r>
              <a:rPr lang="en-US" sz="3500" dirty="0"/>
              <a:t>By starting at the end you can:</a:t>
            </a:r>
          </a:p>
          <a:p>
            <a:pPr>
              <a:lnSpc>
                <a:spcPct val="100000"/>
              </a:lnSpc>
              <a:spcBef>
                <a:spcPts val="0"/>
              </a:spcBef>
            </a:pPr>
            <a:r>
              <a:rPr lang="en-US" sz="3500" b="1" dirty="0">
                <a:solidFill>
                  <a:srgbClr val="FF0000"/>
                </a:solidFill>
              </a:rPr>
              <a:t>mentally prepare </a:t>
            </a:r>
            <a:r>
              <a:rPr lang="en-US" sz="3500" dirty="0"/>
              <a:t>yourself for problems - and success.</a:t>
            </a:r>
          </a:p>
          <a:p>
            <a:pPr>
              <a:lnSpc>
                <a:spcPct val="100000"/>
              </a:lnSpc>
              <a:spcBef>
                <a:spcPts val="0"/>
              </a:spcBef>
            </a:pPr>
            <a:r>
              <a:rPr lang="en-US" sz="3500" dirty="0"/>
              <a:t>map out the </a:t>
            </a:r>
            <a:r>
              <a:rPr lang="en-US" sz="3500" b="1" dirty="0">
                <a:solidFill>
                  <a:srgbClr val="FF0000"/>
                </a:solidFill>
              </a:rPr>
              <a:t>specific milestones </a:t>
            </a:r>
            <a:r>
              <a:rPr lang="en-US" sz="3500" dirty="0"/>
              <a:t>you need to reach.</a:t>
            </a:r>
          </a:p>
          <a:p>
            <a:pPr>
              <a:lnSpc>
                <a:spcPct val="100000"/>
              </a:lnSpc>
              <a:spcBef>
                <a:spcPts val="0"/>
              </a:spcBef>
            </a:pPr>
            <a:r>
              <a:rPr lang="en-US" sz="3500" dirty="0"/>
              <a:t>identify </a:t>
            </a:r>
            <a:r>
              <a:rPr lang="en-US" sz="3500" b="1" dirty="0"/>
              <a:t>where to be </a:t>
            </a:r>
            <a:r>
              <a:rPr lang="en-US" sz="3500" b="1" dirty="0">
                <a:solidFill>
                  <a:srgbClr val="FF0000"/>
                </a:solidFill>
              </a:rPr>
              <a:t>particularly energetic </a:t>
            </a:r>
            <a:r>
              <a:rPr lang="en-US" sz="3500" dirty="0"/>
              <a:t>or creative.</a:t>
            </a:r>
          </a:p>
        </p:txBody>
      </p:sp>
    </p:spTree>
    <p:extLst>
      <p:ext uri="{BB962C8B-B14F-4D97-AF65-F5344CB8AC3E}">
        <p14:creationId xmlns:p14="http://schemas.microsoft.com/office/powerpoint/2010/main" val="39797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620086" y="455180"/>
            <a:ext cx="10670177" cy="6130177"/>
          </a:xfrm>
        </p:spPr>
        <p:txBody>
          <a:bodyPr>
            <a:noAutofit/>
          </a:bodyPr>
          <a:lstStyle/>
          <a:p>
            <a:pPr marL="0" indent="0">
              <a:lnSpc>
                <a:spcPct val="100000"/>
              </a:lnSpc>
              <a:spcBef>
                <a:spcPts val="0"/>
              </a:spcBef>
              <a:buNone/>
            </a:pPr>
            <a:r>
              <a:rPr lang="en-US" sz="3500" dirty="0"/>
              <a:t>Most plans aren't plans; they are </a:t>
            </a:r>
            <a:r>
              <a:rPr lang="en-US" sz="3500" b="1" dirty="0">
                <a:solidFill>
                  <a:srgbClr val="FF0000"/>
                </a:solidFill>
              </a:rPr>
              <a:t>just high-level ideas</a:t>
            </a:r>
            <a:r>
              <a:rPr lang="en-US" sz="3500" dirty="0"/>
              <a:t>.</a:t>
            </a:r>
          </a:p>
          <a:p>
            <a:pPr marL="0" indent="0">
              <a:lnSpc>
                <a:spcPct val="100000"/>
              </a:lnSpc>
              <a:spcBef>
                <a:spcPts val="0"/>
              </a:spcBef>
              <a:buNone/>
            </a:pPr>
            <a:endParaRPr lang="en-US" sz="3500" dirty="0"/>
          </a:p>
          <a:p>
            <a:pPr marL="0" indent="0">
              <a:lnSpc>
                <a:spcPct val="100000"/>
              </a:lnSpc>
              <a:spcBef>
                <a:spcPts val="0"/>
              </a:spcBef>
              <a:buNone/>
            </a:pPr>
            <a:r>
              <a:rPr lang="en-US" sz="3500" dirty="0"/>
              <a:t>As a result, </a:t>
            </a:r>
            <a:r>
              <a:rPr lang="en-US" sz="3500" b="1" dirty="0"/>
              <a:t>a planning process can be completed successfully</a:t>
            </a:r>
            <a:r>
              <a:rPr lang="en-US" sz="3500" dirty="0"/>
              <a:t>, but not a damn thing follows from it. </a:t>
            </a:r>
          </a:p>
          <a:p>
            <a:pPr marL="0" indent="0">
              <a:lnSpc>
                <a:spcPct val="100000"/>
              </a:lnSpc>
              <a:spcBef>
                <a:spcPts val="0"/>
              </a:spcBef>
              <a:buNone/>
            </a:pPr>
            <a:endParaRPr lang="en-US" sz="3500" dirty="0"/>
          </a:p>
          <a:p>
            <a:pPr marL="0" indent="0">
              <a:lnSpc>
                <a:spcPct val="100000"/>
              </a:lnSpc>
              <a:spcBef>
                <a:spcPts val="0"/>
              </a:spcBef>
              <a:buNone/>
            </a:pPr>
            <a:r>
              <a:rPr lang="en-US" sz="3500" dirty="0"/>
              <a:t>Untold thousands of plans can be found in pristine condition, untouched atop of filing cabinets or deep in old computer files. </a:t>
            </a:r>
          </a:p>
          <a:p>
            <a:pPr marL="0" indent="0">
              <a:lnSpc>
                <a:spcPct val="100000"/>
              </a:lnSpc>
              <a:spcBef>
                <a:spcPts val="0"/>
              </a:spcBef>
              <a:buNone/>
            </a:pPr>
            <a:endParaRPr lang="en-US" sz="3300" dirty="0"/>
          </a:p>
          <a:p>
            <a:pPr marL="0" indent="0" algn="ctr">
              <a:lnSpc>
                <a:spcPct val="100000"/>
              </a:lnSpc>
              <a:spcBef>
                <a:spcPts val="0"/>
              </a:spcBef>
              <a:buNone/>
            </a:pPr>
            <a:r>
              <a:rPr lang="en-US" sz="5500" dirty="0">
                <a:highlight>
                  <a:srgbClr val="FFFF00"/>
                </a:highlight>
              </a:rPr>
              <a:t>The best plan is a </a:t>
            </a:r>
            <a:r>
              <a:rPr lang="en-US" sz="5500" b="1" dirty="0">
                <a:highlight>
                  <a:srgbClr val="FFFF00"/>
                </a:highlight>
              </a:rPr>
              <a:t>completed </a:t>
            </a:r>
            <a:r>
              <a:rPr lang="en-US" sz="5500" dirty="0">
                <a:highlight>
                  <a:srgbClr val="FFFF00"/>
                </a:highlight>
              </a:rPr>
              <a:t>plan</a:t>
            </a:r>
            <a:r>
              <a:rPr lang="en-US" sz="3300" dirty="0">
                <a:highlight>
                  <a:srgbClr val="FFFF00"/>
                </a:highlight>
              </a:rPr>
              <a:t>. </a:t>
            </a:r>
          </a:p>
        </p:txBody>
      </p:sp>
    </p:spTree>
    <p:extLst>
      <p:ext uri="{BB962C8B-B14F-4D97-AF65-F5344CB8AC3E}">
        <p14:creationId xmlns:p14="http://schemas.microsoft.com/office/powerpoint/2010/main" val="336832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487609" y="602209"/>
            <a:ext cx="11216781" cy="5972361"/>
          </a:xfrm>
        </p:spPr>
        <p:txBody>
          <a:bodyPr>
            <a:noAutofit/>
          </a:bodyPr>
          <a:lstStyle/>
          <a:p>
            <a:pPr marL="0" indent="0">
              <a:lnSpc>
                <a:spcPct val="100000"/>
              </a:lnSpc>
              <a:spcBef>
                <a:spcPts val="0"/>
              </a:spcBef>
              <a:buNone/>
            </a:pPr>
            <a:r>
              <a:rPr lang="en-US" sz="3500" dirty="0"/>
              <a:t>Expectations must be managed from the start.</a:t>
            </a:r>
          </a:p>
          <a:p>
            <a:pPr marL="0" indent="0">
              <a:lnSpc>
                <a:spcPct val="100000"/>
              </a:lnSpc>
              <a:spcBef>
                <a:spcPts val="0"/>
              </a:spcBef>
              <a:buNone/>
            </a:pPr>
            <a:endParaRPr lang="en-US" sz="3500" dirty="0"/>
          </a:p>
          <a:p>
            <a:pPr marL="0" indent="0">
              <a:lnSpc>
                <a:spcPct val="100000"/>
              </a:lnSpc>
              <a:spcBef>
                <a:spcPts val="0"/>
              </a:spcBef>
              <a:buNone/>
            </a:pPr>
            <a:r>
              <a:rPr lang="en-US" sz="3500" dirty="0"/>
              <a:t>As always, </a:t>
            </a:r>
            <a:r>
              <a:rPr lang="en-US" sz="3500" b="1" dirty="0">
                <a:highlight>
                  <a:srgbClr val="FFFF00"/>
                </a:highlight>
              </a:rPr>
              <a:t>start with yourself</a:t>
            </a:r>
            <a:r>
              <a:rPr lang="en-US" sz="3500" dirty="0">
                <a:highlight>
                  <a:srgbClr val="FFFF00"/>
                </a:highlight>
              </a:rPr>
              <a:t>: What are </a:t>
            </a:r>
            <a:r>
              <a:rPr lang="en-US" sz="4500" b="1" i="1" dirty="0">
                <a:highlight>
                  <a:srgbClr val="FFFF00"/>
                </a:highlight>
              </a:rPr>
              <a:t>your</a:t>
            </a:r>
            <a:r>
              <a:rPr lang="en-US" sz="3500" dirty="0">
                <a:highlight>
                  <a:srgbClr val="FFFF00"/>
                </a:highlight>
              </a:rPr>
              <a:t> expectations</a:t>
            </a:r>
            <a:r>
              <a:rPr lang="en-US" sz="3500" dirty="0"/>
              <a:t>?</a:t>
            </a:r>
          </a:p>
          <a:p>
            <a:pPr marL="0" indent="0">
              <a:lnSpc>
                <a:spcPct val="100000"/>
              </a:lnSpc>
              <a:spcBef>
                <a:spcPts val="0"/>
              </a:spcBef>
              <a:buNone/>
            </a:pPr>
            <a:endParaRPr lang="en-US" sz="3500" dirty="0"/>
          </a:p>
          <a:p>
            <a:pPr marL="0" indent="0">
              <a:lnSpc>
                <a:spcPct val="100000"/>
              </a:lnSpc>
              <a:spcBef>
                <a:spcPts val="0"/>
              </a:spcBef>
              <a:buNone/>
            </a:pPr>
            <a:r>
              <a:rPr lang="en-US" sz="3500" dirty="0"/>
              <a:t>What would make this project a success for you?</a:t>
            </a:r>
          </a:p>
          <a:p>
            <a:pPr marL="0" indent="0">
              <a:lnSpc>
                <a:spcPct val="100000"/>
              </a:lnSpc>
              <a:spcBef>
                <a:spcPts val="0"/>
              </a:spcBef>
              <a:buNone/>
            </a:pPr>
            <a:endParaRPr lang="en-US" sz="3500" dirty="0"/>
          </a:p>
          <a:p>
            <a:pPr marL="0" indent="0">
              <a:lnSpc>
                <a:spcPct val="100000"/>
              </a:lnSpc>
              <a:spcBef>
                <a:spcPts val="0"/>
              </a:spcBef>
              <a:buNone/>
            </a:pPr>
            <a:r>
              <a:rPr lang="en-US" sz="3500" dirty="0"/>
              <a:t>Where are you starting from?</a:t>
            </a:r>
          </a:p>
          <a:p>
            <a:pPr marL="0" indent="0">
              <a:lnSpc>
                <a:spcPct val="100000"/>
              </a:lnSpc>
              <a:spcBef>
                <a:spcPts val="0"/>
              </a:spcBef>
              <a:buNone/>
            </a:pPr>
            <a:endParaRPr lang="en-US" sz="3500" dirty="0"/>
          </a:p>
          <a:p>
            <a:pPr marL="0" indent="0">
              <a:lnSpc>
                <a:spcPct val="100000"/>
              </a:lnSpc>
              <a:spcBef>
                <a:spcPts val="0"/>
              </a:spcBef>
              <a:buNone/>
            </a:pPr>
            <a:r>
              <a:rPr lang="en-US" sz="3500" dirty="0"/>
              <a:t>How might your expectations influence the PM Triangle?</a:t>
            </a:r>
          </a:p>
          <a:p>
            <a:pPr marL="0" indent="0">
              <a:lnSpc>
                <a:spcPct val="100000"/>
              </a:lnSpc>
              <a:spcBef>
                <a:spcPts val="0"/>
              </a:spcBef>
              <a:buNone/>
            </a:pPr>
            <a:endParaRPr lang="en-US" sz="3300" dirty="0">
              <a:highlight>
                <a:srgbClr val="FFFF00"/>
              </a:highlight>
            </a:endParaRPr>
          </a:p>
        </p:txBody>
      </p:sp>
    </p:spTree>
    <p:extLst>
      <p:ext uri="{BB962C8B-B14F-4D97-AF65-F5344CB8AC3E}">
        <p14:creationId xmlns:p14="http://schemas.microsoft.com/office/powerpoint/2010/main" val="3182697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3F97BE-F647-4676-9B37-BC17E7E95735}"/>
              </a:ext>
            </a:extLst>
          </p:cNvPr>
          <p:cNvSpPr>
            <a:spLocks noGrp="1"/>
          </p:cNvSpPr>
          <p:nvPr>
            <p:ph idx="1"/>
          </p:nvPr>
        </p:nvSpPr>
        <p:spPr>
          <a:xfrm>
            <a:off x="498295" y="704675"/>
            <a:ext cx="11053790" cy="5207070"/>
          </a:xfrm>
        </p:spPr>
        <p:txBody>
          <a:bodyPr>
            <a:normAutofit fontScale="92500" lnSpcReduction="20000"/>
          </a:bodyPr>
          <a:lstStyle/>
          <a:p>
            <a:pPr marL="0" indent="0" algn="ctr">
              <a:lnSpc>
                <a:spcPct val="120000"/>
              </a:lnSpc>
              <a:spcBef>
                <a:spcPts val="0"/>
              </a:spcBef>
              <a:spcAft>
                <a:spcPts val="0"/>
              </a:spcAft>
              <a:buNone/>
            </a:pPr>
            <a:r>
              <a:rPr lang="en-US" sz="4900" dirty="0">
                <a:solidFill>
                  <a:schemeClr val="tx1"/>
                </a:solidFill>
                <a:latin typeface="Calibri  "/>
                <a:cs typeface="Calibri" panose="020F0502020204030204" pitchFamily="34" charset="0"/>
              </a:rPr>
              <a:t>Focus on </a:t>
            </a:r>
            <a:r>
              <a:rPr lang="en-US" sz="4900" b="1" dirty="0">
                <a:solidFill>
                  <a:srgbClr val="FF0000"/>
                </a:solidFill>
                <a:latin typeface="Calibri  "/>
                <a:cs typeface="Calibri" panose="020F0502020204030204" pitchFamily="34" charset="0"/>
              </a:rPr>
              <a:t>destination</a:t>
            </a:r>
            <a:r>
              <a:rPr lang="en-US" sz="4900" dirty="0">
                <a:latin typeface="Calibri  "/>
                <a:cs typeface="Calibri" panose="020F0502020204030204" pitchFamily="34" charset="0"/>
              </a:rPr>
              <a:t>, </a:t>
            </a:r>
          </a:p>
          <a:p>
            <a:pPr marL="0" indent="0" algn="ctr">
              <a:lnSpc>
                <a:spcPct val="120000"/>
              </a:lnSpc>
              <a:spcBef>
                <a:spcPts val="0"/>
              </a:spcBef>
              <a:spcAft>
                <a:spcPts val="0"/>
              </a:spcAft>
              <a:buNone/>
            </a:pPr>
            <a:r>
              <a:rPr lang="en-US" sz="4900" dirty="0">
                <a:latin typeface="Calibri  "/>
                <a:cs typeface="Calibri" panose="020F0502020204030204" pitchFamily="34" charset="0"/>
              </a:rPr>
              <a:t>not the </a:t>
            </a:r>
            <a:r>
              <a:rPr lang="en-US" sz="4900" b="1" dirty="0">
                <a:latin typeface="Calibri  "/>
                <a:cs typeface="Calibri" panose="020F0502020204030204" pitchFamily="34" charset="0"/>
              </a:rPr>
              <a:t>journey</a:t>
            </a:r>
            <a:r>
              <a:rPr lang="en-US" sz="4900" dirty="0">
                <a:latin typeface="Calibri  "/>
                <a:cs typeface="Calibri" panose="020F0502020204030204" pitchFamily="34" charset="0"/>
              </a:rPr>
              <a:t> or </a:t>
            </a:r>
            <a:r>
              <a:rPr lang="en-US" sz="4900" b="1" dirty="0">
                <a:latin typeface="Calibri  "/>
                <a:cs typeface="Calibri" panose="020F0502020204030204" pitchFamily="34" charset="0"/>
              </a:rPr>
              <a:t>vehicle </a:t>
            </a:r>
          </a:p>
          <a:p>
            <a:pPr marL="0" indent="0" algn="ctr">
              <a:lnSpc>
                <a:spcPct val="120000"/>
              </a:lnSpc>
              <a:spcBef>
                <a:spcPts val="0"/>
              </a:spcBef>
              <a:spcAft>
                <a:spcPts val="0"/>
              </a:spcAft>
              <a:buNone/>
            </a:pPr>
            <a:r>
              <a:rPr lang="en-US" sz="4900" dirty="0">
                <a:latin typeface="Calibri  "/>
                <a:cs typeface="Calibri" panose="020F0502020204030204" pitchFamily="34" charset="0"/>
              </a:rPr>
              <a:t>(not very Zen like, I know).</a:t>
            </a:r>
          </a:p>
          <a:p>
            <a:pPr marL="0" indent="0" algn="ctr">
              <a:lnSpc>
                <a:spcPct val="120000"/>
              </a:lnSpc>
              <a:spcBef>
                <a:spcPts val="0"/>
              </a:spcBef>
              <a:spcAft>
                <a:spcPts val="0"/>
              </a:spcAft>
              <a:buNone/>
            </a:pPr>
            <a:endParaRPr lang="en-US" sz="4000" dirty="0">
              <a:latin typeface="Calibri  "/>
              <a:cs typeface="Calibri" panose="020F0502020204030204" pitchFamily="34" charset="0"/>
            </a:endParaRPr>
          </a:p>
          <a:p>
            <a:pPr marL="0" indent="0">
              <a:lnSpc>
                <a:spcPct val="120000"/>
              </a:lnSpc>
              <a:spcBef>
                <a:spcPts val="0"/>
              </a:spcBef>
              <a:spcAft>
                <a:spcPts val="0"/>
              </a:spcAft>
              <a:buNone/>
            </a:pPr>
            <a:r>
              <a:rPr lang="en-US" sz="4000" dirty="0">
                <a:solidFill>
                  <a:schemeClr val="tx1"/>
                </a:solidFill>
                <a:latin typeface="Calibri  "/>
                <a:cs typeface="Calibri" panose="020F0502020204030204" pitchFamily="34" charset="0"/>
              </a:rPr>
              <a:t>Otherwise, you’ll happily boast that you completed the project on time and under budget, but when you check back 6 months later ... </a:t>
            </a:r>
            <a:r>
              <a:rPr lang="en-US" sz="4000" i="1" dirty="0" err="1">
                <a:solidFill>
                  <a:schemeClr val="tx1"/>
                </a:solidFill>
                <a:latin typeface="Calibri  "/>
                <a:cs typeface="Calibri" panose="020F0502020204030204" pitchFamily="34" charset="0"/>
              </a:rPr>
              <a:t>zilcho</a:t>
            </a:r>
            <a:r>
              <a:rPr lang="en-US" sz="4000" dirty="0">
                <a:solidFill>
                  <a:schemeClr val="tx1"/>
                </a:solidFill>
                <a:latin typeface="Calibri  "/>
                <a:cs typeface="Calibri" panose="020F0502020204030204" pitchFamily="34" charset="0"/>
              </a:rPr>
              <a:t>. After you left, nothing happened.</a:t>
            </a:r>
            <a:endParaRPr lang="en-US" sz="3200" dirty="0">
              <a:solidFill>
                <a:schemeClr val="tx1"/>
              </a:solidFill>
              <a:latin typeface="Calibri  "/>
              <a:cs typeface="Calibri" panose="020F0502020204030204" pitchFamily="34" charset="0"/>
            </a:endParaRPr>
          </a:p>
        </p:txBody>
      </p:sp>
      <p:sp>
        <p:nvSpPr>
          <p:cNvPr id="4" name="Slide Number Placeholder 3">
            <a:extLst>
              <a:ext uri="{FF2B5EF4-FFF2-40B4-BE49-F238E27FC236}">
                <a16:creationId xmlns:a16="http://schemas.microsoft.com/office/drawing/2014/main" id="{E0EC9E84-397D-4C81-9DDB-6CC9595D2A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903163"/>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900" b="0" i="0" u="none" strike="noStrike" kern="1200" cap="none" spc="0" normalizeH="0" baseline="0" noProof="0" dirty="0">
              <a:ln>
                <a:noFill/>
              </a:ln>
              <a:solidFill>
                <a:srgbClr val="903163"/>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44604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405176" y="443059"/>
            <a:ext cx="11581213" cy="5643154"/>
          </a:xfrm>
        </p:spPr>
        <p:txBody>
          <a:bodyPr>
            <a:noAutofit/>
          </a:bodyPr>
          <a:lstStyle/>
          <a:p>
            <a:pPr marL="0" indent="0">
              <a:lnSpc>
                <a:spcPct val="100000"/>
              </a:lnSpc>
              <a:spcBef>
                <a:spcPts val="0"/>
              </a:spcBef>
              <a:buNone/>
            </a:pPr>
            <a:r>
              <a:rPr lang="en-US" sz="4500" b="1" dirty="0"/>
              <a:t>Step 1</a:t>
            </a:r>
            <a:r>
              <a:rPr lang="en-US" sz="4500" dirty="0"/>
              <a:t>: </a:t>
            </a:r>
            <a:r>
              <a:rPr lang="en-US" sz="3200" b="1" dirty="0"/>
              <a:t>Honestly assess </a:t>
            </a:r>
            <a:r>
              <a:rPr lang="en-US" sz="3200" b="1" u="sng" dirty="0"/>
              <a:t>YOUR</a:t>
            </a:r>
            <a:r>
              <a:rPr lang="en-US" sz="3200" dirty="0"/>
              <a:t> </a:t>
            </a:r>
            <a:r>
              <a:rPr lang="en-US" sz="3200" b="1" dirty="0">
                <a:solidFill>
                  <a:srgbClr val="FF0000"/>
                </a:solidFill>
              </a:rPr>
              <a:t>Ultimate, Supreme, Top No. 1 Goal</a:t>
            </a:r>
          </a:p>
          <a:p>
            <a:pPr marL="0" indent="0">
              <a:lnSpc>
                <a:spcPct val="100000"/>
              </a:lnSpc>
              <a:spcBef>
                <a:spcPts val="0"/>
              </a:spcBef>
              <a:buNone/>
            </a:pPr>
            <a:r>
              <a:rPr lang="en-US" sz="2800" dirty="0"/>
              <a:t>A satisfied </a:t>
            </a:r>
            <a:r>
              <a:rPr lang="en-US" sz="2800" b="1" dirty="0">
                <a:solidFill>
                  <a:srgbClr val="00B050"/>
                </a:solidFill>
              </a:rPr>
              <a:t>key client </a:t>
            </a:r>
            <a:r>
              <a:rPr lang="en-US" sz="2800" dirty="0"/>
              <a:t>(even if other stakeholders aren’t fully satisfied).</a:t>
            </a:r>
            <a:br>
              <a:rPr lang="en-US" sz="2800" dirty="0"/>
            </a:br>
            <a:endParaRPr lang="en-US" sz="2800" dirty="0"/>
          </a:p>
          <a:p>
            <a:pPr marL="0" indent="0">
              <a:lnSpc>
                <a:spcPct val="100000"/>
              </a:lnSpc>
              <a:spcBef>
                <a:spcPts val="0"/>
              </a:spcBef>
              <a:buNone/>
            </a:pPr>
            <a:r>
              <a:rPr lang="en-US" sz="2800" dirty="0"/>
              <a:t>Staying </a:t>
            </a:r>
            <a:r>
              <a:rPr lang="en-US" sz="2800" b="1" dirty="0">
                <a:solidFill>
                  <a:srgbClr val="00B050"/>
                </a:solidFill>
              </a:rPr>
              <a:t>under budget </a:t>
            </a:r>
            <a:r>
              <a:rPr lang="en-US" sz="2800" dirty="0"/>
              <a:t>(even if the budget has to be “revisited” later).</a:t>
            </a:r>
            <a:br>
              <a:rPr lang="en-US" sz="2800" dirty="0"/>
            </a:br>
            <a:endParaRPr lang="en-US" sz="2800" dirty="0"/>
          </a:p>
          <a:p>
            <a:pPr marL="0" indent="0">
              <a:lnSpc>
                <a:spcPct val="100000"/>
              </a:lnSpc>
              <a:spcBef>
                <a:spcPts val="0"/>
              </a:spcBef>
              <a:buNone/>
            </a:pPr>
            <a:r>
              <a:rPr lang="en-US" sz="2800" dirty="0"/>
              <a:t>Making the </a:t>
            </a:r>
            <a:r>
              <a:rPr lang="en-US" sz="2800" b="1" dirty="0">
                <a:solidFill>
                  <a:srgbClr val="00B050"/>
                </a:solidFill>
              </a:rPr>
              <a:t>deadline</a:t>
            </a:r>
            <a:r>
              <a:rPr lang="en-US" sz="2800" dirty="0"/>
              <a:t> (even if holes starting showing up in the process).</a:t>
            </a:r>
            <a:br>
              <a:rPr lang="en-US" sz="2800" dirty="0"/>
            </a:br>
            <a:endParaRPr lang="en-US" sz="2800" dirty="0"/>
          </a:p>
          <a:p>
            <a:pPr marL="0" indent="0">
              <a:lnSpc>
                <a:spcPct val="100000"/>
              </a:lnSpc>
              <a:spcBef>
                <a:spcPts val="0"/>
              </a:spcBef>
              <a:buNone/>
            </a:pPr>
            <a:r>
              <a:rPr lang="en-US" sz="2800" b="1" dirty="0">
                <a:solidFill>
                  <a:srgbClr val="00B050"/>
                </a:solidFill>
              </a:rPr>
              <a:t>Covering Your Ass </a:t>
            </a:r>
            <a:r>
              <a:rPr lang="en-US" sz="2800" dirty="0"/>
              <a:t>(‘I was told to follow this </a:t>
            </a:r>
            <a:r>
              <a:rPr lang="en-US" sz="2800" i="1" dirty="0"/>
              <a:t>exact </a:t>
            </a:r>
            <a:r>
              <a:rPr lang="en-US" sz="2800" dirty="0"/>
              <a:t>procedure, and I did so).</a:t>
            </a:r>
            <a:br>
              <a:rPr lang="en-US" sz="2800" dirty="0"/>
            </a:br>
            <a:endParaRPr lang="en-US" sz="2800" dirty="0"/>
          </a:p>
          <a:p>
            <a:pPr marL="0" indent="0">
              <a:lnSpc>
                <a:spcPct val="100000"/>
              </a:lnSpc>
              <a:spcBef>
                <a:spcPts val="0"/>
              </a:spcBef>
              <a:buNone/>
            </a:pPr>
            <a:r>
              <a:rPr lang="en-US" sz="2800" b="1" dirty="0">
                <a:solidFill>
                  <a:srgbClr val="00B050"/>
                </a:solidFill>
              </a:rPr>
              <a:t>Unto Thy Own Self </a:t>
            </a:r>
            <a:r>
              <a:rPr lang="en-US" sz="2800" dirty="0"/>
              <a:t>(‘You’re not going to like it, but here are the results’).</a:t>
            </a:r>
            <a:br>
              <a:rPr lang="en-US" sz="2800" dirty="0"/>
            </a:br>
            <a:endParaRPr lang="en-US" sz="2800" dirty="0"/>
          </a:p>
          <a:p>
            <a:pPr marL="0" indent="0">
              <a:lnSpc>
                <a:spcPct val="100000"/>
              </a:lnSpc>
              <a:spcBef>
                <a:spcPts val="0"/>
              </a:spcBef>
              <a:buNone/>
            </a:pPr>
            <a:r>
              <a:rPr lang="en-US" sz="2800" b="1" dirty="0">
                <a:solidFill>
                  <a:srgbClr val="00B050"/>
                </a:solidFill>
              </a:rPr>
              <a:t>The Resume Builder </a:t>
            </a:r>
            <a:r>
              <a:rPr lang="en-US" sz="2800" dirty="0"/>
              <a:t>(“I’m going to launch my career off this project’).</a:t>
            </a:r>
          </a:p>
          <a:p>
            <a:pPr marL="0" indent="0">
              <a:lnSpc>
                <a:spcPct val="100000"/>
              </a:lnSpc>
              <a:spcBef>
                <a:spcPts val="0"/>
              </a:spcBef>
              <a:buNone/>
            </a:pPr>
            <a:endParaRPr lang="en-US" sz="3200" dirty="0"/>
          </a:p>
        </p:txBody>
      </p:sp>
    </p:spTree>
    <p:extLst>
      <p:ext uri="{BB962C8B-B14F-4D97-AF65-F5344CB8AC3E}">
        <p14:creationId xmlns:p14="http://schemas.microsoft.com/office/powerpoint/2010/main" val="263629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370434" y="464765"/>
            <a:ext cx="11586754" cy="5977980"/>
          </a:xfrm>
        </p:spPr>
        <p:txBody>
          <a:bodyPr>
            <a:noAutofit/>
          </a:bodyPr>
          <a:lstStyle/>
          <a:p>
            <a:pPr marL="0" indent="0">
              <a:lnSpc>
                <a:spcPct val="100000"/>
              </a:lnSpc>
              <a:spcBef>
                <a:spcPts val="0"/>
              </a:spcBef>
              <a:buNone/>
            </a:pPr>
            <a:r>
              <a:rPr lang="en-US" sz="4500" b="1" dirty="0"/>
              <a:t>Step 2</a:t>
            </a:r>
            <a:r>
              <a:rPr lang="en-US" sz="4500" dirty="0"/>
              <a:t>: </a:t>
            </a:r>
            <a:r>
              <a:rPr lang="en-US" sz="3200" dirty="0"/>
              <a:t>Identify </a:t>
            </a:r>
            <a:r>
              <a:rPr lang="en-US" sz="3200" b="1" dirty="0"/>
              <a:t>in </a:t>
            </a:r>
            <a:r>
              <a:rPr lang="en-US" sz="3200" b="1" i="1" dirty="0"/>
              <a:t>detail</a:t>
            </a:r>
            <a:r>
              <a:rPr lang="en-US" sz="3200" b="1" dirty="0"/>
              <a:t> </a:t>
            </a:r>
            <a:r>
              <a:rPr lang="en-US" sz="3200" dirty="0"/>
              <a:t>the </a:t>
            </a:r>
            <a:r>
              <a:rPr lang="en-US" sz="3200" b="1" dirty="0">
                <a:solidFill>
                  <a:srgbClr val="FF0000"/>
                </a:solidFill>
              </a:rPr>
              <a:t>Most Likely, Most Vexing Obstacle(s) </a:t>
            </a:r>
          </a:p>
          <a:p>
            <a:pPr marL="0" indent="0">
              <a:lnSpc>
                <a:spcPct val="100000"/>
              </a:lnSpc>
              <a:spcBef>
                <a:spcPts val="0"/>
              </a:spcBef>
              <a:buNone/>
            </a:pPr>
            <a:r>
              <a:rPr lang="en-US" dirty="0"/>
              <a:t>Vague client (‘I’ll let you know when I </a:t>
            </a:r>
            <a:r>
              <a:rPr lang="en-US" i="1" dirty="0"/>
              <a:t>don’t</a:t>
            </a:r>
            <a:r>
              <a:rPr lang="en-US" dirty="0"/>
              <a:t> like it).</a:t>
            </a:r>
            <a:br>
              <a:rPr lang="en-US" dirty="0"/>
            </a:br>
            <a:endParaRPr lang="en-US" dirty="0"/>
          </a:p>
          <a:p>
            <a:pPr marL="0" indent="0">
              <a:lnSpc>
                <a:spcPct val="100000"/>
              </a:lnSpc>
              <a:spcBef>
                <a:spcPts val="0"/>
              </a:spcBef>
              <a:buNone/>
            </a:pPr>
            <a:r>
              <a:rPr lang="en-US" dirty="0"/>
              <a:t>Distracted client.</a:t>
            </a:r>
            <a:br>
              <a:rPr lang="en-US" dirty="0"/>
            </a:br>
            <a:endParaRPr lang="en-US" dirty="0"/>
          </a:p>
          <a:p>
            <a:pPr marL="0" indent="0">
              <a:lnSpc>
                <a:spcPct val="100000"/>
              </a:lnSpc>
              <a:spcBef>
                <a:spcPts val="0"/>
              </a:spcBef>
              <a:buNone/>
            </a:pPr>
            <a:r>
              <a:rPr lang="en-US" dirty="0"/>
              <a:t>Inadequate time, teammates or budget (they </a:t>
            </a:r>
            <a:r>
              <a:rPr lang="en-US" i="1" dirty="0"/>
              <a:t>won’t </a:t>
            </a:r>
            <a:r>
              <a:rPr lang="en-US" dirty="0"/>
              <a:t>make deadlines).</a:t>
            </a:r>
          </a:p>
          <a:p>
            <a:pPr marL="0" indent="0">
              <a:lnSpc>
                <a:spcPct val="100000"/>
              </a:lnSpc>
              <a:spcBef>
                <a:spcPts val="0"/>
              </a:spcBef>
              <a:buNone/>
            </a:pPr>
            <a:endParaRPr lang="en-US" dirty="0"/>
          </a:p>
          <a:p>
            <a:pPr marL="0" indent="0">
              <a:lnSpc>
                <a:spcPct val="100000"/>
              </a:lnSpc>
              <a:spcBef>
                <a:spcPts val="0"/>
              </a:spcBef>
              <a:buNone/>
            </a:pPr>
            <a:r>
              <a:rPr lang="en-US" b="1" dirty="0">
                <a:solidFill>
                  <a:srgbClr val="FF0000"/>
                </a:solidFill>
              </a:rPr>
              <a:t>Squishy goals </a:t>
            </a:r>
            <a:r>
              <a:rPr lang="en-US" dirty="0"/>
              <a:t>(“Let’s just see what we find’). </a:t>
            </a:r>
          </a:p>
          <a:p>
            <a:pPr marL="0" indent="0">
              <a:lnSpc>
                <a:spcPct val="100000"/>
              </a:lnSpc>
              <a:spcBef>
                <a:spcPts val="0"/>
              </a:spcBef>
              <a:buNone/>
            </a:pPr>
            <a:endParaRPr lang="en-US" dirty="0"/>
          </a:p>
          <a:p>
            <a:pPr marL="0" indent="0">
              <a:lnSpc>
                <a:spcPct val="100000"/>
              </a:lnSpc>
              <a:spcBef>
                <a:spcPts val="0"/>
              </a:spcBef>
              <a:buNone/>
            </a:pPr>
            <a:r>
              <a:rPr lang="en-US" dirty="0"/>
              <a:t>We need a scapegoat.</a:t>
            </a:r>
          </a:p>
          <a:p>
            <a:pPr marL="0" indent="0">
              <a:lnSpc>
                <a:spcPct val="100000"/>
              </a:lnSpc>
              <a:spcBef>
                <a:spcPts val="0"/>
              </a:spcBef>
              <a:buNone/>
            </a:pPr>
            <a:endParaRPr lang="en-US" dirty="0"/>
          </a:p>
          <a:p>
            <a:pPr marL="0" indent="0">
              <a:lnSpc>
                <a:spcPct val="100000"/>
              </a:lnSpc>
              <a:spcBef>
                <a:spcPts val="0"/>
              </a:spcBef>
              <a:buNone/>
            </a:pPr>
            <a:r>
              <a:rPr lang="en-US" dirty="0"/>
              <a:t> Inertia and indifference.</a:t>
            </a:r>
            <a:br>
              <a:rPr lang="en-US" sz="3200" dirty="0"/>
            </a:br>
            <a:endParaRPr lang="en-US" sz="3200" dirty="0"/>
          </a:p>
          <a:p>
            <a:pPr marL="0" indent="0">
              <a:lnSpc>
                <a:spcPct val="100000"/>
              </a:lnSpc>
              <a:spcBef>
                <a:spcPts val="0"/>
              </a:spcBef>
              <a:buNone/>
            </a:pPr>
            <a:endParaRPr lang="en-US" sz="3200" dirty="0"/>
          </a:p>
        </p:txBody>
      </p:sp>
    </p:spTree>
    <p:extLst>
      <p:ext uri="{BB962C8B-B14F-4D97-AF65-F5344CB8AC3E}">
        <p14:creationId xmlns:p14="http://schemas.microsoft.com/office/powerpoint/2010/main" val="427982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486561" y="364097"/>
            <a:ext cx="11198544" cy="6095426"/>
          </a:xfrm>
        </p:spPr>
        <p:txBody>
          <a:bodyPr>
            <a:noAutofit/>
          </a:bodyPr>
          <a:lstStyle/>
          <a:p>
            <a:pPr marL="0" indent="0">
              <a:lnSpc>
                <a:spcPct val="100000"/>
              </a:lnSpc>
              <a:spcBef>
                <a:spcPts val="0"/>
              </a:spcBef>
              <a:buNone/>
            </a:pPr>
            <a:r>
              <a:rPr lang="en-US" sz="4500" b="1" dirty="0"/>
              <a:t>Step 3</a:t>
            </a:r>
            <a:r>
              <a:rPr lang="en-US" sz="4500" dirty="0"/>
              <a:t>: </a:t>
            </a:r>
            <a:r>
              <a:rPr lang="en-US" sz="3200" dirty="0"/>
              <a:t>Plan where to</a:t>
            </a:r>
            <a:r>
              <a:rPr lang="en-US" sz="3200" b="1" dirty="0">
                <a:solidFill>
                  <a:srgbClr val="FF0000"/>
                </a:solidFill>
              </a:rPr>
              <a:t> </a:t>
            </a:r>
            <a:r>
              <a:rPr lang="en-US" sz="3200" b="1" u="sng" dirty="0">
                <a:solidFill>
                  <a:srgbClr val="FF0000"/>
                </a:solidFill>
              </a:rPr>
              <a:t>apply extra attention</a:t>
            </a:r>
            <a:r>
              <a:rPr lang="en-US" sz="3200" b="1" dirty="0">
                <a:solidFill>
                  <a:srgbClr val="FF0000"/>
                </a:solidFill>
              </a:rPr>
              <a:t> &amp; energy</a:t>
            </a:r>
          </a:p>
          <a:p>
            <a:pPr marL="0" indent="0">
              <a:lnSpc>
                <a:spcPct val="100000"/>
              </a:lnSpc>
              <a:spcBef>
                <a:spcPts val="0"/>
              </a:spcBef>
              <a:buNone/>
            </a:pPr>
            <a:r>
              <a:rPr lang="en-US" dirty="0"/>
              <a:t>For vagueness &amp; distracted: </a:t>
            </a:r>
            <a:r>
              <a:rPr lang="en-US" b="1" dirty="0"/>
              <a:t>Weekly updates &amp; ‘Show of hands’</a:t>
            </a:r>
            <a:br>
              <a:rPr lang="en-US" dirty="0"/>
            </a:br>
            <a:endParaRPr lang="en-US" dirty="0"/>
          </a:p>
          <a:p>
            <a:pPr marL="0" indent="0">
              <a:lnSpc>
                <a:spcPct val="100000"/>
              </a:lnSpc>
              <a:spcBef>
                <a:spcPts val="0"/>
              </a:spcBef>
              <a:buNone/>
            </a:pPr>
            <a:r>
              <a:rPr lang="en-US" dirty="0"/>
              <a:t>Inadequate resources: </a:t>
            </a:r>
            <a:r>
              <a:rPr lang="en-US" b="1" dirty="0"/>
              <a:t>Make the vital cuts decisively and </a:t>
            </a:r>
            <a:r>
              <a:rPr lang="en-US" b="1" dirty="0">
                <a:solidFill>
                  <a:srgbClr val="FF0000"/>
                </a:solidFill>
              </a:rPr>
              <a:t>early</a:t>
            </a:r>
            <a:br>
              <a:rPr lang="en-US" b="1" dirty="0"/>
            </a:br>
            <a:endParaRPr lang="en-US" b="1" dirty="0"/>
          </a:p>
          <a:p>
            <a:pPr marL="0" indent="0">
              <a:lnSpc>
                <a:spcPct val="100000"/>
              </a:lnSpc>
              <a:spcBef>
                <a:spcPts val="0"/>
              </a:spcBef>
              <a:buNone/>
            </a:pPr>
            <a:r>
              <a:rPr lang="en-US" dirty="0"/>
              <a:t>For procrastinators: </a:t>
            </a:r>
            <a:r>
              <a:rPr lang="en-US" b="1" dirty="0"/>
              <a:t>Fudge (lie) about the due dates</a:t>
            </a:r>
            <a:br>
              <a:rPr lang="en-US" dirty="0"/>
            </a:br>
            <a:endParaRPr lang="en-US" dirty="0"/>
          </a:p>
          <a:p>
            <a:pPr marL="0" indent="0">
              <a:lnSpc>
                <a:spcPct val="100000"/>
              </a:lnSpc>
              <a:spcBef>
                <a:spcPts val="0"/>
              </a:spcBef>
              <a:buNone/>
            </a:pPr>
            <a:r>
              <a:rPr lang="en-US" dirty="0"/>
              <a:t>Squishy goals: </a:t>
            </a:r>
            <a:r>
              <a:rPr lang="en-US" b="1" dirty="0"/>
              <a:t>Weekly updates &amp; ‘Show of hands’</a:t>
            </a:r>
            <a:br>
              <a:rPr lang="en-US" b="1" dirty="0"/>
            </a:br>
            <a:endParaRPr lang="en-US" b="1" dirty="0"/>
          </a:p>
          <a:p>
            <a:pPr marL="0" indent="0">
              <a:lnSpc>
                <a:spcPct val="100000"/>
              </a:lnSpc>
              <a:spcBef>
                <a:spcPts val="0"/>
              </a:spcBef>
              <a:buNone/>
            </a:pPr>
            <a:r>
              <a:rPr lang="en-US" dirty="0"/>
              <a:t>Scapegoat: </a:t>
            </a:r>
            <a:r>
              <a:rPr lang="en-US" b="1" dirty="0"/>
              <a:t>Find a </a:t>
            </a:r>
            <a:r>
              <a:rPr lang="en-US" b="1" i="1" dirty="0"/>
              <a:t>Patron</a:t>
            </a:r>
            <a:endParaRPr lang="en-US" b="1" dirty="0"/>
          </a:p>
          <a:p>
            <a:pPr marL="0" indent="0">
              <a:lnSpc>
                <a:spcPct val="100000"/>
              </a:lnSpc>
              <a:spcBef>
                <a:spcPts val="0"/>
              </a:spcBef>
              <a:buNone/>
            </a:pPr>
            <a:endParaRPr lang="en-US" dirty="0"/>
          </a:p>
          <a:p>
            <a:pPr marL="0" indent="0">
              <a:lnSpc>
                <a:spcPct val="100000"/>
              </a:lnSpc>
              <a:spcBef>
                <a:spcPts val="0"/>
              </a:spcBef>
              <a:buNone/>
            </a:pPr>
            <a:r>
              <a:rPr lang="en-US" dirty="0"/>
              <a:t>Inertia/Indifference: </a:t>
            </a:r>
            <a:r>
              <a:rPr lang="en-US" b="1" dirty="0"/>
              <a:t>Re-energize; Reassess; Don’t give up</a:t>
            </a:r>
            <a:br>
              <a:rPr lang="en-US" sz="3200" dirty="0"/>
            </a:br>
            <a:br>
              <a:rPr lang="en-US" sz="3200" dirty="0"/>
            </a:br>
            <a:endParaRPr lang="en-US" sz="3200" dirty="0"/>
          </a:p>
          <a:p>
            <a:pPr marL="0" indent="0">
              <a:lnSpc>
                <a:spcPct val="100000"/>
              </a:lnSpc>
              <a:spcBef>
                <a:spcPts val="0"/>
              </a:spcBef>
              <a:buNone/>
            </a:pPr>
            <a:endParaRPr lang="en-US" sz="3200" dirty="0"/>
          </a:p>
        </p:txBody>
      </p:sp>
    </p:spTree>
    <p:extLst>
      <p:ext uri="{BB962C8B-B14F-4D97-AF65-F5344CB8AC3E}">
        <p14:creationId xmlns:p14="http://schemas.microsoft.com/office/powerpoint/2010/main" val="43876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4BC49-C59C-4C74-84BD-AD0F5ADC7FF0}"/>
              </a:ext>
            </a:extLst>
          </p:cNvPr>
          <p:cNvSpPr>
            <a:spLocks noGrp="1"/>
          </p:cNvSpPr>
          <p:nvPr>
            <p:ph idx="1"/>
          </p:nvPr>
        </p:nvSpPr>
        <p:spPr>
          <a:xfrm>
            <a:off x="612396" y="326947"/>
            <a:ext cx="11064319" cy="6250022"/>
          </a:xfrm>
        </p:spPr>
        <p:txBody>
          <a:bodyPr>
            <a:noAutofit/>
          </a:bodyPr>
          <a:lstStyle/>
          <a:p>
            <a:pPr marL="0" indent="0">
              <a:lnSpc>
                <a:spcPct val="100000"/>
              </a:lnSpc>
              <a:spcBef>
                <a:spcPts val="0"/>
              </a:spcBef>
              <a:buNone/>
            </a:pPr>
            <a:r>
              <a:rPr lang="en-US" sz="4500" b="1" dirty="0"/>
              <a:t>Step 4</a:t>
            </a:r>
            <a:r>
              <a:rPr lang="en-US" sz="4500" dirty="0"/>
              <a:t>: </a:t>
            </a:r>
            <a:r>
              <a:rPr lang="en-US" sz="3500" dirty="0"/>
              <a:t>Write </a:t>
            </a:r>
            <a:r>
              <a:rPr lang="en-US" sz="3500" b="1" dirty="0">
                <a:solidFill>
                  <a:srgbClr val="FF0000"/>
                </a:solidFill>
              </a:rPr>
              <a:t>a </a:t>
            </a:r>
            <a:r>
              <a:rPr lang="en-US" sz="3500" b="1" i="1" dirty="0">
                <a:solidFill>
                  <a:srgbClr val="FF0000"/>
                </a:solidFill>
              </a:rPr>
              <a:t>Real Time </a:t>
            </a:r>
            <a:r>
              <a:rPr lang="en-US" sz="3500" dirty="0"/>
              <a:t>timeline. Make it reflect:</a:t>
            </a:r>
            <a:endParaRPr lang="en-US" sz="3500" b="1" dirty="0">
              <a:solidFill>
                <a:srgbClr val="FF0000"/>
              </a:solidFill>
            </a:endParaRPr>
          </a:p>
          <a:p>
            <a:pPr marL="0" indent="0">
              <a:lnSpc>
                <a:spcPct val="150000"/>
              </a:lnSpc>
              <a:spcBef>
                <a:spcPts val="0"/>
              </a:spcBef>
              <a:buNone/>
            </a:pPr>
            <a:r>
              <a:rPr lang="en-US" sz="3500" dirty="0"/>
              <a:t>The physical world (holidays, summer vacations, etc.)</a:t>
            </a:r>
          </a:p>
          <a:p>
            <a:pPr marL="0" indent="0">
              <a:lnSpc>
                <a:spcPct val="150000"/>
              </a:lnSpc>
              <a:spcBef>
                <a:spcPts val="0"/>
              </a:spcBef>
              <a:buNone/>
            </a:pPr>
            <a:r>
              <a:rPr lang="en-US" sz="3500" dirty="0"/>
              <a:t>Client schedules (council meetings, conferences, etc.)</a:t>
            </a:r>
          </a:p>
          <a:p>
            <a:pPr marL="0" indent="0">
              <a:lnSpc>
                <a:spcPct val="150000"/>
              </a:lnSpc>
              <a:spcBef>
                <a:spcPts val="0"/>
              </a:spcBef>
              <a:buNone/>
            </a:pPr>
            <a:r>
              <a:rPr lang="en-US" sz="3500" dirty="0"/>
              <a:t>Partner schedules (</a:t>
            </a:r>
            <a:r>
              <a:rPr lang="en-US" sz="3500" i="1" dirty="0"/>
              <a:t>Pat is swamped</a:t>
            </a:r>
            <a:r>
              <a:rPr lang="en-US" sz="3500" dirty="0"/>
              <a:t>, etc.)</a:t>
            </a:r>
          </a:p>
          <a:p>
            <a:pPr marL="0" indent="0">
              <a:lnSpc>
                <a:spcPct val="150000"/>
              </a:lnSpc>
              <a:spcBef>
                <a:spcPts val="0"/>
              </a:spcBef>
              <a:buNone/>
            </a:pPr>
            <a:r>
              <a:rPr lang="en-US" sz="3500" dirty="0"/>
              <a:t>Client &amp; Partner </a:t>
            </a:r>
            <a:r>
              <a:rPr lang="en-US" sz="3500" b="1" dirty="0">
                <a:solidFill>
                  <a:srgbClr val="FF0000"/>
                </a:solidFill>
              </a:rPr>
              <a:t>Personalities</a:t>
            </a:r>
            <a:r>
              <a:rPr lang="en-US" sz="3500" dirty="0"/>
              <a:t> (procrastinators, detail oriented, etc.)</a:t>
            </a:r>
          </a:p>
          <a:p>
            <a:pPr marL="0" indent="0">
              <a:lnSpc>
                <a:spcPct val="150000"/>
              </a:lnSpc>
              <a:spcBef>
                <a:spcPts val="0"/>
              </a:spcBef>
              <a:buNone/>
            </a:pPr>
            <a:r>
              <a:rPr lang="en-US" sz="3500" dirty="0"/>
              <a:t>Legal notice schedule requirements </a:t>
            </a:r>
          </a:p>
          <a:p>
            <a:pPr marL="0" indent="0">
              <a:lnSpc>
                <a:spcPct val="150000"/>
              </a:lnSpc>
              <a:spcBef>
                <a:spcPts val="0"/>
              </a:spcBef>
              <a:buNone/>
            </a:pPr>
            <a:r>
              <a:rPr lang="en-US" sz="3500" dirty="0"/>
              <a:t>Agenda schedule requirements</a:t>
            </a:r>
            <a:br>
              <a:rPr lang="en-US" sz="3200" dirty="0"/>
            </a:br>
            <a:br>
              <a:rPr lang="en-US" sz="3200" dirty="0"/>
            </a:br>
            <a:endParaRPr lang="en-US" sz="3200" dirty="0"/>
          </a:p>
          <a:p>
            <a:pPr marL="0" indent="0">
              <a:lnSpc>
                <a:spcPct val="100000"/>
              </a:lnSpc>
              <a:spcBef>
                <a:spcPts val="0"/>
              </a:spcBef>
              <a:buNone/>
            </a:pPr>
            <a:endParaRPr lang="en-US" sz="3200" dirty="0"/>
          </a:p>
        </p:txBody>
      </p:sp>
    </p:spTree>
    <p:extLst>
      <p:ext uri="{BB962C8B-B14F-4D97-AF65-F5344CB8AC3E}">
        <p14:creationId xmlns:p14="http://schemas.microsoft.com/office/powerpoint/2010/main" val="251358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How To Manage The Handover From Sales to Project Team - Professional  Services Automation">
            <a:extLst>
              <a:ext uri="{FF2B5EF4-FFF2-40B4-BE49-F238E27FC236}">
                <a16:creationId xmlns:a16="http://schemas.microsoft.com/office/drawing/2014/main" id="{5D66C505-0DE4-43F2-8120-ED54A02B0153}"/>
              </a:ext>
            </a:extLst>
          </p:cNvPr>
          <p:cNvPicPr>
            <a:picLocks noGrp="1" noChangeAspect="1" noChangeArrowheads="1"/>
          </p:cNvPicPr>
          <p:nvPr>
            <p:ph idx="4294967295"/>
          </p:nvPr>
        </p:nvPicPr>
        <p:blipFill rotWithShape="1">
          <a:blip r:embed="rId2">
            <a:extLst>
              <a:ext uri="{28A0092B-C50C-407E-A947-70E740481C1C}">
                <a14:useLocalDpi xmlns:a14="http://schemas.microsoft.com/office/drawing/2010/main" val="0"/>
              </a:ext>
            </a:extLst>
          </a:blip>
          <a:srcRect t="9616" b="6131"/>
          <a:stretch/>
        </p:blipFill>
        <p:spPr bwMode="auto">
          <a:xfrm>
            <a:off x="1" y="1588"/>
            <a:ext cx="12192000" cy="68564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BDA8DF-5413-4A9A-0950-7993D8DB23DB}"/>
              </a:ext>
            </a:extLst>
          </p:cNvPr>
          <p:cNvSpPr txBox="1">
            <a:spLocks/>
          </p:cNvSpPr>
          <p:nvPr/>
        </p:nvSpPr>
        <p:spPr>
          <a:xfrm>
            <a:off x="1931965" y="549104"/>
            <a:ext cx="8050936" cy="103036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Calibri" panose="020F0502020204030204" pitchFamily="34" charset="0"/>
              </a:rPr>
              <a:t>Handing Off the Project</a:t>
            </a:r>
            <a:endParaRPr kumimoji="0" lang="en-US" sz="44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j-cs"/>
            </a:endParaRPr>
          </a:p>
        </p:txBody>
      </p:sp>
    </p:spTree>
    <p:extLst>
      <p:ext uri="{BB962C8B-B14F-4D97-AF65-F5344CB8AC3E}">
        <p14:creationId xmlns:p14="http://schemas.microsoft.com/office/powerpoint/2010/main" val="24577125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MD Blog - Is Patient Care Suffering From Poor Handoff?">
            <a:extLst>
              <a:ext uri="{FF2B5EF4-FFF2-40B4-BE49-F238E27FC236}">
                <a16:creationId xmlns:a16="http://schemas.microsoft.com/office/drawing/2014/main" id="{32334BEC-2D92-4E6F-99A2-969D675B67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80" b="2963"/>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07DCEE96-343A-4198-9665-016C04415FA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D22F896-40B5-4ADD-8801-0D06FADFA095}" type="slidenum">
              <a:rPr kumimoji="0" lang="en-US" sz="900" b="0" i="0" u="none" strike="noStrike" kern="1200" cap="none" spc="0" normalizeH="0" baseline="0" noProof="0">
                <a:ln>
                  <a:noFill/>
                </a:ln>
                <a:solidFill>
                  <a:srgbClr val="FFFFFF"/>
                </a:solidFill>
                <a:effectLst/>
                <a:uLnTx/>
                <a:uFillTx/>
                <a:latin typeface="Gill Sans MT" panose="020B0502020104020203"/>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72</a:t>
            </a:fld>
            <a:endParaRPr kumimoji="0" lang="en-US" sz="9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9" name="Title 1">
            <a:extLst>
              <a:ext uri="{FF2B5EF4-FFF2-40B4-BE49-F238E27FC236}">
                <a16:creationId xmlns:a16="http://schemas.microsoft.com/office/drawing/2014/main" id="{4943BB5A-6187-4EC3-9DC6-D64BD1EE5F81}"/>
              </a:ext>
            </a:extLst>
          </p:cNvPr>
          <p:cNvSpPr txBox="1">
            <a:spLocks/>
          </p:cNvSpPr>
          <p:nvPr/>
        </p:nvSpPr>
        <p:spPr>
          <a:xfrm>
            <a:off x="1235678" y="398102"/>
            <a:ext cx="8050936" cy="103036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Calibri" panose="020F0502020204030204" pitchFamily="34" charset="0"/>
              </a:rPr>
              <a:t>Handing Off the Project</a:t>
            </a:r>
            <a:endParaRPr kumimoji="0" lang="en-US" sz="44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j-cs"/>
            </a:endParaRPr>
          </a:p>
        </p:txBody>
      </p:sp>
    </p:spTree>
    <p:extLst>
      <p:ext uri="{BB962C8B-B14F-4D97-AF65-F5344CB8AC3E}">
        <p14:creationId xmlns:p14="http://schemas.microsoft.com/office/powerpoint/2010/main" val="39838325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9E3A8-1155-7967-5775-EE5689538D39}"/>
              </a:ext>
            </a:extLst>
          </p:cNvPr>
          <p:cNvSpPr>
            <a:spLocks noGrp="1"/>
          </p:cNvSpPr>
          <p:nvPr>
            <p:ph idx="1"/>
          </p:nvPr>
        </p:nvSpPr>
        <p:spPr>
          <a:xfrm>
            <a:off x="645252" y="390962"/>
            <a:ext cx="10990277" cy="6227952"/>
          </a:xfrm>
        </p:spPr>
        <p:txBody>
          <a:bodyPr>
            <a:noAutofit/>
          </a:bodyPr>
          <a:lstStyle/>
          <a:p>
            <a:pPr marL="0" indent="0">
              <a:lnSpc>
                <a:spcPct val="100000"/>
              </a:lnSpc>
              <a:spcBef>
                <a:spcPts val="0"/>
              </a:spcBef>
              <a:buNone/>
            </a:pPr>
            <a:r>
              <a:rPr lang="en-US" sz="4500" dirty="0">
                <a:latin typeface="Calibri" panose="020F0502020204030204" pitchFamily="34" charset="0"/>
                <a:ea typeface="Meiryo" panose="020B0604030504040204" pitchFamily="34" charset="-128"/>
                <a:cs typeface="Calibri" panose="020F0502020204030204" pitchFamily="34" charset="0"/>
              </a:rPr>
              <a:t>A project absolutely must have </a:t>
            </a:r>
            <a:r>
              <a:rPr lang="en-US" sz="4500" b="1" dirty="0">
                <a:highlight>
                  <a:srgbClr val="FFFF00"/>
                </a:highlight>
                <a:latin typeface="Calibri" panose="020F0502020204030204" pitchFamily="34" charset="0"/>
                <a:ea typeface="Meiryo" panose="020B0604030504040204" pitchFamily="34" charset="-128"/>
                <a:cs typeface="Calibri" panose="020F0502020204030204" pitchFamily="34" charset="0"/>
              </a:rPr>
              <a:t>expressed benefits</a:t>
            </a:r>
            <a:r>
              <a:rPr lang="en-US" sz="4500" dirty="0">
                <a:latin typeface="Calibri" panose="020F0502020204030204" pitchFamily="34" charset="0"/>
                <a:ea typeface="Meiryo" panose="020B0604030504040204" pitchFamily="34" charset="-128"/>
                <a:cs typeface="Calibri" panose="020F0502020204030204" pitchFamily="34" charset="0"/>
              </a:rPr>
              <a:t> and </a:t>
            </a:r>
            <a:r>
              <a:rPr lang="en-US" sz="4500" b="1" dirty="0">
                <a:highlight>
                  <a:srgbClr val="FFFF00"/>
                </a:highlight>
                <a:latin typeface="Calibri" panose="020F0502020204030204" pitchFamily="34" charset="0"/>
                <a:ea typeface="Meiryo" panose="020B0604030504040204" pitchFamily="34" charset="-128"/>
                <a:cs typeface="Calibri" panose="020F0502020204030204" pitchFamily="34" charset="0"/>
              </a:rPr>
              <a:t>objectives</a:t>
            </a:r>
            <a:r>
              <a:rPr lang="en-US" sz="4500" dirty="0">
                <a:latin typeface="Calibri" panose="020F0502020204030204" pitchFamily="34" charset="0"/>
                <a:ea typeface="Meiryo" panose="020B0604030504040204" pitchFamily="34" charset="-128"/>
                <a:cs typeface="Calibri" panose="020F0502020204030204" pitchFamily="34" charset="0"/>
              </a:rPr>
              <a:t>, as these will define the project and be the measure of its success.</a:t>
            </a:r>
          </a:p>
          <a:p>
            <a:pPr marL="0" indent="0">
              <a:lnSpc>
                <a:spcPct val="100000"/>
              </a:lnSpc>
              <a:spcBef>
                <a:spcPts val="0"/>
              </a:spcBef>
              <a:buNone/>
            </a:pPr>
            <a:endParaRPr lang="en-US" sz="4500" dirty="0">
              <a:latin typeface="Calibri" panose="020F0502020204030204" pitchFamily="34" charset="0"/>
              <a:ea typeface="Meiryo" panose="020B0604030504040204" pitchFamily="34" charset="-128"/>
              <a:cs typeface="Calibri" panose="020F0502020204030204" pitchFamily="34" charset="0"/>
            </a:endParaRPr>
          </a:p>
          <a:p>
            <a:pPr marL="0" indent="0">
              <a:lnSpc>
                <a:spcPct val="100000"/>
              </a:lnSpc>
              <a:spcBef>
                <a:spcPts val="0"/>
              </a:spcBef>
              <a:buNone/>
            </a:pPr>
            <a:r>
              <a:rPr lang="en-US" sz="4500" dirty="0">
                <a:latin typeface="Calibri" panose="020F0502020204030204" pitchFamily="34" charset="0"/>
                <a:ea typeface="Meiryo" panose="020B0604030504040204" pitchFamily="34" charset="-128"/>
                <a:cs typeface="Calibri" panose="020F0502020204030204" pitchFamily="34" charset="0"/>
              </a:rPr>
              <a:t>The </a:t>
            </a:r>
            <a:r>
              <a:rPr lang="en-US" sz="4500" b="1" dirty="0">
                <a:highlight>
                  <a:srgbClr val="FFFF00"/>
                </a:highlight>
                <a:latin typeface="Calibri" panose="020F0502020204030204" pitchFamily="34" charset="0"/>
                <a:ea typeface="Meiryo" panose="020B0604030504040204" pitchFamily="34" charset="-128"/>
                <a:cs typeface="Calibri" panose="020F0502020204030204" pitchFamily="34" charset="0"/>
              </a:rPr>
              <a:t>benefits</a:t>
            </a:r>
            <a:r>
              <a:rPr lang="en-US" sz="4500" dirty="0">
                <a:latin typeface="Calibri" panose="020F0502020204030204" pitchFamily="34" charset="0"/>
                <a:ea typeface="Meiryo" panose="020B0604030504040204" pitchFamily="34" charset="-128"/>
                <a:cs typeface="Calibri" panose="020F0502020204030204" pitchFamily="34" charset="0"/>
              </a:rPr>
              <a:t> of a project describe </a:t>
            </a:r>
            <a:r>
              <a:rPr lang="en-US" sz="4500" b="1" dirty="0">
                <a:highlight>
                  <a:srgbClr val="FFFF00"/>
                </a:highlight>
                <a:latin typeface="Calibri" panose="020F0502020204030204" pitchFamily="34" charset="0"/>
                <a:ea typeface="Meiryo" panose="020B0604030504040204" pitchFamily="34" charset="-128"/>
                <a:cs typeface="Calibri" panose="020F0502020204030204" pitchFamily="34" charset="0"/>
              </a:rPr>
              <a:t>why</a:t>
            </a:r>
            <a:r>
              <a:rPr lang="en-US" sz="4500" dirty="0">
                <a:latin typeface="Calibri" panose="020F0502020204030204" pitchFamily="34" charset="0"/>
                <a:ea typeface="Meiryo" panose="020B0604030504040204" pitchFamily="34" charset="-128"/>
                <a:cs typeface="Calibri" panose="020F0502020204030204" pitchFamily="34" charset="0"/>
              </a:rPr>
              <a:t> we are undertaking the work: a new strategic plan, a satisfied public, etc.</a:t>
            </a:r>
          </a:p>
          <a:p>
            <a:pPr marL="0" indent="0">
              <a:lnSpc>
                <a:spcPct val="100000"/>
              </a:lnSpc>
              <a:spcBef>
                <a:spcPts val="0"/>
              </a:spcBef>
              <a:buNone/>
            </a:pPr>
            <a:endParaRPr lang="en-US" sz="4500" dirty="0">
              <a:latin typeface="Calibri" panose="020F0502020204030204" pitchFamily="34" charset="0"/>
              <a:ea typeface="Meiryo" panose="020B0604030504040204" pitchFamily="34" charset="-128"/>
              <a:cs typeface="Calibri" panose="020F0502020204030204" pitchFamily="34" charset="0"/>
            </a:endParaRPr>
          </a:p>
          <a:p>
            <a:pPr marL="0" indent="0">
              <a:lnSpc>
                <a:spcPct val="100000"/>
              </a:lnSpc>
              <a:spcBef>
                <a:spcPts val="0"/>
              </a:spcBef>
              <a:buNone/>
            </a:pPr>
            <a:endParaRPr lang="en-US" sz="4500" dirty="0">
              <a:latin typeface="Calibri" panose="020F0502020204030204" pitchFamily="34" charset="0"/>
              <a:ea typeface="Meiryo" panose="020B0604030504040204" pitchFamily="34" charset="-128"/>
              <a:cs typeface="Calibri" panose="020F0502020204030204" pitchFamily="34" charset="0"/>
            </a:endParaRPr>
          </a:p>
          <a:p>
            <a:pPr marL="0" indent="0">
              <a:lnSpc>
                <a:spcPct val="100000"/>
              </a:lnSpc>
              <a:spcBef>
                <a:spcPts val="0"/>
              </a:spcBef>
              <a:buNone/>
            </a:pPr>
            <a:endParaRPr lang="en-US" sz="4500" dirty="0">
              <a:latin typeface="Calibri" panose="020F0502020204030204" pitchFamily="34" charset="0"/>
              <a:ea typeface="Meiryo" panose="020B0604030504040204" pitchFamily="34" charset="-128"/>
              <a:cs typeface="Calibri" panose="020F0502020204030204" pitchFamily="34" charset="0"/>
            </a:endParaRPr>
          </a:p>
          <a:p>
            <a:pPr marL="0" indent="0">
              <a:lnSpc>
                <a:spcPct val="100000"/>
              </a:lnSpc>
              <a:spcBef>
                <a:spcPts val="0"/>
              </a:spcBef>
              <a:buNone/>
            </a:pPr>
            <a:endParaRPr lang="en-US" sz="3000" dirty="0">
              <a:latin typeface="Calibri" panose="020F0502020204030204" pitchFamily="34" charset="0"/>
              <a:ea typeface="Meiryo" panose="020B0604030504040204" pitchFamily="34" charset="-128"/>
              <a:cs typeface="Calibri" panose="020F0502020204030204" pitchFamily="34" charset="0"/>
            </a:endParaRPr>
          </a:p>
        </p:txBody>
      </p:sp>
    </p:spTree>
    <p:extLst>
      <p:ext uri="{BB962C8B-B14F-4D97-AF65-F5344CB8AC3E}">
        <p14:creationId xmlns:p14="http://schemas.microsoft.com/office/powerpoint/2010/main" val="245477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9E3A8-1155-7967-5775-EE5689538D39}"/>
              </a:ext>
            </a:extLst>
          </p:cNvPr>
          <p:cNvSpPr>
            <a:spLocks noGrp="1"/>
          </p:cNvSpPr>
          <p:nvPr>
            <p:ph idx="1"/>
          </p:nvPr>
        </p:nvSpPr>
        <p:spPr>
          <a:xfrm>
            <a:off x="645253" y="390962"/>
            <a:ext cx="11015444" cy="6227952"/>
          </a:xfrm>
        </p:spPr>
        <p:txBody>
          <a:bodyPr>
            <a:noAutofit/>
          </a:bodyPr>
          <a:lstStyle/>
          <a:p>
            <a:pPr marL="0" indent="0">
              <a:lnSpc>
                <a:spcPct val="100000"/>
              </a:lnSpc>
              <a:spcBef>
                <a:spcPts val="0"/>
              </a:spcBef>
              <a:buNone/>
            </a:pPr>
            <a:r>
              <a:rPr lang="en-US" sz="3000" dirty="0">
                <a:latin typeface="Calibri" panose="020F0502020204030204" pitchFamily="34" charset="0"/>
                <a:ea typeface="Meiryo" panose="020B0604030504040204" pitchFamily="34" charset="-128"/>
                <a:cs typeface="Calibri" panose="020F0502020204030204" pitchFamily="34" charset="0"/>
              </a:rPr>
              <a:t>The Client/Sponsor </a:t>
            </a:r>
            <a:r>
              <a:rPr lang="en-US" sz="3000" b="1" i="1" dirty="0">
                <a:solidFill>
                  <a:srgbClr val="FF0000"/>
                </a:solidFill>
                <a:latin typeface="Calibri" panose="020F0502020204030204" pitchFamily="34" charset="0"/>
                <a:ea typeface="Meiryo" panose="020B0604030504040204" pitchFamily="34" charset="-128"/>
                <a:cs typeface="Calibri" panose="020F0502020204030204" pitchFamily="34" charset="0"/>
              </a:rPr>
              <a:t>must</a:t>
            </a:r>
            <a:r>
              <a:rPr lang="en-US" sz="3000" dirty="0">
                <a:latin typeface="Calibri" panose="020F0502020204030204" pitchFamily="34" charset="0"/>
                <a:ea typeface="Meiryo" panose="020B0604030504040204" pitchFamily="34" charset="-128"/>
                <a:cs typeface="Calibri" panose="020F0502020204030204" pitchFamily="34" charset="0"/>
              </a:rPr>
              <a:t> be the person who receives the </a:t>
            </a:r>
            <a:r>
              <a:rPr lang="en-US" sz="3000" b="1" dirty="0">
                <a:latin typeface="Calibri" panose="020F0502020204030204" pitchFamily="34" charset="0"/>
                <a:ea typeface="Meiryo" panose="020B0604030504040204" pitchFamily="34" charset="-128"/>
                <a:cs typeface="Calibri" panose="020F0502020204030204" pitchFamily="34" charset="0"/>
              </a:rPr>
              <a:t>benefits</a:t>
            </a:r>
            <a:r>
              <a:rPr lang="en-US" sz="3000" dirty="0">
                <a:latin typeface="Calibri" panose="020F0502020204030204" pitchFamily="34" charset="0"/>
                <a:ea typeface="Meiryo" panose="020B0604030504040204" pitchFamily="34" charset="-128"/>
                <a:cs typeface="Calibri" panose="020F0502020204030204" pitchFamily="34" charset="0"/>
              </a:rPr>
              <a:t>. Otherwise, </a:t>
            </a:r>
            <a:r>
              <a:rPr lang="en-US" sz="3000" dirty="0">
                <a:highlight>
                  <a:srgbClr val="FFFF00"/>
                </a:highlight>
                <a:latin typeface="Calibri" panose="020F0502020204030204" pitchFamily="34" charset="0"/>
                <a:ea typeface="Meiryo" panose="020B0604030504040204" pitchFamily="34" charset="-128"/>
                <a:cs typeface="Calibri" panose="020F0502020204030204" pitchFamily="34" charset="0"/>
              </a:rPr>
              <a:t>the planning </a:t>
            </a:r>
            <a:r>
              <a:rPr lang="en-US" sz="3000" i="1" dirty="0">
                <a:highlight>
                  <a:srgbClr val="FFFF00"/>
                </a:highlight>
                <a:latin typeface="Calibri" panose="020F0502020204030204" pitchFamily="34" charset="0"/>
                <a:ea typeface="Meiryo" panose="020B0604030504040204" pitchFamily="34" charset="-128"/>
                <a:cs typeface="Calibri" panose="020F0502020204030204" pitchFamily="34" charset="0"/>
              </a:rPr>
              <a:t>process</a:t>
            </a:r>
            <a:r>
              <a:rPr lang="en-US" sz="3000" dirty="0">
                <a:highlight>
                  <a:srgbClr val="FFFF00"/>
                </a:highlight>
                <a:latin typeface="Calibri" panose="020F0502020204030204" pitchFamily="34" charset="0"/>
                <a:ea typeface="Meiryo" panose="020B0604030504040204" pitchFamily="34" charset="-128"/>
                <a:cs typeface="Calibri" panose="020F0502020204030204" pitchFamily="34" charset="0"/>
              </a:rPr>
              <a:t> might be a success but the project itself is not carried out</a:t>
            </a:r>
            <a:r>
              <a:rPr lang="en-US" sz="3000" dirty="0">
                <a:latin typeface="Calibri" panose="020F0502020204030204" pitchFamily="34" charset="0"/>
                <a:ea typeface="Meiryo" panose="020B0604030504040204" pitchFamily="34" charset="-128"/>
                <a:cs typeface="Calibri" panose="020F0502020204030204" pitchFamily="34" charset="0"/>
              </a:rPr>
              <a:t>. This is common in government and other top-down approaches.</a:t>
            </a:r>
          </a:p>
          <a:p>
            <a:pPr marL="0" indent="0">
              <a:lnSpc>
                <a:spcPct val="100000"/>
              </a:lnSpc>
              <a:buNone/>
            </a:pPr>
            <a:endParaRPr lang="en-US" sz="3000" dirty="0">
              <a:latin typeface="Calibri" panose="020F0502020204030204" pitchFamily="34" charset="0"/>
              <a:ea typeface="Meiryo" panose="020B0604030504040204" pitchFamily="34" charset="-128"/>
              <a:cs typeface="Calibri" panose="020F0502020204030204" pitchFamily="34" charset="0"/>
            </a:endParaRPr>
          </a:p>
          <a:p>
            <a:pPr marL="0" indent="0">
              <a:lnSpc>
                <a:spcPct val="100000"/>
              </a:lnSpc>
              <a:buNone/>
            </a:pPr>
            <a:r>
              <a:rPr lang="en-US" sz="3000" b="1" dirty="0">
                <a:latin typeface="Calibri" panose="020F0502020204030204" pitchFamily="34" charset="0"/>
                <a:ea typeface="Meiryo" panose="020B0604030504040204" pitchFamily="34" charset="-128"/>
                <a:cs typeface="Calibri" panose="020F0502020204030204" pitchFamily="34" charset="0"/>
              </a:rPr>
              <a:t>Example</a:t>
            </a:r>
            <a:r>
              <a:rPr lang="en-US" sz="3000" dirty="0">
                <a:latin typeface="Calibri" panose="020F0502020204030204" pitchFamily="34" charset="0"/>
                <a:ea typeface="Meiryo" panose="020B0604030504040204" pitchFamily="34" charset="-128"/>
                <a:cs typeface="Calibri" panose="020F0502020204030204" pitchFamily="34" charset="0"/>
              </a:rPr>
              <a:t>: The mayor hires a consultant to do a downtown revitalization plan to be carried out by a volunteer group. </a:t>
            </a:r>
            <a:r>
              <a:rPr lang="en-US" sz="3000" b="1" dirty="0">
                <a:solidFill>
                  <a:srgbClr val="FF0000"/>
                </a:solidFill>
                <a:highlight>
                  <a:srgbClr val="FFFF00"/>
                </a:highlight>
                <a:latin typeface="Calibri" panose="020F0502020204030204" pitchFamily="34" charset="0"/>
                <a:ea typeface="Meiryo" panose="020B0604030504040204" pitchFamily="34" charset="-128"/>
                <a:cs typeface="Calibri" panose="020F0502020204030204" pitchFamily="34" charset="0"/>
              </a:rPr>
              <a:t>What could go wrong?</a:t>
            </a:r>
            <a:br>
              <a:rPr lang="en-US" sz="3000" dirty="0">
                <a:solidFill>
                  <a:srgbClr val="FF0000"/>
                </a:solidFill>
                <a:highlight>
                  <a:srgbClr val="FFFF00"/>
                </a:highlight>
                <a:latin typeface="Calibri" panose="020F0502020204030204" pitchFamily="34" charset="0"/>
                <a:ea typeface="Meiryo" panose="020B0604030504040204" pitchFamily="34" charset="-128"/>
                <a:cs typeface="Calibri" panose="020F0502020204030204" pitchFamily="34" charset="0"/>
              </a:rPr>
            </a:br>
            <a:r>
              <a:rPr lang="en-US" sz="3000" dirty="0">
                <a:latin typeface="Calibri" panose="020F0502020204030204" pitchFamily="34" charset="0"/>
                <a:ea typeface="Meiryo" panose="020B0604030504040204" pitchFamily="34" charset="-128"/>
                <a:cs typeface="Calibri" panose="020F0502020204030204" pitchFamily="34" charset="0"/>
              </a:rPr>
              <a:t> </a:t>
            </a:r>
          </a:p>
          <a:p>
            <a:pPr marL="0" indent="0">
              <a:lnSpc>
                <a:spcPct val="100000"/>
              </a:lnSpc>
              <a:buNone/>
            </a:pPr>
            <a:r>
              <a:rPr lang="en-US" sz="3000" dirty="0">
                <a:latin typeface="Calibri" panose="020F0502020204030204" pitchFamily="34" charset="0"/>
                <a:ea typeface="Meiryo" panose="020B0604030504040204" pitchFamily="34" charset="-128"/>
                <a:cs typeface="Calibri" panose="020F0502020204030204" pitchFamily="34" charset="0"/>
              </a:rPr>
              <a:t>The project is handed off to the mayor, who considers it done and moves on. The local group’s role is now over, and they’re left with not enough resources to push on with implementation</a:t>
            </a:r>
            <a:r>
              <a:rPr lang="en-US" sz="3000" dirty="0">
                <a:latin typeface="Meiryo" panose="020B0604030504040204" pitchFamily="34" charset="-128"/>
                <a:ea typeface="Meiryo" panose="020B0604030504040204" pitchFamily="34" charset="-128"/>
              </a:rPr>
              <a:t>. </a:t>
            </a:r>
          </a:p>
        </p:txBody>
      </p:sp>
    </p:spTree>
    <p:extLst>
      <p:ext uri="{BB962C8B-B14F-4D97-AF65-F5344CB8AC3E}">
        <p14:creationId xmlns:p14="http://schemas.microsoft.com/office/powerpoint/2010/main" val="67087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uster Keaton - Clearing the railroad ties - YouTube">
            <a:extLst>
              <a:ext uri="{FF2B5EF4-FFF2-40B4-BE49-F238E27FC236}">
                <a16:creationId xmlns:a16="http://schemas.microsoft.com/office/drawing/2014/main" id="{6908F173-830B-459B-A215-522ECDD77CB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9"/>
          <a:stretch/>
        </p:blipFill>
        <p:spPr bwMode="auto">
          <a:xfrm>
            <a:off x="-1504"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2E0AC45-A5E7-47F3-AC30-8E14B8851B36}"/>
              </a:ext>
            </a:extLst>
          </p:cNvPr>
          <p:cNvSpPr>
            <a:spLocks noGrp="1"/>
          </p:cNvSpPr>
          <p:nvPr>
            <p:ph type="title"/>
          </p:nvPr>
        </p:nvSpPr>
        <p:spPr>
          <a:xfrm>
            <a:off x="2298358" y="1522669"/>
            <a:ext cx="7026390" cy="1325563"/>
          </a:xfrm>
        </p:spPr>
        <p:txBody>
          <a:bodyPr>
            <a:normAutofit fontScale="90000"/>
          </a:bodyPr>
          <a:lstStyle/>
          <a:p>
            <a:pPr algn="r"/>
            <a:r>
              <a:rPr lang="en-US" sz="4500" b="1" dirty="0">
                <a:solidFill>
                  <a:schemeClr val="bg1"/>
                </a:solidFill>
                <a:latin typeface="Meiryo" panose="020B0604030504040204" pitchFamily="34" charset="-128"/>
                <a:ea typeface="Meiryo" panose="020B0604030504040204" pitchFamily="34" charset="-128"/>
              </a:rPr>
              <a:t>Clearing the Tracks</a:t>
            </a:r>
          </a:p>
        </p:txBody>
      </p:sp>
    </p:spTree>
    <p:extLst>
      <p:ext uri="{BB962C8B-B14F-4D97-AF65-F5344CB8AC3E}">
        <p14:creationId xmlns:p14="http://schemas.microsoft.com/office/powerpoint/2010/main" val="3600683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CC6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BC48F-0743-AD55-B0FA-0409FB7AFF8E}"/>
              </a:ext>
            </a:extLst>
          </p:cNvPr>
          <p:cNvSpPr>
            <a:spLocks noGrp="1"/>
          </p:cNvSpPr>
          <p:nvPr>
            <p:ph type="title"/>
          </p:nvPr>
        </p:nvSpPr>
        <p:spPr/>
        <p:txBody>
          <a:bodyPr>
            <a:normAutofit/>
          </a:bodyPr>
          <a:lstStyle/>
          <a:p>
            <a:r>
              <a:rPr lang="en-US" sz="4500" b="1" dirty="0">
                <a:latin typeface="Meiryo" panose="020B0604030504040204" pitchFamily="34" charset="-128"/>
                <a:ea typeface="Meiryo" panose="020B0604030504040204" pitchFamily="34" charset="-128"/>
              </a:rPr>
              <a:t>Clearing the Tracks</a:t>
            </a:r>
          </a:p>
        </p:txBody>
      </p:sp>
      <p:sp>
        <p:nvSpPr>
          <p:cNvPr id="3" name="Content Placeholder 2">
            <a:extLst>
              <a:ext uri="{FF2B5EF4-FFF2-40B4-BE49-F238E27FC236}">
                <a16:creationId xmlns:a16="http://schemas.microsoft.com/office/drawing/2014/main" id="{91F9E3A8-1155-7967-5775-EE5689538D39}"/>
              </a:ext>
            </a:extLst>
          </p:cNvPr>
          <p:cNvSpPr>
            <a:spLocks noGrp="1"/>
          </p:cNvSpPr>
          <p:nvPr>
            <p:ph idx="1"/>
          </p:nvPr>
        </p:nvSpPr>
        <p:spPr/>
        <p:txBody>
          <a:bodyPr>
            <a:normAutofit/>
          </a:bodyPr>
          <a:lstStyle/>
          <a:p>
            <a:pPr marL="0" lvl="0" indent="0">
              <a:lnSpc>
                <a:spcPct val="100000"/>
              </a:lnSpc>
              <a:spcBef>
                <a:spcPts val="0"/>
              </a:spcBef>
              <a:buSzPct val="100000"/>
              <a:buNone/>
              <a:defRPr>
                <a:solidFill>
                  <a:srgbClr val="000000"/>
                </a:solidFill>
                <a:uFillTx/>
              </a:defRPr>
            </a:pPr>
            <a:endParaRPr lang="en-US" dirty="0">
              <a:uFill>
                <a:solidFill>
                  <a:srgbClr val="606060"/>
                </a:solidFill>
              </a:uFill>
              <a:latin typeface="Meiryo" panose="020B0604030504040204" pitchFamily="34" charset="-128"/>
              <a:ea typeface="Meiryo" panose="020B0604030504040204" pitchFamily="34" charset="-128"/>
              <a:cs typeface="Calibri" panose="020F0502020204030204" pitchFamily="34" charset="0"/>
            </a:endParaRPr>
          </a:p>
          <a:p>
            <a:pPr marL="0" lvl="0" indent="0">
              <a:lnSpc>
                <a:spcPct val="100000"/>
              </a:lnSpc>
              <a:spcBef>
                <a:spcPts val="0"/>
              </a:spcBef>
              <a:buSzPct val="100000"/>
              <a:buNone/>
              <a:defRPr>
                <a:solidFill>
                  <a:srgbClr val="000000"/>
                </a:solidFill>
                <a:uFillTx/>
              </a:defRPr>
            </a:pPr>
            <a:endParaRPr lang="en-US" dirty="0">
              <a:uFill>
                <a:solidFill>
                  <a:srgbClr val="606060"/>
                </a:solidFill>
              </a:uFill>
              <a:latin typeface="Meiryo" panose="020B0604030504040204" pitchFamily="34" charset="-128"/>
              <a:ea typeface="Meiryo" panose="020B0604030504040204" pitchFamily="34" charset="-128"/>
              <a:cs typeface="Calibri" panose="020F0502020204030204" pitchFamily="34" charset="0"/>
            </a:endParaRPr>
          </a:p>
          <a:p>
            <a:pPr marL="0" lvl="0" indent="0">
              <a:lnSpc>
                <a:spcPct val="100000"/>
              </a:lnSpc>
              <a:spcBef>
                <a:spcPts val="0"/>
              </a:spcBef>
              <a:buSzPct val="100000"/>
              <a:buNone/>
              <a:defRPr>
                <a:solidFill>
                  <a:srgbClr val="000000"/>
                </a:solidFill>
                <a:uFillTx/>
              </a:defRPr>
            </a:pPr>
            <a:r>
              <a:rPr lang="en-US" sz="2500" dirty="0">
                <a:solidFill>
                  <a:schemeClr val="accent2"/>
                </a:solidFill>
                <a:cs typeface="Calibri" panose="020F0502020204030204" pitchFamily="34" charset="0"/>
                <a:hlinkClick r:id="rId2">
                  <a:extLst>
                    <a:ext uri="{A12FA001-AC4F-418D-AE19-62706E023703}">
                      <ahyp:hlinkClr xmlns:ahyp="http://schemas.microsoft.com/office/drawing/2018/hyperlinkcolor" val="tx"/>
                    </a:ext>
                  </a:extLst>
                </a:hlinkClick>
              </a:rPr>
              <a:t>https://www.youtube.com/watch?v=LaApqL4QjH8</a:t>
            </a:r>
            <a:r>
              <a:rPr lang="en-US" sz="2500" dirty="0">
                <a:solidFill>
                  <a:schemeClr val="accent2"/>
                </a:solidFill>
                <a:cs typeface="Calibri" panose="020F0502020204030204" pitchFamily="34" charset="0"/>
              </a:rPr>
              <a:t> </a:t>
            </a:r>
            <a:endParaRPr lang="en-US" sz="2500" dirty="0">
              <a:solidFill>
                <a:schemeClr val="accent2"/>
              </a:solidFill>
              <a:uFill>
                <a:solidFill>
                  <a:srgbClr val="606060"/>
                </a:solidFill>
              </a:uFill>
              <a:latin typeface="Meiryo" panose="020B0604030504040204" pitchFamily="34" charset="-128"/>
              <a:ea typeface="Meiryo" panose="020B0604030504040204" pitchFamily="34" charset="-128"/>
              <a:cs typeface="Calibri" panose="020F0502020204030204" pitchFamily="34" charset="0"/>
            </a:endParaRPr>
          </a:p>
        </p:txBody>
      </p:sp>
    </p:spTree>
    <p:extLst>
      <p:ext uri="{BB962C8B-B14F-4D97-AF65-F5344CB8AC3E}">
        <p14:creationId xmlns:p14="http://schemas.microsoft.com/office/powerpoint/2010/main" val="85385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BC48F-0743-AD55-B0FA-0409FB7AFF8E}"/>
              </a:ext>
            </a:extLst>
          </p:cNvPr>
          <p:cNvSpPr>
            <a:spLocks noGrp="1"/>
          </p:cNvSpPr>
          <p:nvPr>
            <p:ph type="title"/>
          </p:nvPr>
        </p:nvSpPr>
        <p:spPr>
          <a:xfrm>
            <a:off x="838200" y="105633"/>
            <a:ext cx="10515600" cy="1325563"/>
          </a:xfrm>
        </p:spPr>
        <p:txBody>
          <a:bodyPr>
            <a:normAutofit/>
          </a:bodyPr>
          <a:lstStyle/>
          <a:p>
            <a:pPr algn="ctr"/>
            <a:r>
              <a:rPr lang="en-US" sz="4500" b="1" dirty="0">
                <a:latin typeface="Meiryo" panose="020B0604030504040204" pitchFamily="34" charset="-128"/>
                <a:ea typeface="Meiryo" panose="020B0604030504040204" pitchFamily="34" charset="-128"/>
              </a:rPr>
              <a:t>How to Hand Off a Project</a:t>
            </a:r>
          </a:p>
        </p:txBody>
      </p:sp>
      <p:sp>
        <p:nvSpPr>
          <p:cNvPr id="3" name="Content Placeholder 2">
            <a:extLst>
              <a:ext uri="{FF2B5EF4-FFF2-40B4-BE49-F238E27FC236}">
                <a16:creationId xmlns:a16="http://schemas.microsoft.com/office/drawing/2014/main" id="{91F9E3A8-1155-7967-5775-EE5689538D39}"/>
              </a:ext>
            </a:extLst>
          </p:cNvPr>
          <p:cNvSpPr>
            <a:spLocks noGrp="1"/>
          </p:cNvSpPr>
          <p:nvPr>
            <p:ph idx="1"/>
          </p:nvPr>
        </p:nvSpPr>
        <p:spPr>
          <a:xfrm>
            <a:off x="436229" y="1431196"/>
            <a:ext cx="11375470" cy="5105528"/>
          </a:xfrm>
        </p:spPr>
        <p:txBody>
          <a:bodyPr>
            <a:noAutofit/>
          </a:bodyPr>
          <a:lstStyle/>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Picture the end product – mentally test it.</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Clear the tracks.</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Make the hand-off date clear.</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Provide documentation. </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Get the official sign-off.</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Stay around for training.</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Let this project go and move on to the next one, but ...</a:t>
            </a:r>
          </a:p>
          <a:p>
            <a:pPr>
              <a:lnSpc>
                <a:spcPct val="100000"/>
              </a:lnSpc>
              <a:spcBef>
                <a:spcPts val="0"/>
              </a:spcBef>
              <a:buFont typeface="Wingdings" panose="05000000000000000000" pitchFamily="2" charset="2"/>
              <a:buChar char="§"/>
            </a:pPr>
            <a:r>
              <a:rPr lang="en-US" sz="3500" dirty="0">
                <a:latin typeface="Calibri" panose="020F0502020204030204" pitchFamily="34" charset="0"/>
                <a:ea typeface="Meiryo" panose="020B0604030504040204" pitchFamily="34" charset="-128"/>
                <a:cs typeface="Calibri" panose="020F0502020204030204" pitchFamily="34" charset="0"/>
              </a:rPr>
              <a:t> Later, wander back over to check in.</a:t>
            </a:r>
          </a:p>
        </p:txBody>
      </p:sp>
    </p:spTree>
    <p:extLst>
      <p:ext uri="{BB962C8B-B14F-4D97-AF65-F5344CB8AC3E}">
        <p14:creationId xmlns:p14="http://schemas.microsoft.com/office/powerpoint/2010/main" val="282810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13BCBAEB-D917-D11B-5C3F-3E04648F1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4554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13BCBAEB-D917-D11B-5C3F-3E04648F1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CA006236-8143-BBFF-EDC7-28FB1FD89D5C}"/>
              </a:ext>
            </a:extLst>
          </p:cNvPr>
          <p:cNvSpPr txBox="1">
            <a:spLocks/>
          </p:cNvSpPr>
          <p:nvPr/>
        </p:nvSpPr>
        <p:spPr>
          <a:xfrm>
            <a:off x="1828799" y="5811469"/>
            <a:ext cx="5418034" cy="104653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base">
              <a:lnSpc>
                <a:spcPct val="120000"/>
              </a:lnSpc>
              <a:spcBef>
                <a:spcPts val="0"/>
              </a:spcBef>
              <a:buFont typeface="Wingdings" panose="05000000000000000000" pitchFamily="2" charset="2"/>
              <a:buChar char="q"/>
            </a:pPr>
            <a:r>
              <a:rPr lang="en-US" sz="4000" b="1" dirty="0"/>
              <a:t> Class 9 Check-In</a:t>
            </a:r>
          </a:p>
        </p:txBody>
      </p:sp>
    </p:spTree>
    <p:extLst>
      <p:ext uri="{BB962C8B-B14F-4D97-AF65-F5344CB8AC3E}">
        <p14:creationId xmlns:p14="http://schemas.microsoft.com/office/powerpoint/2010/main" val="45407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_rels/theme1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3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6.xml><?xml version="1.0" encoding="utf-8"?>
<a:theme xmlns:a="http://schemas.openxmlformats.org/drawingml/2006/main" name="3_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7.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9.xml><?xml version="1.0" encoding="utf-8"?>
<a:theme xmlns:a="http://schemas.openxmlformats.org/drawingml/2006/main" name="1_Metropolitan">
  <a:themeElements>
    <a:clrScheme name="Custom 3">
      <a:dk1>
        <a:sysClr val="windowText" lastClr="000000"/>
      </a:dk1>
      <a:lt1>
        <a:sysClr val="window" lastClr="FFFFFF"/>
      </a:lt1>
      <a:dk2>
        <a:srgbClr val="162F33"/>
      </a:dk2>
      <a:lt2>
        <a:srgbClr val="E4E7DD"/>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10.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13.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15.xml><?xml version="1.0" encoding="utf-8"?>
<a:theme xmlns:a="http://schemas.openxmlformats.org/drawingml/2006/main" name="8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circles">
  <a:themeElements>
    <a:clrScheme name="Custom 372">
      <a:dk1>
        <a:srgbClr val="000000"/>
      </a:dk1>
      <a:lt1>
        <a:srgbClr val="FFFFFF"/>
      </a:lt1>
      <a:dk2>
        <a:srgbClr val="000000"/>
      </a:dk2>
      <a:lt2>
        <a:srgbClr val="000000"/>
      </a:lt2>
      <a:accent1>
        <a:srgbClr val="FFFFFF"/>
      </a:accent1>
      <a:accent2>
        <a:srgbClr val="333399"/>
      </a:accent2>
      <a:accent3>
        <a:srgbClr val="FFFFFF"/>
      </a:accent3>
      <a:accent4>
        <a:srgbClr val="989898"/>
      </a:accent4>
      <a:accent5>
        <a:srgbClr val="FFFFFF"/>
      </a:accent5>
      <a:accent6>
        <a:srgbClr val="2D2D8A"/>
      </a:accent6>
      <a:hlink>
        <a:srgbClr val="4C4C4C"/>
      </a:hlink>
      <a:folHlink>
        <a:srgbClr val="66CCFF"/>
      </a:folHlink>
    </a:clrScheme>
    <a:fontScheme name="circ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ircl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rcl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ircl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ircl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ircl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ircl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ircl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ircl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ircl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ircl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ircl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ircl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ircles 13">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rcles 14">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3366FF"/>
        </a:hlink>
        <a:folHlink>
          <a:srgbClr val="6699FF"/>
        </a:folHlink>
      </a:clrScheme>
      <a:clrMap bg1="lt1" tx1="dk1" bg2="lt2" tx2="dk2" accent1="accent1" accent2="accent2" accent3="accent3" accent4="accent4" accent5="accent5" accent6="accent6" hlink="hlink" folHlink="folHlink"/>
    </a:extraClrScheme>
    <a:extraClrScheme>
      <a:clrScheme name="circles 15">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000066"/>
        </a:hlink>
        <a:folHlink>
          <a:srgbClr val="3333FF"/>
        </a:folHlink>
      </a:clrScheme>
      <a:clrMap bg1="lt1" tx1="dk1" bg2="lt2" tx2="dk2" accent1="accent1" accent2="accent2" accent3="accent3" accent4="accent4" accent5="accent5" accent6="accent6" hlink="hlink" folHlink="folHlink"/>
    </a:extraClrScheme>
    <a:extraClrScheme>
      <a:clrScheme name="circles 16">
        <a:dk1>
          <a:srgbClr val="000066"/>
        </a:dk1>
        <a:lt1>
          <a:srgbClr val="FFFFFF"/>
        </a:lt1>
        <a:dk2>
          <a:srgbClr val="000066"/>
        </a:dk2>
        <a:lt2>
          <a:srgbClr val="808080"/>
        </a:lt2>
        <a:accent1>
          <a:srgbClr val="CCECFF"/>
        </a:accent1>
        <a:accent2>
          <a:srgbClr val="333399"/>
        </a:accent2>
        <a:accent3>
          <a:srgbClr val="FFFFFF"/>
        </a:accent3>
        <a:accent4>
          <a:srgbClr val="000056"/>
        </a:accent4>
        <a:accent5>
          <a:srgbClr val="E2F4FF"/>
        </a:accent5>
        <a:accent6>
          <a:srgbClr val="2D2D8A"/>
        </a:accent6>
        <a:hlink>
          <a:srgbClr val="000066"/>
        </a:hlink>
        <a:folHlink>
          <a:srgbClr val="3333FF"/>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1138</TotalTime>
  <Words>3581</Words>
  <Application>Microsoft Office PowerPoint</Application>
  <PresentationFormat>Widescreen</PresentationFormat>
  <Paragraphs>432</Paragraphs>
  <Slides>79</Slides>
  <Notes>35</Notes>
  <HiddenSlides>0</HiddenSlides>
  <MMClips>1</MMClips>
  <ScaleCrop>false</ScaleCrop>
  <HeadingPairs>
    <vt:vector size="8" baseType="variant">
      <vt:variant>
        <vt:lpstr>Fonts Used</vt:lpstr>
      </vt:variant>
      <vt:variant>
        <vt:i4>17</vt:i4>
      </vt:variant>
      <vt:variant>
        <vt:lpstr>Theme</vt:lpstr>
      </vt:variant>
      <vt:variant>
        <vt:i4>17</vt:i4>
      </vt:variant>
      <vt:variant>
        <vt:lpstr>Embedded OLE Servers</vt:lpstr>
      </vt:variant>
      <vt:variant>
        <vt:i4>2</vt:i4>
      </vt:variant>
      <vt:variant>
        <vt:lpstr>Slide Titles</vt:lpstr>
      </vt:variant>
      <vt:variant>
        <vt:i4>79</vt:i4>
      </vt:variant>
    </vt:vector>
  </HeadingPairs>
  <TitlesOfParts>
    <vt:vector size="115" baseType="lpstr">
      <vt:lpstr>Meiryo</vt:lpstr>
      <vt:lpstr>Amasis MT Pro Black</vt:lpstr>
      <vt:lpstr>Aptos</vt:lpstr>
      <vt:lpstr>Aptos Display</vt:lpstr>
      <vt:lpstr>Arial</vt:lpstr>
      <vt:lpstr>Avenir Next LT Pro Light</vt:lpstr>
      <vt:lpstr>Bierstadt</vt:lpstr>
      <vt:lpstr>Calibri</vt:lpstr>
      <vt:lpstr>Calibri  </vt:lpstr>
      <vt:lpstr>Calibri Light</vt:lpstr>
      <vt:lpstr>Century Gothic</vt:lpstr>
      <vt:lpstr>Garamond</vt:lpstr>
      <vt:lpstr>Gill Sans MT</vt:lpstr>
      <vt:lpstr>Gill Sans Ultra Bold</vt:lpstr>
      <vt:lpstr>Verdana</vt:lpstr>
      <vt:lpstr>Wingdings</vt:lpstr>
      <vt:lpstr>Wingdings 2</vt:lpstr>
      <vt:lpstr>GestaltVTI</vt:lpstr>
      <vt:lpstr>5_Office Theme</vt:lpstr>
      <vt:lpstr>Parcel</vt:lpstr>
      <vt:lpstr>3_Office Theme</vt:lpstr>
      <vt:lpstr>3_Retrospect</vt:lpstr>
      <vt:lpstr>3_Metropolitan</vt:lpstr>
      <vt:lpstr>1_Office Theme</vt:lpstr>
      <vt:lpstr>2_Metropolitan</vt:lpstr>
      <vt:lpstr>1_Metropolitan</vt:lpstr>
      <vt:lpstr>6_Office Theme</vt:lpstr>
      <vt:lpstr>4_Office Theme</vt:lpstr>
      <vt:lpstr>Dividend</vt:lpstr>
      <vt:lpstr>7_Office Theme</vt:lpstr>
      <vt:lpstr>Savon</vt:lpstr>
      <vt:lpstr>8_Office Theme</vt:lpstr>
      <vt:lpstr>circles</vt:lpstr>
      <vt:lpstr>9_Office Theme</vt:lpstr>
      <vt:lpstr>Acrobat Document</vt:lpstr>
      <vt:lpstr>Package</vt:lpstr>
      <vt:lpstr>V450: Project Management &amp; Implementation </vt:lpstr>
      <vt:lpstr>Warm-Up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Give an example you’ve seen of scope creep in plans for a vacation, home projects, the weekend, etc.?  </vt:lpstr>
      <vt:lpstr>PowerPoint Presentation</vt:lpstr>
      <vt:lpstr>Why is it so important to state was is not in a project, isn’t that kind of a downer?  Won’t the boss or client think you’re shirking?  </vt:lpstr>
      <vt:lpstr>PowerPoint Presentation</vt:lpstr>
      <vt:lpstr>PowerPoint Presentation</vt:lpstr>
      <vt:lpstr>PowerPoint Presentation</vt:lpstr>
      <vt:lpstr>PowerPoint Presentation</vt:lpstr>
      <vt:lpstr>Requirements</vt:lpstr>
      <vt:lpstr>Requirements v. Expectations</vt:lpstr>
      <vt:lpstr>PowerPoint Presentation</vt:lpstr>
      <vt:lpstr>PowerPoint Presentation</vt:lpstr>
      <vt:lpstr>PowerPoint Presentation</vt:lpstr>
      <vt:lpstr>PowerPoint Presentation</vt:lpstr>
      <vt:lpstr>PowerPoint Presentation</vt:lpstr>
      <vt:lpstr>Expectations</vt:lpstr>
      <vt:lpstr>PowerPoint Presentation</vt:lpstr>
      <vt:lpstr>PowerPoint Presentation</vt:lpstr>
      <vt:lpstr>Client’s expectations are rarely clear – at first</vt:lpstr>
      <vt:lpstr>PowerPoint Presentation</vt:lpstr>
      <vt:lpstr>PowerPoint Presentation</vt:lpstr>
      <vt:lpstr>PowerPoint Presentation</vt:lpstr>
      <vt:lpstr>PowerPoint Presentation</vt:lpstr>
      <vt:lpstr>PowerPoint Presentation</vt:lpstr>
      <vt:lpstr>PowerPoint Presentation</vt:lpstr>
      <vt:lpstr>Caution</vt:lpstr>
      <vt:lpstr>PowerPoint Presentation</vt:lpstr>
      <vt:lpstr>PowerPoint Presentation</vt:lpstr>
      <vt:lpstr>PowerPoint Presentation</vt:lpstr>
      <vt:lpstr>PowerPoint Presentation</vt:lpstr>
      <vt:lpstr>PowerPoint Presentation</vt:lpstr>
      <vt:lpstr>Managing Expectations: Clients </vt:lpstr>
      <vt:lpstr>PowerPoint Presentation</vt:lpstr>
      <vt:lpstr>Goals &amp;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Deliverables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Clearing the Tracks</vt:lpstr>
      <vt:lpstr>Clearing the Tracks</vt:lpstr>
      <vt:lpstr>How to Hand Off a Project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Burgins, Robert Scott</dc:creator>
  <cp:lastModifiedBy>Burgins, Robert Scott</cp:lastModifiedBy>
  <cp:revision>37</cp:revision>
  <dcterms:created xsi:type="dcterms:W3CDTF">2025-07-21T16:13:04Z</dcterms:created>
  <dcterms:modified xsi:type="dcterms:W3CDTF">2025-09-18T16:36:58Z</dcterms:modified>
</cp:coreProperties>
</file>